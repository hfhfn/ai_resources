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 id="2147483651" r:id="rId2"/>
    <p:sldMasterId id="2147483665" r:id="rId3"/>
    <p:sldMasterId id="2147483660" r:id="rId4"/>
  </p:sldMasterIdLst>
  <p:notesMasterIdLst>
    <p:notesMasterId r:id="rId25"/>
  </p:notesMasterIdLst>
  <p:handoutMasterIdLst>
    <p:handoutMasterId r:id="rId26"/>
  </p:handoutMasterIdLst>
  <p:sldIdLst>
    <p:sldId id="256" r:id="rId5"/>
    <p:sldId id="286" r:id="rId6"/>
    <p:sldId id="284" r:id="rId7"/>
    <p:sldId id="285" r:id="rId8"/>
    <p:sldId id="287" r:id="rId9"/>
    <p:sldId id="288" r:id="rId10"/>
    <p:sldId id="272" r:id="rId11"/>
    <p:sldId id="274" r:id="rId12"/>
    <p:sldId id="291" r:id="rId13"/>
    <p:sldId id="293" r:id="rId14"/>
    <p:sldId id="297" r:id="rId15"/>
    <p:sldId id="292" r:id="rId16"/>
    <p:sldId id="298" r:id="rId17"/>
    <p:sldId id="264" r:id="rId18"/>
    <p:sldId id="295" r:id="rId19"/>
    <p:sldId id="282" r:id="rId20"/>
    <p:sldId id="296" r:id="rId21"/>
    <p:sldId id="299" r:id="rId22"/>
    <p:sldId id="270" r:id="rId23"/>
    <p:sldId id="271" r:id="rId24"/>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Calibri" charset="0"/>
        <a:ea typeface="宋体" charset="-122"/>
        <a:cs typeface="+mn-cs"/>
      </a:defRPr>
    </a:lvl1pPr>
    <a:lvl2pPr marL="457200" algn="l" rtl="0" eaLnBrk="0" fontAlgn="base" hangingPunct="0">
      <a:spcBef>
        <a:spcPct val="0"/>
      </a:spcBef>
      <a:spcAft>
        <a:spcPct val="0"/>
      </a:spcAft>
      <a:defRPr kern="1200">
        <a:solidFill>
          <a:schemeClr val="tx1"/>
        </a:solidFill>
        <a:latin typeface="Calibri" charset="0"/>
        <a:ea typeface="宋体" charset="-122"/>
        <a:cs typeface="+mn-cs"/>
      </a:defRPr>
    </a:lvl2pPr>
    <a:lvl3pPr marL="914400" algn="l" rtl="0" eaLnBrk="0" fontAlgn="base" hangingPunct="0">
      <a:spcBef>
        <a:spcPct val="0"/>
      </a:spcBef>
      <a:spcAft>
        <a:spcPct val="0"/>
      </a:spcAft>
      <a:defRPr kern="1200">
        <a:solidFill>
          <a:schemeClr val="tx1"/>
        </a:solidFill>
        <a:latin typeface="Calibri" charset="0"/>
        <a:ea typeface="宋体" charset="-122"/>
        <a:cs typeface="+mn-cs"/>
      </a:defRPr>
    </a:lvl3pPr>
    <a:lvl4pPr marL="1371600" algn="l" rtl="0" eaLnBrk="0" fontAlgn="base" hangingPunct="0">
      <a:spcBef>
        <a:spcPct val="0"/>
      </a:spcBef>
      <a:spcAft>
        <a:spcPct val="0"/>
      </a:spcAft>
      <a:defRPr kern="1200">
        <a:solidFill>
          <a:schemeClr val="tx1"/>
        </a:solidFill>
        <a:latin typeface="Calibri" charset="0"/>
        <a:ea typeface="宋体" charset="-122"/>
        <a:cs typeface="+mn-cs"/>
      </a:defRPr>
    </a:lvl4pPr>
    <a:lvl5pPr marL="1828800" algn="l" rtl="0" eaLnBrk="0" fontAlgn="base" hangingPunct="0">
      <a:spcBef>
        <a:spcPct val="0"/>
      </a:spcBef>
      <a:spcAft>
        <a:spcPct val="0"/>
      </a:spcAft>
      <a:defRPr kern="1200">
        <a:solidFill>
          <a:schemeClr val="tx1"/>
        </a:solidFill>
        <a:latin typeface="Calibri" charset="0"/>
        <a:ea typeface="宋体" charset="-122"/>
        <a:cs typeface="+mn-cs"/>
      </a:defRPr>
    </a:lvl5pPr>
    <a:lvl6pPr marL="2286000" algn="l" defTabSz="914400" rtl="0" eaLnBrk="1" latinLnBrk="0" hangingPunct="1">
      <a:defRPr kern="1200">
        <a:solidFill>
          <a:schemeClr val="tx1"/>
        </a:solidFill>
        <a:latin typeface="Calibri" charset="0"/>
        <a:ea typeface="宋体" charset="-122"/>
        <a:cs typeface="+mn-cs"/>
      </a:defRPr>
    </a:lvl6pPr>
    <a:lvl7pPr marL="2743200" algn="l" defTabSz="914400" rtl="0" eaLnBrk="1" latinLnBrk="0" hangingPunct="1">
      <a:defRPr kern="1200">
        <a:solidFill>
          <a:schemeClr val="tx1"/>
        </a:solidFill>
        <a:latin typeface="Calibri" charset="0"/>
        <a:ea typeface="宋体" charset="-122"/>
        <a:cs typeface="+mn-cs"/>
      </a:defRPr>
    </a:lvl7pPr>
    <a:lvl8pPr marL="3200400" algn="l" defTabSz="914400" rtl="0" eaLnBrk="1" latinLnBrk="0" hangingPunct="1">
      <a:defRPr kern="1200">
        <a:solidFill>
          <a:schemeClr val="tx1"/>
        </a:solidFill>
        <a:latin typeface="Calibri" charset="0"/>
        <a:ea typeface="宋体" charset="-122"/>
        <a:cs typeface="+mn-cs"/>
      </a:defRPr>
    </a:lvl8pPr>
    <a:lvl9pPr marL="3657600" algn="l" defTabSz="914400" rtl="0" eaLnBrk="1" latinLnBrk="0" hangingPunct="1">
      <a:defRPr kern="1200">
        <a:solidFill>
          <a:schemeClr val="tx1"/>
        </a:solidFill>
        <a:latin typeface="Calibri" charset="0"/>
        <a:ea typeface="宋体" charset="-122"/>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6" autoAdjust="0"/>
    <p:restoredTop sz="95901" autoAdjust="0"/>
  </p:normalViewPr>
  <p:slideViewPr>
    <p:cSldViewPr>
      <p:cViewPr varScale="1">
        <p:scale>
          <a:sx n="124" d="100"/>
          <a:sy n="124" d="100"/>
        </p:scale>
        <p:origin x="739" y="8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3641891-F5EF-4D11-999E-65845C593B7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085F7E7E-587A-4FAF-811E-3976C11C0AD8}"/>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4" name="页脚占位符 3">
            <a:extLst>
              <a:ext uri="{FF2B5EF4-FFF2-40B4-BE49-F238E27FC236}">
                <a16:creationId xmlns:a16="http://schemas.microsoft.com/office/drawing/2014/main" id="{C54C9241-0CAA-49CF-A52A-FEC64D699413}"/>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 name="灯片编号占位符 4">
            <a:extLst>
              <a:ext uri="{FF2B5EF4-FFF2-40B4-BE49-F238E27FC236}">
                <a16:creationId xmlns:a16="http://schemas.microsoft.com/office/drawing/2014/main" id="{EC430C50-113D-4CF0-969F-FD02138F3C8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Calibri" panose="020F0502020204030204" pitchFamily="34" charset="0"/>
                <a:ea typeface="宋体" panose="02010600030101010101" pitchFamily="2" charset="-122"/>
              </a:defRPr>
            </a:lvl1pPr>
          </a:lstStyle>
          <a:p>
            <a:pPr>
              <a:defRPr/>
            </a:pPr>
            <a:fld id="{6F0C5A15-D39A-3747-BD7B-8659AE0D2EB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5A6D4FA-0319-40D0-AB95-30E2AD5937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EF446AC8-3657-4676-ADB2-86AF2AE073E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4" name="幻灯片图像占位符 3">
            <a:extLst>
              <a:ext uri="{FF2B5EF4-FFF2-40B4-BE49-F238E27FC236}">
                <a16:creationId xmlns:a16="http://schemas.microsoft.com/office/drawing/2014/main" id="{09056F86-0A63-43CA-A34C-F8A20F1E8999}"/>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66F562B-1F2D-4185-993C-D0DD261A8065}"/>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0237E242-170B-47DF-BF1E-A59B38E9055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buFontTx/>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840E9994-06A0-4808-8F99-51BE7A8DA3C6}"/>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Calibri" panose="020F0502020204030204" pitchFamily="34" charset="0"/>
                <a:ea typeface="宋体" panose="02010600030101010101" pitchFamily="2" charset="-122"/>
              </a:defRPr>
            </a:lvl1pPr>
          </a:lstStyle>
          <a:p>
            <a:pPr>
              <a:defRPr/>
            </a:pPr>
            <a:fld id="{7C1CD7B9-0B56-D743-9D52-31B8C2307F7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jmlr.org/papers/volume3/bengio03a/bengio03a.pdf"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jmlr.org/papers/volume3/bengio03a/bengio03a.pdf"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a:solidFill>
                  <a:srgbClr val="262626"/>
                </a:solidFill>
                <a:latin typeface="微软雅黑" charset="-122"/>
                <a:ea typeface="微软雅黑" charset="-122"/>
              </a:rPr>
              <a:t>人工智能</a:t>
            </a:r>
            <a:r>
              <a:rPr lang="ko-KR" altLang="en-US" sz="1200">
                <a:solidFill>
                  <a:srgbClr val="262626"/>
                </a:solidFill>
                <a:latin typeface="微软雅黑" charset="-122"/>
                <a:ea typeface="微软雅黑" charset="-122"/>
              </a:rPr>
              <a:t>从人工智能的概念刚提出到2012年，人工智能的发展几经波折，有很多非常优秀的算法被发现，但是也由于计算力和数据的限制，并没有得到大多数人的认可。</a:t>
            </a:r>
            <a:endParaRPr lang="en-US" altLang="ko-KR" sz="1200">
              <a:solidFill>
                <a:srgbClr val="262626"/>
              </a:solidFill>
              <a:latin typeface="微软雅黑" charset="-122"/>
              <a:ea typeface="微软雅黑"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a:solidFill>
                  <a:srgbClr val="262626"/>
                </a:solidFill>
                <a:latin typeface="微软雅黑" charset="-122"/>
                <a:ea typeface="微软雅黑" charset="-122"/>
              </a:rPr>
              <a:t>深度学习</a:t>
            </a:r>
            <a:endParaRPr lang="en-US" altLang="ko-KR" sz="1200">
              <a:solidFill>
                <a:srgbClr val="262626"/>
              </a:solidFill>
              <a:latin typeface="微软雅黑" charset="-122"/>
              <a:ea typeface="微软雅黑"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ko-KR" altLang="en-US" sz="1200">
                <a:solidFill>
                  <a:srgbClr val="262626"/>
                </a:solidFill>
                <a:latin typeface="微软雅黑" charset="-122"/>
                <a:ea typeface="微软雅黑" charset="-122"/>
              </a:rPr>
              <a:t>深度学习中的很多思想在很早之前就被提出过，但是由于条件的限制，在当时的效果并不好。</a:t>
            </a:r>
            <a:endParaRPr lang="en-US" altLang="ko-KR" sz="1200">
              <a:solidFill>
                <a:srgbClr val="262626"/>
              </a:solidFill>
              <a:latin typeface="微软雅黑" charset="-122"/>
              <a:ea typeface="微软雅黑"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ko-KR" altLang="en-US" sz="1200">
              <a:solidFill>
                <a:srgbClr val="595959"/>
              </a:solidFill>
              <a:latin typeface="微软雅黑" charset="-122"/>
              <a:ea typeface="微软雅黑" charset="-122"/>
            </a:endParaRPr>
          </a:p>
          <a:p>
            <a:endParaRPr kumimoji="1" lang="zh-CN" altLang="en-US"/>
          </a:p>
        </p:txBody>
      </p:sp>
      <p:sp>
        <p:nvSpPr>
          <p:cNvPr id="4" name="幻灯片编号占位符 3"/>
          <p:cNvSpPr>
            <a:spLocks noGrp="1"/>
          </p:cNvSpPr>
          <p:nvPr>
            <p:ph type="sldNum" sz="quarter" idx="10"/>
          </p:nvPr>
        </p:nvSpPr>
        <p:spPr/>
        <p:txBody>
          <a:bodyPr/>
          <a:lstStyle/>
          <a:p>
            <a:pPr>
              <a:defRPr/>
            </a:pPr>
            <a:fld id="{7C1CD7B9-0B56-D743-9D52-31B8C2307F70}" type="slidenum">
              <a:rPr lang="zh-CN" altLang="en-US"/>
              <a:pPr>
                <a:defRPr/>
              </a:pPr>
              <a:t>3</a:t>
            </a:fld>
            <a:endParaRPr lang="zh-CN" altLang="en-US"/>
          </a:p>
        </p:txBody>
      </p:sp>
    </p:spTree>
    <p:extLst>
      <p:ext uri="{BB962C8B-B14F-4D97-AF65-F5344CB8AC3E}">
        <p14:creationId xmlns:p14="http://schemas.microsoft.com/office/powerpoint/2010/main" val="1023063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200">
                <a:solidFill>
                  <a:srgbClr val="262626"/>
                </a:solidFill>
                <a:latin typeface="微软雅黑" charset="-122"/>
                <a:ea typeface="微软雅黑" charset="-122"/>
              </a:rPr>
              <a:t>那么其中</a:t>
            </a:r>
            <a:r>
              <a:rPr lang="zh-CN" altLang="en-US" sz="1200">
                <a:solidFill>
                  <a:srgbClr val="FF0000"/>
                </a:solidFill>
                <a:latin typeface="微软雅黑" charset="-122"/>
                <a:ea typeface="微软雅黑" charset="-122"/>
              </a:rPr>
              <a:t>面积、楼层、朝向、距离就是特征值；房价就是目标值</a:t>
            </a:r>
          </a:p>
          <a:p>
            <a:endParaRPr kumimoji="1" lang="zh-CN" altLang="en-US"/>
          </a:p>
        </p:txBody>
      </p:sp>
      <p:sp>
        <p:nvSpPr>
          <p:cNvPr id="4" name="幻灯片编号占位符 3"/>
          <p:cNvSpPr>
            <a:spLocks noGrp="1"/>
          </p:cNvSpPr>
          <p:nvPr>
            <p:ph type="sldNum" sz="quarter" idx="10"/>
          </p:nvPr>
        </p:nvSpPr>
        <p:spPr/>
        <p:txBody>
          <a:bodyPr/>
          <a:lstStyle/>
          <a:p>
            <a:pPr>
              <a:defRPr/>
            </a:pPr>
            <a:fld id="{7C1CD7B9-0B56-D743-9D52-31B8C2307F70}" type="slidenum">
              <a:rPr lang="zh-CN" altLang="en-US"/>
              <a:pPr>
                <a:defRPr/>
              </a:pPr>
              <a:t>4</a:t>
            </a:fld>
            <a:endParaRPr lang="zh-CN" altLang="en-US"/>
          </a:p>
        </p:txBody>
      </p:sp>
    </p:spTree>
    <p:extLst>
      <p:ext uri="{BB962C8B-B14F-4D97-AF65-F5344CB8AC3E}">
        <p14:creationId xmlns:p14="http://schemas.microsoft.com/office/powerpoint/2010/main" val="1555805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a:defRPr/>
            </a:pPr>
            <a:fld id="{7C1CD7B9-0B56-D743-9D52-31B8C2307F70}" type="slidenum">
              <a:rPr lang="zh-CN" altLang="en-US"/>
              <a:pPr>
                <a:defRPr/>
              </a:pPr>
              <a:t>7</a:t>
            </a:fld>
            <a:endParaRPr lang="zh-CN" altLang="en-US"/>
          </a:p>
        </p:txBody>
      </p:sp>
    </p:spTree>
    <p:extLst>
      <p:ext uri="{BB962C8B-B14F-4D97-AF65-F5344CB8AC3E}">
        <p14:creationId xmlns:p14="http://schemas.microsoft.com/office/powerpoint/2010/main" val="330186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a:solidFill>
                  <a:srgbClr val="404040"/>
                </a:solidFill>
                <a:latin typeface="微软雅黑" charset="-122"/>
                <a:ea typeface="微软雅黑" charset="-122"/>
              </a:rPr>
              <a:t>自然语言处理概念</a:t>
            </a:r>
            <a:endParaRPr lang="ko-KR" altLang="en-US" b="1">
              <a:solidFill>
                <a:srgbClr val="404040"/>
              </a:solidFill>
              <a:latin typeface="微软雅黑" charset="-122"/>
              <a:ea typeface="微软雅黑" charset="-122"/>
            </a:endParaRPr>
          </a:p>
          <a:p>
            <a:r>
              <a:rPr lang="zh-CN" altLang="en-US" sz="1200">
                <a:solidFill>
                  <a:srgbClr val="262626"/>
                </a:solidFill>
                <a:latin typeface="微软雅黑" charset="-122"/>
                <a:ea typeface="微软雅黑" charset="-122"/>
              </a:rPr>
              <a:t>自然语言是人类智慧的结晶，自然语言处理是人工智能中最为困难的问题之一。</a:t>
            </a:r>
            <a:endParaRPr kumimoji="1" lang="zh-CN" altLang="en-US"/>
          </a:p>
        </p:txBody>
      </p:sp>
      <p:sp>
        <p:nvSpPr>
          <p:cNvPr id="4" name="幻灯片编号占位符 3"/>
          <p:cNvSpPr>
            <a:spLocks noGrp="1"/>
          </p:cNvSpPr>
          <p:nvPr>
            <p:ph type="sldNum" sz="quarter" idx="10"/>
          </p:nvPr>
        </p:nvSpPr>
        <p:spPr/>
        <p:txBody>
          <a:bodyPr/>
          <a:lstStyle/>
          <a:p>
            <a:pPr>
              <a:defRPr/>
            </a:pPr>
            <a:fld id="{7C1CD7B9-0B56-D743-9D52-31B8C2307F70}" type="slidenum">
              <a:rPr lang="zh-CN" altLang="en-US"/>
              <a:pPr>
                <a:defRPr/>
              </a:pPr>
              <a:t>8</a:t>
            </a:fld>
            <a:endParaRPr lang="zh-CN" altLang="en-US"/>
          </a:p>
        </p:txBody>
      </p:sp>
    </p:spTree>
    <p:extLst>
      <p:ext uri="{BB962C8B-B14F-4D97-AF65-F5344CB8AC3E}">
        <p14:creationId xmlns:p14="http://schemas.microsoft.com/office/powerpoint/2010/main" val="2132360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741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zh-CN" altLang="en-US">
                <a:solidFill>
                  <a:srgbClr val="000000"/>
                </a:solidFill>
                <a:latin typeface="微软雅黑" charset="-122"/>
                <a:ea typeface="微软雅黑" charset="-122"/>
                <a:cs typeface="Calibri" charset="0"/>
              </a:rPr>
              <a:t>在日常生活中，事件的发生总是存在千丝万缕的联系</a:t>
            </a:r>
            <a:endParaRPr lang="en-US" altLang="zh-CN">
              <a:solidFill>
                <a:srgbClr val="000000"/>
              </a:solidFill>
              <a:latin typeface="微软雅黑" charset="-122"/>
              <a:ea typeface="微软雅黑" charset="-122"/>
              <a:cs typeface="Calibri" charset="0"/>
            </a:endParaRPr>
          </a:p>
          <a:p>
            <a:pPr>
              <a:lnSpc>
                <a:spcPct val="150000"/>
              </a:lnSpc>
            </a:pPr>
            <a:r>
              <a:rPr lang="zh-CN" altLang="en-US">
                <a:solidFill>
                  <a:srgbClr val="000000"/>
                </a:solidFill>
                <a:latin typeface="微软雅黑" charset="-122"/>
                <a:ea typeface="微软雅黑" charset="-122"/>
                <a:cs typeface="Calibri" charset="0"/>
              </a:rPr>
              <a:t>但是在某些情况下为了简化，我们会直接认为事件之间相互独立，此时能够快速的计算联合概率。</a:t>
            </a:r>
            <a:endParaRPr lang="en-US" altLang="zh-CN">
              <a:solidFill>
                <a:srgbClr val="000000"/>
              </a:solidFill>
              <a:latin typeface="微软雅黑" charset="-122"/>
              <a:ea typeface="微软雅黑" charset="-122"/>
              <a:cs typeface="Calibri" charset="0"/>
            </a:endParaRPr>
          </a:p>
          <a:p>
            <a:pPr>
              <a:lnSpc>
                <a:spcPct val="150000"/>
              </a:lnSpc>
            </a:pPr>
            <a:r>
              <a:rPr lang="zh-CN" altLang="en-US">
                <a:solidFill>
                  <a:srgbClr val="000000"/>
                </a:solidFill>
                <a:latin typeface="微软雅黑" charset="-122"/>
                <a:ea typeface="微软雅黑" charset="-122"/>
                <a:cs typeface="Calibri" charset="0"/>
              </a:rPr>
              <a:t>如果事件之间不能确定是否相互独立，此时我们</a:t>
            </a:r>
            <a:r>
              <a:rPr lang="zh-CN" altLang="en-US">
                <a:solidFill>
                  <a:srgbClr val="FF0000"/>
                </a:solidFill>
                <a:latin typeface="微软雅黑" charset="-122"/>
                <a:ea typeface="微软雅黑" charset="-122"/>
                <a:cs typeface="Calibri" charset="0"/>
              </a:rPr>
              <a:t>应该假设他们是不独立，使用对应的条件概率公式来计算概率</a:t>
            </a:r>
            <a:r>
              <a:rPr lang="zh-CN" altLang="en-US">
                <a:solidFill>
                  <a:srgbClr val="000000"/>
                </a:solidFill>
                <a:latin typeface="微软雅黑" charset="-122"/>
                <a:ea typeface="微软雅黑" charset="-122"/>
                <a:cs typeface="Calibri" charset="0"/>
              </a:rPr>
              <a:t>。</a:t>
            </a:r>
            <a:endParaRPr lang="ko-KR" altLang="en-US">
              <a:solidFill>
                <a:srgbClr val="000000"/>
              </a:solidFill>
              <a:latin typeface="微软雅黑" charset="-122"/>
              <a:cs typeface="Calibri" charset="0"/>
            </a:endParaRPr>
          </a:p>
          <a:p>
            <a:endParaRPr kumimoji="1" lang="zh-CN" altLang="en-US"/>
          </a:p>
        </p:txBody>
      </p:sp>
      <p:sp>
        <p:nvSpPr>
          <p:cNvPr id="1741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buFont typeface="Arial" charset="0"/>
              <a:buNone/>
            </a:pPr>
            <a:fld id="{6A95739D-9849-7849-9BD7-DC6AFB8D4E82}" type="slidenum">
              <a:rPr altLang="en-US"/>
              <a:pPr>
                <a:buFont typeface="Arial" charset="0"/>
                <a:buNone/>
              </a:pPr>
              <a:t>10</a:t>
            </a:fld>
            <a:endParaRPr altLang="en-US"/>
          </a:p>
        </p:txBody>
      </p:sp>
    </p:spTree>
    <p:extLst>
      <p:ext uri="{BB962C8B-B14F-4D97-AF65-F5344CB8AC3E}">
        <p14:creationId xmlns:p14="http://schemas.microsoft.com/office/powerpoint/2010/main" val="15582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945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kumimoji="1" lang="zh-CN" altLang="en-US"/>
          </a:p>
        </p:txBody>
      </p:sp>
      <p:sp>
        <p:nvSpPr>
          <p:cNvPr id="1945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buFont typeface="Arial" charset="0"/>
              <a:buNone/>
            </a:pPr>
            <a:fld id="{EFCB2049-08F7-4D49-A7D8-855AC0D2F2B9}" type="slidenum">
              <a:rPr altLang="en-US"/>
              <a:pPr>
                <a:buFont typeface="Arial" charset="0"/>
                <a:buNone/>
              </a:pPr>
              <a:t>11</a:t>
            </a:fld>
            <a:endParaRPr altLang="en-US"/>
          </a:p>
        </p:txBody>
      </p:sp>
    </p:spTree>
    <p:extLst>
      <p:ext uri="{BB962C8B-B14F-4D97-AF65-F5344CB8AC3E}">
        <p14:creationId xmlns:p14="http://schemas.microsoft.com/office/powerpoint/2010/main" val="1342408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kumimoji="1" lang="zh-CN" altLang="en-US"/>
          </a:p>
        </p:txBody>
      </p:sp>
      <p:sp>
        <p:nvSpPr>
          <p:cNvPr id="2150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buFont typeface="Arial" charset="0"/>
              <a:buNone/>
            </a:pPr>
            <a:fld id="{7C6785AC-5311-DD45-8925-243161182F31}" type="slidenum">
              <a:rPr altLang="en-US"/>
              <a:pPr>
                <a:buFont typeface="Arial" charset="0"/>
                <a:buNone/>
              </a:pPr>
              <a:t>12</a:t>
            </a:fld>
            <a:endParaRPr altLang="en-US"/>
          </a:p>
        </p:txBody>
      </p:sp>
    </p:spTree>
    <p:extLst>
      <p:ext uri="{BB962C8B-B14F-4D97-AF65-F5344CB8AC3E}">
        <p14:creationId xmlns:p14="http://schemas.microsoft.com/office/powerpoint/2010/main" val="982469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584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hlinkClick r:id="rId3"/>
              </a:rPr>
              <a:t>http://www.jmlr.org/papers/volume3/bengio03a/bengio03a.pdf</a:t>
            </a:r>
            <a:endParaRPr kumimoji="1" lang="zh-CN" altLang="en-US"/>
          </a:p>
        </p:txBody>
      </p:sp>
      <p:sp>
        <p:nvSpPr>
          <p:cNvPr id="3584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buFont typeface="Arial" charset="0"/>
              <a:buNone/>
            </a:pPr>
            <a:fld id="{07B2E2AA-E00B-B649-A391-DF1623AE6765}" type="slidenum">
              <a:rPr altLang="en-US"/>
              <a:pPr>
                <a:buFont typeface="Arial" charset="0"/>
                <a:buNone/>
              </a:pPr>
              <a:t>17</a:t>
            </a:fld>
            <a:endParaRPr altLang="en-US"/>
          </a:p>
        </p:txBody>
      </p:sp>
    </p:spTree>
    <p:extLst>
      <p:ext uri="{BB962C8B-B14F-4D97-AF65-F5344CB8AC3E}">
        <p14:creationId xmlns:p14="http://schemas.microsoft.com/office/powerpoint/2010/main" val="1703842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584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hlinkClick r:id="rId3"/>
              </a:rPr>
              <a:t>http://www.jmlr.org/papers/volume3/bengio03a/bengio03a.pdf</a:t>
            </a:r>
            <a:endParaRPr kumimoji="1" lang="zh-CN" altLang="en-US"/>
          </a:p>
        </p:txBody>
      </p:sp>
      <p:sp>
        <p:nvSpPr>
          <p:cNvPr id="3584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buFont typeface="Arial" charset="0"/>
              <a:buNone/>
            </a:pPr>
            <a:fld id="{07B2E2AA-E00B-B649-A391-DF1623AE6765}" type="slidenum">
              <a:rPr altLang="en-US"/>
              <a:pPr>
                <a:buFont typeface="Arial" charset="0"/>
                <a:buNone/>
              </a:pPr>
              <a:t>18</a:t>
            </a:fld>
            <a:endParaRPr altLang="en-US"/>
          </a:p>
        </p:txBody>
      </p:sp>
    </p:spTree>
    <p:extLst>
      <p:ext uri="{BB962C8B-B14F-4D97-AF65-F5344CB8AC3E}">
        <p14:creationId xmlns:p14="http://schemas.microsoft.com/office/powerpoint/2010/main" val="2748543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06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77876-6A0B-47BB-BF86-D2754DE01470}"/>
              </a:ext>
            </a:extLst>
          </p:cNvPr>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E064BE9-E0DD-4D27-AE90-2F99C69B684A}"/>
              </a:ext>
            </a:extLst>
          </p:cNvPr>
          <p:cNvSpPr>
            <a:spLocks noGrp="1"/>
          </p:cNvSpPr>
          <p:nvPr>
            <p:ph idx="1"/>
          </p:nvPr>
        </p:nvSpPr>
        <p:spPr>
          <a:xfrm>
            <a:off x="628650" y="1370013"/>
            <a:ext cx="7886700" cy="3262312"/>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31513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84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104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859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718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151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7.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1" name="同侧圆角矩形 10">
            <a:extLst>
              <a:ext uri="{FF2B5EF4-FFF2-40B4-BE49-F238E27FC236}">
                <a16:creationId xmlns:a16="http://schemas.microsoft.com/office/drawing/2014/main" id="{844C5396-6EFD-4C92-B39C-32AE1A4C65AC}"/>
              </a:ext>
            </a:extLst>
          </p:cNvPr>
          <p:cNvSpPr/>
          <p:nvPr userDrawn="1"/>
        </p:nvSpPr>
        <p:spPr>
          <a:xfrm rot="16200000">
            <a:off x="7716044" y="-764381"/>
            <a:ext cx="444500" cy="2411412"/>
          </a:xfrm>
          <a:prstGeom prst="round2SameRect">
            <a:avLst/>
          </a:prstGeom>
          <a:solidFill>
            <a:srgbClr val="157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pic>
        <p:nvPicPr>
          <p:cNvPr id="2051" name="图片 2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848600" y="263525"/>
            <a:ext cx="12954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3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911975" y="219075"/>
            <a:ext cx="16970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圆角矩形 1">
            <a:extLst>
              <a:ext uri="{FF2B5EF4-FFF2-40B4-BE49-F238E27FC236}">
                <a16:creationId xmlns:a16="http://schemas.microsoft.com/office/drawing/2014/main" id="{D3FC0C94-34BF-4618-959E-086A7A82DD46}"/>
              </a:ext>
            </a:extLst>
          </p:cNvPr>
          <p:cNvSpPr>
            <a:spLocks noChangeArrowheads="1"/>
          </p:cNvSpPr>
          <p:nvPr/>
        </p:nvSpPr>
        <p:spPr bwMode="auto">
          <a:xfrm>
            <a:off x="250825" y="219075"/>
            <a:ext cx="92075" cy="92075"/>
          </a:xfrm>
          <a:prstGeom prst="roundRect">
            <a:avLst>
              <a:gd name="adj" fmla="val 16667"/>
            </a:avLst>
          </a:prstGeom>
          <a:solidFill>
            <a:schemeClr val="tx1">
              <a:lumMod val="75000"/>
              <a:lumOff val="25000"/>
            </a:schemeClr>
          </a:solidFill>
          <a:ln>
            <a:noFill/>
          </a:ln>
          <a:effectLst/>
        </p:spPr>
        <p:txBody>
          <a:bodyPr/>
          <a:lstStyle>
            <a:lvl1pPr>
              <a:defRPr>
                <a:solidFill>
                  <a:schemeClr val="tx1"/>
                </a:solidFill>
                <a:latin typeface="Segoe UI" pitchFamily="34" charset="0"/>
                <a:ea typeface="微软雅黑" pitchFamily="34" charset="-122"/>
              </a:defRPr>
            </a:lvl1pPr>
            <a:lvl2pPr marL="742950" indent="-285750">
              <a:defRPr>
                <a:solidFill>
                  <a:schemeClr val="tx1"/>
                </a:solidFill>
                <a:latin typeface="Segoe UI" pitchFamily="34" charset="0"/>
                <a:ea typeface="微软雅黑" pitchFamily="34" charset="-122"/>
              </a:defRPr>
            </a:lvl2pPr>
            <a:lvl3pPr marL="1143000" indent="-228600">
              <a:defRPr>
                <a:solidFill>
                  <a:schemeClr val="tx1"/>
                </a:solidFill>
                <a:latin typeface="Segoe UI" pitchFamily="34" charset="0"/>
                <a:ea typeface="微软雅黑" pitchFamily="34" charset="-122"/>
              </a:defRPr>
            </a:lvl3pPr>
            <a:lvl4pPr marL="1600200" indent="-228600">
              <a:defRPr>
                <a:solidFill>
                  <a:schemeClr val="tx1"/>
                </a:solidFill>
                <a:latin typeface="Segoe UI" pitchFamily="34" charset="0"/>
                <a:ea typeface="微软雅黑" pitchFamily="34" charset="-122"/>
              </a:defRPr>
            </a:lvl4pPr>
            <a:lvl5pPr marL="2057400" indent="-228600">
              <a:defRPr>
                <a:solidFill>
                  <a:schemeClr val="tx1"/>
                </a:solidFill>
                <a:latin typeface="Segoe UI" pitchFamily="34" charset="0"/>
                <a:ea typeface="微软雅黑" pitchFamily="34" charset="-122"/>
              </a:defRPr>
            </a:lvl5pPr>
            <a:lvl6pPr marL="25146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6pPr>
            <a:lvl7pPr marL="29718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7pPr>
            <a:lvl8pPr marL="34290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8pPr>
            <a:lvl9pPr marL="38862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9pPr>
          </a:lstStyle>
          <a:p>
            <a:pPr eaLnBrk="1" fontAlgn="auto" hangingPunct="1">
              <a:spcBef>
                <a:spcPts val="0"/>
              </a:spcBef>
              <a:spcAft>
                <a:spcPts val="0"/>
              </a:spcAft>
              <a:defRPr/>
            </a:pPr>
            <a:endParaRPr lang="zh-CN" altLang="en-US"/>
          </a:p>
        </p:txBody>
      </p:sp>
      <p:sp>
        <p:nvSpPr>
          <p:cNvPr id="17" name="圆角矩形 23">
            <a:extLst>
              <a:ext uri="{FF2B5EF4-FFF2-40B4-BE49-F238E27FC236}">
                <a16:creationId xmlns:a16="http://schemas.microsoft.com/office/drawing/2014/main" id="{41319CC3-5E70-4871-B6C9-449E7C415250}"/>
              </a:ext>
            </a:extLst>
          </p:cNvPr>
          <p:cNvSpPr>
            <a:spLocks noChangeArrowheads="1"/>
          </p:cNvSpPr>
          <p:nvPr/>
        </p:nvSpPr>
        <p:spPr bwMode="auto">
          <a:xfrm>
            <a:off x="250825" y="330200"/>
            <a:ext cx="92075" cy="92075"/>
          </a:xfrm>
          <a:prstGeom prst="roundRect">
            <a:avLst>
              <a:gd name="adj" fmla="val 16667"/>
            </a:avLst>
          </a:prstGeom>
          <a:solidFill>
            <a:srgbClr val="C00000"/>
          </a:solidFill>
          <a:ln>
            <a:noFill/>
          </a:ln>
          <a:ex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defRPr/>
            </a:pPr>
            <a:endParaRPr lang="zh-CN" altLang="en-US">
              <a:latin typeface="Segoe UI" pitchFamily="34" charset="0"/>
              <a:ea typeface="微软雅黑" pitchFamily="34" charset="-122"/>
            </a:endParaRPr>
          </a:p>
        </p:txBody>
      </p:sp>
      <p:sp>
        <p:nvSpPr>
          <p:cNvPr id="18" name="圆角矩形 24">
            <a:extLst>
              <a:ext uri="{FF2B5EF4-FFF2-40B4-BE49-F238E27FC236}">
                <a16:creationId xmlns:a16="http://schemas.microsoft.com/office/drawing/2014/main" id="{342BEAAD-6039-4E46-9351-0A01666B1B12}"/>
              </a:ext>
            </a:extLst>
          </p:cNvPr>
          <p:cNvSpPr>
            <a:spLocks noChangeArrowheads="1"/>
          </p:cNvSpPr>
          <p:nvPr/>
        </p:nvSpPr>
        <p:spPr bwMode="auto">
          <a:xfrm>
            <a:off x="250825" y="441325"/>
            <a:ext cx="92075" cy="92075"/>
          </a:xfrm>
          <a:prstGeom prst="roundRect">
            <a:avLst>
              <a:gd name="adj" fmla="val 16667"/>
            </a:avLst>
          </a:prstGeom>
          <a:solidFill>
            <a:srgbClr val="157CE7"/>
          </a:solidFill>
          <a:ln>
            <a:noFill/>
          </a:ln>
          <a:effectLst/>
        </p:spPr>
        <p:txBody>
          <a:bodyPr/>
          <a:lstStyle>
            <a:lvl1pPr>
              <a:defRPr>
                <a:solidFill>
                  <a:schemeClr val="tx1"/>
                </a:solidFill>
                <a:latin typeface="Segoe UI" pitchFamily="34" charset="0"/>
                <a:ea typeface="微软雅黑" pitchFamily="34" charset="-122"/>
              </a:defRPr>
            </a:lvl1pPr>
            <a:lvl2pPr marL="742950" indent="-285750">
              <a:defRPr>
                <a:solidFill>
                  <a:schemeClr val="tx1"/>
                </a:solidFill>
                <a:latin typeface="Segoe UI" pitchFamily="34" charset="0"/>
                <a:ea typeface="微软雅黑" pitchFamily="34" charset="-122"/>
              </a:defRPr>
            </a:lvl2pPr>
            <a:lvl3pPr marL="1143000" indent="-228600">
              <a:defRPr>
                <a:solidFill>
                  <a:schemeClr val="tx1"/>
                </a:solidFill>
                <a:latin typeface="Segoe UI" pitchFamily="34" charset="0"/>
                <a:ea typeface="微软雅黑" pitchFamily="34" charset="-122"/>
              </a:defRPr>
            </a:lvl3pPr>
            <a:lvl4pPr marL="1600200" indent="-228600">
              <a:defRPr>
                <a:solidFill>
                  <a:schemeClr val="tx1"/>
                </a:solidFill>
                <a:latin typeface="Segoe UI" pitchFamily="34" charset="0"/>
                <a:ea typeface="微软雅黑" pitchFamily="34" charset="-122"/>
              </a:defRPr>
            </a:lvl4pPr>
            <a:lvl5pPr marL="2057400" indent="-228600">
              <a:defRPr>
                <a:solidFill>
                  <a:schemeClr val="tx1"/>
                </a:solidFill>
                <a:latin typeface="Segoe UI" pitchFamily="34" charset="0"/>
                <a:ea typeface="微软雅黑" pitchFamily="34" charset="-122"/>
              </a:defRPr>
            </a:lvl5pPr>
            <a:lvl6pPr marL="25146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6pPr>
            <a:lvl7pPr marL="29718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7pPr>
            <a:lvl8pPr marL="34290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8pPr>
            <a:lvl9pPr marL="38862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9pPr>
          </a:lstStyle>
          <a:p>
            <a:pPr eaLnBrk="1" fontAlgn="auto" hangingPunct="1">
              <a:spcBef>
                <a:spcPts val="0"/>
              </a:spcBef>
              <a:spcAft>
                <a:spcPts val="0"/>
              </a:spcAft>
              <a:defRPr/>
            </a:pPr>
            <a:endParaRPr lang="zh-CN" altLang="en-US"/>
          </a:p>
        </p:txBody>
      </p:sp>
      <p:sp>
        <p:nvSpPr>
          <p:cNvPr id="19" name="矩形 18">
            <a:extLst>
              <a:ext uri="{FF2B5EF4-FFF2-40B4-BE49-F238E27FC236}">
                <a16:creationId xmlns:a16="http://schemas.microsoft.com/office/drawing/2014/main" id="{78EAAAEC-4611-413D-8E8E-3F72B094ED4F}"/>
              </a:ext>
            </a:extLst>
          </p:cNvPr>
          <p:cNvSpPr/>
          <p:nvPr userDrawn="1"/>
        </p:nvSpPr>
        <p:spPr bwMode="auto">
          <a:xfrm>
            <a:off x="8167688" y="5049838"/>
            <a:ext cx="976312" cy="93662"/>
          </a:xfrm>
          <a:prstGeom prst="rect">
            <a:avLst/>
          </a:prstGeom>
          <a:solidFill>
            <a:schemeClr val="tx1">
              <a:lumMod val="75000"/>
              <a:lumOff val="25000"/>
            </a:schemeClr>
          </a:solidFill>
          <a:ln w="9525" cap="flat" cmpd="sng" algn="ctr">
            <a:noFill/>
            <a:prstDash val="solid"/>
            <a:round/>
            <a:headEnd type="none" w="med" len="med"/>
            <a:tailEnd type="none" w="med" len="med"/>
          </a:ln>
          <a:effectLst/>
          <a:extLst/>
        </p:spPr>
        <p:txBody>
          <a:bodyPr/>
          <a:lstStyle/>
          <a:p>
            <a:pPr>
              <a:buFont typeface="Arial" pitchFamily="34" charset="0"/>
              <a:buNone/>
              <a:defRPr/>
            </a:pPr>
            <a:endParaRPr lang="zh-CN" altLang="en-US">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3A62DA1A-F336-4A6D-A0BE-835D954C0BA3}"/>
              </a:ext>
            </a:extLst>
          </p:cNvPr>
          <p:cNvSpPr>
            <a:spLocks noChangeArrowheads="1"/>
          </p:cNvSpPr>
          <p:nvPr userDrawn="1"/>
        </p:nvSpPr>
        <p:spPr bwMode="auto">
          <a:xfrm>
            <a:off x="0" y="5049838"/>
            <a:ext cx="8101013" cy="93662"/>
          </a:xfrm>
          <a:prstGeom prst="rect">
            <a:avLst/>
          </a:prstGeom>
          <a:solidFill>
            <a:srgbClr val="157CE7"/>
          </a:solidFill>
          <a:ln>
            <a:noFill/>
          </a:ln>
          <a:ex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a:latin typeface="Segoe UI" pitchFamily="34" charset="0"/>
              <a:ea typeface="微软雅黑" pitchFamily="34" charset="-122"/>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Lst>
  <p:txStyles>
    <p:titleStyle>
      <a:lvl1pPr algn="l" rtl="0" eaLnBrk="0" fontAlgn="base" hangingPunct="0">
        <a:spcBef>
          <a:spcPct val="0"/>
        </a:spcBef>
        <a:spcAft>
          <a:spcPct val="0"/>
        </a:spcAft>
        <a:defRPr sz="24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rtl="0" eaLnBrk="0" fontAlgn="base" hangingPunct="0">
        <a:spcBef>
          <a:spcPct val="20000"/>
        </a:spcBef>
        <a:spcAft>
          <a:spcPct val="0"/>
        </a:spcAft>
        <a:buFont typeface="Arial" charset="0"/>
        <a:buChar char="•"/>
        <a:defRPr sz="1400" b="1" kern="1200">
          <a:solidFill>
            <a:schemeClr val="tx1"/>
          </a:solidFill>
          <a:latin typeface="黑体" panose="02010609060101010101" pitchFamily="49" charset="-122"/>
          <a:ea typeface="黑体" panose="02010609060101010101" pitchFamily="49" charset="-122"/>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1" name="同侧圆角矩形 10">
            <a:extLst>
              <a:ext uri="{FF2B5EF4-FFF2-40B4-BE49-F238E27FC236}">
                <a16:creationId xmlns:a16="http://schemas.microsoft.com/office/drawing/2014/main" id="{0B41E86A-4D5D-4C10-B734-012A8CA72BDA}"/>
              </a:ext>
            </a:extLst>
          </p:cNvPr>
          <p:cNvSpPr/>
          <p:nvPr userDrawn="1"/>
        </p:nvSpPr>
        <p:spPr>
          <a:xfrm rot="16200000">
            <a:off x="7716044" y="-764381"/>
            <a:ext cx="444500" cy="2411412"/>
          </a:xfrm>
          <a:prstGeom prst="round2SameRect">
            <a:avLst/>
          </a:prstGeom>
          <a:solidFill>
            <a:srgbClr val="157C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pic>
        <p:nvPicPr>
          <p:cNvPr id="3075" name="图片 2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848600" y="263525"/>
            <a:ext cx="12954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图片 3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911975" y="219075"/>
            <a:ext cx="16970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圆角矩形 1">
            <a:extLst>
              <a:ext uri="{FF2B5EF4-FFF2-40B4-BE49-F238E27FC236}">
                <a16:creationId xmlns:a16="http://schemas.microsoft.com/office/drawing/2014/main" id="{4A350242-B24C-4934-902F-530C16300D50}"/>
              </a:ext>
            </a:extLst>
          </p:cNvPr>
          <p:cNvSpPr>
            <a:spLocks noChangeArrowheads="1"/>
          </p:cNvSpPr>
          <p:nvPr/>
        </p:nvSpPr>
        <p:spPr bwMode="auto">
          <a:xfrm>
            <a:off x="250825" y="219075"/>
            <a:ext cx="92075" cy="92075"/>
          </a:xfrm>
          <a:prstGeom prst="roundRect">
            <a:avLst>
              <a:gd name="adj" fmla="val 16667"/>
            </a:avLst>
          </a:prstGeom>
          <a:solidFill>
            <a:schemeClr val="tx1">
              <a:lumMod val="75000"/>
              <a:lumOff val="25000"/>
            </a:schemeClr>
          </a:solidFill>
          <a:ln>
            <a:noFill/>
          </a:ln>
          <a:effectLst/>
        </p:spPr>
        <p:txBody>
          <a:bodyPr/>
          <a:lstStyle>
            <a:lvl1pPr>
              <a:defRPr>
                <a:solidFill>
                  <a:schemeClr val="tx1"/>
                </a:solidFill>
                <a:latin typeface="Segoe UI" pitchFamily="34" charset="0"/>
                <a:ea typeface="微软雅黑" pitchFamily="34" charset="-122"/>
              </a:defRPr>
            </a:lvl1pPr>
            <a:lvl2pPr marL="742950" indent="-285750">
              <a:defRPr>
                <a:solidFill>
                  <a:schemeClr val="tx1"/>
                </a:solidFill>
                <a:latin typeface="Segoe UI" pitchFamily="34" charset="0"/>
                <a:ea typeface="微软雅黑" pitchFamily="34" charset="-122"/>
              </a:defRPr>
            </a:lvl2pPr>
            <a:lvl3pPr marL="1143000" indent="-228600">
              <a:defRPr>
                <a:solidFill>
                  <a:schemeClr val="tx1"/>
                </a:solidFill>
                <a:latin typeface="Segoe UI" pitchFamily="34" charset="0"/>
                <a:ea typeface="微软雅黑" pitchFamily="34" charset="-122"/>
              </a:defRPr>
            </a:lvl3pPr>
            <a:lvl4pPr marL="1600200" indent="-228600">
              <a:defRPr>
                <a:solidFill>
                  <a:schemeClr val="tx1"/>
                </a:solidFill>
                <a:latin typeface="Segoe UI" pitchFamily="34" charset="0"/>
                <a:ea typeface="微软雅黑" pitchFamily="34" charset="-122"/>
              </a:defRPr>
            </a:lvl4pPr>
            <a:lvl5pPr marL="2057400" indent="-228600">
              <a:defRPr>
                <a:solidFill>
                  <a:schemeClr val="tx1"/>
                </a:solidFill>
                <a:latin typeface="Segoe UI" pitchFamily="34" charset="0"/>
                <a:ea typeface="微软雅黑" pitchFamily="34" charset="-122"/>
              </a:defRPr>
            </a:lvl5pPr>
            <a:lvl6pPr marL="25146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6pPr>
            <a:lvl7pPr marL="29718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7pPr>
            <a:lvl8pPr marL="34290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8pPr>
            <a:lvl9pPr marL="38862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9pPr>
          </a:lstStyle>
          <a:p>
            <a:pPr eaLnBrk="1" fontAlgn="auto" hangingPunct="1">
              <a:spcBef>
                <a:spcPts val="0"/>
              </a:spcBef>
              <a:spcAft>
                <a:spcPts val="0"/>
              </a:spcAft>
              <a:defRPr/>
            </a:pPr>
            <a:endParaRPr lang="zh-CN" altLang="en-US"/>
          </a:p>
        </p:txBody>
      </p:sp>
      <p:sp>
        <p:nvSpPr>
          <p:cNvPr id="16" name="圆角矩形 23">
            <a:extLst>
              <a:ext uri="{FF2B5EF4-FFF2-40B4-BE49-F238E27FC236}">
                <a16:creationId xmlns:a16="http://schemas.microsoft.com/office/drawing/2014/main" id="{8787BD24-86F6-425A-ACC9-8F80E06EE2DB}"/>
              </a:ext>
            </a:extLst>
          </p:cNvPr>
          <p:cNvSpPr>
            <a:spLocks noChangeArrowheads="1"/>
          </p:cNvSpPr>
          <p:nvPr/>
        </p:nvSpPr>
        <p:spPr bwMode="auto">
          <a:xfrm>
            <a:off x="250825" y="330200"/>
            <a:ext cx="92075" cy="92075"/>
          </a:xfrm>
          <a:prstGeom prst="roundRect">
            <a:avLst>
              <a:gd name="adj" fmla="val 16667"/>
            </a:avLst>
          </a:prstGeom>
          <a:solidFill>
            <a:srgbClr val="C00000"/>
          </a:solidFill>
          <a:ln>
            <a:noFill/>
          </a:ln>
          <a:ex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defRPr/>
            </a:pPr>
            <a:endParaRPr lang="zh-CN" altLang="en-US">
              <a:latin typeface="Segoe UI" pitchFamily="34" charset="0"/>
              <a:ea typeface="微软雅黑" pitchFamily="34" charset="-122"/>
            </a:endParaRPr>
          </a:p>
        </p:txBody>
      </p:sp>
      <p:sp>
        <p:nvSpPr>
          <p:cNvPr id="17" name="圆角矩形 24">
            <a:extLst>
              <a:ext uri="{FF2B5EF4-FFF2-40B4-BE49-F238E27FC236}">
                <a16:creationId xmlns:a16="http://schemas.microsoft.com/office/drawing/2014/main" id="{420069A1-55D3-41DE-93CB-BF59A01CFBD0}"/>
              </a:ext>
            </a:extLst>
          </p:cNvPr>
          <p:cNvSpPr>
            <a:spLocks noChangeArrowheads="1"/>
          </p:cNvSpPr>
          <p:nvPr/>
        </p:nvSpPr>
        <p:spPr bwMode="auto">
          <a:xfrm>
            <a:off x="250825" y="441325"/>
            <a:ext cx="92075" cy="92075"/>
          </a:xfrm>
          <a:prstGeom prst="roundRect">
            <a:avLst>
              <a:gd name="adj" fmla="val 16667"/>
            </a:avLst>
          </a:prstGeom>
          <a:solidFill>
            <a:srgbClr val="157CE7"/>
          </a:solidFill>
          <a:ln>
            <a:noFill/>
          </a:ln>
          <a:effectLst/>
        </p:spPr>
        <p:txBody>
          <a:bodyPr/>
          <a:lstStyle>
            <a:lvl1pPr>
              <a:defRPr>
                <a:solidFill>
                  <a:schemeClr val="tx1"/>
                </a:solidFill>
                <a:latin typeface="Segoe UI" pitchFamily="34" charset="0"/>
                <a:ea typeface="微软雅黑" pitchFamily="34" charset="-122"/>
              </a:defRPr>
            </a:lvl1pPr>
            <a:lvl2pPr marL="742950" indent="-285750">
              <a:defRPr>
                <a:solidFill>
                  <a:schemeClr val="tx1"/>
                </a:solidFill>
                <a:latin typeface="Segoe UI" pitchFamily="34" charset="0"/>
                <a:ea typeface="微软雅黑" pitchFamily="34" charset="-122"/>
              </a:defRPr>
            </a:lvl2pPr>
            <a:lvl3pPr marL="1143000" indent="-228600">
              <a:defRPr>
                <a:solidFill>
                  <a:schemeClr val="tx1"/>
                </a:solidFill>
                <a:latin typeface="Segoe UI" pitchFamily="34" charset="0"/>
                <a:ea typeface="微软雅黑" pitchFamily="34" charset="-122"/>
              </a:defRPr>
            </a:lvl3pPr>
            <a:lvl4pPr marL="1600200" indent="-228600">
              <a:defRPr>
                <a:solidFill>
                  <a:schemeClr val="tx1"/>
                </a:solidFill>
                <a:latin typeface="Segoe UI" pitchFamily="34" charset="0"/>
                <a:ea typeface="微软雅黑" pitchFamily="34" charset="-122"/>
              </a:defRPr>
            </a:lvl4pPr>
            <a:lvl5pPr marL="2057400" indent="-228600">
              <a:defRPr>
                <a:solidFill>
                  <a:schemeClr val="tx1"/>
                </a:solidFill>
                <a:latin typeface="Segoe UI" pitchFamily="34" charset="0"/>
                <a:ea typeface="微软雅黑" pitchFamily="34" charset="-122"/>
              </a:defRPr>
            </a:lvl5pPr>
            <a:lvl6pPr marL="25146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6pPr>
            <a:lvl7pPr marL="29718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7pPr>
            <a:lvl8pPr marL="34290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8pPr>
            <a:lvl9pPr marL="3886200" indent="-228600" eaLnBrk="0" fontAlgn="base" hangingPunct="0">
              <a:spcBef>
                <a:spcPct val="0"/>
              </a:spcBef>
              <a:spcAft>
                <a:spcPct val="0"/>
              </a:spcAft>
              <a:buFont typeface="Arial" charset="0"/>
              <a:defRPr>
                <a:solidFill>
                  <a:schemeClr val="tx1"/>
                </a:solidFill>
                <a:latin typeface="Segoe UI" pitchFamily="34" charset="0"/>
                <a:ea typeface="微软雅黑" pitchFamily="34" charset="-122"/>
              </a:defRPr>
            </a:lvl9pPr>
          </a:lstStyle>
          <a:p>
            <a:pPr eaLnBrk="1" fontAlgn="auto" hangingPunct="1">
              <a:spcBef>
                <a:spcPts val="0"/>
              </a:spcBef>
              <a:spcAft>
                <a:spcPts val="0"/>
              </a:spcAft>
              <a:defRPr/>
            </a:pPr>
            <a:endParaRPr lang="zh-CN" altLang="en-US"/>
          </a:p>
        </p:txBody>
      </p:sp>
      <p:sp>
        <p:nvSpPr>
          <p:cNvPr id="18" name="矩形 17">
            <a:extLst>
              <a:ext uri="{FF2B5EF4-FFF2-40B4-BE49-F238E27FC236}">
                <a16:creationId xmlns:a16="http://schemas.microsoft.com/office/drawing/2014/main" id="{F1A8E3D0-CCEB-4B5E-8B27-919AFA95E6A0}"/>
              </a:ext>
            </a:extLst>
          </p:cNvPr>
          <p:cNvSpPr/>
          <p:nvPr userDrawn="1"/>
        </p:nvSpPr>
        <p:spPr bwMode="auto">
          <a:xfrm>
            <a:off x="8167688" y="5049838"/>
            <a:ext cx="976312" cy="93662"/>
          </a:xfrm>
          <a:prstGeom prst="rect">
            <a:avLst/>
          </a:prstGeom>
          <a:solidFill>
            <a:schemeClr val="tx1">
              <a:lumMod val="75000"/>
              <a:lumOff val="25000"/>
            </a:schemeClr>
          </a:solidFill>
          <a:ln w="9525" cap="flat" cmpd="sng" algn="ctr">
            <a:noFill/>
            <a:prstDash val="solid"/>
            <a:round/>
            <a:headEnd type="none" w="med" len="med"/>
            <a:tailEnd type="none" w="med" len="med"/>
          </a:ln>
          <a:effectLst/>
          <a:extLst/>
        </p:spPr>
        <p:txBody>
          <a:bodyPr/>
          <a:lstStyle/>
          <a:p>
            <a:pPr>
              <a:buFont typeface="Arial" pitchFamily="34" charset="0"/>
              <a:buNone/>
              <a:defRPr/>
            </a:pPr>
            <a:endParaRPr lang="zh-CN" altLang="en-US">
              <a:latin typeface="Segoe UI" pitchFamily="34" charset="0"/>
              <a:ea typeface="微软雅黑" pitchFamily="34" charset="-122"/>
            </a:endParaRPr>
          </a:p>
        </p:txBody>
      </p:sp>
      <p:sp>
        <p:nvSpPr>
          <p:cNvPr id="19" name="矩形 22">
            <a:extLst>
              <a:ext uri="{FF2B5EF4-FFF2-40B4-BE49-F238E27FC236}">
                <a16:creationId xmlns:a16="http://schemas.microsoft.com/office/drawing/2014/main" id="{27837E06-A90E-45DD-886E-BEEB4297C53B}"/>
              </a:ext>
            </a:extLst>
          </p:cNvPr>
          <p:cNvSpPr>
            <a:spLocks noChangeArrowheads="1"/>
          </p:cNvSpPr>
          <p:nvPr userDrawn="1"/>
        </p:nvSpPr>
        <p:spPr bwMode="auto">
          <a:xfrm>
            <a:off x="0" y="5049838"/>
            <a:ext cx="8101013" cy="93662"/>
          </a:xfrm>
          <a:prstGeom prst="rect">
            <a:avLst/>
          </a:prstGeom>
          <a:solidFill>
            <a:srgbClr val="157CE7"/>
          </a:solidFill>
          <a:ln>
            <a:noFill/>
          </a:ln>
          <a:ex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a:latin typeface="Segoe UI" pitchFamily="34" charset="0"/>
              <a:ea typeface="微软雅黑" pitchFamily="34"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Lst>
  <p:txStyles>
    <p:titleStyle>
      <a:lvl1pPr algn="l" rtl="0" eaLnBrk="0" fontAlgn="base" hangingPunct="0">
        <a:spcBef>
          <a:spcPct val="0"/>
        </a:spcBef>
        <a:spcAft>
          <a:spcPct val="0"/>
        </a:spcAft>
        <a:defRPr sz="24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2400" b="1">
          <a:solidFill>
            <a:schemeClr val="tx1"/>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2400" b="1">
          <a:solidFill>
            <a:schemeClr val="tx1"/>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rtl="0" eaLnBrk="0" fontAlgn="base" hangingPunct="0">
        <a:spcBef>
          <a:spcPct val="20000"/>
        </a:spcBef>
        <a:spcAft>
          <a:spcPct val="0"/>
        </a:spcAft>
        <a:buFont typeface="Arial" charset="0"/>
        <a:buChar char="•"/>
        <a:defRPr sz="1400" b="1" kern="1200">
          <a:solidFill>
            <a:schemeClr val="tx1"/>
          </a:solidFill>
          <a:latin typeface="黑体" panose="02010609060101010101" pitchFamily="49" charset="-122"/>
          <a:ea typeface="黑体" panose="02010609060101010101" pitchFamily="49" charset="-122"/>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19" name="直接连接符 8">
            <a:extLst>
              <a:ext uri="{FF2B5EF4-FFF2-40B4-BE49-F238E27FC236}">
                <a16:creationId xmlns:a16="http://schemas.microsoft.com/office/drawing/2014/main" id="{6A6DDDBA-3BB1-446F-BB66-97BE0F04FC78}"/>
              </a:ext>
            </a:extLst>
          </p:cNvPr>
          <p:cNvCxnSpPr/>
          <p:nvPr userDrawn="1"/>
        </p:nvCxnSpPr>
        <p:spPr bwMode="auto">
          <a:xfrm>
            <a:off x="1476375" y="2208213"/>
            <a:ext cx="165576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9">
            <a:extLst>
              <a:ext uri="{FF2B5EF4-FFF2-40B4-BE49-F238E27FC236}">
                <a16:creationId xmlns:a16="http://schemas.microsoft.com/office/drawing/2014/main" id="{22BB1451-6442-449A-A55C-58F5FE8378F1}"/>
              </a:ext>
            </a:extLst>
          </p:cNvPr>
          <p:cNvCxnSpPr/>
          <p:nvPr userDrawn="1"/>
        </p:nvCxnSpPr>
        <p:spPr bwMode="auto">
          <a:xfrm>
            <a:off x="5795963" y="2208213"/>
            <a:ext cx="165576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4100" name="组合 1"/>
          <p:cNvGrpSpPr>
            <a:grpSpLocks/>
          </p:cNvGrpSpPr>
          <p:nvPr userDrawn="1"/>
        </p:nvGrpSpPr>
        <p:grpSpPr bwMode="auto">
          <a:xfrm>
            <a:off x="3295650" y="1984375"/>
            <a:ext cx="2552700" cy="447675"/>
            <a:chOff x="3267069" y="2039086"/>
            <a:chExt cx="2553387" cy="446204"/>
          </a:xfrm>
        </p:grpSpPr>
        <p:pic>
          <p:nvPicPr>
            <p:cNvPr id="4102" name="图片 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75182" y="2039087"/>
              <a:ext cx="1545274" cy="44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6"/>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267069" y="2039086"/>
              <a:ext cx="1072873" cy="446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1" name="文本框 23">
            <a:extLst>
              <a:ext uri="{FF2B5EF4-FFF2-40B4-BE49-F238E27FC236}">
                <a16:creationId xmlns:a16="http://schemas.microsoft.com/office/drawing/2014/main" id="{08ECFE6E-4BBB-47AF-8310-F7E3C2105F57}"/>
              </a:ext>
            </a:extLst>
          </p:cNvPr>
          <p:cNvSpPr txBox="1">
            <a:spLocks noChangeArrowheads="1"/>
          </p:cNvSpPr>
          <p:nvPr userDrawn="1"/>
        </p:nvSpPr>
        <p:spPr bwMode="auto">
          <a:xfrm>
            <a:off x="3492500" y="2430463"/>
            <a:ext cx="20304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defRPr/>
            </a:pPr>
            <a:r>
              <a:rPr kumimoji="1" lang="zh-CN" altLang="en-US" sz="1200">
                <a:solidFill>
                  <a:srgbClr val="595959"/>
                </a:solidFill>
                <a:ea typeface="黑体" charset="-122"/>
              </a:rPr>
              <a:t>一样的教育，不一样的品质</a:t>
            </a:r>
          </a:p>
        </p:txBody>
      </p:sp>
    </p:spTree>
  </p:cSld>
  <p:clrMap bg1="lt1" tx1="dk1" bg2="lt2" tx2="dk2" accent1="accent1" accent2="accent2" accent3="accent3" accent4="accent4" accent5="accent5" accent6="accent6" hlink="hlink" folHlink="folHlink"/>
  <p:sldLayoutIdLst>
    <p:sldLayoutId id="2147483672"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文本框 2"/>
          <p:cNvSpPr txBox="1">
            <a:spLocks noChangeArrowheads="1"/>
          </p:cNvSpPr>
          <p:nvPr/>
        </p:nvSpPr>
        <p:spPr bwMode="auto">
          <a:xfrm>
            <a:off x="-2413000" y="192405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gn="ctr" eaLnBrk="1"/>
            <a:r>
              <a:rPr lang="ko-KR" altLang="en-US" sz="3600" b="1">
                <a:solidFill>
                  <a:srgbClr val="595959"/>
                </a:solidFill>
                <a:latin typeface="微软雅黑" charset="-122"/>
                <a:ea typeface="微软雅黑" charset="-122"/>
              </a:rPr>
              <a:t>自然语言处理概述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MH_Others_1"/>
          <p:cNvSpPr txBox="1">
            <a:spLocks noChangeArrowheads="1"/>
          </p:cNvSpPr>
          <p:nvPr>
            <p:custDataLst>
              <p:tags r:id="rId1"/>
            </p:custDataLst>
          </p:nvPr>
        </p:nvSpPr>
        <p:spPr bwMode="auto">
          <a:xfrm>
            <a:off x="1958975" y="1917700"/>
            <a:ext cx="644525"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68580" tIns="34290" rIns="68580" bIns="34290"/>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eaLnBrk="1" hangingPunct="1">
              <a:buFont typeface="Arial" charset="0"/>
              <a:buNone/>
            </a:pPr>
            <a:r>
              <a:rPr lang="en-US" altLang="zh-CN" sz="3600">
                <a:solidFill>
                  <a:srgbClr val="C00000"/>
                </a:solidFill>
                <a:latin typeface="微软雅黑" charset="-122"/>
                <a:ea typeface="微软雅黑" charset="-122"/>
              </a:rPr>
              <a:t>Contents</a:t>
            </a:r>
          </a:p>
        </p:txBody>
      </p:sp>
      <p:sp>
        <p:nvSpPr>
          <p:cNvPr id="7" name="MH_Others_2">
            <a:extLst>
              <a:ext uri="{FF2B5EF4-FFF2-40B4-BE49-F238E27FC236}">
                <a16:creationId xmlns:a16="http://schemas.microsoft.com/office/drawing/2014/main" id="{4BF6CC53-F7EE-4480-B728-7DC9971BF7A3}"/>
              </a:ext>
            </a:extLst>
          </p:cNvPr>
          <p:cNvSpPr>
            <a:spLocks noChangeArrowheads="1"/>
          </p:cNvSpPr>
          <p:nvPr>
            <p:custDataLst>
              <p:tags r:id="rId2"/>
            </p:custDataLst>
          </p:nvPr>
        </p:nvSpPr>
        <p:spPr bwMode="auto">
          <a:xfrm>
            <a:off x="1698625" y="915988"/>
            <a:ext cx="936625" cy="935037"/>
          </a:xfrm>
          <a:prstGeom prst="ellipse">
            <a:avLst/>
          </a:prstGeom>
          <a:solidFill>
            <a:schemeClr val="tx1">
              <a:lumMod val="75000"/>
              <a:lumOff val="25000"/>
            </a:schemeClr>
          </a:solidFill>
          <a:ln w="0">
            <a:solidFill>
              <a:srgbClr val="FFFFFF">
                <a:alpha val="49000"/>
              </a:srgbClr>
            </a:solidFill>
          </a:ln>
        </p:spPr>
        <p:txBody>
          <a:bodyPr lIns="68580" tIns="34290" rIns="68580" bIns="13500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ts val="7000"/>
              </a:lnSpc>
              <a:spcBef>
                <a:spcPct val="0"/>
              </a:spcBef>
              <a:buFont typeface="Arial" panose="020B0604020202020204" pitchFamily="34" charset="0"/>
              <a:buNone/>
              <a:defRPr/>
            </a:pPr>
            <a:r>
              <a:rPr lang="zh-CN" altLang="en-US" sz="4400" b="1" dirty="0">
                <a:solidFill>
                  <a:srgbClr val="FFFFFF"/>
                </a:solidFill>
                <a:latin typeface="微软雅黑" panose="020B0503020204020204" pitchFamily="34" charset="-122"/>
                <a:ea typeface="微软雅黑" panose="020B0503020204020204" pitchFamily="34" charset="-122"/>
                <a:sym typeface="+mn-ea"/>
              </a:rPr>
              <a:t>目</a:t>
            </a:r>
          </a:p>
        </p:txBody>
      </p:sp>
      <p:sp>
        <p:nvSpPr>
          <p:cNvPr id="8" name="MH_Others_3">
            <a:extLst>
              <a:ext uri="{FF2B5EF4-FFF2-40B4-BE49-F238E27FC236}">
                <a16:creationId xmlns:a16="http://schemas.microsoft.com/office/drawing/2014/main" id="{029306D2-32B9-4DD5-97A0-DE0CF47F2A3C}"/>
              </a:ext>
            </a:extLst>
          </p:cNvPr>
          <p:cNvSpPr>
            <a:spLocks noChangeArrowheads="1"/>
          </p:cNvSpPr>
          <p:nvPr>
            <p:custDataLst>
              <p:tags r:id="rId3"/>
            </p:custDataLst>
          </p:nvPr>
        </p:nvSpPr>
        <p:spPr bwMode="auto">
          <a:xfrm>
            <a:off x="1331640" y="1759696"/>
            <a:ext cx="734366" cy="734366"/>
          </a:xfrm>
          <a:prstGeom prst="ellipse">
            <a:avLst/>
          </a:prstGeom>
          <a:noFill/>
          <a:ln>
            <a:noFill/>
          </a:ln>
        </p:spPr>
        <p:txBody>
          <a:bodyPr lIns="68580" tIns="34290" rIns="68580" bIns="3429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defRPr/>
            </a:pPr>
            <a:r>
              <a:rPr lang="zh-CN" altLang="en-US" sz="4400" b="1" dirty="0">
                <a:ln w="3175">
                  <a:solidFill>
                    <a:srgbClr val="FFFFFF"/>
                  </a:solidFill>
                </a:ln>
                <a:solidFill>
                  <a:schemeClr val="tx1">
                    <a:lumMod val="85000"/>
                    <a:lumOff val="15000"/>
                  </a:schemeClr>
                </a:solidFill>
                <a:latin typeface="微软雅黑" panose="020B0503020204020204" pitchFamily="34" charset="-122"/>
                <a:ea typeface="微软雅黑" panose="020B0503020204020204" pitchFamily="34" charset="-122"/>
                <a:sym typeface="+mn-ea"/>
              </a:rPr>
              <a:t>录</a:t>
            </a:r>
          </a:p>
        </p:txBody>
      </p:sp>
      <p:sp>
        <p:nvSpPr>
          <p:cNvPr id="8196" name="TextBox 9"/>
          <p:cNvSpPr txBox="1">
            <a:spLocks noChangeArrowheads="1"/>
          </p:cNvSpPr>
          <p:nvPr/>
        </p:nvSpPr>
        <p:spPr bwMode="auto">
          <a:xfrm>
            <a:off x="3633788" y="1035050"/>
            <a:ext cx="431958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eaLnBrk="1">
              <a:lnSpc>
                <a:spcPct val="200000"/>
              </a:lnSpc>
              <a:buClr>
                <a:srgbClr val="262626"/>
              </a:buClr>
              <a:buSzPct val="100000"/>
              <a:buFont typeface="Wingdings" charset="2"/>
              <a:buChar char="u"/>
            </a:pPr>
            <a:r>
              <a:rPr lang="ko-KR" altLang="en-US" sz="1400">
                <a:solidFill>
                  <a:srgbClr val="262626"/>
                </a:solidFill>
                <a:latin typeface="微软雅黑" charset="-122"/>
                <a:ea typeface="微软雅黑" charset="-122"/>
              </a:rPr>
              <a:t> 人工智能相关概念</a:t>
            </a:r>
          </a:p>
          <a:p>
            <a:pPr eaLnBrk="1">
              <a:lnSpc>
                <a:spcPct val="200000"/>
              </a:lnSpc>
              <a:buClr>
                <a:srgbClr val="262626"/>
              </a:buClr>
              <a:buSzPct val="100000"/>
              <a:buFont typeface="Wingdings" charset="2"/>
              <a:buChar char="u"/>
            </a:pPr>
            <a:r>
              <a:rPr lang="ko-KR" altLang="en-US" sz="1400">
                <a:solidFill>
                  <a:srgbClr val="262626"/>
                </a:solidFill>
                <a:latin typeface="微软雅黑" charset="-122"/>
                <a:ea typeface="微软雅黑" charset="-122"/>
              </a:rPr>
              <a:t> 机器学习的分类</a:t>
            </a:r>
          </a:p>
          <a:p>
            <a:pPr eaLnBrk="1">
              <a:lnSpc>
                <a:spcPct val="200000"/>
              </a:lnSpc>
              <a:buClr>
                <a:srgbClr val="262626"/>
              </a:buClr>
              <a:buSzPct val="100000"/>
              <a:buFont typeface="Wingdings" charset="2"/>
              <a:buChar char="u"/>
            </a:pPr>
            <a:r>
              <a:rPr lang="ko-KR" altLang="en-US" sz="1400">
                <a:solidFill>
                  <a:srgbClr val="262626"/>
                </a:solidFill>
                <a:latin typeface="微软雅黑" charset="-122"/>
                <a:ea typeface="微软雅黑" charset="-122"/>
              </a:rPr>
              <a:t> 常见任务介绍</a:t>
            </a:r>
          </a:p>
          <a:p>
            <a:pPr eaLnBrk="1">
              <a:lnSpc>
                <a:spcPct val="200000"/>
              </a:lnSpc>
              <a:buClr>
                <a:srgbClr val="262626"/>
              </a:buClr>
              <a:buSzPct val="100000"/>
              <a:buFont typeface="Wingdings" charset="2"/>
              <a:buChar char="u"/>
            </a:pPr>
            <a:r>
              <a:rPr lang="ko-KR" altLang="en-US" sz="1400">
                <a:solidFill>
                  <a:srgbClr val="262626"/>
                </a:solidFill>
                <a:latin typeface="微软雅黑" charset="-122"/>
                <a:ea typeface="微软雅黑" charset="-122"/>
              </a:rPr>
              <a:t> 常见流程介绍</a:t>
            </a:r>
          </a:p>
          <a:p>
            <a:pPr eaLnBrk="1">
              <a:lnSpc>
                <a:spcPct val="200000"/>
              </a:lnSpc>
              <a:buClr>
                <a:srgbClr val="262626"/>
              </a:buClr>
              <a:buSzPct val="100000"/>
              <a:buFont typeface="Wingdings" charset="2"/>
              <a:buChar char="u"/>
            </a:pPr>
            <a:r>
              <a:rPr lang="ko-KR" altLang="en-US" sz="1400">
                <a:solidFill>
                  <a:srgbClr val="262626"/>
                </a:solidFill>
                <a:latin typeface="微软雅黑" charset="-122"/>
                <a:ea typeface="微软雅黑" charset="-122"/>
              </a:rPr>
              <a:t> NLP的概念</a:t>
            </a:r>
          </a:p>
          <a:p>
            <a:pPr eaLnBrk="1">
              <a:lnSpc>
                <a:spcPct val="200000"/>
              </a:lnSpc>
              <a:buClr>
                <a:srgbClr val="262626"/>
              </a:buClr>
              <a:buSzPct val="100000"/>
              <a:buFont typeface="Wingdings" charset="2"/>
              <a:buChar char="u"/>
            </a:pPr>
            <a:r>
              <a:rPr lang="zh-CN" altLang="en-US" sz="1400">
                <a:solidFill>
                  <a:srgbClr val="262626"/>
                </a:solidFill>
                <a:latin typeface="微软雅黑" charset="-122"/>
                <a:ea typeface="微软雅黑" charset="-122"/>
              </a:rPr>
              <a:t> </a:t>
            </a:r>
            <a:r>
              <a:rPr lang="ko-KR" altLang="en-US" sz="1400">
                <a:solidFill>
                  <a:srgbClr val="262626"/>
                </a:solidFill>
                <a:latin typeface="微软雅黑" charset="-122"/>
                <a:ea typeface="微软雅黑" charset="-122"/>
              </a:rPr>
              <a:t>语言模型的介绍  </a:t>
            </a:r>
          </a:p>
        </p:txBody>
      </p:sp>
    </p:spTree>
    <p:extLst>
      <p:ext uri="{BB962C8B-B14F-4D97-AF65-F5344CB8AC3E}">
        <p14:creationId xmlns:p14="http://schemas.microsoft.com/office/powerpoint/2010/main" val="177044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17" name="Line 1"/>
          <p:cNvCxnSpPr>
            <a:cxnSpLocks noChangeShapeType="1"/>
          </p:cNvCxnSpPr>
          <p:nvPr/>
        </p:nvCxnSpPr>
        <p:spPr bwMode="auto">
          <a:xfrm>
            <a:off x="4355976" y="2859782"/>
            <a:ext cx="0" cy="1782762"/>
          </a:xfrm>
          <a:prstGeom prst="line">
            <a:avLst/>
          </a:prstGeom>
          <a:noFill/>
          <a:ln w="12700" cap="rnd">
            <a:solidFill>
              <a:srgbClr val="BFBFBF"/>
            </a:solidFill>
            <a:prstDash val="sysDash"/>
            <a:round/>
            <a:headEnd/>
            <a:tailEnd/>
          </a:ln>
          <a:extLst>
            <a:ext uri="{909E8E84-426E-40DD-AFC4-6F175D3DCCD1}">
              <a14:hiddenFill xmlns:a14="http://schemas.microsoft.com/office/drawing/2010/main">
                <a:noFill/>
              </a14:hiddenFill>
            </a:ext>
          </a:extLst>
        </p:spPr>
      </p:cxnSp>
      <p:sp>
        <p:nvSpPr>
          <p:cNvPr id="9218"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ko-KR" altLang="en-US" sz="2400" b="1">
                <a:solidFill>
                  <a:srgbClr val="595959"/>
                </a:solidFill>
                <a:latin typeface="微软雅黑" charset="-122"/>
                <a:ea typeface="微软雅黑" charset="-122"/>
              </a:rPr>
              <a:t>人工智能相关概念</a:t>
            </a:r>
          </a:p>
        </p:txBody>
      </p:sp>
      <p:sp>
        <p:nvSpPr>
          <p:cNvPr id="9219" name="Text Box 3"/>
          <p:cNvSpPr txBox="1">
            <a:spLocks noChangeArrowheads="1"/>
          </p:cNvSpPr>
          <p:nvPr/>
        </p:nvSpPr>
        <p:spPr bwMode="auto">
          <a:xfrm>
            <a:off x="651113" y="1229142"/>
            <a:ext cx="35147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b="1">
                <a:solidFill>
                  <a:srgbClr val="404040"/>
                </a:solidFill>
                <a:latin typeface="微软雅黑" charset="-122"/>
                <a:ea typeface="微软雅黑" charset="-122"/>
              </a:rPr>
              <a:t>人工智能</a:t>
            </a:r>
          </a:p>
        </p:txBody>
      </p:sp>
      <p:sp>
        <p:nvSpPr>
          <p:cNvPr id="9220" name="Text Box 4"/>
          <p:cNvSpPr txBox="1">
            <a:spLocks noChangeArrowheads="1"/>
          </p:cNvSpPr>
          <p:nvPr/>
        </p:nvSpPr>
        <p:spPr bwMode="auto">
          <a:xfrm>
            <a:off x="651113" y="1760954"/>
            <a:ext cx="600911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sz="1000">
                <a:solidFill>
                  <a:srgbClr val="262626"/>
                </a:solidFill>
                <a:latin typeface="微软雅黑" charset="-122"/>
                <a:ea typeface="微软雅黑" charset="-122"/>
              </a:rPr>
              <a:t>人工智能的概念早在1956年就被提出，当时的科学家希望用在当时刚出来不久的</a:t>
            </a:r>
            <a:r>
              <a:rPr lang="ko-KR" altLang="en-US" sz="1000">
                <a:solidFill>
                  <a:srgbClr val="FF0000"/>
                </a:solidFill>
                <a:latin typeface="微软雅黑" charset="-122"/>
                <a:ea typeface="微软雅黑" charset="-122"/>
              </a:rPr>
              <a:t>计算机来构造复杂的，拥有和人一样的智慧机器</a:t>
            </a:r>
            <a:r>
              <a:rPr lang="ko-KR" altLang="en-US" sz="1000">
                <a:solidFill>
                  <a:srgbClr val="262626"/>
                </a:solidFill>
                <a:latin typeface="微软雅黑" charset="-122"/>
                <a:ea typeface="微软雅黑" charset="-122"/>
              </a:rPr>
              <a:t>，这就是最早的人工智能雏形。</a:t>
            </a:r>
          </a:p>
        </p:txBody>
      </p:sp>
      <p:sp>
        <p:nvSpPr>
          <p:cNvPr id="9221" name="Text Box 5"/>
          <p:cNvSpPr txBox="1">
            <a:spLocks noChangeArrowheads="1"/>
          </p:cNvSpPr>
          <p:nvPr/>
        </p:nvSpPr>
        <p:spPr bwMode="auto">
          <a:xfrm>
            <a:off x="611147" y="3225006"/>
            <a:ext cx="351472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sz="1000">
                <a:solidFill>
                  <a:srgbClr val="262626"/>
                </a:solidFill>
                <a:latin typeface="微软雅黑" charset="-122"/>
                <a:ea typeface="微软雅黑" charset="-122"/>
              </a:rPr>
              <a:t>机器学习是实现人工智能的一种具体的方法。它</a:t>
            </a:r>
            <a:r>
              <a:rPr lang="ko-KR" altLang="en-US" sz="1000">
                <a:solidFill>
                  <a:srgbClr val="FF0000"/>
                </a:solidFill>
                <a:latin typeface="微软雅黑" charset="-122"/>
                <a:ea typeface="微软雅黑" charset="-122"/>
              </a:rPr>
              <a:t>使用算法从数据中进行学习，尝试从数据中找到一种能够拟合这些数据的模型，从而达到使用这个模型对未知的数据进行预测的目的。</a:t>
            </a:r>
          </a:p>
          <a:p>
            <a:pPr>
              <a:lnSpc>
                <a:spcPct val="150000"/>
              </a:lnSpc>
            </a:pPr>
            <a:endParaRPr lang="ko-KR" altLang="en-US" sz="1000">
              <a:solidFill>
                <a:srgbClr val="000000"/>
              </a:solidFill>
            </a:endParaRPr>
          </a:p>
        </p:txBody>
      </p:sp>
      <p:sp>
        <p:nvSpPr>
          <p:cNvPr id="9222" name="Text Box 6"/>
          <p:cNvSpPr txBox="1">
            <a:spLocks noChangeArrowheads="1"/>
          </p:cNvSpPr>
          <p:nvPr/>
        </p:nvSpPr>
        <p:spPr bwMode="auto">
          <a:xfrm>
            <a:off x="611147" y="2845594"/>
            <a:ext cx="35147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sz="1400" b="1">
                <a:solidFill>
                  <a:srgbClr val="262626"/>
                </a:solidFill>
                <a:latin typeface="微软雅黑" charset="-122"/>
                <a:ea typeface="微软雅黑" charset="-122"/>
              </a:rPr>
              <a:t>机器学习</a:t>
            </a:r>
          </a:p>
        </p:txBody>
      </p:sp>
      <p:sp>
        <p:nvSpPr>
          <p:cNvPr id="9223" name="Text Box 7"/>
          <p:cNvSpPr txBox="1">
            <a:spLocks noChangeArrowheads="1"/>
          </p:cNvSpPr>
          <p:nvPr/>
        </p:nvSpPr>
        <p:spPr bwMode="auto">
          <a:xfrm>
            <a:off x="4633912" y="3225006"/>
            <a:ext cx="3893194"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sz="1000">
                <a:solidFill>
                  <a:srgbClr val="262626"/>
                </a:solidFill>
                <a:latin typeface="微软雅黑" charset="-122"/>
                <a:ea typeface="微软雅黑" charset="-122"/>
              </a:rPr>
              <a:t>2012年之后，由于数据量的增加、计算能力的提升和机器学习新算法（深度学习）的出现，人工智能开始大爆发。深度学习并不是新的学习方法，他使用的方法也是类似机器学习的手段，</a:t>
            </a:r>
            <a:r>
              <a:rPr lang="ko-KR" altLang="en-US" sz="1000">
                <a:solidFill>
                  <a:srgbClr val="FF0000"/>
                </a:solidFill>
                <a:latin typeface="微软雅黑" charset="-122"/>
                <a:ea typeface="微软雅黑" charset="-122"/>
              </a:rPr>
              <a:t>区别在于深度学习通过深度神经网络来对数据的特征进行学习和表达</a:t>
            </a:r>
            <a:r>
              <a:rPr lang="ko-KR" altLang="en-US" sz="1000">
                <a:solidFill>
                  <a:srgbClr val="262626"/>
                </a:solidFill>
                <a:latin typeface="微软雅黑" charset="-122"/>
                <a:ea typeface="微软雅黑" charset="-122"/>
              </a:rPr>
              <a:t>。</a:t>
            </a:r>
          </a:p>
          <a:p>
            <a:pPr>
              <a:lnSpc>
                <a:spcPct val="150000"/>
              </a:lnSpc>
            </a:pPr>
            <a:endParaRPr lang="ko-KR" altLang="en-US" sz="1000">
              <a:solidFill>
                <a:srgbClr val="000000"/>
              </a:solidFill>
            </a:endParaRPr>
          </a:p>
        </p:txBody>
      </p:sp>
      <p:sp>
        <p:nvSpPr>
          <p:cNvPr id="9224" name="Text Box 8"/>
          <p:cNvSpPr txBox="1">
            <a:spLocks noChangeArrowheads="1"/>
          </p:cNvSpPr>
          <p:nvPr/>
        </p:nvSpPr>
        <p:spPr bwMode="auto">
          <a:xfrm>
            <a:off x="4635499" y="2845594"/>
            <a:ext cx="2573338"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sz="1400" b="1">
                <a:solidFill>
                  <a:srgbClr val="262626"/>
                </a:solidFill>
                <a:latin typeface="微软雅黑" charset="-122"/>
                <a:ea typeface="微软雅黑" charset="-122"/>
              </a:rPr>
              <a:t>深度学习</a:t>
            </a:r>
          </a:p>
        </p:txBody>
      </p:sp>
      <p:grpSp>
        <p:nvGrpSpPr>
          <p:cNvPr id="9" name="组 8"/>
          <p:cNvGrpSpPr/>
          <p:nvPr/>
        </p:nvGrpSpPr>
        <p:grpSpPr>
          <a:xfrm>
            <a:off x="7003315" y="864879"/>
            <a:ext cx="1649412" cy="2297113"/>
            <a:chOff x="6883400" y="790575"/>
            <a:chExt cx="1649412" cy="2297113"/>
          </a:xfrm>
        </p:grpSpPr>
        <p:sp>
          <p:nvSpPr>
            <p:cNvPr id="9226" name="Oval 9"/>
            <p:cNvSpPr>
              <a:spLocks/>
            </p:cNvSpPr>
            <p:nvPr/>
          </p:nvSpPr>
          <p:spPr bwMode="auto">
            <a:xfrm>
              <a:off x="6883400" y="790575"/>
              <a:ext cx="1649412" cy="2297113"/>
            </a:xfrm>
            <a:prstGeom prst="ellipse">
              <a:avLst/>
            </a:prstGeom>
            <a:solidFill>
              <a:srgbClr val="FFFFFF"/>
            </a:solidFill>
            <a:ln w="25400">
              <a:solidFill>
                <a:srgbClr val="385D8A"/>
              </a:solidFill>
              <a:round/>
              <a:headEnd/>
              <a:tailEnd/>
            </a:ln>
          </p:spPr>
          <p:txBody>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endParaRPr lang="zh-CN" altLang="en-US"/>
            </a:p>
          </p:txBody>
        </p:sp>
        <p:sp>
          <p:nvSpPr>
            <p:cNvPr id="15" name="Text Box 12"/>
            <p:cNvSpPr txBox="1">
              <a:spLocks noChangeArrowheads="1"/>
            </p:cNvSpPr>
            <p:nvPr/>
          </p:nvSpPr>
          <p:spPr bwMode="auto">
            <a:xfrm>
              <a:off x="7299275" y="885667"/>
              <a:ext cx="8731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r>
                <a:rPr lang="ko-KR" altLang="en-US" sz="1000">
                  <a:solidFill>
                    <a:srgbClr val="000000"/>
                  </a:solidFill>
                  <a:latin typeface="微软雅黑" charset="-122"/>
                  <a:ea typeface="微软雅黑" charset="-122"/>
                </a:rPr>
                <a:t>  人工智能</a:t>
              </a:r>
              <a:endParaRPr lang="ko-KR" altLang="en-US">
                <a:solidFill>
                  <a:srgbClr val="000000"/>
                </a:solidFill>
              </a:endParaRPr>
            </a:p>
          </p:txBody>
        </p:sp>
      </p:grpSp>
      <p:grpSp>
        <p:nvGrpSpPr>
          <p:cNvPr id="7" name="组 6"/>
          <p:cNvGrpSpPr/>
          <p:nvPr/>
        </p:nvGrpSpPr>
        <p:grpSpPr>
          <a:xfrm>
            <a:off x="7182702" y="1309672"/>
            <a:ext cx="1270000" cy="1858963"/>
            <a:chOff x="7062787" y="1233488"/>
            <a:chExt cx="1270000" cy="1858963"/>
          </a:xfrm>
        </p:grpSpPr>
        <p:sp>
          <p:nvSpPr>
            <p:cNvPr id="9227" name="Oval 10"/>
            <p:cNvSpPr>
              <a:spLocks/>
            </p:cNvSpPr>
            <p:nvPr/>
          </p:nvSpPr>
          <p:spPr bwMode="auto">
            <a:xfrm>
              <a:off x="7062787" y="1233488"/>
              <a:ext cx="1270000" cy="1858963"/>
            </a:xfrm>
            <a:prstGeom prst="ellipse">
              <a:avLst/>
            </a:prstGeom>
            <a:solidFill>
              <a:srgbClr val="FFFFFF"/>
            </a:solidFill>
            <a:ln w="25400">
              <a:solidFill>
                <a:srgbClr val="385D8A"/>
              </a:solidFill>
              <a:round/>
              <a:headEnd/>
              <a:tailEnd/>
            </a:ln>
          </p:spPr>
          <p:txBody>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endParaRPr lang="zh-CN" altLang="en-US"/>
            </a:p>
          </p:txBody>
        </p:sp>
        <p:sp>
          <p:nvSpPr>
            <p:cNvPr id="9229" name="Text Box 12"/>
            <p:cNvSpPr txBox="1">
              <a:spLocks noChangeArrowheads="1"/>
            </p:cNvSpPr>
            <p:nvPr/>
          </p:nvSpPr>
          <p:spPr bwMode="auto">
            <a:xfrm>
              <a:off x="7271543" y="1327785"/>
              <a:ext cx="8731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gn="ctr"/>
              <a:r>
                <a:rPr lang="ko-KR" altLang="en-US" sz="1000">
                  <a:solidFill>
                    <a:srgbClr val="000000"/>
                  </a:solidFill>
                  <a:latin typeface="微软雅黑" charset="-122"/>
                  <a:ea typeface="微软雅黑" charset="-122"/>
                </a:rPr>
                <a:t>机器学习</a:t>
              </a:r>
              <a:endParaRPr lang="ko-KR" altLang="en-US">
                <a:solidFill>
                  <a:srgbClr val="000000"/>
                </a:solidFill>
              </a:endParaRPr>
            </a:p>
          </p:txBody>
        </p:sp>
      </p:grpSp>
      <p:grpSp>
        <p:nvGrpSpPr>
          <p:cNvPr id="4" name="组 3"/>
          <p:cNvGrpSpPr/>
          <p:nvPr/>
        </p:nvGrpSpPr>
        <p:grpSpPr>
          <a:xfrm>
            <a:off x="7328752" y="1871354"/>
            <a:ext cx="977900" cy="1290638"/>
            <a:chOff x="7219156" y="1795463"/>
            <a:chExt cx="977900" cy="1290638"/>
          </a:xfrm>
        </p:grpSpPr>
        <p:sp>
          <p:nvSpPr>
            <p:cNvPr id="9228" name="Oval 11"/>
            <p:cNvSpPr>
              <a:spLocks/>
            </p:cNvSpPr>
            <p:nvPr/>
          </p:nvSpPr>
          <p:spPr bwMode="auto">
            <a:xfrm>
              <a:off x="7219156" y="1795463"/>
              <a:ext cx="977900" cy="1290638"/>
            </a:xfrm>
            <a:prstGeom prst="ellipse">
              <a:avLst/>
            </a:prstGeom>
            <a:solidFill>
              <a:srgbClr val="FFFFFF"/>
            </a:solidFill>
            <a:ln w="25400">
              <a:solidFill>
                <a:srgbClr val="385D8A"/>
              </a:solidFill>
              <a:round/>
              <a:headEnd/>
              <a:tailEnd/>
            </a:ln>
          </p:spPr>
          <p:txBody>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endParaRPr lang="zh-CN" altLang="en-US"/>
            </a:p>
          </p:txBody>
        </p:sp>
        <p:sp>
          <p:nvSpPr>
            <p:cNvPr id="16" name="Text Box 12"/>
            <p:cNvSpPr txBox="1">
              <a:spLocks noChangeArrowheads="1"/>
            </p:cNvSpPr>
            <p:nvPr/>
          </p:nvSpPr>
          <p:spPr bwMode="auto">
            <a:xfrm>
              <a:off x="7280274" y="1889760"/>
              <a:ext cx="8731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gn="ctr"/>
              <a:r>
                <a:rPr lang="ko-KR" altLang="en-US" sz="1000">
                  <a:solidFill>
                    <a:srgbClr val="000000"/>
                  </a:solidFill>
                  <a:latin typeface="微软雅黑" charset="-122"/>
                  <a:ea typeface="微软雅黑" charset="-122"/>
                </a:rPr>
                <a:t>深度学习</a:t>
              </a:r>
            </a:p>
          </p:txBody>
        </p:sp>
      </p:grpSp>
    </p:spTree>
    <p:extLst>
      <p:ext uri="{BB962C8B-B14F-4D97-AF65-F5344CB8AC3E}">
        <p14:creationId xmlns:p14="http://schemas.microsoft.com/office/powerpoint/2010/main" val="93727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217"/>
                                        </p:tgtEl>
                                        <p:attrNameLst>
                                          <p:attrName>style.visibility</p:attrName>
                                        </p:attrNameLst>
                                      </p:cBhvr>
                                      <p:to>
                                        <p:strVal val="visible"/>
                                      </p:to>
                                    </p:set>
                                    <p:animEffect transition="in" filter="wipe(up)">
                                      <p:cBhvr>
                                        <p:cTn id="27" dur="500"/>
                                        <p:tgtEl>
                                          <p:spTgt spid="921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22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2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P spid="92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2"/>
          <p:cNvSpPr txBox="1">
            <a:spLocks noChangeArrowheads="1"/>
          </p:cNvSpPr>
          <p:nvPr/>
        </p:nvSpPr>
        <p:spPr bwMode="auto">
          <a:xfrm>
            <a:off x="628650" y="-25066"/>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ko-KR" altLang="en-US" sz="2400" b="1">
                <a:solidFill>
                  <a:srgbClr val="595959"/>
                </a:solidFill>
                <a:latin typeface="微软雅黑" charset="-122"/>
                <a:ea typeface="微软雅黑" charset="-122"/>
              </a:rPr>
              <a:t>机器学习</a:t>
            </a:r>
            <a:r>
              <a:rPr lang="zh-CN" altLang="en-US" sz="2400" b="1">
                <a:solidFill>
                  <a:srgbClr val="595959"/>
                </a:solidFill>
                <a:latin typeface="微软雅黑" charset="-122"/>
                <a:ea typeface="微软雅黑" charset="-122"/>
              </a:rPr>
              <a:t>中的问题分类</a:t>
            </a:r>
            <a:endParaRPr lang="ko-KR" altLang="en-US" sz="2400" b="1">
              <a:solidFill>
                <a:srgbClr val="595959"/>
              </a:solidFill>
              <a:latin typeface="微软雅黑" charset="-122"/>
              <a:ea typeface="微软雅黑" charset="-122"/>
            </a:endParaRPr>
          </a:p>
        </p:txBody>
      </p:sp>
      <p:sp>
        <p:nvSpPr>
          <p:cNvPr id="10242" name="Text Box 3"/>
          <p:cNvSpPr txBox="1">
            <a:spLocks noChangeArrowheads="1"/>
          </p:cNvSpPr>
          <p:nvPr/>
        </p:nvSpPr>
        <p:spPr bwMode="auto">
          <a:xfrm>
            <a:off x="697408" y="843558"/>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数据的组成</a:t>
            </a:r>
            <a:endParaRPr lang="ko-KR" altLang="en-US" b="1">
              <a:solidFill>
                <a:srgbClr val="404040"/>
              </a:solidFill>
              <a:latin typeface="微软雅黑" charset="-122"/>
              <a:ea typeface="微软雅黑" charset="-122"/>
            </a:endParaRPr>
          </a:p>
        </p:txBody>
      </p:sp>
      <p:sp>
        <p:nvSpPr>
          <p:cNvPr id="10243" name="Text Box 4"/>
          <p:cNvSpPr txBox="1">
            <a:spLocks noChangeArrowheads="1"/>
          </p:cNvSpPr>
          <p:nvPr/>
        </p:nvSpPr>
        <p:spPr bwMode="auto">
          <a:xfrm>
            <a:off x="697408" y="1375370"/>
            <a:ext cx="4522664"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000">
                <a:solidFill>
                  <a:srgbClr val="262626"/>
                </a:solidFill>
                <a:latin typeface="微软雅黑" charset="-122"/>
                <a:ea typeface="微软雅黑" charset="-122"/>
              </a:rPr>
              <a:t>机器学习中</a:t>
            </a:r>
            <a:r>
              <a:rPr lang="zh-CN" altLang="en-US" sz="1000">
                <a:latin typeface="微软雅黑" charset="-122"/>
                <a:ea typeface="微软雅黑" charset="-122"/>
              </a:rPr>
              <a:t>的数据包括两个部分：</a:t>
            </a:r>
            <a:r>
              <a:rPr lang="zh-CN" altLang="en-US" sz="1000" b="1">
                <a:solidFill>
                  <a:srgbClr val="FF0000"/>
                </a:solidFill>
                <a:latin typeface="微软雅黑" charset="-122"/>
                <a:ea typeface="微软雅黑" charset="-122"/>
              </a:rPr>
              <a:t>特征值 </a:t>
            </a:r>
            <a:r>
              <a:rPr lang="zh-CN" altLang="en-US" sz="1000">
                <a:latin typeface="微软雅黑" charset="-122"/>
                <a:ea typeface="微软雅黑" charset="-122"/>
              </a:rPr>
              <a:t>和 </a:t>
            </a:r>
            <a:r>
              <a:rPr lang="zh-CN" altLang="en-US" sz="1000" b="1">
                <a:solidFill>
                  <a:srgbClr val="FF0000"/>
                </a:solidFill>
                <a:latin typeface="微软雅黑" charset="-122"/>
                <a:ea typeface="微软雅黑" charset="-122"/>
              </a:rPr>
              <a:t>目标值</a:t>
            </a:r>
          </a:p>
          <a:p>
            <a:pPr>
              <a:lnSpc>
                <a:spcPct val="150000"/>
              </a:lnSpc>
            </a:pPr>
            <a:r>
              <a:rPr lang="zh-CN" altLang="en-US" sz="1000" b="1">
                <a:solidFill>
                  <a:srgbClr val="262626"/>
                </a:solidFill>
                <a:latin typeface="微软雅黑" charset="-122"/>
                <a:ea typeface="微软雅黑" charset="-122"/>
              </a:rPr>
              <a:t>例如：</a:t>
            </a:r>
            <a:endParaRPr lang="en-US" altLang="zh-CN" sz="1000" b="1">
              <a:solidFill>
                <a:srgbClr val="262626"/>
              </a:solidFill>
              <a:latin typeface="微软雅黑" charset="-122"/>
              <a:ea typeface="微软雅黑" charset="-122"/>
            </a:endParaRPr>
          </a:p>
          <a:p>
            <a:pPr>
              <a:lnSpc>
                <a:spcPct val="150000"/>
              </a:lnSpc>
            </a:pPr>
            <a:r>
              <a:rPr lang="zh-CN" altLang="en-US" sz="1000">
                <a:solidFill>
                  <a:srgbClr val="262626"/>
                </a:solidFill>
                <a:latin typeface="微软雅黑" charset="-122"/>
                <a:ea typeface="微软雅黑" charset="-122"/>
              </a:rPr>
              <a:t>如果我们希望设计一个模型来预测房价。假设房价受到房子的面积、楼层、朝向、距离市中心的远近的影响。</a:t>
            </a:r>
            <a:endParaRPr lang="zh-CN" altLang="en-US" sz="1000">
              <a:solidFill>
                <a:srgbClr val="FF0000"/>
              </a:solidFill>
              <a:latin typeface="微软雅黑" charset="-122"/>
              <a:ea typeface="微软雅黑" charset="-122"/>
            </a:endParaRPr>
          </a:p>
        </p:txBody>
      </p:sp>
      <p:graphicFrame>
        <p:nvGraphicFramePr>
          <p:cNvPr id="2" name="表格 1">
            <a:extLst>
              <a:ext uri="{FF2B5EF4-FFF2-40B4-BE49-F238E27FC236}">
                <a16:creationId xmlns:a16="http://schemas.microsoft.com/office/drawing/2014/main" id="{0B925822-8613-4B41-954C-E985B437482F}"/>
              </a:ext>
            </a:extLst>
          </p:cNvPr>
          <p:cNvGraphicFramePr>
            <a:graphicFrameLocks noGrp="1"/>
          </p:cNvGraphicFramePr>
          <p:nvPr>
            <p:extLst>
              <p:ext uri="{D42A27DB-BD31-4B8C-83A1-F6EECF244321}">
                <p14:modId xmlns:p14="http://schemas.microsoft.com/office/powerpoint/2010/main" val="755279179"/>
              </p:ext>
            </p:extLst>
          </p:nvPr>
        </p:nvGraphicFramePr>
        <p:xfrm>
          <a:off x="5429884" y="1473238"/>
          <a:ext cx="3154362" cy="1439865"/>
        </p:xfrm>
        <a:graphic>
          <a:graphicData uri="http://schemas.openxmlformats.org/drawingml/2006/table">
            <a:tbl>
              <a:tblPr firstRow="1" bandRow="1">
                <a:tableStyleId>{7DF18680-E054-41AD-8BC1-D1AEF772440D}</a:tableStyleId>
              </a:tblPr>
              <a:tblGrid>
                <a:gridCol w="572653">
                  <a:extLst>
                    <a:ext uri="{9D8B030D-6E8A-4147-A177-3AD203B41FA5}">
                      <a16:colId xmlns:a16="http://schemas.microsoft.com/office/drawing/2014/main" val="3763605773"/>
                    </a:ext>
                  </a:extLst>
                </a:gridCol>
                <a:gridCol w="588370">
                  <a:extLst>
                    <a:ext uri="{9D8B030D-6E8A-4147-A177-3AD203B41FA5}">
                      <a16:colId xmlns:a16="http://schemas.microsoft.com/office/drawing/2014/main" val="3877749717"/>
                    </a:ext>
                  </a:extLst>
                </a:gridCol>
                <a:gridCol w="568402">
                  <a:extLst>
                    <a:ext uri="{9D8B030D-6E8A-4147-A177-3AD203B41FA5}">
                      <a16:colId xmlns:a16="http://schemas.microsoft.com/office/drawing/2014/main" val="3184873723"/>
                    </a:ext>
                  </a:extLst>
                </a:gridCol>
                <a:gridCol w="920913">
                  <a:extLst>
                    <a:ext uri="{9D8B030D-6E8A-4147-A177-3AD203B41FA5}">
                      <a16:colId xmlns:a16="http://schemas.microsoft.com/office/drawing/2014/main" val="588229406"/>
                    </a:ext>
                  </a:extLst>
                </a:gridCol>
                <a:gridCol w="504024">
                  <a:extLst>
                    <a:ext uri="{9D8B030D-6E8A-4147-A177-3AD203B41FA5}">
                      <a16:colId xmlns:a16="http://schemas.microsoft.com/office/drawing/2014/main" val="571713158"/>
                    </a:ext>
                  </a:extLst>
                </a:gridCol>
              </a:tblGrid>
              <a:tr h="287973">
                <a:tc>
                  <a:txBody>
                    <a:bodyPr/>
                    <a:lstStyle/>
                    <a:p>
                      <a:pPr algn="ctr"/>
                      <a:r>
                        <a:rPr lang="zh-CN" altLang="en-US" sz="1000" b="0" dirty="0">
                          <a:latin typeface="Microsoft YaHei" panose="020B0503020204020204" pitchFamily="34" charset="-122"/>
                          <a:ea typeface="Microsoft YaHei" panose="020B0503020204020204" pitchFamily="34" charset="-122"/>
                        </a:rPr>
                        <a:t>面积</a:t>
                      </a:r>
                    </a:p>
                  </a:txBody>
                  <a:tcPr marL="91434" marR="91434" marT="45711" marB="45711"/>
                </a:tc>
                <a:tc>
                  <a:txBody>
                    <a:bodyPr/>
                    <a:lstStyle/>
                    <a:p>
                      <a:pPr algn="ctr"/>
                      <a:r>
                        <a:rPr lang="zh-CN" altLang="en-US" sz="1000" b="0" dirty="0">
                          <a:latin typeface="Microsoft YaHei" panose="020B0503020204020204" pitchFamily="34" charset="-122"/>
                          <a:ea typeface="Microsoft YaHei" panose="020B0503020204020204" pitchFamily="34" charset="-122"/>
                        </a:rPr>
                        <a:t>楼层</a:t>
                      </a:r>
                    </a:p>
                  </a:txBody>
                  <a:tcPr marL="91434" marR="91434" marT="45711" marB="45711"/>
                </a:tc>
                <a:tc>
                  <a:txBody>
                    <a:bodyPr/>
                    <a:lstStyle/>
                    <a:p>
                      <a:pPr algn="ctr"/>
                      <a:r>
                        <a:rPr lang="zh-CN" altLang="en-US" sz="1000" b="0" dirty="0">
                          <a:latin typeface="Microsoft YaHei" panose="020B0503020204020204" pitchFamily="34" charset="-122"/>
                          <a:ea typeface="Microsoft YaHei" panose="020B0503020204020204" pitchFamily="34" charset="-122"/>
                        </a:rPr>
                        <a:t>朝向</a:t>
                      </a:r>
                    </a:p>
                  </a:txBody>
                  <a:tcPr marL="91434" marR="91434" marT="45711" marB="45711"/>
                </a:tc>
                <a:tc>
                  <a:txBody>
                    <a:bodyPr/>
                    <a:lstStyle/>
                    <a:p>
                      <a:pPr algn="ctr"/>
                      <a:r>
                        <a:rPr lang="zh-CN" altLang="en-US" sz="1000" b="0" dirty="0">
                          <a:latin typeface="Microsoft YaHei" panose="020B0503020204020204" pitchFamily="34" charset="-122"/>
                          <a:ea typeface="Microsoft YaHei" panose="020B0503020204020204" pitchFamily="34" charset="-122"/>
                        </a:rPr>
                        <a:t>市中心距离</a:t>
                      </a:r>
                    </a:p>
                  </a:txBody>
                  <a:tcPr marL="91434" marR="91434" marT="45711" marB="45711"/>
                </a:tc>
                <a:tc>
                  <a:txBody>
                    <a:bodyPr/>
                    <a:lstStyle/>
                    <a:p>
                      <a:pPr algn="ctr"/>
                      <a:r>
                        <a:rPr lang="zh-CN" altLang="en-US" sz="1000" b="0" dirty="0">
                          <a:latin typeface="Microsoft YaHei" panose="020B0503020204020204" pitchFamily="34" charset="-122"/>
                          <a:ea typeface="Microsoft YaHei" panose="020B0503020204020204" pitchFamily="34" charset="-122"/>
                        </a:rPr>
                        <a:t>价格</a:t>
                      </a:r>
                    </a:p>
                  </a:txBody>
                  <a:tcPr marL="91434" marR="91434" marT="45711" marB="45711"/>
                </a:tc>
                <a:extLst>
                  <a:ext uri="{0D108BD9-81ED-4DB2-BD59-A6C34878D82A}">
                    <a16:rowId xmlns:a16="http://schemas.microsoft.com/office/drawing/2014/main" val="3639407946"/>
                  </a:ext>
                </a:extLst>
              </a:tr>
              <a:tr h="287973">
                <a:tc>
                  <a:txBody>
                    <a:bodyPr/>
                    <a:lstStyle/>
                    <a:p>
                      <a:pPr algn="ctr"/>
                      <a:r>
                        <a:rPr lang="en-US" altLang="zh-CN" sz="1000" b="0" dirty="0">
                          <a:latin typeface="Microsoft YaHei" panose="020B0503020204020204" pitchFamily="34" charset="-122"/>
                          <a:ea typeface="Microsoft YaHei" panose="020B0503020204020204" pitchFamily="34" charset="-122"/>
                        </a:rPr>
                        <a:t>30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1</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20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20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extLst>
                  <a:ext uri="{0D108BD9-81ED-4DB2-BD59-A6C34878D82A}">
                    <a16:rowId xmlns:a16="http://schemas.microsoft.com/office/drawing/2014/main" val="1502689606"/>
                  </a:ext>
                </a:extLst>
              </a:tr>
              <a:tr h="287973">
                <a:tc>
                  <a:txBody>
                    <a:bodyPr/>
                    <a:lstStyle/>
                    <a:p>
                      <a:pPr algn="ctr"/>
                      <a:r>
                        <a:rPr lang="en-US" altLang="zh-CN" sz="1000" b="0" dirty="0">
                          <a:latin typeface="Microsoft YaHei" panose="020B0503020204020204" pitchFamily="34" charset="-122"/>
                          <a:ea typeface="Microsoft YaHei" panose="020B0503020204020204" pitchFamily="34" charset="-122"/>
                        </a:rPr>
                        <a:t>50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3</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2</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10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60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extLst>
                  <a:ext uri="{0D108BD9-81ED-4DB2-BD59-A6C34878D82A}">
                    <a16:rowId xmlns:a16="http://schemas.microsoft.com/office/drawing/2014/main" val="3606095590"/>
                  </a:ext>
                </a:extLst>
              </a:tr>
              <a:tr h="287973">
                <a:tc>
                  <a:txBody>
                    <a:bodyPr/>
                    <a:lstStyle/>
                    <a:p>
                      <a:pPr algn="ctr"/>
                      <a:r>
                        <a:rPr lang="en-US" altLang="zh-CN" sz="1000" b="0" dirty="0">
                          <a:latin typeface="Microsoft YaHei" panose="020B0503020204020204" pitchFamily="34" charset="-122"/>
                          <a:ea typeface="Microsoft YaHei" panose="020B0503020204020204" pitchFamily="34" charset="-122"/>
                        </a:rPr>
                        <a:t>60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5</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3</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10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62</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extLst>
                  <a:ext uri="{0D108BD9-81ED-4DB2-BD59-A6C34878D82A}">
                    <a16:rowId xmlns:a16="http://schemas.microsoft.com/office/drawing/2014/main" val="2511044519"/>
                  </a:ext>
                </a:extLst>
              </a:tr>
              <a:tr h="287973">
                <a:tc>
                  <a:txBody>
                    <a:bodyPr/>
                    <a:lstStyle/>
                    <a:p>
                      <a:pPr algn="ctr"/>
                      <a:r>
                        <a:rPr lang="en-US" altLang="zh-CN" sz="1000" b="0" dirty="0">
                          <a:latin typeface="Microsoft YaHei" panose="020B0503020204020204" pitchFamily="34" charset="-122"/>
                          <a:ea typeface="Microsoft YaHei" panose="020B0503020204020204" pitchFamily="34" charset="-122"/>
                        </a:rPr>
                        <a:t>70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6</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1</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3</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tc>
                  <a:txBody>
                    <a:bodyPr/>
                    <a:lstStyle/>
                    <a:p>
                      <a:pPr algn="ctr"/>
                      <a:r>
                        <a:rPr lang="en-US" altLang="zh-CN" sz="1000" b="0" dirty="0">
                          <a:latin typeface="Microsoft YaHei" panose="020B0503020204020204" pitchFamily="34" charset="-122"/>
                          <a:ea typeface="Microsoft YaHei" panose="020B0503020204020204" pitchFamily="34" charset="-122"/>
                        </a:rPr>
                        <a:t>100</a:t>
                      </a:r>
                      <a:endParaRPr lang="zh-CN" altLang="en-US" sz="1000" b="0" dirty="0">
                        <a:latin typeface="Microsoft YaHei" panose="020B0503020204020204" pitchFamily="34" charset="-122"/>
                        <a:ea typeface="Microsoft YaHei" panose="020B0503020204020204" pitchFamily="34" charset="-122"/>
                      </a:endParaRPr>
                    </a:p>
                  </a:txBody>
                  <a:tcPr marL="91434" marR="91434" marT="45711" marB="45711"/>
                </a:tc>
                <a:extLst>
                  <a:ext uri="{0D108BD9-81ED-4DB2-BD59-A6C34878D82A}">
                    <a16:rowId xmlns:a16="http://schemas.microsoft.com/office/drawing/2014/main" val="480470257"/>
                  </a:ext>
                </a:extLst>
              </a:tr>
            </a:tbl>
          </a:graphicData>
        </a:graphic>
      </p:graphicFrame>
      <p:sp>
        <p:nvSpPr>
          <p:cNvPr id="10282" name="Text Box 3"/>
          <p:cNvSpPr txBox="1">
            <a:spLocks noChangeArrowheads="1"/>
          </p:cNvSpPr>
          <p:nvPr/>
        </p:nvSpPr>
        <p:spPr bwMode="auto">
          <a:xfrm>
            <a:off x="665765" y="2683710"/>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数据的类型</a:t>
            </a:r>
            <a:endParaRPr lang="ko-KR" altLang="en-US" b="1">
              <a:solidFill>
                <a:srgbClr val="404040"/>
              </a:solidFill>
              <a:latin typeface="微软雅黑" charset="-122"/>
              <a:ea typeface="微软雅黑" charset="-122"/>
            </a:endParaRPr>
          </a:p>
        </p:txBody>
      </p:sp>
      <p:sp>
        <p:nvSpPr>
          <p:cNvPr id="10283" name="Text Box 4"/>
          <p:cNvSpPr txBox="1">
            <a:spLocks noChangeArrowheads="1"/>
          </p:cNvSpPr>
          <p:nvPr/>
        </p:nvSpPr>
        <p:spPr bwMode="auto">
          <a:xfrm>
            <a:off x="665765" y="3209172"/>
            <a:ext cx="3759646"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000">
                <a:solidFill>
                  <a:srgbClr val="262626"/>
                </a:solidFill>
                <a:latin typeface="微软雅黑" charset="-122"/>
                <a:ea typeface="微软雅黑" charset="-122"/>
              </a:rPr>
              <a:t>常见的数据有两个类型：</a:t>
            </a:r>
            <a:r>
              <a:rPr lang="zh-CN" altLang="en-US" sz="1000" b="1">
                <a:solidFill>
                  <a:srgbClr val="FF0000"/>
                </a:solidFill>
                <a:latin typeface="微软雅黑" charset="-122"/>
                <a:ea typeface="微软雅黑" charset="-122"/>
              </a:rPr>
              <a:t>连续性 </a:t>
            </a:r>
            <a:r>
              <a:rPr lang="zh-CN" altLang="en-US" sz="1000">
                <a:latin typeface="微软雅黑" charset="-122"/>
                <a:ea typeface="微软雅黑" charset="-122"/>
              </a:rPr>
              <a:t>和 </a:t>
            </a:r>
            <a:r>
              <a:rPr lang="zh-CN" altLang="en-US" sz="1000" b="1">
                <a:solidFill>
                  <a:srgbClr val="FF0000"/>
                </a:solidFill>
                <a:latin typeface="微软雅黑" charset="-122"/>
                <a:ea typeface="微软雅黑" charset="-122"/>
              </a:rPr>
              <a:t>离散型</a:t>
            </a:r>
            <a:endParaRPr lang="en-US" altLang="zh-CN" sz="1000" b="1">
              <a:solidFill>
                <a:srgbClr val="FF0000"/>
              </a:solidFill>
              <a:latin typeface="微软雅黑" charset="-122"/>
              <a:ea typeface="微软雅黑" charset="-122"/>
            </a:endParaRPr>
          </a:p>
          <a:p>
            <a:pPr marL="171450" indent="-171450">
              <a:lnSpc>
                <a:spcPct val="150000"/>
              </a:lnSpc>
              <a:buFont typeface="Arial" charset="0"/>
              <a:buChar char="•"/>
            </a:pPr>
            <a:r>
              <a:rPr lang="zh-CN" altLang="en-US" sz="1000" b="1">
                <a:latin typeface="微软雅黑" charset="-122"/>
                <a:ea typeface="微软雅黑" charset="-122"/>
              </a:rPr>
              <a:t>连续性：</a:t>
            </a:r>
            <a:r>
              <a:rPr lang="zh-CN" altLang="en-US" sz="1000">
                <a:solidFill>
                  <a:srgbClr val="FF0000"/>
                </a:solidFill>
                <a:latin typeface="微软雅黑" charset="-122"/>
                <a:ea typeface="微软雅黑" charset="-122"/>
              </a:rPr>
              <a:t>数值型数据，可续切分，切分后有意义</a:t>
            </a:r>
            <a:endParaRPr lang="en-US" altLang="zh-CN" sz="1000">
              <a:solidFill>
                <a:srgbClr val="FF0000"/>
              </a:solidFill>
              <a:latin typeface="微软雅黑" charset="-122"/>
              <a:ea typeface="微软雅黑" charset="-122"/>
            </a:endParaRPr>
          </a:p>
          <a:p>
            <a:pPr>
              <a:lnSpc>
                <a:spcPct val="150000"/>
              </a:lnSpc>
              <a:spcAft>
                <a:spcPts val="600"/>
              </a:spcAft>
            </a:pPr>
            <a:r>
              <a:rPr lang="zh-CN" altLang="en-US" sz="1000">
                <a:solidFill>
                  <a:srgbClr val="262626"/>
                </a:solidFill>
                <a:latin typeface="微软雅黑" charset="-122"/>
                <a:ea typeface="微软雅黑" charset="-122"/>
              </a:rPr>
              <a:t>     例如：天气中的温度</a:t>
            </a:r>
            <a:endParaRPr lang="en-US" altLang="zh-CN" sz="1000">
              <a:solidFill>
                <a:srgbClr val="262626"/>
              </a:solidFill>
              <a:latin typeface="微软雅黑" charset="-122"/>
              <a:ea typeface="微软雅黑" charset="-122"/>
            </a:endParaRPr>
          </a:p>
          <a:p>
            <a:pPr marL="171450" indent="-171450">
              <a:lnSpc>
                <a:spcPct val="150000"/>
              </a:lnSpc>
              <a:buFont typeface="Arial" charset="0"/>
              <a:buChar char="•"/>
            </a:pPr>
            <a:r>
              <a:rPr lang="zh-CN" altLang="en-US" sz="1000" b="1">
                <a:latin typeface="微软雅黑" charset="-122"/>
                <a:ea typeface="微软雅黑" charset="-122"/>
              </a:rPr>
              <a:t>离散型：</a:t>
            </a:r>
            <a:r>
              <a:rPr lang="zh-CN" altLang="en-US" sz="1000">
                <a:solidFill>
                  <a:srgbClr val="FF0000"/>
                </a:solidFill>
                <a:latin typeface="微软雅黑" charset="-122"/>
                <a:ea typeface="微软雅黑" charset="-122"/>
              </a:rPr>
              <a:t>类别型数据，无法继续切分，切分后无意义</a:t>
            </a:r>
            <a:endParaRPr lang="en-US" altLang="zh-CN" sz="1000">
              <a:solidFill>
                <a:srgbClr val="FF0000"/>
              </a:solidFill>
              <a:latin typeface="微软雅黑" charset="-122"/>
              <a:ea typeface="微软雅黑" charset="-122"/>
            </a:endParaRPr>
          </a:p>
          <a:p>
            <a:pPr>
              <a:lnSpc>
                <a:spcPct val="150000"/>
              </a:lnSpc>
            </a:pPr>
            <a:r>
              <a:rPr lang="zh-CN" altLang="en-US" sz="1000">
                <a:solidFill>
                  <a:srgbClr val="262626"/>
                </a:solidFill>
                <a:latin typeface="微软雅黑" charset="-122"/>
                <a:ea typeface="微软雅黑" charset="-122"/>
              </a:rPr>
              <a:t>     例如：用</a:t>
            </a:r>
            <a:r>
              <a:rPr lang="en-US" altLang="zh-CN" sz="1000">
                <a:solidFill>
                  <a:srgbClr val="262626"/>
                </a:solidFill>
                <a:latin typeface="微软雅黑" charset="-122"/>
                <a:ea typeface="微软雅黑" charset="-122"/>
              </a:rPr>
              <a:t>0</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1</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2</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3</a:t>
            </a:r>
            <a:r>
              <a:rPr lang="zh-CN" altLang="en-US" sz="1000">
                <a:solidFill>
                  <a:srgbClr val="262626"/>
                </a:solidFill>
                <a:latin typeface="微软雅黑" charset="-122"/>
                <a:ea typeface="微软雅黑" charset="-122"/>
              </a:rPr>
              <a:t>代表的不同的天气</a:t>
            </a:r>
            <a:endParaRPr lang="zh-CN" altLang="en-US" sz="1000">
              <a:solidFill>
                <a:srgbClr val="FF0000"/>
              </a:solidFill>
              <a:latin typeface="微软雅黑" charset="-122"/>
              <a:ea typeface="微软雅黑" charset="-122"/>
            </a:endParaRPr>
          </a:p>
        </p:txBody>
      </p:sp>
      <p:sp>
        <p:nvSpPr>
          <p:cNvPr id="3" name="云形 2">
            <a:extLst>
              <a:ext uri="{FF2B5EF4-FFF2-40B4-BE49-F238E27FC236}">
                <a16:creationId xmlns:a16="http://schemas.microsoft.com/office/drawing/2014/main" id="{B9D6FF4C-592B-1E43-A0C0-09ADB3ADBDA5}"/>
              </a:ext>
            </a:extLst>
          </p:cNvPr>
          <p:cNvSpPr/>
          <p:nvPr/>
        </p:nvSpPr>
        <p:spPr>
          <a:xfrm>
            <a:off x="4283968" y="3289300"/>
            <a:ext cx="2232274" cy="1179513"/>
          </a:xfrm>
          <a:prstGeom prst="cloud">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r>
              <a:rPr kumimoji="1" lang="zh-CN" altLang="en-US" sz="1400" dirty="0">
                <a:latin typeface="Microsoft YaHei" charset="-122"/>
                <a:ea typeface="Microsoft YaHei" charset="-122"/>
                <a:cs typeface="Microsoft YaHei" charset="-122"/>
              </a:rPr>
              <a:t>股价的涨和跌是什么类型呢</a:t>
            </a:r>
            <a:r>
              <a:rPr kumimoji="1" lang="zh-CN" altLang="en-US" sz="1400" dirty="0"/>
              <a:t>？</a:t>
            </a:r>
          </a:p>
        </p:txBody>
      </p:sp>
      <p:sp>
        <p:nvSpPr>
          <p:cNvPr id="9" name="云形 8">
            <a:extLst>
              <a:ext uri="{FF2B5EF4-FFF2-40B4-BE49-F238E27FC236}">
                <a16:creationId xmlns:a16="http://schemas.microsoft.com/office/drawing/2014/main" id="{7776B722-9E16-CF49-A791-3D6EDC6B4116}"/>
              </a:ext>
            </a:extLst>
          </p:cNvPr>
          <p:cNvSpPr/>
          <p:nvPr/>
        </p:nvSpPr>
        <p:spPr>
          <a:xfrm>
            <a:off x="6724450" y="3295267"/>
            <a:ext cx="1800225" cy="1177925"/>
          </a:xfrm>
          <a:prstGeom prst="clou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zh-CN" altLang="en-US" sz="1400" dirty="0">
                <a:latin typeface="Microsoft YaHei" charset="-122"/>
                <a:ea typeface="Microsoft YaHei" charset="-122"/>
                <a:cs typeface="Microsoft YaHei" charset="-122"/>
              </a:rPr>
              <a:t>股价是什么类型？</a:t>
            </a:r>
          </a:p>
        </p:txBody>
      </p:sp>
      <p:sp>
        <p:nvSpPr>
          <p:cNvPr id="4" name="左大括号 3"/>
          <p:cNvSpPr/>
          <p:nvPr/>
        </p:nvSpPr>
        <p:spPr>
          <a:xfrm rot="5400000">
            <a:off x="6465660" y="234063"/>
            <a:ext cx="176000" cy="2247552"/>
          </a:xfrm>
          <a:prstGeom prst="leftBrace">
            <a:avLst>
              <a:gd name="adj1" fmla="val 8333"/>
              <a:gd name="adj2" fmla="val 49046"/>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zh-CN" altLang="en-US"/>
          </a:p>
        </p:txBody>
      </p:sp>
      <p:sp>
        <p:nvSpPr>
          <p:cNvPr id="5" name="矩形 4"/>
          <p:cNvSpPr/>
          <p:nvPr/>
        </p:nvSpPr>
        <p:spPr>
          <a:xfrm>
            <a:off x="6299381" y="1009918"/>
            <a:ext cx="569387" cy="246221"/>
          </a:xfrm>
          <a:prstGeom prst="rect">
            <a:avLst/>
          </a:prstGeom>
        </p:spPr>
        <p:txBody>
          <a:bodyPr wrap="none">
            <a:spAutoFit/>
          </a:bodyPr>
          <a:lstStyle/>
          <a:p>
            <a:r>
              <a:rPr lang="zh-CN" altLang="en-US" sz="1000" b="1">
                <a:solidFill>
                  <a:srgbClr val="FF0000"/>
                </a:solidFill>
                <a:latin typeface="微软雅黑" charset="-122"/>
                <a:ea typeface="微软雅黑" charset="-122"/>
              </a:rPr>
              <a:t>特征值</a:t>
            </a:r>
          </a:p>
        </p:txBody>
      </p:sp>
      <p:sp>
        <p:nvSpPr>
          <p:cNvPr id="12" name="左大括号 11"/>
          <p:cNvSpPr/>
          <p:nvPr/>
        </p:nvSpPr>
        <p:spPr>
          <a:xfrm rot="5400000">
            <a:off x="8216706" y="1166532"/>
            <a:ext cx="176001" cy="355877"/>
          </a:xfrm>
          <a:prstGeom prst="leftBrace">
            <a:avLst>
              <a:gd name="adj1" fmla="val 8333"/>
              <a:gd name="adj2" fmla="val 49046"/>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zh-CN" altLang="en-US"/>
          </a:p>
        </p:txBody>
      </p:sp>
      <p:sp>
        <p:nvSpPr>
          <p:cNvPr id="13" name="矩形 12"/>
          <p:cNvSpPr/>
          <p:nvPr/>
        </p:nvSpPr>
        <p:spPr>
          <a:xfrm>
            <a:off x="8014859" y="1009918"/>
            <a:ext cx="569387" cy="246221"/>
          </a:xfrm>
          <a:prstGeom prst="rect">
            <a:avLst/>
          </a:prstGeom>
        </p:spPr>
        <p:txBody>
          <a:bodyPr wrap="none">
            <a:spAutoFit/>
          </a:bodyPr>
          <a:lstStyle/>
          <a:p>
            <a:r>
              <a:rPr lang="zh-CN" altLang="en-US" sz="1000" b="1">
                <a:solidFill>
                  <a:srgbClr val="FF0000"/>
                </a:solidFill>
                <a:latin typeface="微软雅黑" charset="-122"/>
                <a:ea typeface="微软雅黑" charset="-122"/>
              </a:rPr>
              <a:t>目标值</a:t>
            </a:r>
          </a:p>
        </p:txBody>
      </p:sp>
    </p:spTree>
    <p:extLst>
      <p:ext uri="{BB962C8B-B14F-4D97-AF65-F5344CB8AC3E}">
        <p14:creationId xmlns:p14="http://schemas.microsoft.com/office/powerpoint/2010/main" val="22203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28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28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283">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28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283">
                                            <p:txEl>
                                              <p:pRg st="3" end="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283">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82" grpId="0"/>
      <p:bldP spid="3" grpId="0" animBg="1"/>
      <p:bldP spid="9" grpId="0" animBg="1"/>
      <p:bldP spid="4" grpId="0" animBg="1"/>
      <p:bldP spid="5" grpId="0"/>
      <p:bldP spid="12"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265" name="Line 1"/>
          <p:cNvCxnSpPr>
            <a:cxnSpLocks noChangeShapeType="1"/>
          </p:cNvCxnSpPr>
          <p:nvPr/>
        </p:nvCxnSpPr>
        <p:spPr bwMode="auto">
          <a:xfrm>
            <a:off x="4427984" y="1039813"/>
            <a:ext cx="0" cy="1279525"/>
          </a:xfrm>
          <a:prstGeom prst="line">
            <a:avLst/>
          </a:prstGeom>
          <a:noFill/>
          <a:ln w="12700" cap="rnd">
            <a:solidFill>
              <a:srgbClr val="BFBFBF"/>
            </a:solidFill>
            <a:prstDash val="sysDash"/>
            <a:round/>
            <a:headEnd/>
            <a:tailEnd/>
          </a:ln>
          <a:extLst>
            <a:ext uri="{909E8E84-426E-40DD-AFC4-6F175D3DCCD1}">
              <a14:hiddenFill xmlns:a14="http://schemas.microsoft.com/office/drawing/2010/main">
                <a:noFill/>
              </a14:hiddenFill>
            </a:ext>
          </a:extLst>
        </p:spPr>
      </p:cxnSp>
      <p:sp>
        <p:nvSpPr>
          <p:cNvPr id="11266"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ko-KR" altLang="en-US" sz="2400" b="1">
                <a:solidFill>
                  <a:srgbClr val="595959"/>
                </a:solidFill>
                <a:latin typeface="微软雅黑" charset="-122"/>
                <a:ea typeface="微软雅黑" charset="-122"/>
              </a:rPr>
              <a:t>机器学习的</a:t>
            </a:r>
            <a:r>
              <a:rPr lang="zh-CN" altLang="en-US" sz="2400" b="1">
                <a:solidFill>
                  <a:srgbClr val="595959"/>
                </a:solidFill>
                <a:latin typeface="微软雅黑" charset="-122"/>
                <a:ea typeface="微软雅黑" charset="-122"/>
              </a:rPr>
              <a:t>问题的分类</a:t>
            </a:r>
            <a:endParaRPr lang="ko-KR" altLang="en-US" sz="2400" b="1">
              <a:solidFill>
                <a:srgbClr val="595959"/>
              </a:solidFill>
              <a:latin typeface="微软雅黑" charset="-122"/>
              <a:ea typeface="微软雅黑" charset="-122"/>
            </a:endParaRPr>
          </a:p>
        </p:txBody>
      </p:sp>
      <p:sp>
        <p:nvSpPr>
          <p:cNvPr id="11267" name="Text Box 5"/>
          <p:cNvSpPr txBox="1">
            <a:spLocks noChangeArrowheads="1"/>
          </p:cNvSpPr>
          <p:nvPr/>
        </p:nvSpPr>
        <p:spPr bwMode="auto">
          <a:xfrm>
            <a:off x="735998" y="1380877"/>
            <a:ext cx="35147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000">
                <a:solidFill>
                  <a:srgbClr val="262626"/>
                </a:solidFill>
                <a:latin typeface="微软雅黑" charset="-122"/>
                <a:ea typeface="微软雅黑" charset="-122"/>
              </a:rPr>
              <a:t>监督学习指的是我们准备的</a:t>
            </a:r>
            <a:r>
              <a:rPr lang="zh-CN" altLang="en-US" sz="1000">
                <a:solidFill>
                  <a:srgbClr val="FF0000"/>
                </a:solidFill>
                <a:latin typeface="微软雅黑" charset="-122"/>
                <a:ea typeface="微软雅黑" charset="-122"/>
              </a:rPr>
              <a:t>数据既有特征值，也有目标值</a:t>
            </a:r>
          </a:p>
          <a:p>
            <a:pPr>
              <a:lnSpc>
                <a:spcPct val="150000"/>
              </a:lnSpc>
              <a:spcAft>
                <a:spcPts val="600"/>
              </a:spcAft>
            </a:pPr>
            <a:r>
              <a:rPr lang="zh-CN" altLang="en-US" sz="1000">
                <a:solidFill>
                  <a:srgbClr val="262626"/>
                </a:solidFill>
                <a:latin typeface="微软雅黑" charset="-122"/>
                <a:ea typeface="微软雅黑" charset="-122"/>
              </a:rPr>
              <a:t>那么我们把这样的数据训练过程称为监督学习</a:t>
            </a:r>
          </a:p>
          <a:p>
            <a:pPr>
              <a:lnSpc>
                <a:spcPct val="150000"/>
              </a:lnSpc>
            </a:pPr>
            <a:r>
              <a:rPr lang="zh-CN" altLang="en-US" sz="1000" b="1">
                <a:solidFill>
                  <a:srgbClr val="262626"/>
                </a:solidFill>
                <a:latin typeface="微软雅黑" charset="-122"/>
                <a:ea typeface="微软雅黑" charset="-122"/>
              </a:rPr>
              <a:t>代表算法</a:t>
            </a:r>
            <a:r>
              <a:rPr lang="zh-CN" altLang="en-US" sz="1000">
                <a:solidFill>
                  <a:srgbClr val="262626"/>
                </a:solidFill>
                <a:latin typeface="微软雅黑" charset="-122"/>
                <a:ea typeface="微软雅黑" charset="-122"/>
              </a:rPr>
              <a:t>：线性回归、决策树等</a:t>
            </a:r>
          </a:p>
        </p:txBody>
      </p:sp>
      <p:sp>
        <p:nvSpPr>
          <p:cNvPr id="11268" name="Text Box 6"/>
          <p:cNvSpPr txBox="1">
            <a:spLocks noChangeArrowheads="1"/>
          </p:cNvSpPr>
          <p:nvPr/>
        </p:nvSpPr>
        <p:spPr bwMode="auto">
          <a:xfrm>
            <a:off x="735998" y="929457"/>
            <a:ext cx="3514725"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监督学习</a:t>
            </a:r>
            <a:endParaRPr lang="ko-KR" altLang="en-US" b="1">
              <a:solidFill>
                <a:srgbClr val="404040"/>
              </a:solidFill>
              <a:latin typeface="微软雅黑" charset="-122"/>
              <a:ea typeface="微软雅黑" charset="-122"/>
            </a:endParaRPr>
          </a:p>
        </p:txBody>
      </p:sp>
      <p:sp>
        <p:nvSpPr>
          <p:cNvPr id="11269" name="Text Box 7"/>
          <p:cNvSpPr txBox="1">
            <a:spLocks noChangeArrowheads="1"/>
          </p:cNvSpPr>
          <p:nvPr/>
        </p:nvSpPr>
        <p:spPr bwMode="auto">
          <a:xfrm>
            <a:off x="4783138" y="1366986"/>
            <a:ext cx="3749302"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000">
                <a:solidFill>
                  <a:srgbClr val="262626"/>
                </a:solidFill>
                <a:latin typeface="微软雅黑" charset="-122"/>
                <a:ea typeface="微软雅黑" charset="-122"/>
              </a:rPr>
              <a:t>无监督学习指的是：准备的数据</a:t>
            </a:r>
            <a:r>
              <a:rPr lang="zh-CN" altLang="en-US" sz="1000">
                <a:solidFill>
                  <a:srgbClr val="FF0000"/>
                </a:solidFill>
                <a:latin typeface="微软雅黑" charset="-122"/>
                <a:ea typeface="微软雅黑" charset="-122"/>
              </a:rPr>
              <a:t>只有特征值，没有目标值</a:t>
            </a:r>
            <a:endParaRPr lang="en-US" altLang="zh-CN" sz="1000">
              <a:solidFill>
                <a:srgbClr val="FF0000"/>
              </a:solidFill>
              <a:latin typeface="微软雅黑" charset="-122"/>
              <a:ea typeface="微软雅黑" charset="-122"/>
            </a:endParaRPr>
          </a:p>
          <a:p>
            <a:pPr>
              <a:lnSpc>
                <a:spcPct val="150000"/>
              </a:lnSpc>
              <a:spcAft>
                <a:spcPts val="600"/>
              </a:spcAft>
            </a:pPr>
            <a:r>
              <a:rPr lang="zh-CN" altLang="en-US" sz="1000">
                <a:solidFill>
                  <a:srgbClr val="262626"/>
                </a:solidFill>
                <a:latin typeface="微软雅黑" charset="-122"/>
                <a:ea typeface="微软雅黑" charset="-122"/>
              </a:rPr>
              <a:t>那么我们把这样的训练过程称为无监督学习</a:t>
            </a:r>
          </a:p>
          <a:p>
            <a:pPr>
              <a:lnSpc>
                <a:spcPct val="150000"/>
              </a:lnSpc>
            </a:pPr>
            <a:r>
              <a:rPr lang="zh-CN" altLang="en-US" sz="1000" b="1">
                <a:solidFill>
                  <a:srgbClr val="262626"/>
                </a:solidFill>
                <a:latin typeface="微软雅黑" charset="-122"/>
                <a:ea typeface="微软雅黑" charset="-122"/>
              </a:rPr>
              <a:t>代表算法</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K-means</a:t>
            </a:r>
          </a:p>
        </p:txBody>
      </p:sp>
      <p:sp>
        <p:nvSpPr>
          <p:cNvPr id="11270" name="Text Box 8"/>
          <p:cNvSpPr txBox="1">
            <a:spLocks noChangeArrowheads="1"/>
          </p:cNvSpPr>
          <p:nvPr/>
        </p:nvSpPr>
        <p:spPr bwMode="auto">
          <a:xfrm>
            <a:off x="4784725" y="915566"/>
            <a:ext cx="2573338"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无监督学习</a:t>
            </a:r>
            <a:endParaRPr lang="ko-KR" altLang="en-US" b="1">
              <a:solidFill>
                <a:srgbClr val="404040"/>
              </a:solidFill>
              <a:latin typeface="微软雅黑" charset="-122"/>
              <a:ea typeface="微软雅黑" charset="-122"/>
            </a:endParaRPr>
          </a:p>
        </p:txBody>
      </p:sp>
      <p:sp>
        <p:nvSpPr>
          <p:cNvPr id="11271" name="Text Box 5"/>
          <p:cNvSpPr txBox="1">
            <a:spLocks noChangeArrowheads="1"/>
          </p:cNvSpPr>
          <p:nvPr/>
        </p:nvSpPr>
        <p:spPr bwMode="auto">
          <a:xfrm>
            <a:off x="766763" y="3012414"/>
            <a:ext cx="4202112"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000">
                <a:solidFill>
                  <a:srgbClr val="262626"/>
                </a:solidFill>
                <a:latin typeface="微软雅黑" charset="-122"/>
                <a:ea typeface="微软雅黑" charset="-122"/>
              </a:rPr>
              <a:t>根据目标值的数据类型，我们把监督学习分为：</a:t>
            </a:r>
            <a:r>
              <a:rPr lang="zh-CN" altLang="en-US" sz="1000" b="1">
                <a:solidFill>
                  <a:srgbClr val="FF0000"/>
                </a:solidFill>
                <a:latin typeface="微软雅黑" charset="-122"/>
                <a:ea typeface="微软雅黑" charset="-122"/>
              </a:rPr>
              <a:t>分类问题 </a:t>
            </a:r>
            <a:r>
              <a:rPr lang="zh-CN" altLang="en-US" sz="1000">
                <a:solidFill>
                  <a:srgbClr val="262626"/>
                </a:solidFill>
                <a:latin typeface="微软雅黑" charset="-122"/>
                <a:ea typeface="微软雅黑" charset="-122"/>
              </a:rPr>
              <a:t>和 </a:t>
            </a:r>
            <a:r>
              <a:rPr lang="zh-CN" altLang="en-US" sz="1000" b="1">
                <a:solidFill>
                  <a:srgbClr val="FF0000"/>
                </a:solidFill>
                <a:latin typeface="微软雅黑" charset="-122"/>
                <a:ea typeface="微软雅黑" charset="-122"/>
              </a:rPr>
              <a:t>回归问题</a:t>
            </a:r>
            <a:endParaRPr lang="en-US" altLang="zh-CN" sz="1000">
              <a:solidFill>
                <a:srgbClr val="FF0000"/>
              </a:solidFill>
              <a:latin typeface="微软雅黑" charset="-122"/>
              <a:ea typeface="微软雅黑" charset="-122"/>
            </a:endParaRPr>
          </a:p>
          <a:p>
            <a:pPr marL="171450" indent="-171450">
              <a:lnSpc>
                <a:spcPct val="150000"/>
              </a:lnSpc>
              <a:buFont typeface="Arial" charset="0"/>
              <a:buChar char="•"/>
            </a:pPr>
            <a:r>
              <a:rPr lang="zh-CN" altLang="en-US" sz="1000" b="1">
                <a:latin typeface="微软雅黑" charset="-122"/>
                <a:ea typeface="微软雅黑" charset="-122"/>
              </a:rPr>
              <a:t>分类问题</a:t>
            </a:r>
            <a:r>
              <a:rPr lang="zh-CN" altLang="en-US" sz="1000">
                <a:latin typeface="微软雅黑" charset="-122"/>
                <a:ea typeface="微软雅黑" charset="-122"/>
              </a:rPr>
              <a:t>：</a:t>
            </a:r>
            <a:r>
              <a:rPr lang="zh-CN" altLang="en-US" sz="1000">
                <a:solidFill>
                  <a:srgbClr val="FF0000"/>
                </a:solidFill>
                <a:latin typeface="微软雅黑" charset="-122"/>
                <a:ea typeface="微软雅黑" charset="-122"/>
              </a:rPr>
              <a:t>预测一个类别</a:t>
            </a:r>
            <a:endParaRPr lang="en-US" altLang="zh-CN" sz="1000">
              <a:solidFill>
                <a:srgbClr val="FF0000"/>
              </a:solidFill>
              <a:latin typeface="微软雅黑" charset="-122"/>
              <a:ea typeface="微软雅黑" charset="-122"/>
            </a:endParaRPr>
          </a:p>
          <a:p>
            <a:pPr>
              <a:lnSpc>
                <a:spcPct val="150000"/>
              </a:lnSpc>
              <a:spcAft>
                <a:spcPts val="600"/>
              </a:spcAft>
            </a:pPr>
            <a:r>
              <a:rPr lang="zh-CN" altLang="en-US" sz="1000">
                <a:solidFill>
                  <a:srgbClr val="262626"/>
                </a:solidFill>
                <a:latin typeface="微软雅黑" charset="-122"/>
                <a:ea typeface="微软雅黑" charset="-122"/>
              </a:rPr>
              <a:t>分类代表算法：逻辑回归、决策树、随机森林</a:t>
            </a:r>
            <a:endParaRPr lang="en-US" altLang="zh-CN" sz="1000">
              <a:solidFill>
                <a:srgbClr val="262626"/>
              </a:solidFill>
              <a:latin typeface="微软雅黑" charset="-122"/>
              <a:ea typeface="微软雅黑" charset="-122"/>
            </a:endParaRPr>
          </a:p>
          <a:p>
            <a:pPr marL="171450" indent="-171450">
              <a:lnSpc>
                <a:spcPct val="150000"/>
              </a:lnSpc>
              <a:buFont typeface="Arial" charset="0"/>
              <a:buChar char="•"/>
            </a:pPr>
            <a:r>
              <a:rPr lang="zh-CN" altLang="en-US" sz="1000" b="1">
                <a:latin typeface="微软雅黑" charset="-122"/>
                <a:ea typeface="微软雅黑" charset="-122"/>
              </a:rPr>
              <a:t>回归问题</a:t>
            </a:r>
            <a:r>
              <a:rPr lang="zh-CN" altLang="en-US" sz="1000">
                <a:latin typeface="微软雅黑" charset="-122"/>
                <a:ea typeface="微软雅黑" charset="-122"/>
              </a:rPr>
              <a:t>：</a:t>
            </a:r>
            <a:r>
              <a:rPr lang="zh-CN" altLang="en-US" sz="1000">
                <a:solidFill>
                  <a:srgbClr val="FF0000"/>
                </a:solidFill>
                <a:latin typeface="微软雅黑" charset="-122"/>
                <a:ea typeface="微软雅黑" charset="-122"/>
              </a:rPr>
              <a:t>预测一个数值</a:t>
            </a:r>
            <a:endParaRPr lang="en-US" altLang="zh-CN" sz="1000">
              <a:solidFill>
                <a:srgbClr val="FF0000"/>
              </a:solidFill>
              <a:latin typeface="微软雅黑" charset="-122"/>
              <a:ea typeface="微软雅黑" charset="-122"/>
            </a:endParaRPr>
          </a:p>
          <a:p>
            <a:pPr>
              <a:lnSpc>
                <a:spcPct val="150000"/>
              </a:lnSpc>
            </a:pPr>
            <a:r>
              <a:rPr lang="zh-CN" altLang="en-US" sz="1000">
                <a:solidFill>
                  <a:srgbClr val="262626"/>
                </a:solidFill>
                <a:latin typeface="微软雅黑" charset="-122"/>
                <a:ea typeface="微软雅黑" charset="-122"/>
              </a:rPr>
              <a:t>回归代表算法：线性回归、岭回归</a:t>
            </a:r>
          </a:p>
        </p:txBody>
      </p:sp>
      <p:sp>
        <p:nvSpPr>
          <p:cNvPr id="11272" name="Text Box 6"/>
          <p:cNvSpPr txBox="1">
            <a:spLocks noChangeArrowheads="1"/>
          </p:cNvSpPr>
          <p:nvPr/>
        </p:nvSpPr>
        <p:spPr bwMode="auto">
          <a:xfrm>
            <a:off x="766763" y="2633002"/>
            <a:ext cx="35147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400" b="1">
                <a:solidFill>
                  <a:srgbClr val="262626"/>
                </a:solidFill>
                <a:latin typeface="微软雅黑" charset="-122"/>
                <a:ea typeface="微软雅黑" charset="-122"/>
              </a:rPr>
              <a:t>监督学习类别</a:t>
            </a:r>
            <a:endParaRPr lang="ko-KR" altLang="en-US" sz="1400" b="1">
              <a:solidFill>
                <a:srgbClr val="262626"/>
              </a:solidFill>
              <a:latin typeface="微软雅黑" charset="-122"/>
              <a:ea typeface="微软雅黑" charset="-122"/>
            </a:endParaRPr>
          </a:p>
        </p:txBody>
      </p:sp>
      <p:grpSp>
        <p:nvGrpSpPr>
          <p:cNvPr id="11273" name="组合 14"/>
          <p:cNvGrpSpPr>
            <a:grpSpLocks/>
          </p:cNvGrpSpPr>
          <p:nvPr/>
        </p:nvGrpSpPr>
        <p:grpSpPr bwMode="auto">
          <a:xfrm>
            <a:off x="5292725" y="2319338"/>
            <a:ext cx="2303463" cy="2682875"/>
            <a:chOff x="6588224" y="1667256"/>
            <a:chExt cx="2304256" cy="3043708"/>
          </a:xfrm>
        </p:grpSpPr>
        <p:sp>
          <p:nvSpPr>
            <p:cNvPr id="8" name="椭圆 7">
              <a:extLst>
                <a:ext uri="{FF2B5EF4-FFF2-40B4-BE49-F238E27FC236}">
                  <a16:creationId xmlns:a16="http://schemas.microsoft.com/office/drawing/2014/main" id="{E9B57C98-9289-4C4F-9557-36E54BE6AB9D}"/>
                </a:ext>
              </a:extLst>
            </p:cNvPr>
            <p:cNvSpPr/>
            <p:nvPr/>
          </p:nvSpPr>
          <p:spPr>
            <a:xfrm>
              <a:off x="6588224" y="1667256"/>
              <a:ext cx="2304256" cy="3043708"/>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dirty="0"/>
            </a:p>
          </p:txBody>
        </p:sp>
        <p:sp>
          <p:nvSpPr>
            <p:cNvPr id="6" name="文本框 5">
              <a:extLst>
                <a:ext uri="{FF2B5EF4-FFF2-40B4-BE49-F238E27FC236}">
                  <a16:creationId xmlns:a16="http://schemas.microsoft.com/office/drawing/2014/main" id="{BDB1DB24-EC6B-3D4C-A2F6-F5C8683B8B2D}"/>
                </a:ext>
              </a:extLst>
            </p:cNvPr>
            <p:cNvSpPr txBox="1"/>
            <p:nvPr/>
          </p:nvSpPr>
          <p:spPr>
            <a:xfrm>
              <a:off x="7747498" y="2382257"/>
              <a:ext cx="992530" cy="253943"/>
            </a:xfrm>
            <a:prstGeom prst="rect">
              <a:avLst/>
            </a:prstGeom>
            <a:noFill/>
          </p:spPr>
          <p:txBody>
            <a:bodyPr wrap="none">
              <a:spAutoFit/>
            </a:bodyPr>
            <a:lstStyle/>
            <a:p>
              <a:pPr fontAlgn="auto">
                <a:spcBef>
                  <a:spcPts val="0"/>
                </a:spcBef>
                <a:spcAft>
                  <a:spcPts val="0"/>
                </a:spcAft>
                <a:defRPr/>
              </a:pPr>
              <a:r>
                <a:rPr kumimoji="1" lang="zh-CN" altLang="en-US" sz="1050" dirty="0">
                  <a:solidFill>
                    <a:schemeClr val="tx1">
                      <a:lumMod val="65000"/>
                      <a:lumOff val="35000"/>
                    </a:schemeClr>
                  </a:solidFill>
                  <a:latin typeface="+mn-lt"/>
                  <a:ea typeface="+mn-ea"/>
                </a:rPr>
                <a:t>机器学习算法</a:t>
              </a:r>
            </a:p>
          </p:txBody>
        </p:sp>
        <p:sp>
          <p:nvSpPr>
            <p:cNvPr id="13" name="椭圆 12">
              <a:extLst>
                <a:ext uri="{FF2B5EF4-FFF2-40B4-BE49-F238E27FC236}">
                  <a16:creationId xmlns:a16="http://schemas.microsoft.com/office/drawing/2014/main" id="{81D6C0F8-8117-B843-9075-C1BB05F10445}"/>
                </a:ext>
              </a:extLst>
            </p:cNvPr>
            <p:cNvSpPr/>
            <p:nvPr/>
          </p:nvSpPr>
          <p:spPr>
            <a:xfrm>
              <a:off x="7882482" y="3036024"/>
              <a:ext cx="746382" cy="130573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14" name="椭圆 13">
              <a:extLst>
                <a:ext uri="{FF2B5EF4-FFF2-40B4-BE49-F238E27FC236}">
                  <a16:creationId xmlns:a16="http://schemas.microsoft.com/office/drawing/2014/main" id="{0F3727F0-739A-A648-909D-4173E57A0337}"/>
                </a:ext>
              </a:extLst>
            </p:cNvPr>
            <p:cNvSpPr/>
            <p:nvPr/>
          </p:nvSpPr>
          <p:spPr>
            <a:xfrm>
              <a:off x="6745441" y="2158931"/>
              <a:ext cx="1027466" cy="182442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9" name="椭圆 8">
              <a:extLst>
                <a:ext uri="{FF2B5EF4-FFF2-40B4-BE49-F238E27FC236}">
                  <a16:creationId xmlns:a16="http://schemas.microsoft.com/office/drawing/2014/main" id="{D5623408-DE17-8848-9FFB-071427D542DE}"/>
                </a:ext>
              </a:extLst>
            </p:cNvPr>
            <p:cNvSpPr/>
            <p:nvPr/>
          </p:nvSpPr>
          <p:spPr>
            <a:xfrm>
              <a:off x="6855016" y="3239538"/>
              <a:ext cx="789260" cy="352998"/>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10" name="椭圆 9">
              <a:extLst>
                <a:ext uri="{FF2B5EF4-FFF2-40B4-BE49-F238E27FC236}">
                  <a16:creationId xmlns:a16="http://schemas.microsoft.com/office/drawing/2014/main" id="{D88EFAE1-2375-5244-9B4A-E5FA7699ABC7}"/>
                </a:ext>
              </a:extLst>
            </p:cNvPr>
            <p:cNvSpPr/>
            <p:nvPr/>
          </p:nvSpPr>
          <p:spPr>
            <a:xfrm>
              <a:off x="6812139" y="2845117"/>
              <a:ext cx="832136" cy="331386"/>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18" name="文本框 17">
              <a:extLst>
                <a:ext uri="{FF2B5EF4-FFF2-40B4-BE49-F238E27FC236}">
                  <a16:creationId xmlns:a16="http://schemas.microsoft.com/office/drawing/2014/main" id="{F6235D42-9691-B543-B048-AC1DF6B58CF3}"/>
                </a:ext>
              </a:extLst>
            </p:cNvPr>
            <p:cNvSpPr txBox="1"/>
            <p:nvPr/>
          </p:nvSpPr>
          <p:spPr>
            <a:xfrm>
              <a:off x="7957120" y="3491679"/>
              <a:ext cx="587577" cy="416034"/>
            </a:xfrm>
            <a:prstGeom prst="rect">
              <a:avLst/>
            </a:prstGeom>
            <a:noFill/>
          </p:spPr>
          <p:txBody>
            <a:bodyPr wrap="none">
              <a:spAutoFit/>
            </a:bodyPr>
            <a:lstStyle/>
            <a:p>
              <a:pPr fontAlgn="auto">
                <a:spcBef>
                  <a:spcPts val="0"/>
                </a:spcBef>
                <a:spcAft>
                  <a:spcPts val="0"/>
                </a:spcAft>
                <a:defRPr/>
              </a:pPr>
              <a:r>
                <a:rPr kumimoji="1" lang="zh-CN" altLang="en-US" sz="1050" dirty="0">
                  <a:solidFill>
                    <a:schemeClr val="tx1">
                      <a:lumMod val="65000"/>
                      <a:lumOff val="35000"/>
                    </a:schemeClr>
                  </a:solidFill>
                  <a:latin typeface="+mn-lt"/>
                  <a:ea typeface="+mn-ea"/>
                </a:rPr>
                <a:t>无监督</a:t>
              </a:r>
              <a:endParaRPr kumimoji="1" lang="en-US" altLang="zh-CN" sz="1050" dirty="0">
                <a:solidFill>
                  <a:schemeClr val="tx1">
                    <a:lumMod val="65000"/>
                    <a:lumOff val="35000"/>
                  </a:schemeClr>
                </a:solidFill>
                <a:latin typeface="+mn-lt"/>
                <a:ea typeface="+mn-ea"/>
              </a:endParaRPr>
            </a:p>
            <a:p>
              <a:pPr fontAlgn="auto">
                <a:spcBef>
                  <a:spcPts val="0"/>
                </a:spcBef>
                <a:spcAft>
                  <a:spcPts val="0"/>
                </a:spcAft>
                <a:defRPr/>
              </a:pPr>
              <a:r>
                <a:rPr kumimoji="1" lang="zh-CN" altLang="en-US" sz="1050" dirty="0">
                  <a:solidFill>
                    <a:schemeClr val="tx1">
                      <a:lumMod val="65000"/>
                      <a:lumOff val="35000"/>
                    </a:schemeClr>
                  </a:solidFill>
                  <a:latin typeface="+mn-lt"/>
                  <a:ea typeface="+mn-ea"/>
                </a:rPr>
                <a:t>   学习</a:t>
              </a:r>
            </a:p>
          </p:txBody>
        </p:sp>
        <p:sp>
          <p:nvSpPr>
            <p:cNvPr id="19" name="文本框 18">
              <a:extLst>
                <a:ext uri="{FF2B5EF4-FFF2-40B4-BE49-F238E27FC236}">
                  <a16:creationId xmlns:a16="http://schemas.microsoft.com/office/drawing/2014/main" id="{A23F3BC2-5911-6045-B319-9C145937261D}"/>
                </a:ext>
              </a:extLst>
            </p:cNvPr>
            <p:cNvSpPr txBox="1"/>
            <p:nvPr/>
          </p:nvSpPr>
          <p:spPr>
            <a:xfrm>
              <a:off x="6885189" y="2528139"/>
              <a:ext cx="724149" cy="253942"/>
            </a:xfrm>
            <a:prstGeom prst="rect">
              <a:avLst/>
            </a:prstGeom>
            <a:noFill/>
          </p:spPr>
          <p:txBody>
            <a:bodyPr wrap="none">
              <a:spAutoFit/>
            </a:bodyPr>
            <a:lstStyle/>
            <a:p>
              <a:pPr fontAlgn="auto">
                <a:spcBef>
                  <a:spcPts val="0"/>
                </a:spcBef>
                <a:spcAft>
                  <a:spcPts val="0"/>
                </a:spcAft>
                <a:defRPr/>
              </a:pPr>
              <a:r>
                <a:rPr kumimoji="1" lang="zh-CN" altLang="en-US" sz="1050" dirty="0">
                  <a:solidFill>
                    <a:schemeClr val="tx1">
                      <a:lumMod val="65000"/>
                      <a:lumOff val="35000"/>
                    </a:schemeClr>
                  </a:solidFill>
                  <a:latin typeface="+mn-lt"/>
                  <a:ea typeface="+mn-ea"/>
                </a:rPr>
                <a:t>监督学习</a:t>
              </a:r>
            </a:p>
          </p:txBody>
        </p:sp>
        <p:sp>
          <p:nvSpPr>
            <p:cNvPr id="20" name="文本框 19">
              <a:extLst>
                <a:ext uri="{FF2B5EF4-FFF2-40B4-BE49-F238E27FC236}">
                  <a16:creationId xmlns:a16="http://schemas.microsoft.com/office/drawing/2014/main" id="{1C542DA6-7EDF-6A43-B086-0584B5BEDA8B}"/>
                </a:ext>
              </a:extLst>
            </p:cNvPr>
            <p:cNvSpPr txBox="1"/>
            <p:nvPr/>
          </p:nvSpPr>
          <p:spPr>
            <a:xfrm>
              <a:off x="7001116" y="2893744"/>
              <a:ext cx="454181" cy="253943"/>
            </a:xfrm>
            <a:prstGeom prst="rect">
              <a:avLst/>
            </a:prstGeom>
            <a:noFill/>
          </p:spPr>
          <p:txBody>
            <a:bodyPr wrap="none">
              <a:spAutoFit/>
            </a:bodyPr>
            <a:lstStyle/>
            <a:p>
              <a:pPr fontAlgn="auto">
                <a:spcBef>
                  <a:spcPts val="0"/>
                </a:spcBef>
                <a:spcAft>
                  <a:spcPts val="0"/>
                </a:spcAft>
                <a:defRPr/>
              </a:pPr>
              <a:r>
                <a:rPr kumimoji="1" lang="zh-CN" altLang="en-US" sz="1050" dirty="0">
                  <a:solidFill>
                    <a:schemeClr val="tx1">
                      <a:lumMod val="65000"/>
                      <a:lumOff val="35000"/>
                    </a:schemeClr>
                  </a:solidFill>
                  <a:latin typeface="+mn-lt"/>
                  <a:ea typeface="+mn-ea"/>
                </a:rPr>
                <a:t>分类</a:t>
              </a:r>
            </a:p>
          </p:txBody>
        </p:sp>
        <p:sp>
          <p:nvSpPr>
            <p:cNvPr id="21" name="文本框 20">
              <a:extLst>
                <a:ext uri="{FF2B5EF4-FFF2-40B4-BE49-F238E27FC236}">
                  <a16:creationId xmlns:a16="http://schemas.microsoft.com/office/drawing/2014/main" id="{5C322DE4-0903-9B48-AC2B-4ED7D4214999}"/>
                </a:ext>
              </a:extLst>
            </p:cNvPr>
            <p:cNvSpPr txBox="1"/>
            <p:nvPr/>
          </p:nvSpPr>
          <p:spPr>
            <a:xfrm>
              <a:off x="7007468" y="3288166"/>
              <a:ext cx="454181" cy="253942"/>
            </a:xfrm>
            <a:prstGeom prst="rect">
              <a:avLst/>
            </a:prstGeom>
            <a:noFill/>
          </p:spPr>
          <p:txBody>
            <a:bodyPr wrap="none">
              <a:spAutoFit/>
            </a:bodyPr>
            <a:lstStyle/>
            <a:p>
              <a:pPr fontAlgn="auto">
                <a:spcBef>
                  <a:spcPts val="0"/>
                </a:spcBef>
                <a:spcAft>
                  <a:spcPts val="0"/>
                </a:spcAft>
                <a:defRPr/>
              </a:pPr>
              <a:r>
                <a:rPr kumimoji="1" lang="zh-CN" altLang="en-US" sz="1050" dirty="0">
                  <a:solidFill>
                    <a:schemeClr val="tx1">
                      <a:lumMod val="65000"/>
                      <a:lumOff val="35000"/>
                    </a:schemeClr>
                  </a:solidFill>
                  <a:latin typeface="+mn-lt"/>
                  <a:ea typeface="+mn-ea"/>
                </a:rPr>
                <a:t>回归</a:t>
              </a:r>
            </a:p>
          </p:txBody>
        </p:sp>
      </p:grpSp>
    </p:spTree>
    <p:extLst>
      <p:ext uri="{BB962C8B-B14F-4D97-AF65-F5344CB8AC3E}">
        <p14:creationId xmlns:p14="http://schemas.microsoft.com/office/powerpoint/2010/main" val="163497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269">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26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6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7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271">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271">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271">
                                            <p:txEl>
                                              <p:pRg st="3" end="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27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70" grpId="0"/>
      <p:bldP spid="112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ko-KR" altLang="en-US" sz="2400" b="1">
                <a:solidFill>
                  <a:srgbClr val="595959"/>
                </a:solidFill>
                <a:latin typeface="微软雅黑" charset="-122"/>
                <a:ea typeface="微软雅黑" charset="-122"/>
              </a:rPr>
              <a:t>机器学习的常见</a:t>
            </a:r>
            <a:r>
              <a:rPr lang="zh-CN" altLang="en-US" sz="2400" b="1">
                <a:solidFill>
                  <a:srgbClr val="595959"/>
                </a:solidFill>
                <a:latin typeface="微软雅黑" charset="-122"/>
                <a:ea typeface="微软雅黑" charset="-122"/>
              </a:rPr>
              <a:t>应用场景</a:t>
            </a:r>
            <a:endParaRPr lang="ko-KR" altLang="en-US" sz="2400" b="1">
              <a:solidFill>
                <a:srgbClr val="595959"/>
              </a:solidFill>
              <a:latin typeface="微软雅黑" charset="-122"/>
              <a:ea typeface="微软雅黑" charset="-122"/>
            </a:endParaRPr>
          </a:p>
        </p:txBody>
      </p:sp>
      <p:sp>
        <p:nvSpPr>
          <p:cNvPr id="10" name="矩形: 圆角 9">
            <a:extLst>
              <a:ext uri="{FF2B5EF4-FFF2-40B4-BE49-F238E27FC236}">
                <a16:creationId xmlns:a16="http://schemas.microsoft.com/office/drawing/2014/main" id="{6ADBBA3D-B4E5-4BE2-9431-EACE1C5E29A1}"/>
              </a:ext>
            </a:extLst>
          </p:cNvPr>
          <p:cNvSpPr/>
          <p:nvPr/>
        </p:nvSpPr>
        <p:spPr bwMode="auto">
          <a:xfrm>
            <a:off x="935038" y="1059582"/>
            <a:ext cx="7273925" cy="3240360"/>
          </a:xfrm>
          <a:prstGeom prst="roundRect">
            <a:avLst>
              <a:gd name="adj" fmla="val 7734"/>
            </a:avLst>
          </a:prstGeom>
          <a:no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1"/>
              </a:solidFill>
            </a:endParaRPr>
          </a:p>
        </p:txBody>
      </p:sp>
      <p:grpSp>
        <p:nvGrpSpPr>
          <p:cNvPr id="2" name="组 1"/>
          <p:cNvGrpSpPr/>
          <p:nvPr/>
        </p:nvGrpSpPr>
        <p:grpSpPr>
          <a:xfrm>
            <a:off x="1403251" y="1767185"/>
            <a:ext cx="1152525" cy="2241550"/>
            <a:chOff x="1219200" y="1695028"/>
            <a:chExt cx="1152525" cy="2241550"/>
          </a:xfrm>
        </p:grpSpPr>
        <p:sp>
          <p:nvSpPr>
            <p:cNvPr id="14" name="矩形: 圆角 13">
              <a:extLst>
                <a:ext uri="{FF2B5EF4-FFF2-40B4-BE49-F238E27FC236}">
                  <a16:creationId xmlns:a16="http://schemas.microsoft.com/office/drawing/2014/main" id="{017F0F8E-0381-471F-958C-B05AAA3CF865}"/>
                </a:ext>
              </a:extLst>
            </p:cNvPr>
            <p:cNvSpPr/>
            <p:nvPr/>
          </p:nvSpPr>
          <p:spPr bwMode="auto">
            <a:xfrm>
              <a:off x="1219200" y="1695028"/>
              <a:ext cx="1152525" cy="224155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93" name="矩形 5"/>
            <p:cNvSpPr>
              <a:spLocks noChangeArrowheads="1"/>
            </p:cNvSpPr>
            <p:nvPr/>
          </p:nvSpPr>
          <p:spPr bwMode="auto">
            <a:xfrm>
              <a:off x="1472611" y="1843015"/>
              <a:ext cx="646430"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b="1">
                  <a:solidFill>
                    <a:schemeClr val="bg1"/>
                  </a:solidFill>
                  <a:latin typeface="微软雅黑" charset="-122"/>
                  <a:ea typeface="微软雅黑" charset="-122"/>
                </a:rPr>
                <a:t>图像</a:t>
              </a:r>
              <a:endParaRPr lang="ko-KR" altLang="en-US" b="1">
                <a:solidFill>
                  <a:schemeClr val="bg1"/>
                </a:solidFill>
                <a:latin typeface="微软雅黑" charset="-122"/>
                <a:ea typeface="微软雅黑" charset="-122"/>
              </a:endParaRPr>
            </a:p>
          </p:txBody>
        </p:sp>
        <p:sp>
          <p:nvSpPr>
            <p:cNvPr id="12294" name="矩形 20"/>
            <p:cNvSpPr>
              <a:spLocks noChangeArrowheads="1"/>
            </p:cNvSpPr>
            <p:nvPr/>
          </p:nvSpPr>
          <p:spPr bwMode="auto">
            <a:xfrm>
              <a:off x="1395653" y="2212392"/>
              <a:ext cx="800342" cy="155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200">
                  <a:solidFill>
                    <a:schemeClr val="bg1"/>
                  </a:solidFill>
                  <a:latin typeface="微软雅黑" charset="-122"/>
                  <a:ea typeface="微软雅黑" charset="-122"/>
                </a:rPr>
                <a:t>人脸识别</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图像分割</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物体检测</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图像生成</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等等</a:t>
              </a:r>
              <a:endParaRPr lang="ko-KR" altLang="en-US" sz="1200">
                <a:solidFill>
                  <a:schemeClr val="bg1"/>
                </a:solidFill>
                <a:latin typeface="微软雅黑" charset="-122"/>
              </a:endParaRPr>
            </a:p>
          </p:txBody>
        </p:sp>
      </p:grpSp>
      <p:sp>
        <p:nvSpPr>
          <p:cNvPr id="12296" name="矩形 4"/>
          <p:cNvSpPr>
            <a:spLocks noChangeArrowheads="1"/>
          </p:cNvSpPr>
          <p:nvPr/>
        </p:nvSpPr>
        <p:spPr bwMode="auto">
          <a:xfrm>
            <a:off x="3787008" y="1131590"/>
            <a:ext cx="1569660"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ko-KR" altLang="en-US" b="1">
                <a:solidFill>
                  <a:srgbClr val="404040"/>
                </a:solidFill>
                <a:latin typeface="微软雅黑" charset="-122"/>
                <a:ea typeface="微软雅黑" charset="-122"/>
              </a:rPr>
              <a:t>常见</a:t>
            </a:r>
            <a:r>
              <a:rPr lang="zh-CN" altLang="en-US" b="1">
                <a:solidFill>
                  <a:srgbClr val="404040"/>
                </a:solidFill>
                <a:latin typeface="微软雅黑" charset="-122"/>
                <a:ea typeface="微软雅黑" charset="-122"/>
              </a:rPr>
              <a:t>应用场景</a:t>
            </a:r>
            <a:endParaRPr lang="ko-KR" altLang="en-US" b="1">
              <a:solidFill>
                <a:srgbClr val="404040"/>
              </a:solidFill>
              <a:latin typeface="微软雅黑" charset="-122"/>
              <a:ea typeface="微软雅黑" charset="-122"/>
            </a:endParaRPr>
          </a:p>
        </p:txBody>
      </p:sp>
      <p:grpSp>
        <p:nvGrpSpPr>
          <p:cNvPr id="3" name="组 2"/>
          <p:cNvGrpSpPr/>
          <p:nvPr/>
        </p:nvGrpSpPr>
        <p:grpSpPr>
          <a:xfrm>
            <a:off x="3155578" y="1771948"/>
            <a:ext cx="1152525" cy="2239962"/>
            <a:chOff x="3131840" y="1699791"/>
            <a:chExt cx="1152525" cy="2239962"/>
          </a:xfrm>
        </p:grpSpPr>
        <p:sp>
          <p:nvSpPr>
            <p:cNvPr id="30" name="矩形: 圆角 29">
              <a:extLst>
                <a:ext uri="{FF2B5EF4-FFF2-40B4-BE49-F238E27FC236}">
                  <a16:creationId xmlns:a16="http://schemas.microsoft.com/office/drawing/2014/main" id="{E42C7986-DA0D-47FB-8C4F-B2E491AFBBC8}"/>
                </a:ext>
              </a:extLst>
            </p:cNvPr>
            <p:cNvSpPr/>
            <p:nvPr/>
          </p:nvSpPr>
          <p:spPr bwMode="auto">
            <a:xfrm>
              <a:off x="3131840" y="1699791"/>
              <a:ext cx="1152525" cy="2239962"/>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97" name="矩形 6"/>
            <p:cNvSpPr>
              <a:spLocks noChangeArrowheads="1"/>
            </p:cNvSpPr>
            <p:nvPr/>
          </p:nvSpPr>
          <p:spPr bwMode="auto">
            <a:xfrm>
              <a:off x="3395477" y="1832603"/>
              <a:ext cx="646430"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b="1">
                  <a:solidFill>
                    <a:schemeClr val="bg1"/>
                  </a:solidFill>
                  <a:latin typeface="微软雅黑" charset="-122"/>
                  <a:ea typeface="微软雅黑" charset="-122"/>
                </a:rPr>
                <a:t>文本</a:t>
              </a:r>
              <a:endParaRPr lang="ko-KR" altLang="en-US" b="1">
                <a:solidFill>
                  <a:schemeClr val="bg1"/>
                </a:solidFill>
                <a:latin typeface="微软雅黑" charset="-122"/>
                <a:ea typeface="微软雅黑" charset="-122"/>
              </a:endParaRPr>
            </a:p>
          </p:txBody>
        </p:sp>
        <p:sp>
          <p:nvSpPr>
            <p:cNvPr id="12298" name="矩形 22"/>
            <p:cNvSpPr>
              <a:spLocks noChangeArrowheads="1"/>
            </p:cNvSpPr>
            <p:nvPr/>
          </p:nvSpPr>
          <p:spPr bwMode="auto">
            <a:xfrm>
              <a:off x="3318520" y="2212392"/>
              <a:ext cx="800342" cy="155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200">
                  <a:solidFill>
                    <a:schemeClr val="bg1"/>
                  </a:solidFill>
                  <a:latin typeface="微软雅黑" charset="-122"/>
                  <a:ea typeface="微软雅黑" charset="-122"/>
                </a:rPr>
                <a:t>情感识别</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文本分类</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对话生成</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主体识别</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等等</a:t>
              </a:r>
              <a:endParaRPr lang="ko-KR" altLang="en-US" sz="1200">
                <a:solidFill>
                  <a:schemeClr val="bg1"/>
                </a:solidFill>
                <a:latin typeface="微软雅黑" charset="-122"/>
              </a:endParaRPr>
            </a:p>
          </p:txBody>
        </p:sp>
      </p:grpSp>
      <p:grpSp>
        <p:nvGrpSpPr>
          <p:cNvPr id="4" name="组 3"/>
          <p:cNvGrpSpPr/>
          <p:nvPr/>
        </p:nvGrpSpPr>
        <p:grpSpPr>
          <a:xfrm>
            <a:off x="4907905" y="1759248"/>
            <a:ext cx="1152525" cy="2241550"/>
            <a:chOff x="5004048" y="1687091"/>
            <a:chExt cx="1152525" cy="2241550"/>
          </a:xfrm>
        </p:grpSpPr>
        <p:sp>
          <p:nvSpPr>
            <p:cNvPr id="31" name="矩形: 圆角 30">
              <a:extLst>
                <a:ext uri="{FF2B5EF4-FFF2-40B4-BE49-F238E27FC236}">
                  <a16:creationId xmlns:a16="http://schemas.microsoft.com/office/drawing/2014/main" id="{D2ED9D12-1F3F-4E71-BF92-23EB3C9A4EAD}"/>
                </a:ext>
              </a:extLst>
            </p:cNvPr>
            <p:cNvSpPr/>
            <p:nvPr/>
          </p:nvSpPr>
          <p:spPr bwMode="auto">
            <a:xfrm>
              <a:off x="5004048" y="1687091"/>
              <a:ext cx="1152525" cy="224155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01" name="矩形 7"/>
            <p:cNvSpPr>
              <a:spLocks noChangeArrowheads="1"/>
            </p:cNvSpPr>
            <p:nvPr/>
          </p:nvSpPr>
          <p:spPr bwMode="auto">
            <a:xfrm>
              <a:off x="5248426" y="1846726"/>
              <a:ext cx="646430"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b="1">
                  <a:solidFill>
                    <a:schemeClr val="bg1"/>
                  </a:solidFill>
                  <a:latin typeface="微软雅黑" charset="-122"/>
                  <a:ea typeface="微软雅黑" charset="-122"/>
                </a:rPr>
                <a:t>语音</a:t>
              </a:r>
              <a:endParaRPr lang="ko-KR" altLang="en-US" b="1">
                <a:solidFill>
                  <a:schemeClr val="bg1"/>
                </a:solidFill>
                <a:latin typeface="微软雅黑" charset="-122"/>
                <a:ea typeface="微软雅黑" charset="-122"/>
              </a:endParaRPr>
            </a:p>
          </p:txBody>
        </p:sp>
        <p:sp>
          <p:nvSpPr>
            <p:cNvPr id="12303" name="矩形 23"/>
            <p:cNvSpPr>
              <a:spLocks noChangeArrowheads="1"/>
            </p:cNvSpPr>
            <p:nvPr/>
          </p:nvSpPr>
          <p:spPr bwMode="auto">
            <a:xfrm>
              <a:off x="5151940" y="2212392"/>
              <a:ext cx="954254" cy="125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200">
                  <a:solidFill>
                    <a:schemeClr val="bg1"/>
                  </a:solidFill>
                  <a:latin typeface="微软雅黑" charset="-122"/>
                  <a:ea typeface="微软雅黑" charset="-122"/>
                </a:rPr>
                <a:t>语音合成</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语音辨识</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语音转文本</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等等</a:t>
              </a:r>
              <a:endParaRPr lang="ko-KR" altLang="en-US" sz="1200">
                <a:solidFill>
                  <a:schemeClr val="bg1"/>
                </a:solidFill>
                <a:latin typeface="微软雅黑" charset="-122"/>
              </a:endParaRPr>
            </a:p>
          </p:txBody>
        </p:sp>
      </p:grpSp>
      <p:grpSp>
        <p:nvGrpSpPr>
          <p:cNvPr id="5" name="组 4"/>
          <p:cNvGrpSpPr/>
          <p:nvPr/>
        </p:nvGrpSpPr>
        <p:grpSpPr>
          <a:xfrm>
            <a:off x="6660232" y="1722735"/>
            <a:ext cx="1165667" cy="2241550"/>
            <a:chOff x="6818313" y="1650578"/>
            <a:chExt cx="1165667" cy="2241550"/>
          </a:xfrm>
        </p:grpSpPr>
        <p:sp>
          <p:nvSpPr>
            <p:cNvPr id="32" name="矩形: 圆角 31">
              <a:extLst>
                <a:ext uri="{FF2B5EF4-FFF2-40B4-BE49-F238E27FC236}">
                  <a16:creationId xmlns:a16="http://schemas.microsoft.com/office/drawing/2014/main" id="{0C299245-F69B-4954-A457-1F4727823E3F}"/>
                </a:ext>
              </a:extLst>
            </p:cNvPr>
            <p:cNvSpPr/>
            <p:nvPr/>
          </p:nvSpPr>
          <p:spPr bwMode="auto">
            <a:xfrm>
              <a:off x="6818313" y="1650578"/>
              <a:ext cx="1152525" cy="224155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02" name="矩形 19"/>
            <p:cNvSpPr>
              <a:spLocks noChangeArrowheads="1"/>
            </p:cNvSpPr>
            <p:nvPr/>
          </p:nvSpPr>
          <p:spPr bwMode="auto">
            <a:xfrm>
              <a:off x="7021842" y="1832603"/>
              <a:ext cx="646430"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b="1">
                  <a:solidFill>
                    <a:schemeClr val="bg1"/>
                  </a:solidFill>
                  <a:latin typeface="微软雅黑" charset="-122"/>
                  <a:ea typeface="微软雅黑" charset="-122"/>
                </a:rPr>
                <a:t>其他</a:t>
              </a:r>
              <a:endParaRPr lang="ko-KR" altLang="en-US" b="1">
                <a:solidFill>
                  <a:schemeClr val="bg1"/>
                </a:solidFill>
                <a:latin typeface="微软雅黑" charset="-122"/>
                <a:ea typeface="微软雅黑" charset="-122"/>
              </a:endParaRPr>
            </a:p>
          </p:txBody>
        </p:sp>
        <p:sp>
          <p:nvSpPr>
            <p:cNvPr id="12304" name="矩形 24"/>
            <p:cNvSpPr>
              <a:spLocks noChangeArrowheads="1"/>
            </p:cNvSpPr>
            <p:nvPr/>
          </p:nvSpPr>
          <p:spPr bwMode="auto">
            <a:xfrm>
              <a:off x="6875814" y="2212392"/>
              <a:ext cx="1108166" cy="65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200">
                  <a:solidFill>
                    <a:schemeClr val="bg1"/>
                  </a:solidFill>
                  <a:latin typeface="微软雅黑" charset="-122"/>
                  <a:ea typeface="微软雅黑" charset="-122"/>
                </a:rPr>
                <a:t>其他方向</a:t>
              </a:r>
              <a:endParaRPr lang="en-US" altLang="zh-CN" sz="1200">
                <a:solidFill>
                  <a:schemeClr val="bg1"/>
                </a:solidFill>
                <a:latin typeface="微软雅黑" charset="-122"/>
                <a:ea typeface="微软雅黑" charset="-122"/>
              </a:endParaRPr>
            </a:p>
            <a:p>
              <a:pPr>
                <a:lnSpc>
                  <a:spcPct val="150000"/>
                </a:lnSpc>
              </a:pPr>
              <a:r>
                <a:rPr lang="zh-CN" altLang="en-US" sz="1200">
                  <a:solidFill>
                    <a:schemeClr val="bg1"/>
                  </a:solidFill>
                  <a:latin typeface="微软雅黑" charset="-122"/>
                  <a:ea typeface="微软雅黑" charset="-122"/>
                </a:rPr>
                <a:t>其他交叉领域</a:t>
              </a:r>
              <a:endParaRPr lang="ko-KR" altLang="en-US" sz="1200">
                <a:solidFill>
                  <a:schemeClr val="bg1"/>
                </a:solidFill>
                <a:latin typeface="微软雅黑" charset="-122"/>
              </a:endParaRPr>
            </a:p>
          </p:txBody>
        </p:sp>
      </p:grpSp>
    </p:spTree>
    <p:extLst>
      <p:ext uri="{BB962C8B-B14F-4D97-AF65-F5344CB8AC3E}">
        <p14:creationId xmlns:p14="http://schemas.microsoft.com/office/powerpoint/2010/main" val="76048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29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ko-KR" altLang="en-US" sz="2400" b="1">
                <a:solidFill>
                  <a:srgbClr val="595959"/>
                </a:solidFill>
                <a:latin typeface="微软雅黑" charset="-122"/>
                <a:ea typeface="微软雅黑" charset="-122"/>
              </a:rPr>
              <a:t>机器学习的</a:t>
            </a:r>
            <a:r>
              <a:rPr lang="zh-CN" altLang="en-US" sz="2400" b="1">
                <a:solidFill>
                  <a:srgbClr val="595959"/>
                </a:solidFill>
                <a:latin typeface="微软雅黑" charset="-122"/>
                <a:ea typeface="微软雅黑" charset="-122"/>
              </a:rPr>
              <a:t>常见流程</a:t>
            </a:r>
            <a:endParaRPr lang="ko-KR" altLang="en-US" sz="2400" b="1">
              <a:solidFill>
                <a:srgbClr val="595959"/>
              </a:solidFill>
              <a:latin typeface="微软雅黑" charset="-122"/>
              <a:ea typeface="微软雅黑" charset="-122"/>
            </a:endParaRPr>
          </a:p>
        </p:txBody>
      </p:sp>
      <p:pic>
        <p:nvPicPr>
          <p:cNvPr id="10" name="图示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9600"/>
            <a:ext cx="7848600" cy="424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sz="2400" b="1">
                <a:solidFill>
                  <a:srgbClr val="595959"/>
                </a:solidFill>
                <a:latin typeface="微软雅黑" charset="-122"/>
                <a:ea typeface="微软雅黑" charset="-122"/>
              </a:rPr>
              <a:t>自然语言处理</a:t>
            </a:r>
            <a:endParaRPr lang="ko-KR" altLang="en-US" sz="2400" b="1">
              <a:solidFill>
                <a:srgbClr val="595959"/>
              </a:solidFill>
              <a:latin typeface="微软雅黑" charset="-122"/>
              <a:ea typeface="微软雅黑" charset="-122"/>
            </a:endParaRPr>
          </a:p>
        </p:txBody>
      </p:sp>
      <p:sp>
        <p:nvSpPr>
          <p:cNvPr id="14338" name="Text Box 3"/>
          <p:cNvSpPr txBox="1">
            <a:spLocks noChangeArrowheads="1"/>
          </p:cNvSpPr>
          <p:nvPr/>
        </p:nvSpPr>
        <p:spPr bwMode="auto">
          <a:xfrm>
            <a:off x="677406" y="867529"/>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自然语言处理概念</a:t>
            </a:r>
            <a:endParaRPr lang="ko-KR" altLang="en-US" b="1">
              <a:solidFill>
                <a:srgbClr val="404040"/>
              </a:solidFill>
              <a:latin typeface="微软雅黑" charset="-122"/>
              <a:ea typeface="微软雅黑" charset="-122"/>
            </a:endParaRPr>
          </a:p>
        </p:txBody>
      </p:sp>
      <p:sp>
        <p:nvSpPr>
          <p:cNvPr id="14339" name="Text Box 4"/>
          <p:cNvSpPr txBox="1">
            <a:spLocks noChangeArrowheads="1"/>
          </p:cNvSpPr>
          <p:nvPr/>
        </p:nvSpPr>
        <p:spPr bwMode="auto">
          <a:xfrm>
            <a:off x="697681" y="1381992"/>
            <a:ext cx="7978775"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200">
                <a:solidFill>
                  <a:srgbClr val="262626"/>
                </a:solidFill>
                <a:latin typeface="微软雅黑" charset="-122"/>
                <a:ea typeface="微软雅黑" charset="-122"/>
              </a:rPr>
              <a:t>自然语言处理：也称为</a:t>
            </a:r>
            <a:r>
              <a:rPr lang="en-US" altLang="zh-CN" sz="1200">
                <a:latin typeface="微软雅黑" charset="-122"/>
                <a:ea typeface="微软雅黑" charset="-122"/>
              </a:rPr>
              <a:t>NLP (Natural Language Processing)</a:t>
            </a:r>
            <a:r>
              <a:rPr lang="zh-CN" altLang="en-US" sz="1200">
                <a:latin typeface="微软雅黑" charset="-122"/>
                <a:ea typeface="微软雅黑" charset="-122"/>
              </a:rPr>
              <a:t>，</a:t>
            </a:r>
            <a:r>
              <a:rPr lang="zh-CN" altLang="en-US" sz="1200">
                <a:solidFill>
                  <a:srgbClr val="262626"/>
                </a:solidFill>
                <a:latin typeface="微软雅黑" charset="-122"/>
                <a:ea typeface="微软雅黑" charset="-122"/>
              </a:rPr>
              <a:t>是计算机科学领域与人工智能领域中的一个重要方向。它研究能实现</a:t>
            </a:r>
            <a:r>
              <a:rPr lang="zh-CN" altLang="en-US" sz="1200">
                <a:solidFill>
                  <a:srgbClr val="FF0000"/>
                </a:solidFill>
                <a:latin typeface="微软雅黑" charset="-122"/>
                <a:ea typeface="微软雅黑" charset="-122"/>
              </a:rPr>
              <a:t>人与计算机之间用自然语言进行有效通信的各种理论和方法</a:t>
            </a:r>
            <a:r>
              <a:rPr lang="zh-CN" altLang="en-US" sz="1200">
                <a:solidFill>
                  <a:srgbClr val="262626"/>
                </a:solidFill>
                <a:latin typeface="微软雅黑" charset="-122"/>
                <a:ea typeface="微软雅黑" charset="-122"/>
              </a:rPr>
              <a:t>。</a:t>
            </a:r>
            <a:endParaRPr lang="ko-KR" altLang="en-US" sz="1200">
              <a:solidFill>
                <a:srgbClr val="262626"/>
              </a:solidFill>
              <a:latin typeface="微软雅黑" charset="-122"/>
            </a:endParaRPr>
          </a:p>
        </p:txBody>
      </p:sp>
      <p:sp>
        <p:nvSpPr>
          <p:cNvPr id="14341" name="Text Box 6"/>
          <p:cNvSpPr txBox="1">
            <a:spLocks noChangeArrowheads="1"/>
          </p:cNvSpPr>
          <p:nvPr/>
        </p:nvSpPr>
        <p:spPr bwMode="auto">
          <a:xfrm>
            <a:off x="721526" y="2355726"/>
            <a:ext cx="3514632" cy="45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en-US" altLang="zh-CN" b="1">
                <a:solidFill>
                  <a:srgbClr val="404040"/>
                </a:solidFill>
                <a:latin typeface="微软雅黑" charset="-122"/>
                <a:ea typeface="微软雅黑" charset="-122"/>
              </a:rPr>
              <a:t>NLP</a:t>
            </a:r>
            <a:r>
              <a:rPr lang="zh-CN" altLang="en-US" b="1">
                <a:solidFill>
                  <a:srgbClr val="404040"/>
                </a:solidFill>
                <a:latin typeface="微软雅黑" charset="-122"/>
                <a:ea typeface="微软雅黑" charset="-122"/>
              </a:rPr>
              <a:t>的主要问题</a:t>
            </a:r>
            <a:endParaRPr lang="ko-KR" altLang="en-US" b="1">
              <a:solidFill>
                <a:srgbClr val="404040"/>
              </a:solidFill>
              <a:latin typeface="微软雅黑" charset="-122"/>
              <a:ea typeface="微软雅黑" charset="-122"/>
            </a:endParaRPr>
          </a:p>
        </p:txBody>
      </p:sp>
      <p:cxnSp>
        <p:nvCxnSpPr>
          <p:cNvPr id="6" name="直接箭头连接符 5"/>
          <p:cNvCxnSpPr>
            <a:cxnSpLocks noChangeShapeType="1"/>
          </p:cNvCxnSpPr>
          <p:nvPr/>
        </p:nvCxnSpPr>
        <p:spPr bwMode="auto">
          <a:xfrm>
            <a:off x="721433" y="2868737"/>
            <a:ext cx="7378959" cy="0"/>
          </a:xfrm>
          <a:prstGeom prst="straightConnector1">
            <a:avLst/>
          </a:prstGeom>
          <a:noFill/>
          <a:ln w="25400">
            <a:solidFill>
              <a:schemeClr val="accent1"/>
            </a:solidFill>
            <a:round/>
            <a:headEnd/>
            <a:tailEnd type="triangle"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7" name="文本框 6">
            <a:extLst>
              <a:ext uri="{FF2B5EF4-FFF2-40B4-BE49-F238E27FC236}">
                <a16:creationId xmlns:a16="http://schemas.microsoft.com/office/drawing/2014/main" id="{148F397D-43CE-4379-8987-B35D1D4BADE0}"/>
              </a:ext>
            </a:extLst>
          </p:cNvPr>
          <p:cNvSpPr txBox="1"/>
          <p:nvPr/>
        </p:nvSpPr>
        <p:spPr bwMode="auto">
          <a:xfrm>
            <a:off x="583579" y="2983037"/>
            <a:ext cx="7375525" cy="1728786"/>
          </a:xfrm>
          <a:prstGeom prst="rect">
            <a:avLst/>
          </a:prstGeom>
          <a:noFill/>
        </p:spPr>
        <p:txBody>
          <a:bodyPr vert="eaVert">
            <a:spAutoFit/>
          </a:bodyPr>
          <a:lstStyle/>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等等</a:t>
            </a: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中文自动分词（</a:t>
            </a:r>
            <a:r>
              <a:rPr lang="en-US" altLang="zh-CN" sz="1050" b="1" dirty="0">
                <a:solidFill>
                  <a:srgbClr val="262626"/>
                </a:solidFill>
                <a:latin typeface="微软雅黑" panose="020B0503020204020204" pitchFamily="34" charset="-122"/>
                <a:ea typeface="微软雅黑" panose="020B0503020204020204" pitchFamily="34" charset="-122"/>
              </a:rPr>
              <a:t>Chinese word segmentation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词性标注（</a:t>
            </a:r>
            <a:r>
              <a:rPr lang="en-US" altLang="zh-CN" sz="1050" b="1" dirty="0">
                <a:solidFill>
                  <a:srgbClr val="262626"/>
                </a:solidFill>
                <a:latin typeface="微软雅黑" panose="020B0503020204020204" pitchFamily="34" charset="-122"/>
                <a:ea typeface="微软雅黑" panose="020B0503020204020204" pitchFamily="34" charset="-122"/>
              </a:rPr>
              <a:t>Part-of-speech tagging</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自然语言生成（</a:t>
            </a:r>
            <a:r>
              <a:rPr lang="en-US" altLang="zh-CN" sz="1050" b="1" dirty="0">
                <a:solidFill>
                  <a:srgbClr val="262626"/>
                </a:solidFill>
                <a:latin typeface="微软雅黑" panose="020B0503020204020204" pitchFamily="34" charset="-122"/>
                <a:ea typeface="微软雅黑" panose="020B0503020204020204" pitchFamily="34" charset="-122"/>
              </a:rPr>
              <a:t>Natural language generation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文本分类（</a:t>
            </a:r>
            <a:r>
              <a:rPr lang="en-US" altLang="zh-CN" sz="1050" b="1" dirty="0">
                <a:solidFill>
                  <a:srgbClr val="262626"/>
                </a:solidFill>
                <a:latin typeface="微软雅黑" panose="020B0503020204020204" pitchFamily="34" charset="-122"/>
                <a:ea typeface="微软雅黑" panose="020B0503020204020204" pitchFamily="34" charset="-122"/>
              </a:rPr>
              <a:t>Text categorization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信息检索（</a:t>
            </a:r>
            <a:r>
              <a:rPr lang="en-US" altLang="zh-CN" sz="1050" b="1" dirty="0">
                <a:solidFill>
                  <a:srgbClr val="262626"/>
                </a:solidFill>
                <a:latin typeface="微软雅黑" panose="020B0503020204020204" pitchFamily="34" charset="-122"/>
                <a:ea typeface="微软雅黑" panose="020B0503020204020204" pitchFamily="34" charset="-122"/>
              </a:rPr>
              <a:t>Information retrieval</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信息抽取（</a:t>
            </a:r>
            <a:r>
              <a:rPr lang="en-US" altLang="zh-CN" sz="1050" b="1" dirty="0">
                <a:solidFill>
                  <a:srgbClr val="262626"/>
                </a:solidFill>
                <a:latin typeface="微软雅黑" panose="020B0503020204020204" pitchFamily="34" charset="-122"/>
                <a:ea typeface="微软雅黑" panose="020B0503020204020204" pitchFamily="34" charset="-122"/>
              </a:rPr>
              <a:t>Information extraction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问答系统（</a:t>
            </a:r>
            <a:r>
              <a:rPr lang="en-US" altLang="zh-CN" sz="1050" b="1" dirty="0">
                <a:solidFill>
                  <a:srgbClr val="262626"/>
                </a:solidFill>
                <a:latin typeface="微软雅黑" panose="020B0503020204020204" pitchFamily="34" charset="-122"/>
                <a:ea typeface="微软雅黑" panose="020B0503020204020204" pitchFamily="34" charset="-122"/>
              </a:rPr>
              <a:t>Question answering</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机器翻译（</a:t>
            </a:r>
            <a:r>
              <a:rPr lang="en-US" altLang="zh-CN" sz="1050" b="1" dirty="0">
                <a:solidFill>
                  <a:srgbClr val="262626"/>
                </a:solidFill>
                <a:latin typeface="微软雅黑" panose="020B0503020204020204" pitchFamily="34" charset="-122"/>
                <a:ea typeface="微软雅黑" panose="020B0503020204020204" pitchFamily="34" charset="-122"/>
              </a:rPr>
              <a:t>Machine translation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a:lnSpc>
                <a:spcPct val="150000"/>
              </a:lnSpc>
              <a:defRPr/>
            </a:pPr>
            <a:r>
              <a:rPr lang="zh-CN" altLang="en-US" sz="1050" b="1" dirty="0">
                <a:solidFill>
                  <a:srgbClr val="262626"/>
                </a:solidFill>
                <a:latin typeface="微软雅黑" panose="020B0503020204020204" pitchFamily="34" charset="-122"/>
                <a:ea typeface="微软雅黑" panose="020B0503020204020204" pitchFamily="34" charset="-122"/>
              </a:rPr>
              <a:t>自动摘要（</a:t>
            </a:r>
            <a:r>
              <a:rPr lang="en-US" altLang="zh-CN" sz="1050" b="1" dirty="0">
                <a:solidFill>
                  <a:srgbClr val="262626"/>
                </a:solidFill>
                <a:latin typeface="微软雅黑" panose="020B0503020204020204" pitchFamily="34" charset="-122"/>
                <a:ea typeface="微软雅黑" panose="020B0503020204020204" pitchFamily="34" charset="-122"/>
              </a:rPr>
              <a:t>Automatic summarization</a:t>
            </a:r>
            <a:r>
              <a:rPr lang="zh-CN" altLang="en-US" sz="1050" b="1" dirty="0">
                <a:solidFill>
                  <a:srgbClr val="262626"/>
                </a:solidFill>
                <a:latin typeface="微软雅黑" panose="020B0503020204020204" pitchFamily="34" charset="-122"/>
                <a:ea typeface="微软雅黑" panose="020B0503020204020204" pitchFamily="34" charset="-122"/>
              </a:rPr>
              <a:t>）</a:t>
            </a:r>
          </a:p>
          <a:p>
            <a:pPr>
              <a:lnSpc>
                <a:spcPct val="150000"/>
              </a:lnSpc>
              <a:defRPr/>
            </a:pPr>
            <a:endParaRPr lang="en-US" altLang="zh-CN" sz="1050" b="1" dirty="0">
              <a:solidFill>
                <a:srgbClr val="262626"/>
              </a:solidFill>
              <a:latin typeface="微软雅黑" panose="020B0503020204020204" pitchFamily="34" charset="-122"/>
              <a:ea typeface="微软雅黑" panose="020B0503020204020204" pitchFamily="34" charset="-122"/>
            </a:endParaRPr>
          </a:p>
          <a:p>
            <a:pPr fontAlgn="auto">
              <a:spcBef>
                <a:spcPts val="0"/>
              </a:spcBef>
              <a:spcAft>
                <a:spcPts val="0"/>
              </a:spcAft>
              <a:defRPr/>
            </a:pPr>
            <a:endParaRPr lang="zh-CN" altLang="en-US" sz="105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p:bldP spid="143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2"/>
          <p:cNvSpPr txBox="1">
            <a:spLocks noChangeArrowheads="1"/>
          </p:cNvSpPr>
          <p:nvPr/>
        </p:nvSpPr>
        <p:spPr bwMode="auto">
          <a:xfrm>
            <a:off x="628650" y="-25066"/>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zh-CN" sz="2400" b="1">
                <a:solidFill>
                  <a:srgbClr val="595959"/>
                </a:solidFill>
                <a:latin typeface="微软雅黑" charset="-122"/>
                <a:ea typeface="微软雅黑" charset="-122"/>
              </a:rPr>
              <a:t>NLP</a:t>
            </a:r>
            <a:r>
              <a:rPr lang="zh-CN" altLang="en-US" sz="2400" b="1">
                <a:solidFill>
                  <a:srgbClr val="595959"/>
                </a:solidFill>
                <a:latin typeface="微软雅黑" charset="-122"/>
                <a:ea typeface="微软雅黑" charset="-122"/>
              </a:rPr>
              <a:t>中的语言模型</a:t>
            </a:r>
            <a:endParaRPr lang="ko-KR" altLang="en-US" sz="2400" b="1">
              <a:solidFill>
                <a:srgbClr val="595959"/>
              </a:solidFill>
              <a:latin typeface="微软雅黑" charset="-122"/>
              <a:ea typeface="微软雅黑" charset="-122"/>
            </a:endParaRPr>
          </a:p>
        </p:txBody>
      </p:sp>
      <p:sp>
        <p:nvSpPr>
          <p:cNvPr id="15362" name="Text Box 3"/>
          <p:cNvSpPr txBox="1">
            <a:spLocks noChangeArrowheads="1"/>
          </p:cNvSpPr>
          <p:nvPr/>
        </p:nvSpPr>
        <p:spPr bwMode="auto">
          <a:xfrm>
            <a:off x="680734" y="982625"/>
            <a:ext cx="35147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语言模型的概念</a:t>
            </a:r>
            <a:endParaRPr lang="ko-KR" altLang="en-US" b="1">
              <a:solidFill>
                <a:srgbClr val="404040"/>
              </a:solidFill>
              <a:latin typeface="微软雅黑" charset="-122"/>
              <a:ea typeface="微软雅黑" charset="-122"/>
            </a:endParaRPr>
          </a:p>
        </p:txBody>
      </p:sp>
      <mc:AlternateContent xmlns:mc="http://schemas.openxmlformats.org/markup-compatibility/2006" xmlns:a14="http://schemas.microsoft.com/office/drawing/2010/main">
        <mc:Choice Requires="a14">
          <p:sp>
            <p:nvSpPr>
              <p:cNvPr id="3" name="文本框 2"/>
              <p:cNvSpPr txBox="1"/>
              <p:nvPr/>
            </p:nvSpPr>
            <p:spPr>
              <a:xfrm>
                <a:off x="683568" y="1524179"/>
                <a:ext cx="7846038" cy="598369"/>
              </a:xfrm>
              <a:prstGeom prst="rect">
                <a:avLst/>
              </a:prstGeom>
              <a:noFill/>
            </p:spPr>
            <p:txBody>
              <a:bodyPr wrap="square" rtlCol="0">
                <a:spAutoFit/>
              </a:bodyPr>
              <a:lstStyle/>
              <a:p>
                <a:pPr fontAlgn="auto">
                  <a:lnSpc>
                    <a:spcPct val="150000"/>
                  </a:lnSpc>
                  <a:spcBef>
                    <a:spcPts val="0"/>
                  </a:spcBef>
                  <a:spcAft>
                    <a:spcPts val="0"/>
                  </a:spcAft>
                </a:pPr>
                <a:r>
                  <a:rPr lang="zh-CN" altLang="en-US" sz="1100" dirty="0">
                    <a:solidFill>
                      <a:srgbClr val="262626"/>
                    </a:solidFill>
                    <a:latin typeface="微软雅黑" charset="-122"/>
                    <a:ea typeface="微软雅黑" charset="-122"/>
                  </a:rPr>
                  <a:t>假设一句话 </a:t>
                </a:r>
                <a:r>
                  <a:rPr lang="en-US" altLang="zh-CN" sz="1100" dirty="0">
                    <a:solidFill>
                      <a:srgbClr val="262626"/>
                    </a:solidFill>
                    <a:latin typeface="微软雅黑" charset="-122"/>
                    <a:ea typeface="微软雅黑" charset="-122"/>
                  </a:rPr>
                  <a:t>S</a:t>
                </a:r>
                <a:r>
                  <a:rPr lang="zh-CN" altLang="en-US" sz="1100" dirty="0">
                    <a:solidFill>
                      <a:srgbClr val="262626"/>
                    </a:solidFill>
                    <a:latin typeface="微软雅黑" charset="-122"/>
                    <a:ea typeface="微软雅黑" charset="-122"/>
                  </a:rPr>
                  <a:t> 由</a:t>
                </a:r>
                <a14:m>
                  <m:oMath xmlns:m="http://schemas.openxmlformats.org/officeDocument/2006/math">
                    <m:r>
                      <a:rPr lang="zh-CN" altLang="en-US" sz="1100" b="0" i="0">
                        <a:solidFill>
                          <a:srgbClr val="262626"/>
                        </a:solidFill>
                        <a:latin typeface="Cambria Math" charset="0"/>
                        <a:ea typeface="微软雅黑" charset="-122"/>
                      </a:rPr>
                      <m:t> </m:t>
                    </m:r>
                    <m:r>
                      <a:rPr lang="en-US" altLang="zh-CN" sz="1100">
                        <a:solidFill>
                          <a:srgbClr val="262626"/>
                        </a:solidFill>
                        <a:latin typeface="Cambria Math" charset="0"/>
                        <a:ea typeface="微软雅黑" charset="-122"/>
                      </a:rPr>
                      <m:t>{</m:t>
                    </m:r>
                    <m:sSub>
                      <m:sSubPr>
                        <m:ctrlPr>
                          <a:rPr lang="zh-CN" altLang="zh-CN" sz="1100" i="1">
                            <a:solidFill>
                              <a:srgbClr val="262626"/>
                            </a:solidFill>
                            <a:latin typeface="Cambria Math" panose="02040503050406030204" pitchFamily="18" charset="0"/>
                            <a:ea typeface="微软雅黑" charset="-122"/>
                          </a:rPr>
                        </m:ctrlPr>
                      </m:sSubPr>
                      <m:e>
                        <m:r>
                          <a:rPr lang="en-US" altLang="zh-CN" sz="1100">
                            <a:solidFill>
                              <a:srgbClr val="262626"/>
                            </a:solidFill>
                            <a:latin typeface="Cambria Math" charset="0"/>
                            <a:ea typeface="微软雅黑" charset="-122"/>
                          </a:rPr>
                          <m:t>𝑤</m:t>
                        </m:r>
                      </m:e>
                      <m:sub>
                        <m:r>
                          <a:rPr lang="en-US" altLang="zh-CN" sz="1100">
                            <a:solidFill>
                              <a:srgbClr val="262626"/>
                            </a:solidFill>
                            <a:latin typeface="Cambria Math" charset="0"/>
                            <a:ea typeface="微软雅黑" charset="-122"/>
                          </a:rPr>
                          <m:t>1,</m:t>
                        </m:r>
                      </m:sub>
                    </m:sSub>
                    <m:sSub>
                      <m:sSubPr>
                        <m:ctrlPr>
                          <a:rPr lang="zh-CN" altLang="zh-CN" sz="1100" i="1">
                            <a:solidFill>
                              <a:srgbClr val="262626"/>
                            </a:solidFill>
                            <a:latin typeface="Cambria Math" panose="02040503050406030204" pitchFamily="18" charset="0"/>
                            <a:ea typeface="微软雅黑" charset="-122"/>
                          </a:rPr>
                        </m:ctrlPr>
                      </m:sSubPr>
                      <m:e>
                        <m:r>
                          <a:rPr lang="en-US" altLang="zh-CN" sz="1100">
                            <a:solidFill>
                              <a:srgbClr val="262626"/>
                            </a:solidFill>
                            <a:latin typeface="Cambria Math" charset="0"/>
                            <a:ea typeface="微软雅黑" charset="-122"/>
                          </a:rPr>
                          <m:t>𝑤</m:t>
                        </m:r>
                      </m:e>
                      <m:sub>
                        <m:r>
                          <a:rPr lang="en-US" altLang="zh-CN" sz="1100">
                            <a:solidFill>
                              <a:srgbClr val="262626"/>
                            </a:solidFill>
                            <a:latin typeface="Cambria Math" charset="0"/>
                            <a:ea typeface="微软雅黑" charset="-122"/>
                          </a:rPr>
                          <m:t>2,</m:t>
                        </m:r>
                      </m:sub>
                    </m:sSub>
                    <m:sSub>
                      <m:sSubPr>
                        <m:ctrlPr>
                          <a:rPr lang="zh-CN" altLang="zh-CN" sz="1100" i="1">
                            <a:solidFill>
                              <a:srgbClr val="262626"/>
                            </a:solidFill>
                            <a:latin typeface="Cambria Math" panose="02040503050406030204" pitchFamily="18" charset="0"/>
                            <a:ea typeface="微软雅黑" charset="-122"/>
                          </a:rPr>
                        </m:ctrlPr>
                      </m:sSubPr>
                      <m:e>
                        <m:r>
                          <a:rPr lang="en-US" altLang="zh-CN" sz="1100">
                            <a:solidFill>
                              <a:srgbClr val="262626"/>
                            </a:solidFill>
                            <a:latin typeface="Cambria Math" charset="0"/>
                            <a:ea typeface="微软雅黑" charset="-122"/>
                          </a:rPr>
                          <m:t>𝑤</m:t>
                        </m:r>
                      </m:e>
                      <m:sub>
                        <m:r>
                          <a:rPr lang="en-US" altLang="zh-CN" sz="1100">
                            <a:solidFill>
                              <a:srgbClr val="262626"/>
                            </a:solidFill>
                            <a:latin typeface="Cambria Math" charset="0"/>
                            <a:ea typeface="微软雅黑" charset="-122"/>
                          </a:rPr>
                          <m:t>3</m:t>
                        </m:r>
                      </m:sub>
                    </m:sSub>
                    <m:r>
                      <a:rPr lang="en-US" altLang="zh-CN" sz="1100">
                        <a:solidFill>
                          <a:srgbClr val="262626"/>
                        </a:solidFill>
                        <a:latin typeface="Cambria Math" charset="0"/>
                        <a:ea typeface="微软雅黑" charset="-122"/>
                      </a:rPr>
                      <m:t>…</m:t>
                    </m:r>
                    <m:sSub>
                      <m:sSubPr>
                        <m:ctrlPr>
                          <a:rPr lang="zh-CN" altLang="zh-CN" sz="1100" i="1">
                            <a:solidFill>
                              <a:srgbClr val="262626"/>
                            </a:solidFill>
                            <a:latin typeface="Cambria Math" panose="02040503050406030204" pitchFamily="18" charset="0"/>
                            <a:ea typeface="微软雅黑" charset="-122"/>
                          </a:rPr>
                        </m:ctrlPr>
                      </m:sSubPr>
                      <m:e>
                        <m:r>
                          <a:rPr lang="en-US" altLang="zh-CN" sz="1100">
                            <a:solidFill>
                              <a:srgbClr val="262626"/>
                            </a:solidFill>
                            <a:latin typeface="Cambria Math" charset="0"/>
                            <a:ea typeface="微软雅黑" charset="-122"/>
                          </a:rPr>
                          <m:t>𝑤</m:t>
                        </m:r>
                      </m:e>
                      <m:sub>
                        <m:r>
                          <a:rPr lang="en-US" altLang="zh-CN" sz="1100">
                            <a:solidFill>
                              <a:srgbClr val="262626"/>
                            </a:solidFill>
                            <a:latin typeface="Cambria Math" charset="0"/>
                            <a:ea typeface="微软雅黑" charset="-122"/>
                          </a:rPr>
                          <m:t>𝑛</m:t>
                        </m:r>
                      </m:sub>
                    </m:sSub>
                    <m:r>
                      <a:rPr lang="en-US" altLang="zh-CN" sz="1100">
                        <a:solidFill>
                          <a:srgbClr val="262626"/>
                        </a:solidFill>
                        <a:latin typeface="Cambria Math" charset="0"/>
                        <a:ea typeface="微软雅黑" charset="-122"/>
                      </a:rPr>
                      <m:t>}</m:t>
                    </m:r>
                  </m:oMath>
                </a14:m>
                <a:r>
                  <a:rPr lang="zh-CN" altLang="en-US" sz="1100" dirty="0">
                    <a:solidFill>
                      <a:srgbClr val="262626"/>
                    </a:solidFill>
                    <a:latin typeface="微软雅黑" charset="-122"/>
                    <a:ea typeface="微软雅黑" charset="-122"/>
                  </a:rPr>
                  <a:t> 组成，其中 </a:t>
                </a:r>
                <a14:m>
                  <m:oMath xmlns:m="http://schemas.openxmlformats.org/officeDocument/2006/math">
                    <m:sSub>
                      <m:sSubPr>
                        <m:ctrlPr>
                          <a:rPr lang="zh-CN" altLang="zh-CN" sz="1100" i="1">
                            <a:solidFill>
                              <a:srgbClr val="262626"/>
                            </a:solidFill>
                            <a:latin typeface="Cambria Math" panose="02040503050406030204" pitchFamily="18" charset="0"/>
                            <a:ea typeface="微软雅黑" charset="-122"/>
                          </a:rPr>
                        </m:ctrlPr>
                      </m:sSubPr>
                      <m:e>
                        <m:r>
                          <a:rPr lang="en-US" altLang="zh-CN" sz="1100">
                            <a:solidFill>
                              <a:srgbClr val="262626"/>
                            </a:solidFill>
                            <a:latin typeface="Cambria Math" charset="0"/>
                            <a:ea typeface="微软雅黑" charset="-122"/>
                          </a:rPr>
                          <m:t>𝑤</m:t>
                        </m:r>
                      </m:e>
                      <m:sub>
                        <m:r>
                          <a:rPr lang="en-US" altLang="zh-CN" sz="1100">
                            <a:solidFill>
                              <a:srgbClr val="262626"/>
                            </a:solidFill>
                            <a:latin typeface="Cambria Math" charset="0"/>
                            <a:ea typeface="微软雅黑" charset="-122"/>
                          </a:rPr>
                          <m:t>𝑖</m:t>
                        </m:r>
                      </m:sub>
                    </m:sSub>
                  </m:oMath>
                </a14:m>
                <a:r>
                  <a:rPr lang="zh-CN" altLang="en-US" sz="1100" dirty="0">
                    <a:solidFill>
                      <a:srgbClr val="262626"/>
                    </a:solidFill>
                    <a:latin typeface="微软雅黑" charset="-122"/>
                    <a:ea typeface="微软雅黑" charset="-122"/>
                  </a:rPr>
                  <a:t> 表示一个个的词语，那么</a:t>
                </a:r>
                <a:r>
                  <a:rPr lang="zh-CN" altLang="en-US" sz="1100" dirty="0">
                    <a:solidFill>
                      <a:srgbClr val="FF0000"/>
                    </a:solidFill>
                    <a:latin typeface="微软雅黑" charset="-122"/>
                    <a:ea typeface="微软雅黑" charset="-122"/>
                  </a:rPr>
                  <a:t>语言模型就是指派机率给字词所组成的字串，计算出 </a:t>
                </a:r>
                <a14:m>
                  <m:oMath xmlns:m="http://schemas.openxmlformats.org/officeDocument/2006/math">
                    <m:r>
                      <a:rPr lang="en-US" altLang="zh-CN" sz="1100">
                        <a:solidFill>
                          <a:srgbClr val="FF0000"/>
                        </a:solidFill>
                        <a:latin typeface="Cambria Math" charset="0"/>
                        <a:ea typeface="微软雅黑" charset="-122"/>
                      </a:rPr>
                      <m:t>𝑃</m:t>
                    </m:r>
                    <m:r>
                      <a:rPr lang="en-US" altLang="zh-CN" sz="1100">
                        <a:solidFill>
                          <a:srgbClr val="FF0000"/>
                        </a:solidFill>
                        <a:latin typeface="Cambria Math" charset="0"/>
                        <a:ea typeface="微软雅黑" charset="-122"/>
                      </a:rPr>
                      <m:t>(</m:t>
                    </m:r>
                    <m:sSub>
                      <m:sSubPr>
                        <m:ctrlPr>
                          <a:rPr lang="zh-CN" altLang="zh-CN" sz="1100" i="1">
                            <a:solidFill>
                              <a:srgbClr val="FF0000"/>
                            </a:solidFill>
                            <a:latin typeface="Cambria Math" panose="02040503050406030204" pitchFamily="18" charset="0"/>
                            <a:ea typeface="微软雅黑" charset="-122"/>
                          </a:rPr>
                        </m:ctrlPr>
                      </m:sSubPr>
                      <m:e>
                        <m:r>
                          <a:rPr lang="en-US" altLang="zh-CN" sz="1100">
                            <a:solidFill>
                              <a:srgbClr val="FF0000"/>
                            </a:solidFill>
                            <a:latin typeface="Cambria Math" charset="0"/>
                            <a:ea typeface="微软雅黑" charset="-122"/>
                          </a:rPr>
                          <m:t>𝑤</m:t>
                        </m:r>
                      </m:e>
                      <m:sub>
                        <m:r>
                          <a:rPr lang="en-US" altLang="zh-CN" sz="1100">
                            <a:solidFill>
                              <a:srgbClr val="FF0000"/>
                            </a:solidFill>
                            <a:latin typeface="Cambria Math" charset="0"/>
                            <a:ea typeface="微软雅黑" charset="-122"/>
                          </a:rPr>
                          <m:t>1,</m:t>
                        </m:r>
                      </m:sub>
                    </m:sSub>
                    <m:sSub>
                      <m:sSubPr>
                        <m:ctrlPr>
                          <a:rPr lang="zh-CN" altLang="zh-CN" sz="1100" i="1">
                            <a:solidFill>
                              <a:srgbClr val="FF0000"/>
                            </a:solidFill>
                            <a:latin typeface="Cambria Math" panose="02040503050406030204" pitchFamily="18" charset="0"/>
                            <a:ea typeface="微软雅黑" charset="-122"/>
                          </a:rPr>
                        </m:ctrlPr>
                      </m:sSubPr>
                      <m:e>
                        <m:r>
                          <a:rPr lang="en-US" altLang="zh-CN" sz="1100">
                            <a:solidFill>
                              <a:srgbClr val="FF0000"/>
                            </a:solidFill>
                            <a:latin typeface="Cambria Math" charset="0"/>
                            <a:ea typeface="微软雅黑" charset="-122"/>
                          </a:rPr>
                          <m:t>𝑤</m:t>
                        </m:r>
                      </m:e>
                      <m:sub>
                        <m:r>
                          <a:rPr lang="en-US" altLang="zh-CN" sz="1100">
                            <a:solidFill>
                              <a:srgbClr val="FF0000"/>
                            </a:solidFill>
                            <a:latin typeface="Cambria Math" charset="0"/>
                            <a:ea typeface="微软雅黑" charset="-122"/>
                          </a:rPr>
                          <m:t>2,</m:t>
                        </m:r>
                      </m:sub>
                    </m:sSub>
                    <m:sSub>
                      <m:sSubPr>
                        <m:ctrlPr>
                          <a:rPr lang="zh-CN" altLang="zh-CN" sz="1100" i="1">
                            <a:solidFill>
                              <a:srgbClr val="FF0000"/>
                            </a:solidFill>
                            <a:latin typeface="Cambria Math" panose="02040503050406030204" pitchFamily="18" charset="0"/>
                            <a:ea typeface="微软雅黑" charset="-122"/>
                          </a:rPr>
                        </m:ctrlPr>
                      </m:sSubPr>
                      <m:e>
                        <m:r>
                          <a:rPr lang="en-US" altLang="zh-CN" sz="1100">
                            <a:solidFill>
                              <a:srgbClr val="FF0000"/>
                            </a:solidFill>
                            <a:latin typeface="Cambria Math" charset="0"/>
                            <a:ea typeface="微软雅黑" charset="-122"/>
                          </a:rPr>
                          <m:t>𝑤</m:t>
                        </m:r>
                      </m:e>
                      <m:sub>
                        <m:r>
                          <a:rPr lang="en-US" altLang="zh-CN" sz="1100">
                            <a:solidFill>
                              <a:srgbClr val="FF0000"/>
                            </a:solidFill>
                            <a:latin typeface="Cambria Math" charset="0"/>
                            <a:ea typeface="微软雅黑" charset="-122"/>
                          </a:rPr>
                          <m:t>3</m:t>
                        </m:r>
                      </m:sub>
                    </m:sSub>
                    <m:r>
                      <a:rPr lang="en-US" altLang="zh-CN" sz="1100">
                        <a:solidFill>
                          <a:srgbClr val="FF0000"/>
                        </a:solidFill>
                        <a:latin typeface="Cambria Math" charset="0"/>
                        <a:ea typeface="微软雅黑" charset="-122"/>
                      </a:rPr>
                      <m:t>…</m:t>
                    </m:r>
                    <m:sSub>
                      <m:sSubPr>
                        <m:ctrlPr>
                          <a:rPr lang="zh-CN" altLang="zh-CN" sz="1100" i="1">
                            <a:solidFill>
                              <a:srgbClr val="FF0000"/>
                            </a:solidFill>
                            <a:latin typeface="Cambria Math" panose="02040503050406030204" pitchFamily="18" charset="0"/>
                            <a:ea typeface="微软雅黑" charset="-122"/>
                          </a:rPr>
                        </m:ctrlPr>
                      </m:sSubPr>
                      <m:e>
                        <m:r>
                          <a:rPr lang="en-US" altLang="zh-CN" sz="1100">
                            <a:solidFill>
                              <a:srgbClr val="FF0000"/>
                            </a:solidFill>
                            <a:latin typeface="Cambria Math" charset="0"/>
                            <a:ea typeface="微软雅黑" charset="-122"/>
                          </a:rPr>
                          <m:t>𝑤</m:t>
                        </m:r>
                      </m:e>
                      <m:sub>
                        <m:r>
                          <a:rPr lang="en-US" altLang="zh-CN" sz="1100">
                            <a:solidFill>
                              <a:srgbClr val="FF0000"/>
                            </a:solidFill>
                            <a:latin typeface="Cambria Math" charset="0"/>
                            <a:ea typeface="微软雅黑" charset="-122"/>
                          </a:rPr>
                          <m:t>𝑛</m:t>
                        </m:r>
                      </m:sub>
                    </m:sSub>
                    <m:r>
                      <a:rPr lang="en-US" altLang="zh-CN" sz="1100">
                        <a:solidFill>
                          <a:srgbClr val="FF0000"/>
                        </a:solidFill>
                        <a:latin typeface="Cambria Math" charset="0"/>
                        <a:ea typeface="微软雅黑" charset="-122"/>
                      </a:rPr>
                      <m:t>)</m:t>
                    </m:r>
                  </m:oMath>
                </a14:m>
                <a:r>
                  <a:rPr lang="zh-CN" altLang="zh-CN" sz="1100">
                    <a:solidFill>
                      <a:srgbClr val="FF0000"/>
                    </a:solidFill>
                    <a:latin typeface="微软雅黑" charset="-122"/>
                    <a:ea typeface="微软雅黑" charset="-122"/>
                  </a:rPr>
                  <a:t> </a:t>
                </a:r>
                <a:r>
                  <a:rPr lang="zh-CN" altLang="en-US" sz="1100">
                    <a:solidFill>
                      <a:srgbClr val="262626"/>
                    </a:solidFill>
                    <a:latin typeface="微软雅黑" charset="-122"/>
                    <a:ea typeface="微软雅黑" charset="-122"/>
                  </a:rPr>
                  <a:t>，</a:t>
                </a:r>
                <a:r>
                  <a:rPr lang="zh-CN" altLang="en-US" sz="1100" dirty="0">
                    <a:solidFill>
                      <a:srgbClr val="262626"/>
                    </a:solidFill>
                    <a:latin typeface="微软雅黑" charset="-122"/>
                    <a:ea typeface="微软雅黑" charset="-122"/>
                  </a:rPr>
                  <a:t>从而判断这句话是否是一句合理的话的目的。</a:t>
                </a:r>
                <a:endParaRPr lang="zh-CN" altLang="zh-CN" sz="1100">
                  <a:solidFill>
                    <a:srgbClr val="262626"/>
                  </a:solidFill>
                  <a:latin typeface="微软雅黑" charset="-122"/>
                  <a:ea typeface="微软雅黑"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683568" y="1524179"/>
                <a:ext cx="7846038" cy="598369"/>
              </a:xfrm>
              <a:prstGeom prst="rect">
                <a:avLst/>
              </a:prstGeom>
              <a:blipFill>
                <a:blip r:embed="rId2"/>
                <a:stretch>
                  <a:fillRect b="-5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83568" y="2355726"/>
                <a:ext cx="7846038" cy="826701"/>
              </a:xfrm>
              <a:prstGeom prst="rect">
                <a:avLst/>
              </a:prstGeom>
              <a:noFill/>
            </p:spPr>
            <p:txBody>
              <a:bodyPr wrap="square" rtlCol="0">
                <a:spAutoFit/>
              </a:bodyPr>
              <a:lstStyle/>
              <a:p>
                <a:pPr fontAlgn="auto">
                  <a:lnSpc>
                    <a:spcPct val="150000"/>
                  </a:lnSpc>
                  <a:spcBef>
                    <a:spcPts val="0"/>
                  </a:spcBef>
                  <a:spcAft>
                    <a:spcPts val="0"/>
                  </a:spcAft>
                </a:pPr>
                <a:r>
                  <a:rPr lang="zh-CN" altLang="en-US" sz="1100" b="1" dirty="0">
                    <a:solidFill>
                      <a:srgbClr val="262626"/>
                    </a:solidFill>
                    <a:latin typeface="微软雅黑" charset="-122"/>
                    <a:ea typeface="微软雅黑" charset="-122"/>
                  </a:rPr>
                  <a:t>例如：</a:t>
                </a:r>
                <a:endParaRPr lang="en-US" altLang="zh-CN" sz="1100" b="1" dirty="0">
                  <a:solidFill>
                    <a:srgbClr val="262626"/>
                  </a:solidFill>
                  <a:latin typeface="微软雅黑" charset="-122"/>
                  <a:ea typeface="微软雅黑" charset="-122"/>
                </a:endParaRPr>
              </a:p>
              <a:p>
                <a:pPr fontAlgn="auto">
                  <a:lnSpc>
                    <a:spcPct val="150000"/>
                  </a:lnSpc>
                  <a:spcBef>
                    <a:spcPts val="0"/>
                  </a:spcBef>
                  <a:spcAft>
                    <a:spcPts val="0"/>
                  </a:spcAft>
                </a:pPr>
                <a:r>
                  <a:rPr lang="en-US" altLang="zh-CN" sz="1100" dirty="0">
                    <a:solidFill>
                      <a:srgbClr val="262626"/>
                    </a:solidFill>
                    <a:latin typeface="微软雅黑" charset="-122"/>
                    <a:ea typeface="微软雅黑" charset="-122"/>
                  </a:rPr>
                  <a:t>S</a:t>
                </a:r>
                <a:r>
                  <a:rPr lang="zh-CN" altLang="en-US" sz="1100" dirty="0">
                    <a:solidFill>
                      <a:srgbClr val="262626"/>
                    </a:solidFill>
                    <a:latin typeface="微软雅黑" charset="-122"/>
                    <a:ea typeface="微软雅黑" charset="-122"/>
                  </a:rPr>
                  <a:t> </a:t>
                </a:r>
                <a:r>
                  <a:rPr lang="en-US" altLang="zh-CN" sz="1100" dirty="0">
                    <a:solidFill>
                      <a:srgbClr val="262626"/>
                    </a:solidFill>
                    <a:latin typeface="微软雅黑" charset="-122"/>
                    <a:ea typeface="微软雅黑" charset="-122"/>
                  </a:rPr>
                  <a:t>=</a:t>
                </a:r>
                <a:r>
                  <a:rPr lang="zh-CN" altLang="en-US" sz="1100" dirty="0">
                    <a:solidFill>
                      <a:srgbClr val="262626"/>
                    </a:solidFill>
                    <a:latin typeface="微软雅黑" charset="-122"/>
                    <a:ea typeface="微软雅黑" charset="-122"/>
                  </a:rPr>
                  <a:t> 我</a:t>
                </a:r>
                <a14:m>
                  <m:oMath xmlns:m="http://schemas.openxmlformats.org/officeDocument/2006/math">
                    <m:r>
                      <a:rPr lang="zh-CN" altLang="en-US" sz="1100" dirty="0">
                        <a:solidFill>
                          <a:srgbClr val="262626"/>
                        </a:solidFill>
                        <a:latin typeface="Cambria Math" charset="0"/>
                        <a:ea typeface="微软雅黑" charset="-122"/>
                      </a:rPr>
                      <m:t>爱北京天安门，那么此时我们希望</m:t>
                    </m:r>
                    <m:r>
                      <a:rPr lang="zh-CN" altLang="en-US" sz="1100" i="1" dirty="0">
                        <a:solidFill>
                          <a:srgbClr val="262626"/>
                        </a:solidFill>
                        <a:latin typeface="Cambria Math" charset="0"/>
                        <a:ea typeface="微软雅黑" charset="-122"/>
                      </a:rPr>
                      <m:t>知道</m:t>
                    </m:r>
                    <m:r>
                      <a:rPr lang="zh-CN" altLang="en-US" sz="1100" dirty="0">
                        <a:solidFill>
                          <a:srgbClr val="262626"/>
                        </a:solidFill>
                        <a:latin typeface="Cambria Math" charset="0"/>
                        <a:ea typeface="微软雅黑" charset="-122"/>
                      </a:rPr>
                      <m:t>这句话合理的可能性</m:t>
                    </m:r>
                    <m:r>
                      <a:rPr lang="zh-CN" altLang="en-US" sz="1100" b="0" i="1" dirty="0">
                        <a:solidFill>
                          <a:srgbClr val="262626"/>
                        </a:solidFill>
                        <a:latin typeface="Cambria Math" charset="0"/>
                        <a:ea typeface="微软雅黑" charset="-122"/>
                      </a:rPr>
                      <m:t>有</m:t>
                    </m:r>
                    <m:r>
                      <a:rPr lang="zh-CN" altLang="en-US" sz="1100" dirty="0">
                        <a:solidFill>
                          <a:srgbClr val="262626"/>
                        </a:solidFill>
                        <a:latin typeface="Cambria Math" charset="0"/>
                        <a:ea typeface="微软雅黑" charset="-122"/>
                      </a:rPr>
                      <m:t>多少？</m:t>
                    </m:r>
                    <m:r>
                      <a:rPr lang="zh-CN" altLang="en-US" sz="1100" b="0" i="0" dirty="0">
                        <a:solidFill>
                          <a:srgbClr val="262626"/>
                        </a:solidFill>
                        <a:latin typeface="Cambria Math" charset="0"/>
                        <a:ea typeface="微软雅黑" charset="-122"/>
                      </a:rPr>
                      <m:t>   </m:t>
                    </m:r>
                    <m:r>
                      <a:rPr lang="zh-CN" altLang="en-US" sz="1100" dirty="0">
                        <a:solidFill>
                          <a:srgbClr val="262626"/>
                        </a:solidFill>
                        <a:latin typeface="Cambria Math" charset="0"/>
                        <a:ea typeface="微软雅黑" charset="-122"/>
                      </a:rPr>
                      <m:t>就需要计算</m:t>
                    </m:r>
                    <m:r>
                      <a:rPr lang="zh-CN" altLang="en-US" sz="1100" b="0" i="0" dirty="0">
                        <a:solidFill>
                          <a:srgbClr val="262626"/>
                        </a:solidFill>
                        <a:latin typeface="Cambria Math" charset="0"/>
                        <a:ea typeface="微软雅黑" charset="-122"/>
                      </a:rPr>
                      <m:t> </m:t>
                    </m:r>
                    <m:r>
                      <a:rPr lang="en-US" altLang="zh-CN" sz="1100">
                        <a:solidFill>
                          <a:srgbClr val="262626"/>
                        </a:solidFill>
                        <a:latin typeface="Cambria Math" charset="0"/>
                        <a:ea typeface="微软雅黑" charset="-122"/>
                      </a:rPr>
                      <m:t>𝑃</m:t>
                    </m:r>
                    <m:r>
                      <a:rPr lang="en-US" altLang="zh-CN" sz="110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我</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爱</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北</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京</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天</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安</m:t>
                    </m:r>
                    <m:r>
                      <a:rPr lang="en-US" altLang="zh-CN" sz="1100" b="0" i="0">
                        <a:solidFill>
                          <a:srgbClr val="262626"/>
                        </a:solidFill>
                        <a:latin typeface="Cambria Math" charset="0"/>
                        <a:ea typeface="微软雅黑" charset="-122"/>
                      </a:rPr>
                      <m:t>,</m:t>
                    </m:r>
                    <m:r>
                      <a:rPr lang="zh-CN" altLang="en-US" sz="1100">
                        <a:solidFill>
                          <a:srgbClr val="262626"/>
                        </a:solidFill>
                        <a:latin typeface="Cambria Math" charset="0"/>
                        <a:ea typeface="微软雅黑" charset="-122"/>
                      </a:rPr>
                      <m:t>门</m:t>
                    </m:r>
                    <m:r>
                      <a:rPr lang="en-US" altLang="zh-CN" sz="1100">
                        <a:solidFill>
                          <a:srgbClr val="262626"/>
                        </a:solidFill>
                        <a:latin typeface="Cambria Math" charset="0"/>
                        <a:ea typeface="微软雅黑" charset="-122"/>
                      </a:rPr>
                      <m:t>)</m:t>
                    </m:r>
                  </m:oMath>
                </a14:m>
                <a:r>
                  <a:rPr lang="zh-CN" altLang="zh-CN" sz="1100">
                    <a:solidFill>
                      <a:srgbClr val="262626"/>
                    </a:solidFill>
                    <a:latin typeface="微软雅黑" charset="-122"/>
                    <a:ea typeface="微软雅黑" charset="-122"/>
                  </a:rPr>
                  <a:t> </a:t>
                </a:r>
                <a:endParaRPr lang="en-US" altLang="zh-CN" sz="1100">
                  <a:solidFill>
                    <a:srgbClr val="262626"/>
                  </a:solidFill>
                  <a:latin typeface="微软雅黑" charset="-122"/>
                  <a:ea typeface="微软雅黑" charset="-122"/>
                </a:endParaRPr>
              </a:p>
              <a:p>
                <a:pPr fontAlgn="auto">
                  <a:lnSpc>
                    <a:spcPct val="150000"/>
                  </a:lnSpc>
                  <a:spcBef>
                    <a:spcPts val="0"/>
                  </a:spcBef>
                  <a:spcAft>
                    <a:spcPts val="0"/>
                  </a:spcAft>
                </a:pPr>
                <a:r>
                  <a:rPr lang="zh-CN" altLang="en-US" sz="1100">
                    <a:solidFill>
                      <a:srgbClr val="262626"/>
                    </a:solidFill>
                    <a:latin typeface="微软雅黑" charset="-122"/>
                    <a:ea typeface="微软雅黑" charset="-122"/>
                  </a:rPr>
                  <a:t>那么上述的概率该如何计算呢？</a:t>
                </a:r>
                <a:endParaRPr lang="zh-CN" altLang="zh-CN" sz="1100">
                  <a:solidFill>
                    <a:srgbClr val="262626"/>
                  </a:solidFill>
                  <a:latin typeface="微软雅黑" charset="-122"/>
                  <a:ea typeface="微软雅黑"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683568" y="2355726"/>
                <a:ext cx="7846038" cy="826701"/>
              </a:xfrm>
              <a:prstGeom prst="rect">
                <a:avLst/>
              </a:prstGeom>
              <a:blipFill rotWithShape="0">
                <a:blip r:embed="rId3"/>
                <a:stretch>
                  <a:fillRect b="-44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351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3"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zh-CN" sz="2400" b="1">
                <a:solidFill>
                  <a:srgbClr val="595959"/>
                </a:solidFill>
                <a:latin typeface="微软雅黑" charset="-122"/>
                <a:ea typeface="微软雅黑" charset="-122"/>
              </a:rPr>
              <a:t>NLP</a:t>
            </a:r>
            <a:r>
              <a:rPr lang="zh-CN" altLang="en-US" sz="2400" b="1">
                <a:solidFill>
                  <a:srgbClr val="595959"/>
                </a:solidFill>
                <a:latin typeface="微软雅黑" charset="-122"/>
                <a:ea typeface="微软雅黑" charset="-122"/>
              </a:rPr>
              <a:t>中的语言模型</a:t>
            </a:r>
            <a:endParaRPr lang="ko-KR" altLang="en-US" sz="2400" b="1">
              <a:solidFill>
                <a:srgbClr val="595959"/>
              </a:solidFill>
              <a:latin typeface="微软雅黑" charset="-122"/>
              <a:ea typeface="微软雅黑" charset="-122"/>
            </a:endParaRPr>
          </a:p>
        </p:txBody>
      </p:sp>
      <p:sp>
        <p:nvSpPr>
          <p:cNvPr id="16386" name="Text Box 3"/>
          <p:cNvSpPr txBox="1">
            <a:spLocks noChangeArrowheads="1"/>
          </p:cNvSpPr>
          <p:nvPr/>
        </p:nvSpPr>
        <p:spPr bwMode="auto">
          <a:xfrm>
            <a:off x="683568" y="851694"/>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概率基础</a:t>
            </a:r>
            <a:endParaRPr lang="ko-KR" altLang="en-US" b="1">
              <a:solidFill>
                <a:srgbClr val="404040"/>
              </a:solidFill>
              <a:latin typeface="微软雅黑" charset="-122"/>
              <a:ea typeface="微软雅黑" charset="-122"/>
            </a:endParaRPr>
          </a:p>
        </p:txBody>
      </p:sp>
      <mc:AlternateContent xmlns:mc="http://schemas.openxmlformats.org/markup-compatibility/2006" xmlns:a14="http://schemas.microsoft.com/office/drawing/2010/main">
        <mc:Choice Requires="a14">
          <p:sp>
            <p:nvSpPr>
              <p:cNvPr id="6" name="文本框 5"/>
              <p:cNvSpPr txBox="1"/>
              <p:nvPr/>
            </p:nvSpPr>
            <p:spPr>
              <a:xfrm>
                <a:off x="683924" y="1347614"/>
                <a:ext cx="7846038" cy="1296252"/>
              </a:xfrm>
              <a:prstGeom prst="rect">
                <a:avLst/>
              </a:prstGeom>
              <a:noFill/>
            </p:spPr>
            <p:txBody>
              <a:bodyPr wrap="square" rtlCol="0">
                <a:spAutoFit/>
              </a:bodyPr>
              <a:lstStyle/>
              <a:p>
                <a:pPr marL="171450" indent="-171450" fontAlgn="auto">
                  <a:lnSpc>
                    <a:spcPct val="150000"/>
                  </a:lnSpc>
                  <a:spcBef>
                    <a:spcPts val="0"/>
                  </a:spcBef>
                  <a:spcAft>
                    <a:spcPts val="0"/>
                  </a:spcAft>
                  <a:buFont typeface="Arial" charset="0"/>
                  <a:buChar char="•"/>
                </a:pPr>
                <a:r>
                  <a:rPr lang="zh-CN" altLang="en-US" sz="1000">
                    <a:solidFill>
                      <a:srgbClr val="FF0000"/>
                    </a:solidFill>
                    <a:latin typeface="Microsoft YaHei" charset="-122"/>
                    <a:ea typeface="Microsoft YaHei" charset="-122"/>
                    <a:cs typeface="Microsoft YaHei" charset="-122"/>
                  </a:rPr>
                  <a:t>概率</a:t>
                </a:r>
                <a:r>
                  <a:rPr lang="zh-CN" altLang="en-US" sz="1000">
                    <a:solidFill>
                      <a:schemeClr val="tx1"/>
                    </a:solidFill>
                    <a:latin typeface="Microsoft YaHei" charset="-122"/>
                    <a:ea typeface="Microsoft YaHei" charset="-122"/>
                    <a:cs typeface="Microsoft YaHei" charset="-122"/>
                  </a:rPr>
                  <a:t>：假设我们有一个普通的</a:t>
                </a:r>
                <a:r>
                  <a:rPr lang="en-US" altLang="zh-CN" sz="1000">
                    <a:solidFill>
                      <a:schemeClr val="tx1"/>
                    </a:solidFill>
                    <a:latin typeface="Microsoft YaHei" charset="-122"/>
                    <a:ea typeface="Microsoft YaHei" charset="-122"/>
                    <a:cs typeface="Microsoft YaHei" charset="-122"/>
                  </a:rPr>
                  <a:t>6</a:t>
                </a:r>
                <a:r>
                  <a:rPr lang="zh-CN" altLang="en-US" sz="1000">
                    <a:solidFill>
                      <a:schemeClr val="tx1"/>
                    </a:solidFill>
                    <a:latin typeface="Microsoft YaHei" charset="-122"/>
                    <a:ea typeface="Microsoft YaHei" charset="-122"/>
                    <a:cs typeface="Microsoft YaHei" charset="-122"/>
                  </a:rPr>
                  <a:t>面体的骰子，我扔出这个骰子，其中 </a:t>
                </a:r>
                <a:r>
                  <a:rPr lang="en-US" altLang="zh-CN" sz="1000">
                    <a:solidFill>
                      <a:schemeClr val="tx1"/>
                    </a:solidFill>
                    <a:latin typeface="Microsoft YaHei" charset="-122"/>
                    <a:ea typeface="Microsoft YaHei" charset="-122"/>
                    <a:cs typeface="Microsoft YaHei" charset="-122"/>
                  </a:rPr>
                  <a:t>1</a:t>
                </a:r>
                <a:r>
                  <a:rPr lang="zh-CN" altLang="en-US" sz="1000">
                    <a:solidFill>
                      <a:schemeClr val="tx1"/>
                    </a:solidFill>
                    <a:latin typeface="Microsoft YaHei" charset="-122"/>
                    <a:ea typeface="Microsoft YaHei" charset="-122"/>
                    <a:cs typeface="Microsoft YaHei" charset="-122"/>
                  </a:rPr>
                  <a:t> 向上的可能性我们把它称为 </a:t>
                </a:r>
                <a:r>
                  <a:rPr lang="en-US" altLang="zh-CN" sz="1000">
                    <a:solidFill>
                      <a:srgbClr val="FF0000"/>
                    </a:solidFill>
                    <a:latin typeface="Microsoft YaHei" charset="-122"/>
                    <a:ea typeface="Microsoft YaHei" charset="-122"/>
                    <a:cs typeface="Microsoft YaHei" charset="-122"/>
                  </a:rPr>
                  <a:t>1</a:t>
                </a:r>
                <a:r>
                  <a:rPr lang="zh-CN" altLang="en-US" sz="1000">
                    <a:solidFill>
                      <a:srgbClr val="FF0000"/>
                    </a:solidFill>
                    <a:latin typeface="Microsoft YaHei" charset="-122"/>
                    <a:ea typeface="Microsoft YaHei" charset="-122"/>
                    <a:cs typeface="Microsoft YaHei" charset="-122"/>
                  </a:rPr>
                  <a:t> 向上的概率</a:t>
                </a:r>
                <a:endParaRPr lang="en-US" altLang="zh-CN" sz="1000">
                  <a:solidFill>
                    <a:srgbClr val="FF0000"/>
                  </a:solidFill>
                  <a:latin typeface="Microsoft YaHei" charset="-122"/>
                  <a:ea typeface="Microsoft YaHei" charset="-122"/>
                  <a:cs typeface="Microsoft YaHei" charset="-122"/>
                </a:endParaRPr>
              </a:p>
              <a:p>
                <a:pPr marL="171450" indent="-171450" fontAlgn="auto">
                  <a:lnSpc>
                    <a:spcPct val="150000"/>
                  </a:lnSpc>
                  <a:spcBef>
                    <a:spcPts val="0"/>
                  </a:spcBef>
                  <a:spcAft>
                    <a:spcPts val="0"/>
                  </a:spcAft>
                  <a:buFont typeface="Arial" charset="0"/>
                  <a:buChar char="•"/>
                </a:pPr>
                <a:r>
                  <a:rPr lang="zh-CN" altLang="en-US" sz="1000">
                    <a:solidFill>
                      <a:srgbClr val="FF0000"/>
                    </a:solidFill>
                    <a:latin typeface="Microsoft YaHei" charset="-122"/>
                    <a:ea typeface="Microsoft YaHei" charset="-122"/>
                    <a:cs typeface="Microsoft YaHei" charset="-122"/>
                  </a:rPr>
                  <a:t>联合概率</a:t>
                </a:r>
                <a:r>
                  <a:rPr lang="zh-CN" altLang="en-US" sz="1000">
                    <a:solidFill>
                      <a:schemeClr val="tx1"/>
                    </a:solidFill>
                    <a:latin typeface="Microsoft YaHei" charset="-122"/>
                    <a:ea typeface="Microsoft YaHei" charset="-122"/>
                    <a:cs typeface="Microsoft YaHei" charset="-122"/>
                  </a:rPr>
                  <a:t>：事件</a:t>
                </a:r>
                <a:r>
                  <a:rPr lang="en-US" altLang="zh-CN" sz="1000">
                    <a:solidFill>
                      <a:schemeClr val="tx1"/>
                    </a:solidFill>
                    <a:latin typeface="Microsoft YaHei" charset="-122"/>
                    <a:ea typeface="Microsoft YaHei" charset="-122"/>
                    <a:cs typeface="Microsoft YaHei" charset="-122"/>
                  </a:rPr>
                  <a:t> A </a:t>
                </a:r>
                <a:r>
                  <a:rPr lang="zh-CN" altLang="en-US" sz="1000">
                    <a:solidFill>
                      <a:schemeClr val="tx1"/>
                    </a:solidFill>
                    <a:latin typeface="Microsoft YaHei" charset="-122"/>
                    <a:ea typeface="Microsoft YaHei" charset="-122"/>
                    <a:cs typeface="Microsoft YaHei" charset="-122"/>
                  </a:rPr>
                  <a:t>和</a:t>
                </a:r>
                <a:r>
                  <a:rPr lang="en-US" altLang="zh-CN" sz="1000">
                    <a:solidFill>
                      <a:schemeClr val="tx1"/>
                    </a:solidFill>
                    <a:latin typeface="Microsoft YaHei" charset="-122"/>
                    <a:ea typeface="Microsoft YaHei" charset="-122"/>
                    <a:cs typeface="Microsoft YaHei" charset="-122"/>
                  </a:rPr>
                  <a:t> B </a:t>
                </a:r>
                <a:r>
                  <a:rPr lang="zh-CN" altLang="en-US" sz="1000">
                    <a:solidFill>
                      <a:schemeClr val="tx1"/>
                    </a:solidFill>
                    <a:latin typeface="Microsoft YaHei" charset="-122"/>
                    <a:ea typeface="Microsoft YaHei" charset="-122"/>
                    <a:cs typeface="Microsoft YaHei" charset="-122"/>
                  </a:rPr>
                  <a:t>同时发生的概率，例如 </a:t>
                </a:r>
                <a14:m>
                  <m:oMath xmlns:m="http://schemas.openxmlformats.org/officeDocument/2006/math">
                    <m:r>
                      <a:rPr lang="en-US" altLang="zh-CN" sz="1000">
                        <a:solidFill>
                          <a:schemeClr val="tx1"/>
                        </a:solidFill>
                        <a:latin typeface="Cambria Math" panose="02040503050406030204" pitchFamily="18" charset="0"/>
                        <a:ea typeface="Microsoft YaHei" charset="-122"/>
                        <a:cs typeface="Microsoft YaHei" charset="-122"/>
                      </a:rPr>
                      <m:t>𝑃</m:t>
                    </m:r>
                    <m:r>
                      <a:rPr lang="en-US" altLang="zh-CN" sz="1000">
                        <a:solidFill>
                          <a:schemeClr val="tx1"/>
                        </a:solidFill>
                        <a:latin typeface="Cambria Math" panose="02040503050406030204" pitchFamily="18" charset="0"/>
                        <a:ea typeface="Microsoft YaHei" charset="-122"/>
                        <a:cs typeface="Microsoft YaHei" charset="-122"/>
                      </a:rPr>
                      <m:t>(</m:t>
                    </m:r>
                    <m:r>
                      <a:rPr lang="zh-CN" altLang="en-US" sz="1000">
                        <a:solidFill>
                          <a:schemeClr val="tx1"/>
                        </a:solidFill>
                        <a:latin typeface="Cambria Math" panose="02040503050406030204" pitchFamily="18" charset="0"/>
                        <a:ea typeface="Microsoft YaHei" charset="-122"/>
                        <a:cs typeface="Microsoft YaHei" charset="-122"/>
                      </a:rPr>
                      <m:t>我</m:t>
                    </m:r>
                    <m:r>
                      <a:rPr lang="en-US" altLang="zh-CN" sz="1000">
                        <a:solidFill>
                          <a:schemeClr val="tx1"/>
                        </a:solidFill>
                        <a:latin typeface="Cambria Math" panose="02040503050406030204" pitchFamily="18" charset="0"/>
                        <a:ea typeface="Microsoft YaHei" charset="-122"/>
                        <a:cs typeface="Microsoft YaHei" charset="-122"/>
                      </a:rPr>
                      <m:t>,</m:t>
                    </m:r>
                    <m:r>
                      <a:rPr lang="zh-CN" altLang="en-US" sz="1000">
                        <a:solidFill>
                          <a:schemeClr val="tx1"/>
                        </a:solidFill>
                        <a:latin typeface="Cambria Math" panose="02040503050406030204" pitchFamily="18" charset="0"/>
                        <a:ea typeface="Microsoft YaHei" charset="-122"/>
                        <a:cs typeface="Microsoft YaHei" charset="-122"/>
                      </a:rPr>
                      <m:t>爱</m:t>
                    </m:r>
                  </m:oMath>
                </a14:m>
                <a:r>
                  <a:rPr lang="zh-CN" altLang="en-US" sz="1000">
                    <a:solidFill>
                      <a:schemeClr val="tx1"/>
                    </a:solidFill>
                    <a:latin typeface="Microsoft YaHei" charset="-122"/>
                    <a:ea typeface="Microsoft YaHei" charset="-122"/>
                    <a:cs typeface="Microsoft YaHei" charset="-122"/>
                  </a:rPr>
                  <a:t>）</a:t>
                </a:r>
                <a:endParaRPr lang="en-US" altLang="zh-CN" sz="1000">
                  <a:solidFill>
                    <a:schemeClr val="tx1"/>
                  </a:solidFill>
                  <a:latin typeface="Microsoft YaHei" charset="-122"/>
                  <a:ea typeface="Microsoft YaHei" charset="-122"/>
                  <a:cs typeface="Microsoft YaHei" charset="-122"/>
                </a:endParaRPr>
              </a:p>
              <a:p>
                <a:pPr marL="171450" indent="-171450" fontAlgn="auto">
                  <a:lnSpc>
                    <a:spcPct val="150000"/>
                  </a:lnSpc>
                  <a:spcBef>
                    <a:spcPts val="0"/>
                  </a:spcBef>
                  <a:spcAft>
                    <a:spcPts val="0"/>
                  </a:spcAft>
                  <a:buFont typeface="Arial" charset="0"/>
                  <a:buChar char="•"/>
                </a:pPr>
                <a:r>
                  <a:rPr lang="zh-CN" altLang="en-US" sz="1000">
                    <a:solidFill>
                      <a:srgbClr val="FF0000"/>
                    </a:solidFill>
                    <a:latin typeface="Microsoft YaHei" charset="-122"/>
                    <a:ea typeface="Microsoft YaHei" charset="-122"/>
                    <a:cs typeface="Microsoft YaHei" charset="-122"/>
                  </a:rPr>
                  <a:t>相互独立</a:t>
                </a:r>
                <a:r>
                  <a:rPr lang="zh-CN" altLang="en-US" sz="1000">
                    <a:latin typeface="Microsoft YaHei" charset="-122"/>
                    <a:ea typeface="Microsoft YaHei" charset="-122"/>
                    <a:cs typeface="Microsoft YaHei" charset="-122"/>
                  </a:rPr>
                  <a:t>：如果</a:t>
                </a:r>
                <a:r>
                  <a:rPr lang="en-US" altLang="zh-CN" sz="1000">
                    <a:latin typeface="Microsoft YaHei" charset="-122"/>
                    <a:ea typeface="Microsoft YaHei" charset="-122"/>
                    <a:cs typeface="Microsoft YaHei" charset="-122"/>
                  </a:rPr>
                  <a:t> A </a:t>
                </a:r>
                <a:r>
                  <a:rPr lang="zh-CN" altLang="en-US" sz="1000">
                    <a:latin typeface="Microsoft YaHei" charset="-122"/>
                    <a:ea typeface="Microsoft YaHei" charset="-122"/>
                    <a:cs typeface="Microsoft YaHei" charset="-122"/>
                  </a:rPr>
                  <a:t>是否发生和</a:t>
                </a:r>
                <a:r>
                  <a:rPr lang="en-US" altLang="zh-CN" sz="1000">
                    <a:latin typeface="Microsoft YaHei" charset="-122"/>
                    <a:ea typeface="Microsoft YaHei" charset="-122"/>
                    <a:cs typeface="Microsoft YaHei" charset="-122"/>
                  </a:rPr>
                  <a:t> B </a:t>
                </a:r>
                <a:r>
                  <a:rPr lang="zh-CN" altLang="en-US" sz="1000">
                    <a:latin typeface="Microsoft YaHei" charset="-122"/>
                    <a:ea typeface="Microsoft YaHei" charset="-122"/>
                    <a:cs typeface="Microsoft YaHei" charset="-122"/>
                  </a:rPr>
                  <a:t>没有关系，那么我们认为</a:t>
                </a:r>
                <a:r>
                  <a:rPr lang="en-US" altLang="zh-CN" sz="1000">
                    <a:latin typeface="Microsoft YaHei" charset="-122"/>
                    <a:ea typeface="Microsoft YaHei" charset="-122"/>
                    <a:cs typeface="Microsoft YaHei" charset="-122"/>
                  </a:rPr>
                  <a:t> A </a:t>
                </a:r>
                <a:r>
                  <a:rPr lang="zh-CN" altLang="en-US" sz="1000">
                    <a:latin typeface="Microsoft YaHei" charset="-122"/>
                    <a:ea typeface="Microsoft YaHei" charset="-122"/>
                    <a:cs typeface="Microsoft YaHei" charset="-122"/>
                  </a:rPr>
                  <a:t>和</a:t>
                </a:r>
                <a:r>
                  <a:rPr lang="en-US" altLang="zh-CN" sz="1000">
                    <a:latin typeface="Microsoft YaHei" charset="-122"/>
                    <a:ea typeface="Microsoft YaHei" charset="-122"/>
                    <a:cs typeface="Microsoft YaHei" charset="-122"/>
                  </a:rPr>
                  <a:t> B </a:t>
                </a:r>
                <a:r>
                  <a:rPr lang="zh-CN" altLang="en-US" sz="1000">
                    <a:latin typeface="Microsoft YaHei" charset="-122"/>
                    <a:ea typeface="Microsoft YaHei" charset="-122"/>
                    <a:cs typeface="Microsoft YaHei" charset="-122"/>
                  </a:rPr>
                  <a:t>相互独立。此时 </a:t>
                </a:r>
                <a14:m>
                  <m:oMath xmlns:m="http://schemas.openxmlformats.org/officeDocument/2006/math">
                    <m:r>
                      <a:rPr lang="en-US" altLang="zh-CN" sz="1000" i="1">
                        <a:latin typeface="Cambria Math" panose="02040503050406030204" pitchFamily="18" charset="0"/>
                        <a:ea typeface="Microsoft YaHei" charset="-122"/>
                        <a:cs typeface="Microsoft YaHei" charset="-122"/>
                      </a:rPr>
                      <m:t>𝑃</m:t>
                    </m:r>
                    <m:d>
                      <m:dPr>
                        <m:ctrlPr>
                          <a:rPr lang="zh-CN" altLang="zh-CN" sz="1000" i="1">
                            <a:latin typeface="Cambria Math" panose="02040503050406030204" pitchFamily="18" charset="0"/>
                            <a:ea typeface="Microsoft YaHei" charset="-122"/>
                            <a:cs typeface="Microsoft YaHei" charset="-122"/>
                          </a:rPr>
                        </m:ctrlPr>
                      </m:dPr>
                      <m:e>
                        <m:r>
                          <m:rPr>
                            <m:sty m:val="p"/>
                          </m:rPr>
                          <a:rPr lang="en-US" altLang="zh-CN" sz="1000">
                            <a:latin typeface="Cambria Math" panose="02040503050406030204" pitchFamily="18" charset="0"/>
                            <a:ea typeface="Microsoft YaHei" charset="-122"/>
                            <a:cs typeface="Microsoft YaHei" charset="-122"/>
                          </a:rPr>
                          <m:t>A</m:t>
                        </m:r>
                        <m:r>
                          <a:rPr lang="en-US" altLang="zh-CN" sz="1000" i="1">
                            <a:latin typeface="Cambria Math" panose="02040503050406030204" pitchFamily="18" charset="0"/>
                            <a:ea typeface="Microsoft YaHei" charset="-122"/>
                            <a:cs typeface="Microsoft YaHei" charset="-122"/>
                          </a:rPr>
                          <m:t>,</m:t>
                        </m:r>
                        <m:r>
                          <m:rPr>
                            <m:sty m:val="p"/>
                          </m:rPr>
                          <a:rPr lang="en-US" altLang="zh-CN" sz="1000">
                            <a:latin typeface="Cambria Math" panose="02040503050406030204" pitchFamily="18" charset="0"/>
                            <a:ea typeface="Microsoft YaHei" charset="-122"/>
                            <a:cs typeface="Microsoft YaHei" charset="-122"/>
                          </a:rPr>
                          <m:t>B</m:t>
                        </m:r>
                      </m:e>
                    </m:d>
                    <m:r>
                      <a:rPr lang="en-US" altLang="zh-CN" sz="1000">
                        <a:latin typeface="Cambria Math" panose="02040503050406030204" pitchFamily="18" charset="0"/>
                        <a:ea typeface="Microsoft YaHei" charset="-122"/>
                        <a:cs typeface="Microsoft YaHei" charset="-122"/>
                      </a:rPr>
                      <m:t>=</m:t>
                    </m:r>
                    <m:r>
                      <a:rPr lang="en-US" altLang="zh-CN" sz="1000" i="1">
                        <a:latin typeface="Cambria Math" panose="02040503050406030204" pitchFamily="18" charset="0"/>
                        <a:ea typeface="Microsoft YaHei" charset="-122"/>
                        <a:cs typeface="Microsoft YaHei" charset="-122"/>
                      </a:rPr>
                      <m:t>𝑃</m:t>
                    </m:r>
                    <m:d>
                      <m:dPr>
                        <m:ctrlPr>
                          <a:rPr lang="zh-CN" altLang="zh-CN" sz="1000" i="1">
                            <a:latin typeface="Cambria Math" panose="02040503050406030204" pitchFamily="18" charset="0"/>
                            <a:ea typeface="Microsoft YaHei" charset="-122"/>
                            <a:cs typeface="Microsoft YaHei" charset="-122"/>
                          </a:rPr>
                        </m:ctrlPr>
                      </m:dPr>
                      <m:e>
                        <m:r>
                          <m:rPr>
                            <m:sty m:val="p"/>
                          </m:rPr>
                          <a:rPr lang="en-US" altLang="zh-CN" sz="1000">
                            <a:latin typeface="Cambria Math" panose="02040503050406030204" pitchFamily="18" charset="0"/>
                            <a:ea typeface="Microsoft YaHei" charset="-122"/>
                            <a:cs typeface="Microsoft YaHei" charset="-122"/>
                          </a:rPr>
                          <m:t>A</m:t>
                        </m:r>
                      </m:e>
                    </m:d>
                    <m:r>
                      <a:rPr lang="en-US" altLang="zh-CN" sz="1000" i="1">
                        <a:latin typeface="Cambria Math" panose="02040503050406030204" pitchFamily="18" charset="0"/>
                        <a:ea typeface="Microsoft YaHei" charset="-122"/>
                        <a:cs typeface="Microsoft YaHei" charset="-122"/>
                      </a:rPr>
                      <m:t>∗</m:t>
                    </m:r>
                    <m:r>
                      <a:rPr lang="en-US" altLang="zh-CN" sz="1000" i="1">
                        <a:latin typeface="Cambria Math" panose="02040503050406030204" pitchFamily="18" charset="0"/>
                        <a:ea typeface="Microsoft YaHei" charset="-122"/>
                        <a:cs typeface="Microsoft YaHei" charset="-122"/>
                      </a:rPr>
                      <m:t>𝑃</m:t>
                    </m:r>
                    <m:r>
                      <a:rPr lang="en-US" altLang="zh-CN" sz="1000" i="1">
                        <a:latin typeface="Cambria Math" panose="02040503050406030204" pitchFamily="18" charset="0"/>
                        <a:ea typeface="Microsoft YaHei" charset="-122"/>
                        <a:cs typeface="Microsoft YaHei" charset="-122"/>
                      </a:rPr>
                      <m:t>(</m:t>
                    </m:r>
                    <m:r>
                      <a:rPr lang="en-US" altLang="zh-CN" sz="1000" i="1">
                        <a:latin typeface="Cambria Math" panose="02040503050406030204" pitchFamily="18" charset="0"/>
                        <a:ea typeface="Microsoft YaHei" charset="-122"/>
                        <a:cs typeface="Microsoft YaHei" charset="-122"/>
                      </a:rPr>
                      <m:t>𝐵</m:t>
                    </m:r>
                    <m:r>
                      <a:rPr lang="en-US" altLang="zh-CN" sz="1000" i="1">
                        <a:latin typeface="Cambria Math" panose="02040503050406030204" pitchFamily="18" charset="0"/>
                        <a:ea typeface="Microsoft YaHei" charset="-122"/>
                        <a:cs typeface="Microsoft YaHei" charset="-122"/>
                      </a:rPr>
                      <m:t>)</m:t>
                    </m:r>
                  </m:oMath>
                </a14:m>
                <a:endParaRPr lang="zh-CN" altLang="zh-CN" sz="1000">
                  <a:latin typeface="Microsoft YaHei" charset="-122"/>
                  <a:ea typeface="Microsoft YaHei" charset="-122"/>
                  <a:cs typeface="Microsoft YaHei" charset="-122"/>
                </a:endParaRPr>
              </a:p>
              <a:p>
                <a:pPr marL="171450" indent="-171450" fontAlgn="auto">
                  <a:lnSpc>
                    <a:spcPct val="150000"/>
                  </a:lnSpc>
                  <a:spcBef>
                    <a:spcPts val="0"/>
                  </a:spcBef>
                  <a:spcAft>
                    <a:spcPts val="0"/>
                  </a:spcAft>
                  <a:buFont typeface="Arial" charset="0"/>
                  <a:buChar char="•"/>
                </a:pPr>
                <a:r>
                  <a:rPr lang="zh-CN" altLang="en-US" sz="1000">
                    <a:solidFill>
                      <a:srgbClr val="FF0000"/>
                    </a:solidFill>
                    <a:latin typeface="Microsoft YaHei" charset="-122"/>
                    <a:ea typeface="Microsoft YaHei" charset="-122"/>
                    <a:cs typeface="Microsoft YaHei" charset="-122"/>
                  </a:rPr>
                  <a:t>条件概率</a:t>
                </a:r>
                <a:r>
                  <a:rPr lang="zh-CN" altLang="en-US" sz="1000">
                    <a:latin typeface="Microsoft YaHei" charset="-122"/>
                    <a:ea typeface="Microsoft YaHei" charset="-122"/>
                    <a:cs typeface="Microsoft YaHei" charset="-122"/>
                  </a:rPr>
                  <a:t>：事件 </a:t>
                </a:r>
                <a:r>
                  <a:rPr lang="en-US" altLang="zh-CN" sz="1000">
                    <a:latin typeface="Microsoft YaHei" charset="-122"/>
                    <a:ea typeface="Microsoft YaHei" charset="-122"/>
                    <a:cs typeface="Microsoft YaHei" charset="-122"/>
                  </a:rPr>
                  <a:t>A</a:t>
                </a:r>
                <a:r>
                  <a:rPr lang="zh-CN" altLang="en-US" sz="1000">
                    <a:latin typeface="Microsoft YaHei" charset="-122"/>
                    <a:ea typeface="Microsoft YaHei" charset="-122"/>
                    <a:cs typeface="Microsoft YaHei" charset="-122"/>
                  </a:rPr>
                  <a:t> 发生的情况下 </a:t>
                </a:r>
                <a:r>
                  <a:rPr lang="en-US" altLang="zh-CN" sz="1000">
                    <a:latin typeface="Microsoft YaHei" charset="-122"/>
                    <a:ea typeface="Microsoft YaHei" charset="-122"/>
                    <a:cs typeface="Microsoft YaHei" charset="-122"/>
                  </a:rPr>
                  <a:t>B</a:t>
                </a:r>
                <a:r>
                  <a:rPr lang="zh-CN" altLang="en-US" sz="1000">
                    <a:latin typeface="Microsoft YaHei" charset="-122"/>
                    <a:ea typeface="Microsoft YaHei" charset="-122"/>
                    <a:cs typeface="Microsoft YaHei" charset="-122"/>
                  </a:rPr>
                  <a:t> 发生的概率，例如 </a:t>
                </a:r>
                <a14:m>
                  <m:oMath xmlns:m="http://schemas.openxmlformats.org/officeDocument/2006/math">
                    <m:r>
                      <a:rPr lang="en-US" altLang="zh-CN" sz="1000">
                        <a:latin typeface="Cambria Math" panose="02040503050406030204" pitchFamily="18" charset="0"/>
                        <a:ea typeface="Microsoft YaHei" charset="-122"/>
                        <a:cs typeface="Microsoft YaHei" charset="-122"/>
                      </a:rPr>
                      <m:t>𝑃</m:t>
                    </m:r>
                    <m:r>
                      <a:rPr lang="en-US" altLang="zh-CN" sz="1000">
                        <a:latin typeface="Cambria Math" panose="02040503050406030204" pitchFamily="18" charset="0"/>
                        <a:ea typeface="Microsoft YaHei" charset="-122"/>
                        <a:cs typeface="Microsoft YaHei" charset="-122"/>
                      </a:rPr>
                      <m:t>(</m:t>
                    </m:r>
                    <m:r>
                      <a:rPr lang="zh-CN" altLang="en-US" sz="1000">
                        <a:latin typeface="Cambria Math" panose="02040503050406030204" pitchFamily="18" charset="0"/>
                        <a:ea typeface="Microsoft YaHei" charset="-122"/>
                        <a:cs typeface="Microsoft YaHei" charset="-122"/>
                      </a:rPr>
                      <m:t>爱</m:t>
                    </m:r>
                    <m:r>
                      <a:rPr lang="en-US" altLang="zh-CN" sz="1000" b="0" i="0" smtClean="0">
                        <a:latin typeface="Cambria Math" panose="02040503050406030204" pitchFamily="18" charset="0"/>
                        <a:ea typeface="Microsoft YaHei" charset="-122"/>
                        <a:cs typeface="Microsoft YaHei" charset="-122"/>
                      </a:rPr>
                      <m:t>|</m:t>
                    </m:r>
                    <m:r>
                      <a:rPr lang="zh-CN" altLang="en-US" sz="1000" b="0" i="1">
                        <a:latin typeface="Cambria Math" panose="02040503050406030204" pitchFamily="18" charset="0"/>
                        <a:ea typeface="Microsoft YaHei" charset="-122"/>
                        <a:cs typeface="Microsoft YaHei" charset="-122"/>
                      </a:rPr>
                      <m:t>我</m:t>
                    </m:r>
                  </m:oMath>
                </a14:m>
                <a:r>
                  <a:rPr lang="zh-CN" altLang="en-US" sz="1000">
                    <a:latin typeface="Microsoft YaHei" charset="-122"/>
                    <a:ea typeface="Microsoft YaHei" charset="-122"/>
                    <a:cs typeface="Microsoft YaHei" charset="-122"/>
                  </a:rPr>
                  <a:t>）</a:t>
                </a:r>
                <a:endParaRPr lang="en-US" altLang="zh-CN" sz="1000">
                  <a:latin typeface="Microsoft YaHei" charset="-122"/>
                  <a:ea typeface="Microsoft YaHei" charset="-122"/>
                  <a:cs typeface="Microsoft YaHei" charset="-122"/>
                </a:endParaRPr>
              </a:p>
              <a:p>
                <a:pPr fontAlgn="auto">
                  <a:lnSpc>
                    <a:spcPct val="150000"/>
                  </a:lnSpc>
                  <a:spcBef>
                    <a:spcPts val="600"/>
                  </a:spcBef>
                  <a:spcAft>
                    <a:spcPts val="0"/>
                  </a:spcAft>
                </a:pPr>
                <a:r>
                  <a:rPr lang="zh-CN" altLang="en-US" sz="1000">
                    <a:latin typeface="Microsoft YaHei" charset="-122"/>
                    <a:ea typeface="Microsoft YaHei" charset="-122"/>
                    <a:cs typeface="Microsoft YaHei" charset="-122"/>
                  </a:rPr>
                  <a:t>如果事件</a:t>
                </a:r>
                <a:r>
                  <a:rPr lang="en-US" altLang="zh-CN" sz="1000">
                    <a:latin typeface="Microsoft YaHei" charset="-122"/>
                    <a:ea typeface="Microsoft YaHei" charset="-122"/>
                    <a:cs typeface="Microsoft YaHei" charset="-122"/>
                  </a:rPr>
                  <a:t> A </a:t>
                </a:r>
                <a:r>
                  <a:rPr lang="zh-CN" altLang="en-US" sz="1000">
                    <a:latin typeface="Microsoft YaHei" charset="-122"/>
                    <a:ea typeface="Microsoft YaHei" charset="-122"/>
                    <a:cs typeface="Microsoft YaHei" charset="-122"/>
                  </a:rPr>
                  <a:t>和</a:t>
                </a:r>
                <a:r>
                  <a:rPr lang="en-US" altLang="zh-CN" sz="1000">
                    <a:latin typeface="Microsoft YaHei" charset="-122"/>
                    <a:ea typeface="Microsoft YaHei" charset="-122"/>
                    <a:cs typeface="Microsoft YaHei" charset="-122"/>
                  </a:rPr>
                  <a:t> B </a:t>
                </a:r>
                <a:r>
                  <a:rPr lang="zh-CN" altLang="en-US" sz="1000">
                    <a:latin typeface="Microsoft YaHei" charset="-122"/>
                    <a:ea typeface="Microsoft YaHei" charset="-122"/>
                    <a:cs typeface="Microsoft YaHei" charset="-122"/>
                  </a:rPr>
                  <a:t>不独立，那么此时：</a:t>
                </a:r>
                <a:r>
                  <a:rPr lang="en-US" altLang="zh-CN" sz="1000">
                    <a:latin typeface="Microsoft YaHei" charset="-122"/>
                    <a:ea typeface="Microsoft YaHei" charset="-122"/>
                    <a:cs typeface="Microsoft YaHei" charset="-122"/>
                  </a:rPr>
                  <a:t> </a:t>
                </a:r>
                <a14:m>
                  <m:oMath xmlns:m="http://schemas.openxmlformats.org/officeDocument/2006/math">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en-US" altLang="zh-CN" sz="1000" b="1" i="1">
                            <a:latin typeface="Cambria Math" panose="02040503050406030204" pitchFamily="18" charset="0"/>
                            <a:ea typeface="Microsoft YaHei" charset="-122"/>
                            <a:cs typeface="Microsoft YaHei" charset="-122"/>
                          </a:rPr>
                          <m:t>𝑨</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𝑩</m:t>
                        </m:r>
                      </m:e>
                    </m:d>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en-US" altLang="zh-CN" sz="1000" b="1" i="1">
                            <a:latin typeface="Cambria Math" panose="02040503050406030204" pitchFamily="18" charset="0"/>
                            <a:ea typeface="Microsoft YaHei" charset="-122"/>
                            <a:cs typeface="Microsoft YaHei" charset="-122"/>
                          </a:rPr>
                          <m:t>𝑩</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𝑨</m:t>
                        </m:r>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𝑨</m:t>
                    </m:r>
                    <m:r>
                      <a:rPr lang="en-US" altLang="zh-CN" sz="1000" b="1" i="1">
                        <a:latin typeface="Cambria Math" panose="02040503050406030204" pitchFamily="18" charset="0"/>
                        <a:ea typeface="Microsoft YaHei" charset="-122"/>
                        <a:cs typeface="Microsoft YaHei" charset="-122"/>
                      </a:rPr>
                      <m:t>)</m:t>
                    </m:r>
                  </m:oMath>
                </a14:m>
                <a:r>
                  <a:rPr lang="en-US" altLang="zh-CN" sz="1000" b="1">
                    <a:latin typeface="Microsoft YaHei" charset="-122"/>
                    <a:ea typeface="Microsoft YaHei" charset="-122"/>
                    <a:cs typeface="Microsoft YaHei" charset="-122"/>
                  </a:rPr>
                  <a:t>=</a:t>
                </a:r>
                <a14:m>
                  <m:oMath xmlns:m="http://schemas.openxmlformats.org/officeDocument/2006/math">
                    <m:r>
                      <a:rPr lang="en-US" altLang="zh-CN" sz="1000" b="1" i="1">
                        <a:latin typeface="Cambria Math" panose="02040503050406030204" pitchFamily="18" charset="0"/>
                        <a:ea typeface="Microsoft YaHei" charset="-122"/>
                        <a:cs typeface="Microsoft YaHei" charset="-122"/>
                      </a:rPr>
                      <m:t> </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en-US" altLang="zh-CN" sz="1000" b="1" i="1">
                            <a:latin typeface="Cambria Math" panose="02040503050406030204" pitchFamily="18" charset="0"/>
                            <a:ea typeface="Microsoft YaHei" charset="-122"/>
                            <a:cs typeface="Microsoft YaHei" charset="-122"/>
                          </a:rPr>
                          <m:t>𝑨</m:t>
                        </m:r>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𝑩</m:t>
                        </m:r>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𝑩</m:t>
                    </m:r>
                    <m:r>
                      <a:rPr lang="en-US" altLang="zh-CN" sz="1000" b="1" i="1">
                        <a:latin typeface="Cambria Math" panose="02040503050406030204" pitchFamily="18" charset="0"/>
                        <a:ea typeface="Microsoft YaHei" charset="-122"/>
                        <a:cs typeface="Microsoft YaHei" charset="-122"/>
                      </a:rPr>
                      <m:t>)</m:t>
                    </m:r>
                  </m:oMath>
                </a14:m>
                <a:endParaRPr lang="en-US" altLang="zh-CN" sz="1000" b="1">
                  <a:latin typeface="Microsoft YaHei" charset="-122"/>
                  <a:ea typeface="Microsoft YaHei" charset="-122"/>
                  <a:cs typeface="Microsoft YaHei"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683924" y="1347614"/>
                <a:ext cx="7846038" cy="1296252"/>
              </a:xfrm>
              <a:prstGeom prst="rect">
                <a:avLst/>
              </a:prstGeom>
              <a:blipFill>
                <a:blip r:embed="rId3"/>
                <a:stretch>
                  <a:fillRect b="-1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683568" y="2708919"/>
                <a:ext cx="7412066" cy="2224455"/>
              </a:xfrm>
              <a:prstGeom prst="rect">
                <a:avLst/>
              </a:prstGeom>
              <a:noFill/>
            </p:spPr>
            <p:txBody>
              <a:bodyPr wrap="square" rtlCol="0">
                <a:spAutoFit/>
              </a:bodyPr>
              <a:lstStyle/>
              <a:p>
                <a:pPr fontAlgn="auto">
                  <a:lnSpc>
                    <a:spcPct val="150000"/>
                  </a:lnSpc>
                  <a:spcBef>
                    <a:spcPts val="0"/>
                  </a:spcBef>
                  <a:spcAft>
                    <a:spcPts val="0"/>
                  </a:spcAft>
                </a:pPr>
                <a:r>
                  <a:rPr lang="zh-CN" altLang="zh-CN" sz="1000">
                    <a:latin typeface="微软雅黑" charset="-122"/>
                    <a:ea typeface="微软雅黑" charset="-122"/>
                  </a:rPr>
                  <a:t>上述公式经过变形可以得到计算条件概率的公式（</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𝐵</m:t>
                        </m:r>
                      </m:e>
                    </m:d>
                    <m:r>
                      <a:rPr lang="zh-CN" altLang="en-US" sz="1000" b="0" i="0">
                        <a:latin typeface="Cambria Math" charset="0"/>
                        <a:ea typeface="微软雅黑" charset="-122"/>
                      </a:rPr>
                      <m:t> </m:t>
                    </m:r>
                  </m:oMath>
                </a14:m>
                <a:r>
                  <a:rPr lang="zh-CN" altLang="zh-CN" sz="1000">
                    <a:latin typeface="微软雅黑" charset="-122"/>
                    <a:ea typeface="微软雅黑" charset="-122"/>
                  </a:rPr>
                  <a:t>和</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𝐴</m:t>
                        </m:r>
                      </m:e>
                    </m:d>
                  </m:oMath>
                </a14:m>
                <a:r>
                  <a:rPr lang="zh-CN" altLang="zh-CN" sz="1000">
                    <a:latin typeface="微软雅黑" charset="-122"/>
                    <a:ea typeface="微软雅黑" charset="-122"/>
                  </a:rPr>
                  <a:t>不为</a:t>
                </a:r>
                <a:r>
                  <a:rPr lang="zh-CN" altLang="en-US" sz="1000">
                    <a:latin typeface="微软雅黑" charset="-122"/>
                    <a:ea typeface="微软雅黑" charset="-122"/>
                  </a:rPr>
                  <a:t> </a:t>
                </a:r>
                <a:r>
                  <a:rPr lang="en-US" altLang="zh-CN" sz="1000">
                    <a:latin typeface="微软雅黑" charset="-122"/>
                    <a:ea typeface="微软雅黑" charset="-122"/>
                  </a:rPr>
                  <a:t>0</a:t>
                </a:r>
                <a:r>
                  <a:rPr lang="zh-CN" altLang="en-US" sz="1000">
                    <a:latin typeface="微软雅黑" charset="-122"/>
                    <a:ea typeface="微软雅黑" charset="-122"/>
                  </a:rPr>
                  <a:t> </a:t>
                </a:r>
                <a:r>
                  <a:rPr lang="zh-CN" altLang="zh-CN" sz="1000">
                    <a:latin typeface="微软雅黑" charset="-122"/>
                    <a:ea typeface="微软雅黑" charset="-122"/>
                  </a:rPr>
                  <a:t>时），即：</a:t>
                </a:r>
              </a:p>
              <a:p>
                <a:pPr fontAlgn="auto">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altLang="zh-CN" sz="1000" b="1" i="1">
                          <a:latin typeface="Cambria Math" panose="02040503050406030204" pitchFamily="18" charset="0"/>
                          <a:ea typeface="微软雅黑" charset="-122"/>
                        </a:rPr>
                        <m:t>𝐏</m:t>
                      </m:r>
                      <m:d>
                        <m:dPr>
                          <m:ctrlPr>
                            <a:rPr lang="zh-CN" altLang="zh-CN" sz="1000" b="1" i="1">
                              <a:latin typeface="Cambria Math" panose="02040503050406030204" pitchFamily="18" charset="0"/>
                              <a:ea typeface="微软雅黑" charset="-122"/>
                            </a:rPr>
                          </m:ctrlPr>
                        </m:dPr>
                        <m:e>
                          <m:r>
                            <a:rPr lang="en-US" altLang="zh-CN" sz="1000" b="1" i="1">
                              <a:latin typeface="Cambria Math" panose="02040503050406030204" pitchFamily="18" charset="0"/>
                              <a:ea typeface="微软雅黑" charset="-122"/>
                            </a:rPr>
                            <m:t>𝐀</m:t>
                          </m:r>
                        </m:e>
                        <m:e>
                          <m:r>
                            <a:rPr lang="en-US" altLang="zh-CN" sz="1000" b="1" i="1">
                              <a:latin typeface="Cambria Math" panose="02040503050406030204" pitchFamily="18" charset="0"/>
                              <a:ea typeface="微软雅黑" charset="-122"/>
                            </a:rPr>
                            <m:t>𝐁</m:t>
                          </m:r>
                        </m:e>
                      </m:d>
                      <m:r>
                        <a:rPr lang="en-US" altLang="zh-CN" sz="1000" b="1">
                          <a:latin typeface="Cambria Math" panose="02040503050406030204" pitchFamily="18" charset="0"/>
                          <a:ea typeface="微软雅黑" charset="-122"/>
                        </a:rPr>
                        <m:t>=</m:t>
                      </m:r>
                      <m:f>
                        <m:fPr>
                          <m:ctrlPr>
                            <a:rPr lang="zh-CN" altLang="zh-CN" sz="1000" b="1" i="1">
                              <a:latin typeface="Cambria Math" panose="02040503050406030204" pitchFamily="18" charset="0"/>
                              <a:ea typeface="微软雅黑" charset="-122"/>
                            </a:rPr>
                          </m:ctrlPr>
                        </m:fPr>
                        <m:num>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𝐀</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𝐁</m:t>
                          </m:r>
                          <m:r>
                            <a:rPr lang="en-US" altLang="zh-CN" sz="1000" b="1">
                              <a:latin typeface="Cambria Math" panose="02040503050406030204" pitchFamily="18" charset="0"/>
                              <a:ea typeface="微软雅黑" charset="-122"/>
                            </a:rPr>
                            <m:t>)</m:t>
                          </m:r>
                        </m:num>
                        <m:den>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𝐁</m:t>
                          </m:r>
                          <m:r>
                            <a:rPr lang="en-US" altLang="zh-CN" sz="1000" b="1">
                              <a:latin typeface="Cambria Math" panose="02040503050406030204" pitchFamily="18" charset="0"/>
                              <a:ea typeface="微软雅黑" charset="-122"/>
                            </a:rPr>
                            <m:t>)</m:t>
                          </m:r>
                        </m:den>
                      </m:f>
                      <m:r>
                        <a:rPr lang="en-US" altLang="zh-CN" sz="1000" b="1">
                          <a:latin typeface="Cambria Math" panose="02040503050406030204" pitchFamily="18" charset="0"/>
                          <a:ea typeface="微软雅黑" charset="-122"/>
                        </a:rPr>
                        <m:t>=</m:t>
                      </m:r>
                      <m:f>
                        <m:fPr>
                          <m:ctrlPr>
                            <a:rPr lang="zh-CN" altLang="zh-CN" sz="1000" b="1" i="1">
                              <a:latin typeface="Cambria Math" panose="02040503050406030204" pitchFamily="18" charset="0"/>
                              <a:ea typeface="微软雅黑" charset="-122"/>
                            </a:rPr>
                          </m:ctrlPr>
                        </m:fPr>
                        <m:num>
                          <m:r>
                            <a:rPr lang="en-US" altLang="zh-CN" sz="1000" b="1" i="1">
                              <a:latin typeface="Cambria Math" panose="02040503050406030204" pitchFamily="18" charset="0"/>
                              <a:ea typeface="微软雅黑" charset="-122"/>
                            </a:rPr>
                            <m:t>𝐏</m:t>
                          </m:r>
                          <m:d>
                            <m:dPr>
                              <m:ctrlPr>
                                <a:rPr lang="zh-CN" altLang="zh-CN" sz="1000" b="1" i="1">
                                  <a:latin typeface="Cambria Math" panose="02040503050406030204" pitchFamily="18" charset="0"/>
                                  <a:ea typeface="微软雅黑" charset="-122"/>
                                </a:rPr>
                              </m:ctrlPr>
                            </m:dPr>
                            <m:e>
                              <m:r>
                                <a:rPr lang="en-US" altLang="zh-CN" sz="1000" b="1" i="1">
                                  <a:latin typeface="Cambria Math" panose="02040503050406030204" pitchFamily="18" charset="0"/>
                                  <a:ea typeface="微软雅黑" charset="-122"/>
                                </a:rPr>
                                <m:t>𝐁</m:t>
                              </m:r>
                            </m:e>
                            <m:e>
                              <m:r>
                                <a:rPr lang="en-US" altLang="zh-CN" sz="1000" b="1" i="1">
                                  <a:latin typeface="Cambria Math" panose="02040503050406030204" pitchFamily="18" charset="0"/>
                                  <a:ea typeface="微软雅黑" charset="-122"/>
                                </a:rPr>
                                <m:t>𝐀</m:t>
                              </m:r>
                            </m:e>
                          </m:d>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𝐀</m:t>
                          </m:r>
                          <m:r>
                            <a:rPr lang="en-US" altLang="zh-CN" sz="1000" b="1">
                              <a:latin typeface="Cambria Math" panose="02040503050406030204" pitchFamily="18" charset="0"/>
                              <a:ea typeface="微软雅黑" charset="-122"/>
                            </a:rPr>
                            <m:t>)</m:t>
                          </m:r>
                        </m:num>
                        <m:den>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𝐁</m:t>
                          </m:r>
                          <m:r>
                            <a:rPr lang="en-US" altLang="zh-CN" sz="1000" b="1">
                              <a:latin typeface="Cambria Math" panose="02040503050406030204" pitchFamily="18" charset="0"/>
                              <a:ea typeface="微软雅黑" charset="-122"/>
                            </a:rPr>
                            <m:t>)</m:t>
                          </m:r>
                        </m:den>
                      </m:f>
                    </m:oMath>
                  </m:oMathPara>
                </a14:m>
                <a:endParaRPr lang="zh-CN" altLang="zh-CN" sz="1000" b="1">
                  <a:latin typeface="微软雅黑" charset="-122"/>
                  <a:ea typeface="微软雅黑" charset="-122"/>
                </a:endParaRPr>
              </a:p>
              <a:p>
                <a:pPr fontAlgn="auto">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altLang="zh-CN" sz="1000" b="1" i="1">
                          <a:latin typeface="Cambria Math" panose="02040503050406030204" pitchFamily="18" charset="0"/>
                          <a:ea typeface="微软雅黑" charset="-122"/>
                        </a:rPr>
                        <m:t>𝐏</m:t>
                      </m:r>
                      <m:d>
                        <m:dPr>
                          <m:ctrlPr>
                            <a:rPr lang="zh-CN" altLang="zh-CN" sz="1000" b="1" i="1">
                              <a:latin typeface="Cambria Math" panose="02040503050406030204" pitchFamily="18" charset="0"/>
                              <a:ea typeface="微软雅黑" charset="-122"/>
                            </a:rPr>
                          </m:ctrlPr>
                        </m:dPr>
                        <m:e>
                          <m:r>
                            <a:rPr lang="en-US" altLang="zh-CN" sz="1000" b="1" i="1">
                              <a:latin typeface="Cambria Math" panose="02040503050406030204" pitchFamily="18" charset="0"/>
                              <a:ea typeface="微软雅黑" charset="-122"/>
                            </a:rPr>
                            <m:t>𝐁</m:t>
                          </m:r>
                        </m:e>
                        <m:e>
                          <m:r>
                            <a:rPr lang="en-US" altLang="zh-CN" sz="1000" b="1" i="1">
                              <a:latin typeface="Cambria Math" panose="02040503050406030204" pitchFamily="18" charset="0"/>
                              <a:ea typeface="微软雅黑" charset="-122"/>
                            </a:rPr>
                            <m:t>𝐀</m:t>
                          </m:r>
                        </m:e>
                      </m:d>
                      <m:r>
                        <a:rPr lang="en-US" altLang="zh-CN" sz="1000" b="1">
                          <a:latin typeface="Cambria Math" panose="02040503050406030204" pitchFamily="18" charset="0"/>
                          <a:ea typeface="微软雅黑" charset="-122"/>
                        </a:rPr>
                        <m:t>=</m:t>
                      </m:r>
                      <m:f>
                        <m:fPr>
                          <m:ctrlPr>
                            <a:rPr lang="zh-CN" altLang="zh-CN" sz="1000" b="1" i="1">
                              <a:latin typeface="Cambria Math" panose="02040503050406030204" pitchFamily="18" charset="0"/>
                              <a:ea typeface="微软雅黑" charset="-122"/>
                            </a:rPr>
                          </m:ctrlPr>
                        </m:fPr>
                        <m:num>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𝐀</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𝐁</m:t>
                          </m:r>
                          <m:r>
                            <a:rPr lang="en-US" altLang="zh-CN" sz="1000" b="1">
                              <a:latin typeface="Cambria Math" panose="02040503050406030204" pitchFamily="18" charset="0"/>
                              <a:ea typeface="微软雅黑" charset="-122"/>
                            </a:rPr>
                            <m:t>)</m:t>
                          </m:r>
                        </m:num>
                        <m:den>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𝐀</m:t>
                          </m:r>
                          <m:r>
                            <a:rPr lang="en-US" altLang="zh-CN" sz="1000" b="1">
                              <a:latin typeface="Cambria Math" panose="02040503050406030204" pitchFamily="18" charset="0"/>
                              <a:ea typeface="微软雅黑" charset="-122"/>
                            </a:rPr>
                            <m:t>)</m:t>
                          </m:r>
                        </m:den>
                      </m:f>
                      <m:r>
                        <a:rPr lang="en-US" altLang="zh-CN" sz="1000" b="1">
                          <a:latin typeface="Cambria Math" panose="02040503050406030204" pitchFamily="18" charset="0"/>
                          <a:ea typeface="微软雅黑" charset="-122"/>
                        </a:rPr>
                        <m:t>=</m:t>
                      </m:r>
                      <m:f>
                        <m:fPr>
                          <m:ctrlPr>
                            <a:rPr lang="zh-CN" altLang="zh-CN" sz="1000" b="1" i="1">
                              <a:latin typeface="Cambria Math" panose="02040503050406030204" pitchFamily="18" charset="0"/>
                              <a:ea typeface="微软雅黑" charset="-122"/>
                            </a:rPr>
                          </m:ctrlPr>
                        </m:fPr>
                        <m:num>
                          <m:r>
                            <a:rPr lang="en-US" altLang="zh-CN" sz="1000" b="1" i="1">
                              <a:latin typeface="Cambria Math" panose="02040503050406030204" pitchFamily="18" charset="0"/>
                              <a:ea typeface="微软雅黑" charset="-122"/>
                            </a:rPr>
                            <m:t>𝐏</m:t>
                          </m:r>
                          <m:d>
                            <m:dPr>
                              <m:ctrlPr>
                                <a:rPr lang="zh-CN" altLang="zh-CN" sz="1000" b="1" i="1">
                                  <a:latin typeface="Cambria Math" panose="02040503050406030204" pitchFamily="18" charset="0"/>
                                  <a:ea typeface="微软雅黑" charset="-122"/>
                                </a:rPr>
                              </m:ctrlPr>
                            </m:dPr>
                            <m:e>
                              <m:r>
                                <a:rPr lang="en-US" altLang="zh-CN" sz="1000" b="1" i="1">
                                  <a:latin typeface="Cambria Math" panose="02040503050406030204" pitchFamily="18" charset="0"/>
                                  <a:ea typeface="微软雅黑" charset="-122"/>
                                </a:rPr>
                                <m:t>𝐀</m:t>
                              </m:r>
                            </m:e>
                            <m:e>
                              <m:r>
                                <a:rPr lang="en-US" altLang="zh-CN" sz="1000" b="1" i="1">
                                  <a:latin typeface="Cambria Math" panose="02040503050406030204" pitchFamily="18" charset="0"/>
                                  <a:ea typeface="微软雅黑" charset="-122"/>
                                </a:rPr>
                                <m:t>𝐁</m:t>
                              </m:r>
                            </m:e>
                          </m:d>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𝐁</m:t>
                          </m:r>
                          <m:r>
                            <a:rPr lang="en-US" altLang="zh-CN" sz="1000" b="1">
                              <a:latin typeface="Cambria Math" panose="02040503050406030204" pitchFamily="18" charset="0"/>
                              <a:ea typeface="微软雅黑" charset="-122"/>
                            </a:rPr>
                            <m:t>)</m:t>
                          </m:r>
                        </m:num>
                        <m:den>
                          <m:r>
                            <a:rPr lang="en-US" altLang="zh-CN" sz="1000" b="1" i="1">
                              <a:latin typeface="Cambria Math" panose="02040503050406030204" pitchFamily="18" charset="0"/>
                              <a:ea typeface="微软雅黑" charset="-122"/>
                            </a:rPr>
                            <m:t>𝐏</m:t>
                          </m:r>
                          <m:r>
                            <a:rPr lang="en-US" altLang="zh-CN" sz="1000" b="1">
                              <a:latin typeface="Cambria Math" panose="02040503050406030204" pitchFamily="18" charset="0"/>
                              <a:ea typeface="微软雅黑" charset="-122"/>
                            </a:rPr>
                            <m:t>(</m:t>
                          </m:r>
                          <m:r>
                            <a:rPr lang="en-US" altLang="zh-CN" sz="1000" b="1" i="1">
                              <a:latin typeface="Cambria Math" panose="02040503050406030204" pitchFamily="18" charset="0"/>
                              <a:ea typeface="微软雅黑" charset="-122"/>
                            </a:rPr>
                            <m:t>𝐀</m:t>
                          </m:r>
                          <m:r>
                            <a:rPr lang="en-US" altLang="zh-CN" sz="1000" b="1">
                              <a:latin typeface="Cambria Math" panose="02040503050406030204" pitchFamily="18" charset="0"/>
                              <a:ea typeface="微软雅黑" charset="-122"/>
                            </a:rPr>
                            <m:t>)</m:t>
                          </m:r>
                        </m:den>
                      </m:f>
                    </m:oMath>
                  </m:oMathPara>
                </a14:m>
                <a:endParaRPr lang="zh-CN" altLang="zh-CN" sz="1000" b="1">
                  <a:latin typeface="微软雅黑" charset="-122"/>
                  <a:ea typeface="微软雅黑" charset="-122"/>
                </a:endParaRPr>
              </a:p>
              <a:p>
                <a:pPr fontAlgn="auto">
                  <a:lnSpc>
                    <a:spcPct val="150000"/>
                  </a:lnSpc>
                  <a:spcBef>
                    <a:spcPts val="0"/>
                  </a:spcBef>
                  <a:spcAft>
                    <a:spcPts val="0"/>
                  </a:spcAft>
                </a:pPr>
                <a:r>
                  <a:rPr lang="zh-CN" altLang="zh-CN" sz="1000">
                    <a:latin typeface="微软雅黑" charset="-122"/>
                    <a:ea typeface="微软雅黑" charset="-122"/>
                  </a:rPr>
                  <a:t>我们把上式称为</a:t>
                </a:r>
                <a:r>
                  <a:rPr lang="zh-CN" altLang="zh-CN" sz="1000" b="1">
                    <a:solidFill>
                      <a:srgbClr val="FF0000"/>
                    </a:solidFill>
                    <a:latin typeface="微软雅黑" charset="-122"/>
                    <a:ea typeface="微软雅黑" charset="-122"/>
                  </a:rPr>
                  <a:t>贝叶斯定理</a:t>
                </a:r>
              </a:p>
              <a:p>
                <a:pPr fontAlgn="auto">
                  <a:lnSpc>
                    <a:spcPct val="150000"/>
                  </a:lnSpc>
                  <a:spcBef>
                    <a:spcPts val="0"/>
                  </a:spcBef>
                  <a:spcAft>
                    <a:spcPts val="0"/>
                  </a:spcAft>
                </a:pPr>
                <a:r>
                  <a:rPr lang="zh-CN" altLang="zh-CN" sz="1000">
                    <a:latin typeface="微软雅黑" charset="-122"/>
                    <a:ea typeface="微软雅黑" charset="-122"/>
                  </a:rPr>
                  <a:t>其中：</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𝐵</m:t>
                        </m:r>
                      </m:e>
                    </m:d>
                  </m:oMath>
                </a14:m>
                <a:r>
                  <a:rPr lang="zh-CN" altLang="zh-CN" sz="1000">
                    <a:latin typeface="微软雅黑" charset="-122"/>
                    <a:ea typeface="微软雅黑" charset="-122"/>
                  </a:rPr>
                  <a:t>和</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𝐴</m:t>
                        </m:r>
                      </m:e>
                    </m:d>
                  </m:oMath>
                </a14:m>
                <a:r>
                  <a:rPr lang="zh-CN" altLang="zh-CN" sz="1000">
                    <a:latin typeface="微软雅黑" charset="-122"/>
                    <a:ea typeface="微软雅黑" charset="-122"/>
                  </a:rPr>
                  <a:t>被称为</a:t>
                </a:r>
                <a:r>
                  <a:rPr lang="zh-CN" altLang="zh-CN" sz="1000">
                    <a:solidFill>
                      <a:srgbClr val="FF0000"/>
                    </a:solidFill>
                    <a:latin typeface="微软雅黑" charset="-122"/>
                    <a:ea typeface="微软雅黑" charset="-122"/>
                  </a:rPr>
                  <a:t>先验概率</a:t>
                </a:r>
                <a:r>
                  <a:rPr lang="zh-CN" altLang="zh-CN" sz="1000">
                    <a:latin typeface="微软雅黑" charset="-122"/>
                    <a:ea typeface="微软雅黑" charset="-122"/>
                  </a:rPr>
                  <a:t>或者是边缘概率；</a:t>
                </a:r>
                <a:endParaRPr lang="en-US" altLang="zh-CN" sz="1000">
                  <a:latin typeface="微软雅黑" charset="-122"/>
                  <a:ea typeface="微软雅黑" charset="-122"/>
                </a:endParaRPr>
              </a:p>
              <a:p>
                <a:pPr fontAlgn="auto">
                  <a:lnSpc>
                    <a:spcPct val="150000"/>
                  </a:lnSpc>
                  <a:spcBef>
                    <a:spcPts val="0"/>
                  </a:spcBef>
                  <a:spcAft>
                    <a:spcPts val="0"/>
                  </a:spcAft>
                </a:pPr>
                <a:r>
                  <a:rPr lang="zh-CN" altLang="en-US" sz="1000">
                    <a:latin typeface="微软雅黑" charset="-122"/>
                    <a:ea typeface="微软雅黑" charset="-122"/>
                  </a:rPr>
                  <a:t>          </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𝐵</m:t>
                        </m:r>
                        <m:r>
                          <a:rPr lang="en-US" altLang="zh-CN" sz="1000">
                            <a:latin typeface="Cambria Math" panose="02040503050406030204" pitchFamily="18" charset="0"/>
                            <a:ea typeface="微软雅黑" charset="-122"/>
                          </a:rPr>
                          <m:t>|</m:t>
                        </m:r>
                        <m:r>
                          <a:rPr lang="en-US" altLang="zh-CN" sz="1000">
                            <a:latin typeface="Cambria Math" panose="02040503050406030204" pitchFamily="18" charset="0"/>
                            <a:ea typeface="微软雅黑" charset="-122"/>
                          </a:rPr>
                          <m:t>𝐴</m:t>
                        </m:r>
                      </m:e>
                    </m:d>
                  </m:oMath>
                </a14:m>
                <a:r>
                  <a:rPr lang="zh-CN" altLang="zh-CN" sz="1000">
                    <a:latin typeface="微软雅黑" charset="-122"/>
                    <a:ea typeface="微软雅黑" charset="-122"/>
                  </a:rPr>
                  <a:t>和</a:t>
                </a:r>
                <a14:m>
                  <m:oMath xmlns:m="http://schemas.openxmlformats.org/officeDocument/2006/math">
                    <m:r>
                      <a:rPr lang="en-US" altLang="zh-CN" sz="1000">
                        <a:latin typeface="Cambria Math" panose="02040503050406030204" pitchFamily="18" charset="0"/>
                        <a:ea typeface="微软雅黑" charset="-122"/>
                      </a:rPr>
                      <m:t>𝑃</m:t>
                    </m:r>
                    <m:d>
                      <m:dPr>
                        <m:ctrlPr>
                          <a:rPr lang="zh-CN" altLang="zh-CN" sz="1000" i="1">
                            <a:latin typeface="Cambria Math" panose="02040503050406030204" pitchFamily="18" charset="0"/>
                            <a:ea typeface="微软雅黑" charset="-122"/>
                          </a:rPr>
                        </m:ctrlPr>
                      </m:dPr>
                      <m:e>
                        <m:r>
                          <a:rPr lang="en-US" altLang="zh-CN" sz="1000">
                            <a:latin typeface="Cambria Math" panose="02040503050406030204" pitchFamily="18" charset="0"/>
                            <a:ea typeface="微软雅黑" charset="-122"/>
                          </a:rPr>
                          <m:t>𝐴</m:t>
                        </m:r>
                        <m:r>
                          <a:rPr lang="en-US" altLang="zh-CN" sz="1000">
                            <a:latin typeface="Cambria Math" panose="02040503050406030204" pitchFamily="18" charset="0"/>
                            <a:ea typeface="微软雅黑" charset="-122"/>
                          </a:rPr>
                          <m:t>|</m:t>
                        </m:r>
                        <m:r>
                          <a:rPr lang="en-US" altLang="zh-CN" sz="1000">
                            <a:latin typeface="Cambria Math" panose="02040503050406030204" pitchFamily="18" charset="0"/>
                            <a:ea typeface="微软雅黑" charset="-122"/>
                          </a:rPr>
                          <m:t>𝐵</m:t>
                        </m:r>
                      </m:e>
                    </m:d>
                  </m:oMath>
                </a14:m>
                <a:r>
                  <a:rPr lang="zh-CN" altLang="zh-CN" sz="1000">
                    <a:latin typeface="微软雅黑" charset="-122"/>
                    <a:ea typeface="微软雅黑" charset="-122"/>
                  </a:rPr>
                  <a:t>被分别称为</a:t>
                </a:r>
                <a:r>
                  <a:rPr lang="en-US" altLang="zh-CN" sz="1000">
                    <a:latin typeface="微软雅黑" charset="-122"/>
                    <a:ea typeface="微软雅黑" charset="-122"/>
                  </a:rPr>
                  <a:t>B</a:t>
                </a:r>
                <a:r>
                  <a:rPr lang="zh-CN" altLang="zh-CN" sz="1000">
                    <a:latin typeface="微软雅黑" charset="-122"/>
                    <a:ea typeface="微软雅黑" charset="-122"/>
                  </a:rPr>
                  <a:t>和</a:t>
                </a:r>
                <a:r>
                  <a:rPr lang="en-US" altLang="zh-CN" sz="1000">
                    <a:latin typeface="微软雅黑" charset="-122"/>
                    <a:ea typeface="微软雅黑" charset="-122"/>
                  </a:rPr>
                  <a:t>A</a:t>
                </a:r>
                <a:r>
                  <a:rPr lang="zh-CN" altLang="zh-CN" sz="1000">
                    <a:latin typeface="微软雅黑" charset="-122"/>
                    <a:ea typeface="微软雅黑" charset="-122"/>
                  </a:rPr>
                  <a:t>的</a:t>
                </a:r>
                <a:r>
                  <a:rPr lang="zh-CN" altLang="zh-CN" sz="1000">
                    <a:solidFill>
                      <a:srgbClr val="FF0000"/>
                    </a:solidFill>
                    <a:latin typeface="微软雅黑" charset="-122"/>
                    <a:ea typeface="微软雅黑" charset="-122"/>
                  </a:rPr>
                  <a:t>后验概率</a:t>
                </a:r>
                <a:r>
                  <a:rPr lang="zh-CN" altLang="en-US" sz="1000">
                    <a:solidFill>
                      <a:srgbClr val="FF0000"/>
                    </a:solidFill>
                    <a:latin typeface="微软雅黑" charset="-122"/>
                    <a:ea typeface="微软雅黑" charset="-122"/>
                  </a:rPr>
                  <a:t>；</a:t>
                </a:r>
                <a:endParaRPr lang="zh-CN" altLang="zh-CN" sz="1000">
                  <a:solidFill>
                    <a:srgbClr val="FF0000"/>
                  </a:solidFill>
                  <a:latin typeface="微软雅黑" charset="-122"/>
                  <a:ea typeface="微软雅黑" charset="-122"/>
                </a:endParaRPr>
              </a:p>
              <a:p>
                <a:pPr fontAlgn="auto">
                  <a:lnSpc>
                    <a:spcPct val="150000"/>
                  </a:lnSpc>
                  <a:spcBef>
                    <a:spcPts val="0"/>
                  </a:spcBef>
                  <a:spcAft>
                    <a:spcPts val="0"/>
                  </a:spcAft>
                </a:pPr>
                <a:endParaRPr lang="zh-CN" altLang="en-US" sz="1000" dirty="0">
                  <a:latin typeface="微软雅黑" charset="-122"/>
                  <a:ea typeface="微软雅黑"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683568" y="2708919"/>
                <a:ext cx="7412066" cy="222445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307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zh-CN" sz="2400" b="1">
                <a:solidFill>
                  <a:srgbClr val="595959"/>
                </a:solidFill>
                <a:latin typeface="微软雅黑" charset="-122"/>
                <a:ea typeface="微软雅黑" charset="-122"/>
              </a:rPr>
              <a:t>NLP</a:t>
            </a:r>
            <a:r>
              <a:rPr lang="zh-CN" altLang="en-US" sz="2400" b="1">
                <a:solidFill>
                  <a:srgbClr val="595959"/>
                </a:solidFill>
                <a:latin typeface="微软雅黑" charset="-122"/>
                <a:ea typeface="微软雅黑" charset="-122"/>
              </a:rPr>
              <a:t>中的语言模型</a:t>
            </a:r>
            <a:endParaRPr lang="ko-KR" altLang="en-US" sz="2400" b="1">
              <a:solidFill>
                <a:srgbClr val="595959"/>
              </a:solidFill>
              <a:latin typeface="微软雅黑" charset="-122"/>
              <a:ea typeface="微软雅黑" charset="-122"/>
            </a:endParaRPr>
          </a:p>
        </p:txBody>
      </p:sp>
      <p:sp>
        <p:nvSpPr>
          <p:cNvPr id="18434" name="Text Box 3"/>
          <p:cNvSpPr txBox="1">
            <a:spLocks noChangeArrowheads="1"/>
          </p:cNvSpPr>
          <p:nvPr/>
        </p:nvSpPr>
        <p:spPr bwMode="auto">
          <a:xfrm>
            <a:off x="574477" y="842963"/>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语言模型的概率计算</a:t>
            </a:r>
            <a:endParaRPr lang="ko-KR" altLang="en-US" b="1">
              <a:solidFill>
                <a:srgbClr val="404040"/>
              </a:solidFill>
              <a:latin typeface="微软雅黑" charset="-122"/>
              <a:ea typeface="微软雅黑" charset="-122"/>
            </a:endParaRPr>
          </a:p>
        </p:txBody>
      </p:sp>
      <p:sp>
        <p:nvSpPr>
          <p:cNvPr id="4" name="矩形 3">
            <a:extLst>
              <a:ext uri="{FF2B5EF4-FFF2-40B4-BE49-F238E27FC236}">
                <a16:creationId xmlns:a16="http://schemas.microsoft.com/office/drawing/2014/main" id="{638397ED-9943-434A-BF20-E9282DA441EB}"/>
              </a:ext>
            </a:extLst>
          </p:cNvPr>
          <p:cNvSpPr/>
          <p:nvPr/>
        </p:nvSpPr>
        <p:spPr>
          <a:xfrm>
            <a:off x="4882838" y="3029312"/>
            <a:ext cx="3973512" cy="757643"/>
          </a:xfrm>
          <a:prstGeom prst="rect">
            <a:avLst/>
          </a:prstGeom>
        </p:spPr>
        <p:txBody>
          <a:bodyPr>
            <a:spAutoFit/>
          </a:bodyPr>
          <a:lstStyle/>
          <a:p>
            <a:pPr>
              <a:lnSpc>
                <a:spcPct val="150000"/>
              </a:lnSpc>
              <a:defRPr/>
            </a:pPr>
            <a:r>
              <a:rPr lang="zh-CN" altLang="en-US" sz="1000" dirty="0">
                <a:latin typeface="Microsoft YaHei" charset="-122"/>
                <a:ea typeface="Microsoft YaHei" charset="-122"/>
                <a:cs typeface="Microsoft YaHei" charset="-122"/>
              </a:rPr>
              <a:t>我们收集的语料可以理解为是对总体的抽样，在不知道总体的情况下，我们可有使用样本的概率来估计总体的概率，这种思想我们把它称为</a:t>
            </a:r>
            <a:r>
              <a:rPr lang="zh-CN" altLang="en-US" sz="1000" b="1" dirty="0">
                <a:solidFill>
                  <a:srgbClr val="FF0000"/>
                </a:solidFill>
                <a:latin typeface="Microsoft YaHei" charset="-122"/>
                <a:ea typeface="Microsoft YaHei" charset="-122"/>
                <a:cs typeface="Microsoft YaHei" charset="-122"/>
              </a:rPr>
              <a:t>极大似然估计（</a:t>
            </a:r>
            <a:r>
              <a:rPr lang="en-US" altLang="zh-CN" sz="1000" b="1" dirty="0">
                <a:solidFill>
                  <a:srgbClr val="FF0000"/>
                </a:solidFill>
                <a:latin typeface="Microsoft YaHei" charset="-122"/>
                <a:ea typeface="Microsoft YaHei" charset="-122"/>
                <a:cs typeface="Microsoft YaHei" charset="-122"/>
              </a:rPr>
              <a:t>MLE</a:t>
            </a:r>
            <a:r>
              <a:rPr lang="zh-CN" altLang="en-US" sz="1000" b="1" dirty="0">
                <a:solidFill>
                  <a:srgbClr val="FF0000"/>
                </a:solidFill>
                <a:latin typeface="Microsoft YaHei" charset="-122"/>
                <a:ea typeface="Microsoft YaHei" charset="-122"/>
                <a:cs typeface="Microsoft YaHei" charset="-122"/>
              </a:rPr>
              <a:t>）</a:t>
            </a:r>
            <a:endParaRPr lang="en-US" altLang="zh-CN" sz="1000" b="1" dirty="0">
              <a:solidFill>
                <a:srgbClr val="FF0000"/>
              </a:solidFill>
              <a:latin typeface="Microsoft YaHei" charset="-122"/>
              <a:ea typeface="Microsoft YaHei" charset="-122"/>
              <a:cs typeface="Microsoft YaHei" charset="-122"/>
            </a:endParaRPr>
          </a:p>
        </p:txBody>
      </p:sp>
      <p:sp>
        <p:nvSpPr>
          <p:cNvPr id="18438" name="矩形 4"/>
          <p:cNvSpPr>
            <a:spLocks noChangeArrowheads="1"/>
          </p:cNvSpPr>
          <p:nvPr/>
        </p:nvSpPr>
        <p:spPr bwMode="auto">
          <a:xfrm>
            <a:off x="4903590" y="2571750"/>
            <a:ext cx="30575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400" b="1">
                <a:solidFill>
                  <a:srgbClr val="262626"/>
                </a:solidFill>
                <a:latin typeface="微软雅黑" charset="-122"/>
                <a:ea typeface="微软雅黑" charset="-122"/>
              </a:rPr>
              <a:t>我们为什么可以这样来计算概率呢？</a:t>
            </a:r>
            <a:endParaRPr lang="en-US" altLang="zh-CN" sz="1400" b="1">
              <a:solidFill>
                <a:srgbClr val="262626"/>
              </a:solidFill>
              <a:latin typeface="微软雅黑" charset="-122"/>
              <a:ea typeface="微软雅黑" charset="-122"/>
            </a:endParaRPr>
          </a:p>
        </p:txBody>
      </p:sp>
      <p:cxnSp>
        <p:nvCxnSpPr>
          <p:cNvPr id="18439" name="Line 1"/>
          <p:cNvCxnSpPr>
            <a:cxnSpLocks noChangeShapeType="1"/>
          </p:cNvCxnSpPr>
          <p:nvPr/>
        </p:nvCxnSpPr>
        <p:spPr bwMode="auto">
          <a:xfrm>
            <a:off x="4809927" y="2672432"/>
            <a:ext cx="0" cy="1987550"/>
          </a:xfrm>
          <a:prstGeom prst="line">
            <a:avLst/>
          </a:prstGeom>
          <a:noFill/>
          <a:ln w="12700" cap="rnd">
            <a:solidFill>
              <a:srgbClr val="BFBFBF"/>
            </a:solidFill>
            <a:prstDash val="sysDash"/>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6" name="文本框 5"/>
              <p:cNvSpPr txBox="1"/>
              <p:nvPr/>
            </p:nvSpPr>
            <p:spPr>
              <a:xfrm>
                <a:off x="574477" y="1301750"/>
                <a:ext cx="7508825" cy="1093376"/>
              </a:xfrm>
              <a:prstGeom prst="rect">
                <a:avLst/>
              </a:prstGeom>
              <a:noFill/>
            </p:spPr>
            <p:txBody>
              <a:bodyPr wrap="square" rtlCol="0">
                <a:spAutoFit/>
              </a:bodyPr>
              <a:lstStyle/>
              <a:p>
                <a:pPr>
                  <a:lnSpc>
                    <a:spcPct val="150000"/>
                  </a:lnSpc>
                </a:pPr>
                <a:r>
                  <a:rPr lang="zh-CN" altLang="zh-CN" sz="1000">
                    <a:latin typeface="Microsoft YaHei" charset="-122"/>
                    <a:ea typeface="Microsoft YaHei" charset="-122"/>
                    <a:cs typeface="Microsoft YaHei" charset="-122"/>
                  </a:rPr>
                  <a:t>根据前面的概率基础，我们可以得到：</a:t>
                </a:r>
              </a:p>
              <a:p>
                <a:pPr>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en-US" altLang="zh-CN" sz="1000" b="1" i="1">
                              <a:latin typeface="Cambria Math" panose="02040503050406030204" pitchFamily="18" charset="0"/>
                              <a:ea typeface="Microsoft YaHei" charset="-122"/>
                              <a:cs typeface="Microsoft YaHei" charset="-122"/>
                            </a:rPr>
                            <m:t>𝒔</m:t>
                          </m:r>
                        </m:e>
                      </m:d>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r>
                        <a:rPr lang="en-US" altLang="zh-CN" sz="1000" b="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𝟐</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sub>
                      </m:sSub>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𝟐</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e>
                      </m:d>
                      <m:r>
                        <a:rPr lang="en-US" altLang="zh-CN" sz="1000" b="1" i="1">
                          <a:latin typeface="Cambria Math" panose="02040503050406030204" pitchFamily="18" charset="0"/>
                          <a:ea typeface="Microsoft YaHei" charset="-122"/>
                          <a:cs typeface="Microsoft YaHei" charset="-122"/>
                        </a:rPr>
                        <m:t>∗ </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𝟑</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𝟐</m:t>
                                  </m:r>
                                </m:sub>
                              </m:sSub>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𝟐</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e>
                      </m:d>
                    </m:oMath>
                  </m:oMathPara>
                </a14:m>
                <a:endParaRPr lang="zh-CN" altLang="zh-CN" sz="1000" b="1">
                  <a:latin typeface="Microsoft YaHei" charset="-122"/>
                  <a:ea typeface="Microsoft YaHei" charset="-122"/>
                  <a:cs typeface="Microsoft YaHei" charset="-122"/>
                </a:endParaRPr>
              </a:p>
              <a:p>
                <a:pPr>
                  <a:lnSpc>
                    <a:spcPct val="150000"/>
                  </a:lnSpc>
                </a:pPr>
                <a:r>
                  <a:rPr lang="zh-CN" altLang="zh-CN" sz="1000" b="1">
                    <a:latin typeface="Microsoft YaHei" charset="-122"/>
                    <a:ea typeface="Microsoft YaHei" charset="-122"/>
                    <a:cs typeface="Microsoft YaHei" charset="-122"/>
                  </a:rPr>
                  <a:t>例如</a:t>
                </a:r>
                <a:r>
                  <a:rPr lang="zh-CN" altLang="zh-CN" sz="1000">
                    <a:latin typeface="Microsoft YaHei" charset="-122"/>
                    <a:ea typeface="Microsoft YaHei" charset="-122"/>
                    <a:cs typeface="Microsoft YaHei" charset="-122"/>
                  </a:rPr>
                  <a:t>：</a:t>
                </a:r>
                <a:r>
                  <a:rPr lang="en-US" altLang="zh-CN" sz="1000">
                    <a:latin typeface="Microsoft YaHei" charset="-122"/>
                    <a:ea typeface="Microsoft YaHei" charset="-122"/>
                    <a:cs typeface="Microsoft YaHei" charset="-122"/>
                  </a:rPr>
                  <a:t>S=</a:t>
                </a:r>
                <a:r>
                  <a:rPr lang="zh-CN" altLang="zh-CN" sz="1000">
                    <a:latin typeface="Microsoft YaHei" charset="-122"/>
                    <a:ea typeface="Microsoft YaHei" charset="-122"/>
                    <a:cs typeface="Microsoft YaHei" charset="-122"/>
                  </a:rPr>
                  <a:t>我爱北京天安门</a:t>
                </a:r>
              </a:p>
              <a:p>
                <a:pPr>
                  <a:lnSpc>
                    <a:spcPct val="150000"/>
                  </a:lnSpc>
                </a:pPr>
                <a14:m>
                  <m:oMathPara xmlns:m="http://schemas.openxmlformats.org/officeDocument/2006/math">
                    <m:oMathParaPr>
                      <m:jc m:val="centerGroup"/>
                    </m:oMathParaPr>
                    <m:oMath xmlns:m="http://schemas.openxmlformats.org/officeDocument/2006/math">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en-US" altLang="zh-CN" sz="1000" b="1" i="1">
                              <a:latin typeface="Cambria Math" panose="02040503050406030204" pitchFamily="18" charset="0"/>
                              <a:ea typeface="Microsoft YaHei" charset="-122"/>
                              <a:cs typeface="Microsoft YaHei" charset="-122"/>
                            </a:rPr>
                            <m:t>𝒔</m:t>
                          </m:r>
                        </m:e>
                      </m:d>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zh-CN" altLang="zh-CN" sz="1000" b="1" i="1">
                              <a:latin typeface="Cambria Math" panose="02040503050406030204" pitchFamily="18" charset="0"/>
                              <a:ea typeface="Microsoft YaHei" charset="-122"/>
                              <a:cs typeface="Microsoft YaHei" charset="-122"/>
                            </a:rPr>
                            <m:t>我</m:t>
                          </m:r>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zh-CN" altLang="zh-CN" sz="1000" b="1" i="1">
                              <a:latin typeface="Cambria Math" panose="02040503050406030204" pitchFamily="18" charset="0"/>
                              <a:ea typeface="Microsoft YaHei" charset="-122"/>
                              <a:cs typeface="Microsoft YaHei" charset="-122"/>
                            </a:rPr>
                            <m:t>爱</m:t>
                          </m:r>
                          <m:r>
                            <a:rPr lang="en-US" altLang="zh-CN" sz="1000" b="1" i="1">
                              <a:latin typeface="Cambria Math" panose="02040503050406030204" pitchFamily="18" charset="0"/>
                              <a:ea typeface="Microsoft YaHei" charset="-122"/>
                              <a:cs typeface="Microsoft YaHei" charset="-122"/>
                            </a:rPr>
                            <m:t>|</m:t>
                          </m:r>
                          <m:r>
                            <a:rPr lang="zh-CN" altLang="zh-CN" sz="1000" b="1" i="1">
                              <a:latin typeface="Cambria Math" panose="02040503050406030204" pitchFamily="18" charset="0"/>
                              <a:ea typeface="Microsoft YaHei" charset="-122"/>
                              <a:cs typeface="Microsoft YaHei" charset="-122"/>
                            </a:rPr>
                            <m:t>我</m:t>
                          </m:r>
                        </m:e>
                      </m:d>
                      <m:r>
                        <a:rPr lang="en-US" altLang="zh-CN" sz="1000" b="1" i="1">
                          <a:latin typeface="Cambria Math" panose="02040503050406030204" pitchFamily="18" charset="0"/>
                          <a:ea typeface="Microsoft YaHei" charset="-122"/>
                          <a:cs typeface="Microsoft YaHei" charset="-122"/>
                        </a:rPr>
                        <m:t>∗ </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zh-CN" altLang="zh-CN" sz="1000" b="1" i="1">
                              <a:latin typeface="Cambria Math" panose="02040503050406030204" pitchFamily="18" charset="0"/>
                              <a:ea typeface="Microsoft YaHei" charset="-122"/>
                              <a:cs typeface="Microsoft YaHei" charset="-122"/>
                            </a:rPr>
                            <m:t>北</m:t>
                          </m:r>
                          <m:r>
                            <a:rPr lang="en-US" altLang="zh-CN" sz="1000" b="1" i="1">
                              <a:latin typeface="Cambria Math" panose="02040503050406030204" pitchFamily="18" charset="0"/>
                              <a:ea typeface="Microsoft YaHei" charset="-122"/>
                              <a:cs typeface="Microsoft YaHei" charset="-122"/>
                            </a:rPr>
                            <m:t>|</m:t>
                          </m:r>
                          <m:r>
                            <a:rPr lang="zh-CN" altLang="zh-CN" sz="1000" b="1" i="1">
                              <a:latin typeface="Cambria Math" panose="02040503050406030204" pitchFamily="18" charset="0"/>
                              <a:ea typeface="Microsoft YaHei" charset="-122"/>
                              <a:cs typeface="Microsoft YaHei" charset="-122"/>
                            </a:rPr>
                            <m:t>爱</m:t>
                          </m:r>
                          <m:r>
                            <a:rPr lang="en-US" altLang="zh-CN" sz="1000" b="1" i="1">
                              <a:latin typeface="Cambria Math" panose="02040503050406030204" pitchFamily="18" charset="0"/>
                              <a:ea typeface="Microsoft YaHei" charset="-122"/>
                              <a:cs typeface="Microsoft YaHei" charset="-122"/>
                            </a:rPr>
                            <m:t>,</m:t>
                          </m:r>
                          <m:r>
                            <a:rPr lang="zh-CN" altLang="zh-CN" sz="1000" b="1" i="1">
                              <a:latin typeface="Cambria Math" panose="02040503050406030204" pitchFamily="18" charset="0"/>
                              <a:ea typeface="Microsoft YaHei" charset="-122"/>
                              <a:cs typeface="Microsoft YaHei" charset="-122"/>
                            </a:rPr>
                            <m:t>我</m:t>
                          </m:r>
                        </m:e>
                      </m:d>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r>
                            <a:rPr lang="zh-CN" altLang="zh-CN" sz="1000" b="1">
                              <a:latin typeface="Cambria Math" panose="02040503050406030204" pitchFamily="18" charset="0"/>
                              <a:ea typeface="Microsoft YaHei" charset="-122"/>
                              <a:cs typeface="Microsoft YaHei" charset="-122"/>
                            </a:rPr>
                            <m:t>门</m:t>
                          </m:r>
                          <m:r>
                            <a:rPr lang="en-US" altLang="zh-CN" sz="1000" b="1" i="1">
                              <a:latin typeface="Cambria Math" panose="02040503050406030204" pitchFamily="18" charset="0"/>
                              <a:ea typeface="Microsoft YaHei" charset="-122"/>
                              <a:cs typeface="Microsoft YaHei" charset="-122"/>
                            </a:rPr>
                            <m:t>|</m:t>
                          </m:r>
                          <m:r>
                            <a:rPr lang="zh-CN" altLang="zh-CN" sz="1000" b="1" i="1">
                              <a:latin typeface="Cambria Math" panose="02040503050406030204" pitchFamily="18" charset="0"/>
                              <a:ea typeface="Microsoft YaHei" charset="-122"/>
                              <a:cs typeface="Microsoft YaHei" charset="-122"/>
                            </a:rPr>
                            <m:t>我</m:t>
                          </m:r>
                          <m:r>
                            <a:rPr lang="en-US" altLang="zh-CN" sz="1000" b="1" i="1">
                              <a:latin typeface="Cambria Math" panose="02040503050406030204" pitchFamily="18" charset="0"/>
                              <a:ea typeface="Microsoft YaHei" charset="-122"/>
                              <a:cs typeface="Microsoft YaHei" charset="-122"/>
                            </a:rPr>
                            <m:t>,</m:t>
                          </m:r>
                          <m:r>
                            <a:rPr lang="zh-CN" altLang="zh-CN" sz="1000" b="1">
                              <a:latin typeface="Cambria Math" panose="02040503050406030204" pitchFamily="18" charset="0"/>
                              <a:ea typeface="Microsoft YaHei" charset="-122"/>
                              <a:cs typeface="Microsoft YaHei" charset="-122"/>
                            </a:rPr>
                            <m:t>爱</m:t>
                          </m:r>
                          <m:r>
                            <a:rPr lang="en-US" altLang="zh-CN" sz="1000" b="1" i="1">
                              <a:latin typeface="Cambria Math" panose="02040503050406030204" pitchFamily="18" charset="0"/>
                              <a:ea typeface="Microsoft YaHei" charset="-122"/>
                              <a:cs typeface="Microsoft YaHei" charset="-122"/>
                            </a:rPr>
                            <m:t>,</m:t>
                          </m:r>
                          <m:r>
                            <a:rPr lang="zh-CN" altLang="zh-CN" sz="1000" b="1">
                              <a:latin typeface="Cambria Math" panose="02040503050406030204" pitchFamily="18" charset="0"/>
                              <a:ea typeface="Microsoft YaHei" charset="-122"/>
                              <a:cs typeface="Microsoft YaHei" charset="-122"/>
                            </a:rPr>
                            <m:t>北</m:t>
                          </m:r>
                          <m:r>
                            <a:rPr lang="en-US" altLang="zh-CN" sz="1000" b="1" i="1">
                              <a:latin typeface="Cambria Math" panose="02040503050406030204" pitchFamily="18" charset="0"/>
                              <a:ea typeface="Microsoft YaHei" charset="-122"/>
                              <a:cs typeface="Microsoft YaHei" charset="-122"/>
                            </a:rPr>
                            <m:t>…</m:t>
                          </m:r>
                        </m:e>
                      </m:d>
                    </m:oMath>
                  </m:oMathPara>
                </a14:m>
                <a:endParaRPr lang="zh-CN" altLang="zh-CN" sz="1000" b="1">
                  <a:latin typeface="Microsoft YaHei" charset="-122"/>
                  <a:ea typeface="Microsoft YaHei" charset="-122"/>
                  <a:cs typeface="Microsoft YaHei"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74477" y="1301750"/>
                <a:ext cx="7508825" cy="1093376"/>
              </a:xfrm>
              <a:prstGeom prst="rect">
                <a:avLst/>
              </a:prstGeom>
              <a:blipFill rotWithShape="0">
                <a:blip r:embed="rId3"/>
                <a:stretch>
                  <a:fillRect b="-17877"/>
                </a:stretch>
              </a:blipFill>
            </p:spPr>
            <p:txBody>
              <a:bodyPr/>
              <a:lstStyle/>
              <a:p>
                <a:r>
                  <a:rPr lang="zh-CN" altLang="en-US">
                    <a:noFill/>
                  </a:rPr>
                  <a:t> </a:t>
                </a:r>
              </a:p>
            </p:txBody>
          </p:sp>
        </mc:Fallback>
      </mc:AlternateContent>
      <p:sp>
        <p:nvSpPr>
          <p:cNvPr id="16" name="矩形 4"/>
          <p:cNvSpPr>
            <a:spLocks noChangeArrowheads="1"/>
          </p:cNvSpPr>
          <p:nvPr/>
        </p:nvSpPr>
        <p:spPr bwMode="auto">
          <a:xfrm>
            <a:off x="539552" y="2571750"/>
            <a:ext cx="25603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400" b="1">
                <a:solidFill>
                  <a:srgbClr val="262626"/>
                </a:solidFill>
                <a:latin typeface="微软雅黑" charset="-122"/>
                <a:ea typeface="微软雅黑" charset="-122"/>
              </a:rPr>
              <a:t>上式中的概率该如何计算呢？</a:t>
            </a:r>
            <a:endParaRPr lang="en-US" altLang="zh-CN" sz="1400" b="1">
              <a:solidFill>
                <a:srgbClr val="262626"/>
              </a:solidFill>
              <a:latin typeface="微软雅黑" charset="-122"/>
              <a:ea typeface="微软雅黑" charset="-122"/>
            </a:endParaRPr>
          </a:p>
        </p:txBody>
      </p:sp>
      <p:sp>
        <p:nvSpPr>
          <p:cNvPr id="9" name="文本框 8"/>
          <p:cNvSpPr txBox="1"/>
          <p:nvPr/>
        </p:nvSpPr>
        <p:spPr>
          <a:xfrm>
            <a:off x="574476" y="3030220"/>
            <a:ext cx="4329113" cy="295978"/>
          </a:xfrm>
          <a:prstGeom prst="rect">
            <a:avLst/>
          </a:prstGeom>
          <a:noFill/>
        </p:spPr>
        <p:txBody>
          <a:bodyPr wrap="square" rtlCol="0">
            <a:spAutoFit/>
          </a:bodyPr>
          <a:lstStyle/>
          <a:p>
            <a:pPr fontAlgn="auto">
              <a:lnSpc>
                <a:spcPct val="150000"/>
              </a:lnSpc>
              <a:spcBef>
                <a:spcPts val="0"/>
              </a:spcBef>
              <a:spcAft>
                <a:spcPts val="0"/>
              </a:spcAft>
            </a:pPr>
            <a:r>
              <a:rPr lang="zh-CN" altLang="en-US" sz="1000" dirty="0">
                <a:latin typeface="Microsoft YaHei" charset="-122"/>
                <a:ea typeface="Microsoft YaHei" charset="-122"/>
                <a:cs typeface="Microsoft YaHei" charset="-122"/>
              </a:rPr>
              <a:t>我们可以统计所收集的语料中，总的词语数和“我”出现的次数，</a:t>
            </a:r>
            <a:r>
              <a:rPr lang="zh-CN" altLang="en-US" sz="1000" b="1" dirty="0">
                <a:latin typeface="Microsoft YaHei" charset="-122"/>
                <a:ea typeface="Microsoft YaHei" charset="-122"/>
                <a:cs typeface="Microsoft YaHei" charset="-122"/>
              </a:rPr>
              <a:t>计算</a:t>
            </a:r>
            <a:r>
              <a:rPr lang="zh-CN" altLang="en-US" sz="1000" dirty="0">
                <a:latin typeface="Microsoft YaHei" charset="-122"/>
                <a:ea typeface="Microsoft YaHei" charset="-122"/>
                <a:cs typeface="Microsoft YaHei" charset="-122"/>
              </a:rPr>
              <a:t>：</a:t>
            </a:r>
          </a:p>
        </p:txBody>
      </p:sp>
      <mc:AlternateContent xmlns:mc="http://schemas.openxmlformats.org/markup-compatibility/2006" xmlns:a14="http://schemas.microsoft.com/office/drawing/2010/main">
        <mc:Choice Requires="a14">
          <p:sp>
            <p:nvSpPr>
              <p:cNvPr id="10" name="矩形 9"/>
              <p:cNvSpPr/>
              <p:nvPr/>
            </p:nvSpPr>
            <p:spPr>
              <a:xfrm>
                <a:off x="1759776" y="3462268"/>
                <a:ext cx="1624932" cy="4246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000" i="1">
                          <a:latin typeface="Cambria Math" panose="02040503050406030204" pitchFamily="18" charset="0"/>
                          <a:ea typeface="Microsoft YaHei" charset="-122"/>
                          <a:cs typeface="Microsoft YaHei" charset="-122"/>
                        </a:rPr>
                        <m:t>𝑃</m:t>
                      </m:r>
                      <m:r>
                        <a:rPr lang="zh-CN" altLang="en-US" sz="1000" i="0">
                          <a:latin typeface="Cambria Math" panose="02040503050406030204" pitchFamily="18" charset="0"/>
                          <a:ea typeface="Microsoft YaHei" charset="-122"/>
                          <a:cs typeface="Microsoft YaHei" charset="-122"/>
                        </a:rPr>
                        <m:t>（我）</m:t>
                      </m:r>
                      <m:r>
                        <a:rPr lang="zh-CN" altLang="en-US" sz="1000" i="0">
                          <a:latin typeface="Cambria Math" panose="02040503050406030204" pitchFamily="18" charset="0"/>
                          <a:ea typeface="Microsoft YaHei" charset="-122"/>
                          <a:cs typeface="Microsoft YaHei" charset="-122"/>
                        </a:rPr>
                        <m:t>=</m:t>
                      </m:r>
                      <m:f>
                        <m:fPr>
                          <m:ctrlPr>
                            <a:rPr lang="zh-CN" altLang="en-US" sz="1000" i="1">
                              <a:latin typeface="Cambria Math" panose="02040503050406030204" pitchFamily="18" charset="0"/>
                              <a:ea typeface="Microsoft YaHei" charset="-122"/>
                              <a:cs typeface="Microsoft YaHei" charset="-122"/>
                            </a:rPr>
                          </m:ctrlPr>
                        </m:fPr>
                        <m:num>
                          <m:r>
                            <a:rPr lang="zh-CN" altLang="en-US" sz="1000" i="0">
                              <a:latin typeface="Cambria Math" panose="02040503050406030204" pitchFamily="18" charset="0"/>
                              <a:ea typeface="Microsoft YaHei" charset="-122"/>
                              <a:cs typeface="Microsoft YaHei" charset="-122"/>
                            </a:rPr>
                            <m:t>我的次数</m:t>
                          </m:r>
                        </m:num>
                        <m:den>
                          <m:r>
                            <a:rPr lang="zh-CN" altLang="en-US" sz="1000" i="0">
                              <a:latin typeface="Cambria Math" panose="02040503050406030204" pitchFamily="18" charset="0"/>
                              <a:ea typeface="Microsoft YaHei" charset="-122"/>
                              <a:cs typeface="Microsoft YaHei" charset="-122"/>
                            </a:rPr>
                            <m:t>所有词语数量</m:t>
                          </m:r>
                        </m:den>
                      </m:f>
                    </m:oMath>
                  </m:oMathPara>
                </a14:m>
                <a:endParaRPr lang="zh-CN" altLang="en-US" sz="1000">
                  <a:latin typeface="Microsoft YaHei" charset="-122"/>
                  <a:ea typeface="Microsoft YaHei" charset="-122"/>
                  <a:cs typeface="Microsoft YaHei"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1759776" y="3462268"/>
                <a:ext cx="1624932" cy="424668"/>
              </a:xfrm>
              <a:prstGeom prst="rect">
                <a:avLst/>
              </a:prstGeom>
              <a:blipFill rotWithShape="0">
                <a:blip r:embed="rId4"/>
                <a:stretch>
                  <a:fillRect b="-2857"/>
                </a:stretch>
              </a:blipFill>
            </p:spPr>
            <p:txBody>
              <a:bodyPr/>
              <a:lstStyle/>
              <a:p>
                <a:r>
                  <a:rPr lang="zh-CN" altLang="en-US">
                    <a:noFill/>
                  </a:rPr>
                  <a:t> </a:t>
                </a:r>
              </a:p>
            </p:txBody>
          </p:sp>
        </mc:Fallback>
      </mc:AlternateContent>
      <p:sp>
        <p:nvSpPr>
          <p:cNvPr id="11" name="文本框 10"/>
          <p:cNvSpPr txBox="1"/>
          <p:nvPr/>
        </p:nvSpPr>
        <p:spPr>
          <a:xfrm>
            <a:off x="960576" y="3951303"/>
            <a:ext cx="569387" cy="246221"/>
          </a:xfrm>
          <a:prstGeom prst="rect">
            <a:avLst/>
          </a:prstGeom>
          <a:noFill/>
        </p:spPr>
        <p:txBody>
          <a:bodyPr wrap="none" rtlCol="0">
            <a:spAutoFit/>
          </a:bodyPr>
          <a:lstStyle/>
          <a:p>
            <a:pPr fontAlgn="auto">
              <a:spcBef>
                <a:spcPts val="0"/>
              </a:spcBef>
              <a:spcAft>
                <a:spcPts val="0"/>
              </a:spcAft>
            </a:pPr>
            <a:r>
              <a:rPr lang="zh-CN" altLang="en-US" sz="1000" dirty="0">
                <a:latin typeface="Microsoft YaHei" charset="-122"/>
                <a:ea typeface="Microsoft YaHei" charset="-122"/>
                <a:cs typeface="Microsoft YaHei" charset="-122"/>
              </a:rPr>
              <a:t>同理：</a:t>
            </a:r>
          </a:p>
        </p:txBody>
      </p:sp>
      <mc:AlternateContent xmlns:mc="http://schemas.openxmlformats.org/markup-compatibility/2006" xmlns:a14="http://schemas.microsoft.com/office/drawing/2010/main">
        <mc:Choice Requires="a14">
          <p:sp>
            <p:nvSpPr>
              <p:cNvPr id="12" name="矩形 11"/>
              <p:cNvSpPr/>
              <p:nvPr/>
            </p:nvSpPr>
            <p:spPr>
              <a:xfrm>
                <a:off x="1569079" y="4136400"/>
                <a:ext cx="2049727" cy="4249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000" i="1">
                          <a:latin typeface="Cambria Math" panose="02040503050406030204" pitchFamily="18" charset="0"/>
                          <a:ea typeface="Microsoft YaHei" charset="-122"/>
                          <a:cs typeface="Microsoft YaHei" charset="-122"/>
                        </a:rPr>
                        <m:t>𝑃</m:t>
                      </m:r>
                      <m:r>
                        <a:rPr lang="zh-CN" altLang="en-US" sz="1000" i="0">
                          <a:latin typeface="Cambria Math" panose="02040503050406030204" pitchFamily="18" charset="0"/>
                          <a:ea typeface="Microsoft YaHei" charset="-122"/>
                          <a:cs typeface="Microsoft YaHei" charset="-122"/>
                        </a:rPr>
                        <m:t>（爱</m:t>
                      </m:r>
                      <m:r>
                        <a:rPr lang="zh-CN" altLang="en-US" sz="1000" i="0">
                          <a:latin typeface="Cambria Math" panose="02040503050406030204" pitchFamily="18" charset="0"/>
                          <a:ea typeface="Microsoft YaHei" charset="-122"/>
                          <a:cs typeface="Microsoft YaHei" charset="-122"/>
                        </a:rPr>
                        <m:t>|</m:t>
                      </m:r>
                      <m:r>
                        <a:rPr lang="zh-CN" altLang="en-US" sz="1000" i="0">
                          <a:latin typeface="Cambria Math" panose="02040503050406030204" pitchFamily="18" charset="0"/>
                          <a:ea typeface="Microsoft YaHei" charset="-122"/>
                          <a:cs typeface="Microsoft YaHei" charset="-122"/>
                        </a:rPr>
                        <m:t>我）</m:t>
                      </m:r>
                      <m:r>
                        <a:rPr lang="zh-CN" altLang="en-US" sz="1000" i="0">
                          <a:latin typeface="Cambria Math" panose="02040503050406030204" pitchFamily="18" charset="0"/>
                          <a:ea typeface="Microsoft YaHei" charset="-122"/>
                          <a:cs typeface="Microsoft YaHei" charset="-122"/>
                        </a:rPr>
                        <m:t>=</m:t>
                      </m:r>
                      <m:f>
                        <m:fPr>
                          <m:ctrlPr>
                            <a:rPr lang="zh-CN" altLang="en-US" sz="1000" i="1">
                              <a:latin typeface="Cambria Math" panose="02040503050406030204" pitchFamily="18" charset="0"/>
                              <a:ea typeface="Microsoft YaHei" charset="-122"/>
                              <a:cs typeface="Microsoft YaHei" charset="-122"/>
                            </a:rPr>
                          </m:ctrlPr>
                        </m:fPr>
                        <m:num>
                          <m:r>
                            <a:rPr lang="zh-CN" altLang="en-US" sz="1000" i="0">
                              <a:latin typeface="Cambria Math" panose="02040503050406030204" pitchFamily="18" charset="0"/>
                              <a:ea typeface="Microsoft YaHei" charset="-122"/>
                              <a:cs typeface="Microsoft YaHei" charset="-122"/>
                            </a:rPr>
                            <m:t>我之后是爱的次数</m:t>
                          </m:r>
                        </m:num>
                        <m:den>
                          <m:r>
                            <a:rPr lang="zh-CN" altLang="en-US" sz="1000" i="0">
                              <a:latin typeface="Cambria Math" panose="02040503050406030204" pitchFamily="18" charset="0"/>
                              <a:ea typeface="Microsoft YaHei" charset="-122"/>
                              <a:cs typeface="Microsoft YaHei" charset="-122"/>
                            </a:rPr>
                            <m:t>我的总次数</m:t>
                          </m:r>
                        </m:den>
                      </m:f>
                    </m:oMath>
                  </m:oMathPara>
                </a14:m>
                <a:endParaRPr lang="zh-CN" altLang="en-US" sz="1000">
                  <a:latin typeface="Microsoft YaHei" charset="-122"/>
                  <a:ea typeface="Microsoft YaHei" charset="-122"/>
                  <a:cs typeface="Microsoft YaHei"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1569079" y="4136400"/>
                <a:ext cx="2049727" cy="424925"/>
              </a:xfrm>
              <a:prstGeom prst="rect">
                <a:avLst/>
              </a:prstGeom>
              <a:blipFill rotWithShape="0">
                <a:blip r:embed="rId5"/>
                <a:stretch>
                  <a:fillRect b="-4348"/>
                </a:stretch>
              </a:blipFill>
            </p:spPr>
            <p:txBody>
              <a:bodyPr/>
              <a:lstStyle/>
              <a:p>
                <a:r>
                  <a:rPr lang="zh-CN" altLang="en-US">
                    <a:noFill/>
                  </a:rPr>
                  <a:t> </a:t>
                </a:r>
              </a:p>
            </p:txBody>
          </p:sp>
        </mc:Fallback>
      </mc:AlternateContent>
      <p:sp>
        <p:nvSpPr>
          <p:cNvPr id="13" name="文本框 12"/>
          <p:cNvSpPr txBox="1"/>
          <p:nvPr/>
        </p:nvSpPr>
        <p:spPr>
          <a:xfrm>
            <a:off x="936854" y="4587974"/>
            <a:ext cx="441146" cy="246221"/>
          </a:xfrm>
          <a:prstGeom prst="rect">
            <a:avLst/>
          </a:prstGeom>
          <a:noFill/>
        </p:spPr>
        <p:txBody>
          <a:bodyPr wrap="none" rtlCol="0">
            <a:spAutoFit/>
          </a:bodyPr>
          <a:lstStyle/>
          <a:p>
            <a:pPr fontAlgn="auto">
              <a:spcBef>
                <a:spcPts val="0"/>
              </a:spcBef>
              <a:spcAft>
                <a:spcPts val="0"/>
              </a:spcAft>
            </a:pPr>
            <a:r>
              <a:rPr lang="zh-CN" altLang="en-US" sz="1000" dirty="0">
                <a:latin typeface="Microsoft YaHei" charset="-122"/>
                <a:ea typeface="Microsoft YaHei" charset="-122"/>
                <a:cs typeface="Microsoft YaHei" charset="-122"/>
              </a:rPr>
              <a:t>等等</a:t>
            </a:r>
          </a:p>
        </p:txBody>
      </p:sp>
    </p:spTree>
    <p:extLst>
      <p:ext uri="{BB962C8B-B14F-4D97-AF65-F5344CB8AC3E}">
        <p14:creationId xmlns:p14="http://schemas.microsoft.com/office/powerpoint/2010/main" val="125557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8439"/>
                                        </p:tgtEl>
                                        <p:attrNameLst>
                                          <p:attrName>style.visibility</p:attrName>
                                        </p:attrNameLst>
                                      </p:cBhvr>
                                      <p:to>
                                        <p:strVal val="visible"/>
                                      </p:to>
                                    </p:set>
                                    <p:animEffect transition="in" filter="wipe(up)">
                                      <p:cBhvr>
                                        <p:cTn id="37" dur="500"/>
                                        <p:tgtEl>
                                          <p:spTgt spid="1843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43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438" grpId="0"/>
      <p:bldP spid="16" grpId="0"/>
      <p:bldP spid="9" grpId="0"/>
      <p:bldP spid="10" grpId="0"/>
      <p:bldP spid="11"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zh-CN" sz="2400" b="1">
                <a:solidFill>
                  <a:srgbClr val="595959"/>
                </a:solidFill>
                <a:latin typeface="微软雅黑" charset="-122"/>
                <a:ea typeface="微软雅黑" charset="-122"/>
              </a:rPr>
              <a:t>NLP</a:t>
            </a:r>
            <a:r>
              <a:rPr lang="zh-CN" altLang="en-US" sz="2400" b="1">
                <a:solidFill>
                  <a:srgbClr val="595959"/>
                </a:solidFill>
                <a:latin typeface="微软雅黑" charset="-122"/>
                <a:ea typeface="微软雅黑" charset="-122"/>
              </a:rPr>
              <a:t>中的语言模型</a:t>
            </a:r>
            <a:endParaRPr lang="ko-KR" altLang="en-US" sz="2400" b="1">
              <a:solidFill>
                <a:srgbClr val="595959"/>
              </a:solidFill>
              <a:latin typeface="微软雅黑" charset="-122"/>
              <a:ea typeface="微软雅黑" charset="-122"/>
            </a:endParaRPr>
          </a:p>
        </p:txBody>
      </p:sp>
      <p:sp>
        <p:nvSpPr>
          <p:cNvPr id="20482" name="Text Box 3"/>
          <p:cNvSpPr txBox="1">
            <a:spLocks noChangeArrowheads="1"/>
          </p:cNvSpPr>
          <p:nvPr/>
        </p:nvSpPr>
        <p:spPr bwMode="auto">
          <a:xfrm>
            <a:off x="628650" y="921274"/>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语言模型的概率计算</a:t>
            </a:r>
            <a:endParaRPr lang="ko-KR" altLang="en-US" b="1">
              <a:solidFill>
                <a:srgbClr val="404040"/>
              </a:solidFill>
              <a:latin typeface="微软雅黑" charset="-122"/>
              <a:ea typeface="微软雅黑" charset="-122"/>
            </a:endParaRPr>
          </a:p>
        </p:txBody>
      </p:sp>
      <mc:AlternateContent xmlns:mc="http://schemas.openxmlformats.org/markup-compatibility/2006" xmlns:a14="http://schemas.microsoft.com/office/drawing/2010/main">
        <mc:Choice Requires="a14">
          <p:sp>
            <p:nvSpPr>
              <p:cNvPr id="5" name="文本框 4"/>
              <p:cNvSpPr txBox="1"/>
              <p:nvPr/>
            </p:nvSpPr>
            <p:spPr>
              <a:xfrm>
                <a:off x="639602" y="1482541"/>
                <a:ext cx="8036853" cy="1119089"/>
              </a:xfrm>
              <a:prstGeom prst="rect">
                <a:avLst/>
              </a:prstGeom>
              <a:noFill/>
            </p:spPr>
            <p:txBody>
              <a:bodyPr wrap="square" rtlCol="0">
                <a:spAutoFit/>
              </a:bodyPr>
              <a:lstStyle/>
              <a:p>
                <a:pPr fontAlgn="auto">
                  <a:lnSpc>
                    <a:spcPct val="150000"/>
                  </a:lnSpc>
                  <a:spcBef>
                    <a:spcPts val="0"/>
                  </a:spcBef>
                  <a:spcAft>
                    <a:spcPts val="0"/>
                  </a:spcAft>
                </a:pPr>
                <a:r>
                  <a:rPr lang="zh-CN" altLang="en-US" sz="1100">
                    <a:solidFill>
                      <a:srgbClr val="262626"/>
                    </a:solidFill>
                    <a:latin typeface="微软雅黑" charset="-122"/>
                    <a:ea typeface="微软雅黑" charset="-122"/>
                  </a:rPr>
                  <a:t>概率计算过程中更会遇到的问题：</a:t>
                </a:r>
                <a:endParaRPr lang="en-US" altLang="zh-CN" sz="1100">
                  <a:solidFill>
                    <a:srgbClr val="262626"/>
                  </a:solidFill>
                  <a:latin typeface="微软雅黑" charset="-122"/>
                  <a:ea typeface="微软雅黑" charset="-122"/>
                </a:endParaRPr>
              </a:p>
              <a:p>
                <a:pPr marL="228600" indent="-228600" fontAlgn="auto">
                  <a:lnSpc>
                    <a:spcPct val="150000"/>
                  </a:lnSpc>
                  <a:spcBef>
                    <a:spcPts val="0"/>
                  </a:spcBef>
                  <a:spcAft>
                    <a:spcPts val="0"/>
                  </a:spcAft>
                  <a:buFont typeface="+mj-lt"/>
                  <a:buAutoNum type="arabicPeriod"/>
                </a:pPr>
                <a:r>
                  <a:rPr lang="zh-CN" altLang="zh-CN" sz="1100"/>
                  <a:t> </a:t>
                </a:r>
                <a14:m>
                  <m:oMath xmlns:m="http://schemas.openxmlformats.org/officeDocument/2006/math">
                    <m:r>
                      <a:rPr lang="en-US" altLang="zh-CN" sz="1100" i="1">
                        <a:latin typeface="Cambria Math" charset="0"/>
                      </a:rPr>
                      <m:t>𝑃</m:t>
                    </m:r>
                    <m:d>
                      <m:dPr>
                        <m:endChr m:val="|"/>
                        <m:ctrlPr>
                          <a:rPr lang="zh-CN" altLang="zh-CN" sz="1100" i="1">
                            <a:latin typeface="Cambria Math" panose="02040503050406030204" pitchFamily="18" charset="0"/>
                          </a:rPr>
                        </m:ctrlPr>
                      </m:dPr>
                      <m:e>
                        <m:sSub>
                          <m:sSubPr>
                            <m:ctrlPr>
                              <a:rPr lang="zh-CN" altLang="zh-CN" sz="1100" i="1">
                                <a:latin typeface="Cambria Math" panose="02040503050406030204" pitchFamily="18" charset="0"/>
                              </a:rPr>
                            </m:ctrlPr>
                          </m:sSubPr>
                          <m:e>
                            <m:r>
                              <a:rPr lang="en-US" altLang="zh-CN" sz="1100" i="1">
                                <a:latin typeface="Cambria Math" charset="0"/>
                              </a:rPr>
                              <m:t>𝑤</m:t>
                            </m:r>
                          </m:e>
                          <m:sub>
                            <m:r>
                              <a:rPr lang="en-US" altLang="zh-CN" sz="1100" i="1">
                                <a:latin typeface="Cambria Math" charset="0"/>
                              </a:rPr>
                              <m:t>𝑛</m:t>
                            </m:r>
                          </m:sub>
                        </m:sSub>
                      </m:e>
                    </m:d>
                    <m:r>
                      <a:rPr lang="en-US" altLang="zh-CN" sz="1100" i="1">
                        <a:latin typeface="Cambria Math" charset="0"/>
                      </a:rPr>
                      <m:t> </m:t>
                    </m:r>
                    <m:sSub>
                      <m:sSubPr>
                        <m:ctrlPr>
                          <a:rPr lang="zh-CN" altLang="zh-CN" sz="1100" i="1">
                            <a:latin typeface="Cambria Math" panose="02040503050406030204" pitchFamily="18" charset="0"/>
                          </a:rPr>
                        </m:ctrlPr>
                      </m:sSubPr>
                      <m:e>
                        <m:r>
                          <a:rPr lang="en-US" altLang="zh-CN" sz="1100" i="1">
                            <a:latin typeface="Cambria Math" charset="0"/>
                          </a:rPr>
                          <m:t>𝑤</m:t>
                        </m:r>
                      </m:e>
                      <m:sub>
                        <m:r>
                          <a:rPr lang="en-US" altLang="zh-CN" sz="1100" i="1">
                            <a:latin typeface="Cambria Math" charset="0"/>
                          </a:rPr>
                          <m:t>𝑛</m:t>
                        </m:r>
                        <m:r>
                          <a:rPr lang="en-US" altLang="zh-CN" sz="1100" i="1">
                            <a:latin typeface="Cambria Math" charset="0"/>
                          </a:rPr>
                          <m:t>−1,</m:t>
                        </m:r>
                      </m:sub>
                    </m:sSub>
                    <m:sSub>
                      <m:sSubPr>
                        <m:ctrlPr>
                          <a:rPr lang="zh-CN" altLang="zh-CN" sz="1100" i="1">
                            <a:latin typeface="Cambria Math" panose="02040503050406030204" pitchFamily="18" charset="0"/>
                          </a:rPr>
                        </m:ctrlPr>
                      </m:sSubPr>
                      <m:e>
                        <m:r>
                          <a:rPr lang="en-US" altLang="zh-CN" sz="1100" i="1">
                            <a:latin typeface="Cambria Math" charset="0"/>
                          </a:rPr>
                          <m:t>𝑤</m:t>
                        </m:r>
                      </m:e>
                      <m:sub>
                        <m:r>
                          <a:rPr lang="en-US" altLang="zh-CN" sz="1100" i="1">
                            <a:latin typeface="Cambria Math" charset="0"/>
                          </a:rPr>
                          <m:t>𝑛</m:t>
                        </m:r>
                        <m:r>
                          <a:rPr lang="en-US" altLang="zh-CN" sz="1100" i="1">
                            <a:latin typeface="Cambria Math" charset="0"/>
                          </a:rPr>
                          <m:t>−2</m:t>
                        </m:r>
                      </m:sub>
                    </m:sSub>
                    <m:r>
                      <a:rPr lang="en-US" altLang="zh-CN" sz="1100" i="1">
                        <a:latin typeface="Cambria Math" charset="0"/>
                      </a:rPr>
                      <m:t>…</m:t>
                    </m:r>
                    <m:sSub>
                      <m:sSubPr>
                        <m:ctrlPr>
                          <a:rPr lang="zh-CN" altLang="zh-CN" sz="1100" i="1">
                            <a:latin typeface="Cambria Math" panose="02040503050406030204" pitchFamily="18" charset="0"/>
                          </a:rPr>
                        </m:ctrlPr>
                      </m:sSubPr>
                      <m:e>
                        <m:r>
                          <a:rPr lang="en-US" altLang="zh-CN" sz="1100" i="1">
                            <a:latin typeface="Cambria Math" charset="0"/>
                          </a:rPr>
                          <m:t>𝑤</m:t>
                        </m:r>
                      </m:e>
                      <m:sub>
                        <m:r>
                          <a:rPr lang="en-US" altLang="zh-CN" sz="1100" i="1">
                            <a:latin typeface="Cambria Math" charset="0"/>
                          </a:rPr>
                          <m:t>1</m:t>
                        </m:r>
                      </m:sub>
                    </m:sSub>
                    <m:r>
                      <a:rPr lang="en-US" altLang="zh-CN" sz="1100" i="1">
                        <a:latin typeface="Cambria Math" charset="0"/>
                      </a:rPr>
                      <m:t>)</m:t>
                    </m:r>
                  </m:oMath>
                </a14:m>
                <a:r>
                  <a:rPr lang="en-US" altLang="zh-CN" sz="1100">
                    <a:solidFill>
                      <a:srgbClr val="262626"/>
                    </a:solidFill>
                    <a:latin typeface="微软雅黑" charset="-122"/>
                    <a:ea typeface="微软雅黑" charset="-122"/>
                  </a:rPr>
                  <a:t> </a:t>
                </a:r>
                <a:r>
                  <a:rPr lang="zh-CN" altLang="en-US" sz="1100">
                    <a:solidFill>
                      <a:srgbClr val="262626"/>
                    </a:solidFill>
                    <a:latin typeface="微软雅黑" charset="-122"/>
                    <a:ea typeface="微软雅黑" charset="-122"/>
                  </a:rPr>
                  <a:t>句子太长的时候，参数太多，无法计算</a:t>
                </a:r>
                <a:endParaRPr lang="en-US" altLang="zh-CN" sz="1100">
                  <a:solidFill>
                    <a:srgbClr val="262626"/>
                  </a:solidFill>
                  <a:latin typeface="微软雅黑" charset="-122"/>
                  <a:ea typeface="微软雅黑" charset="-122"/>
                </a:endParaRPr>
              </a:p>
              <a:p>
                <a:pPr marL="228600" indent="-228600" fontAlgn="auto">
                  <a:lnSpc>
                    <a:spcPct val="150000"/>
                  </a:lnSpc>
                  <a:spcBef>
                    <a:spcPts val="0"/>
                  </a:spcBef>
                  <a:spcAft>
                    <a:spcPts val="0"/>
                  </a:spcAft>
                  <a:buFont typeface="+mj-lt"/>
                  <a:buAutoNum type="arabicPeriod"/>
                </a:pPr>
                <a:r>
                  <a:rPr lang="zh-CN" altLang="en-US" sz="1100">
                    <a:solidFill>
                      <a:srgbClr val="262626"/>
                    </a:solidFill>
                    <a:latin typeface="微软雅黑" charset="-122"/>
                    <a:ea typeface="微软雅黑" charset="-122"/>
                  </a:rPr>
                  <a:t>对于某个词语的组合可能在语料中没有出现过，或者出现的次数非常少，极大似然的估计值会为</a:t>
                </a:r>
                <a:r>
                  <a:rPr lang="en-US" altLang="zh-CN" sz="1100">
                    <a:solidFill>
                      <a:srgbClr val="262626"/>
                    </a:solidFill>
                    <a:latin typeface="微软雅黑" charset="-122"/>
                    <a:ea typeface="微软雅黑" charset="-122"/>
                  </a:rPr>
                  <a:t>0</a:t>
                </a:r>
                <a:r>
                  <a:rPr lang="zh-CN" altLang="en-US" sz="1100">
                    <a:solidFill>
                      <a:srgbClr val="262626"/>
                    </a:solidFill>
                    <a:latin typeface="微软雅黑" charset="-122"/>
                    <a:ea typeface="微软雅黑" charset="-122"/>
                  </a:rPr>
                  <a:t>，然而总体中它的值不一定为</a:t>
                </a:r>
                <a:r>
                  <a:rPr lang="en-US" altLang="zh-CN" sz="1100">
                    <a:solidFill>
                      <a:srgbClr val="262626"/>
                    </a:solidFill>
                    <a:latin typeface="微软雅黑" charset="-122"/>
                    <a:ea typeface="微软雅黑" charset="-122"/>
                  </a:rPr>
                  <a:t>0</a:t>
                </a:r>
                <a:r>
                  <a:rPr lang="zh-CN" altLang="en-US" sz="1100">
                    <a:solidFill>
                      <a:srgbClr val="262626"/>
                    </a:solidFill>
                    <a:latin typeface="微软雅黑" charset="-122"/>
                    <a:ea typeface="微软雅黑" charset="-122"/>
                  </a:rPr>
                  <a:t>，可能只是语料中没有出现（即</a:t>
                </a:r>
                <a:r>
                  <a:rPr lang="zh-CN" altLang="en-US" sz="1100">
                    <a:solidFill>
                      <a:srgbClr val="FF0000"/>
                    </a:solidFill>
                    <a:latin typeface="微软雅黑" charset="-122"/>
                    <a:ea typeface="微软雅黑" charset="-122"/>
                  </a:rPr>
                  <a:t>数据稀疏问题</a:t>
                </a:r>
                <a:r>
                  <a:rPr lang="zh-CN" altLang="en-US" sz="1100">
                    <a:solidFill>
                      <a:srgbClr val="262626"/>
                    </a:solidFill>
                    <a:latin typeface="微软雅黑" charset="-122"/>
                    <a:ea typeface="微软雅黑" charset="-122"/>
                  </a:rPr>
                  <a:t>）</a:t>
                </a:r>
                <a:endParaRPr lang="en-US" altLang="zh-CN" sz="1100">
                  <a:solidFill>
                    <a:srgbClr val="262626"/>
                  </a:solidFill>
                  <a:latin typeface="微软雅黑" charset="-122"/>
                  <a:ea typeface="微软雅黑"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39602" y="1482541"/>
                <a:ext cx="8036853" cy="1119089"/>
              </a:xfrm>
              <a:prstGeom prst="rect">
                <a:avLst/>
              </a:prstGeom>
              <a:blipFill rotWithShape="0">
                <a:blip r:embed="rId3"/>
                <a:stretch>
                  <a:fillRect l="-76"/>
                </a:stretch>
              </a:blipFill>
            </p:spPr>
            <p:txBody>
              <a:bodyPr/>
              <a:lstStyle/>
              <a:p>
                <a:r>
                  <a:rPr lang="zh-CN" altLang="en-US">
                    <a:noFill/>
                  </a:rPr>
                  <a:t> </a:t>
                </a:r>
              </a:p>
            </p:txBody>
          </p:sp>
        </mc:Fallback>
      </mc:AlternateContent>
      <p:sp>
        <p:nvSpPr>
          <p:cNvPr id="6" name="文本框 5"/>
          <p:cNvSpPr txBox="1"/>
          <p:nvPr/>
        </p:nvSpPr>
        <p:spPr>
          <a:xfrm>
            <a:off x="611560" y="2859782"/>
            <a:ext cx="7846038" cy="1107996"/>
          </a:xfrm>
          <a:prstGeom prst="rect">
            <a:avLst/>
          </a:prstGeom>
          <a:noFill/>
        </p:spPr>
        <p:txBody>
          <a:bodyPr wrap="square" rtlCol="0">
            <a:spAutoFit/>
          </a:bodyPr>
          <a:lstStyle/>
          <a:p>
            <a:pPr fontAlgn="auto">
              <a:lnSpc>
                <a:spcPct val="150000"/>
              </a:lnSpc>
              <a:spcBef>
                <a:spcPts val="0"/>
              </a:spcBef>
              <a:spcAft>
                <a:spcPts val="0"/>
              </a:spcAft>
            </a:pPr>
            <a:r>
              <a:rPr lang="zh-CN" altLang="en-US" sz="1100">
                <a:solidFill>
                  <a:srgbClr val="262626"/>
                </a:solidFill>
                <a:latin typeface="微软雅黑" charset="-122"/>
                <a:ea typeface="微软雅黑" charset="-122"/>
              </a:rPr>
              <a:t>所以为了能够计算，需要做一些简单的假设和对原始的数据进行一些变换</a:t>
            </a:r>
            <a:endParaRPr lang="en-US" altLang="zh-CN" sz="1100">
              <a:solidFill>
                <a:srgbClr val="262626"/>
              </a:solidFill>
              <a:latin typeface="微软雅黑" charset="-122"/>
              <a:ea typeface="微软雅黑" charset="-122"/>
            </a:endParaRPr>
          </a:p>
          <a:p>
            <a:pPr fontAlgn="auto">
              <a:lnSpc>
                <a:spcPct val="150000"/>
              </a:lnSpc>
              <a:spcBef>
                <a:spcPts val="0"/>
              </a:spcBef>
              <a:spcAft>
                <a:spcPts val="0"/>
              </a:spcAft>
            </a:pPr>
            <a:r>
              <a:rPr lang="zh-CN" altLang="en-US" sz="1100">
                <a:solidFill>
                  <a:srgbClr val="262626"/>
                </a:solidFill>
                <a:latin typeface="微软雅黑" charset="-122"/>
                <a:ea typeface="微软雅黑" charset="-122"/>
              </a:rPr>
              <a:t>从而有了如下的两个经典的语言模型：</a:t>
            </a:r>
            <a:endParaRPr lang="en-US" altLang="zh-CN" sz="1100">
              <a:solidFill>
                <a:srgbClr val="262626"/>
              </a:solidFill>
              <a:latin typeface="微软雅黑" charset="-122"/>
              <a:ea typeface="微软雅黑" charset="-122"/>
            </a:endParaRPr>
          </a:p>
          <a:p>
            <a:pPr marL="228600" indent="-228600" fontAlgn="auto">
              <a:lnSpc>
                <a:spcPct val="150000"/>
              </a:lnSpc>
              <a:spcBef>
                <a:spcPts val="0"/>
              </a:spcBef>
              <a:spcAft>
                <a:spcPts val="0"/>
              </a:spcAft>
              <a:buAutoNum type="arabicPeriod"/>
            </a:pPr>
            <a:r>
              <a:rPr lang="en-US" altLang="zh-CN" sz="1100">
                <a:solidFill>
                  <a:srgbClr val="FF0000"/>
                </a:solidFill>
                <a:latin typeface="微软雅黑" charset="-122"/>
                <a:ea typeface="微软雅黑" charset="-122"/>
              </a:rPr>
              <a:t>n-gram</a:t>
            </a:r>
            <a:r>
              <a:rPr lang="zh-CN" altLang="en-US" sz="1100">
                <a:solidFill>
                  <a:srgbClr val="FF0000"/>
                </a:solidFill>
                <a:latin typeface="微软雅黑" charset="-122"/>
                <a:ea typeface="微软雅黑" charset="-122"/>
              </a:rPr>
              <a:t> 语言模型</a:t>
            </a:r>
            <a:endParaRPr lang="en-US" altLang="zh-CN" sz="1100">
              <a:solidFill>
                <a:srgbClr val="FF0000"/>
              </a:solidFill>
              <a:latin typeface="微软雅黑" charset="-122"/>
              <a:ea typeface="微软雅黑" charset="-122"/>
            </a:endParaRPr>
          </a:p>
          <a:p>
            <a:pPr marL="228600" indent="-228600" fontAlgn="auto">
              <a:lnSpc>
                <a:spcPct val="150000"/>
              </a:lnSpc>
              <a:spcBef>
                <a:spcPts val="0"/>
              </a:spcBef>
              <a:spcAft>
                <a:spcPts val="0"/>
              </a:spcAft>
              <a:buAutoNum type="arabicPeriod"/>
            </a:pPr>
            <a:r>
              <a:rPr lang="zh-CN" altLang="en-US" sz="1100">
                <a:solidFill>
                  <a:srgbClr val="FF0000"/>
                </a:solidFill>
                <a:latin typeface="微软雅黑" charset="-122"/>
                <a:ea typeface="微软雅黑" charset="-122"/>
              </a:rPr>
              <a:t>神经网络语言模型</a:t>
            </a:r>
            <a:endParaRPr lang="en-US" altLang="zh-CN" sz="1100">
              <a:solidFill>
                <a:srgbClr val="FF0000"/>
              </a:solidFill>
              <a:latin typeface="微软雅黑" charset="-122"/>
              <a:ea typeface="微软雅黑" charset="-122"/>
            </a:endParaRPr>
          </a:p>
        </p:txBody>
      </p:sp>
    </p:spTree>
    <p:extLst>
      <p:ext uri="{BB962C8B-B14F-4D97-AF65-F5344CB8AC3E}">
        <p14:creationId xmlns:p14="http://schemas.microsoft.com/office/powerpoint/2010/main" val="194233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ko-KR" sz="2400" b="1">
                <a:solidFill>
                  <a:srgbClr val="595959"/>
                </a:solidFill>
                <a:latin typeface="微软雅黑" charset="-122"/>
                <a:ea typeface="微软雅黑" charset="-122"/>
              </a:rPr>
              <a:t>N-gram </a:t>
            </a:r>
            <a:r>
              <a:rPr lang="zh-CN" altLang="en-US" sz="2400" b="1">
                <a:solidFill>
                  <a:srgbClr val="595959"/>
                </a:solidFill>
                <a:latin typeface="微软雅黑" charset="-122"/>
                <a:ea typeface="微软雅黑" charset="-122"/>
              </a:rPr>
              <a:t>语言模型</a:t>
            </a:r>
            <a:endParaRPr lang="ko-KR" altLang="en-US" sz="2400" b="1">
              <a:solidFill>
                <a:srgbClr val="595959"/>
              </a:solidFill>
              <a:latin typeface="微软雅黑" charset="-122"/>
              <a:ea typeface="微软雅黑" charset="-122"/>
            </a:endParaRPr>
          </a:p>
        </p:txBody>
      </p:sp>
      <p:sp>
        <p:nvSpPr>
          <p:cNvPr id="22530" name="Text Box 3"/>
          <p:cNvSpPr txBox="1">
            <a:spLocks noChangeArrowheads="1"/>
          </p:cNvSpPr>
          <p:nvPr/>
        </p:nvSpPr>
        <p:spPr bwMode="auto">
          <a:xfrm>
            <a:off x="646132" y="915566"/>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en-US" altLang="ko-KR" b="1">
                <a:solidFill>
                  <a:srgbClr val="404040"/>
                </a:solidFill>
                <a:latin typeface="微软雅黑" charset="-122"/>
                <a:ea typeface="微软雅黑" charset="-122"/>
              </a:rPr>
              <a:t>N-gram</a:t>
            </a:r>
            <a:r>
              <a:rPr lang="zh-CN" altLang="en-US" b="1">
                <a:solidFill>
                  <a:srgbClr val="404040"/>
                </a:solidFill>
                <a:latin typeface="微软雅黑" charset="-122"/>
                <a:ea typeface="微软雅黑" charset="-122"/>
              </a:rPr>
              <a:t> 语言模型概念</a:t>
            </a:r>
            <a:endParaRPr lang="ko-KR" altLang="en-US" b="1">
              <a:solidFill>
                <a:srgbClr val="404040"/>
              </a:solidFill>
              <a:latin typeface="微软雅黑" charset="-122"/>
              <a:ea typeface="微软雅黑" charset="-122"/>
            </a:endParaRPr>
          </a:p>
        </p:txBody>
      </p:sp>
      <p:cxnSp>
        <p:nvCxnSpPr>
          <p:cNvPr id="22532" name="Line 1"/>
          <p:cNvCxnSpPr>
            <a:cxnSpLocks noChangeShapeType="1"/>
          </p:cNvCxnSpPr>
          <p:nvPr/>
        </p:nvCxnSpPr>
        <p:spPr bwMode="auto">
          <a:xfrm flipH="1">
            <a:off x="5628307" y="1563638"/>
            <a:ext cx="23813" cy="2722562"/>
          </a:xfrm>
          <a:prstGeom prst="line">
            <a:avLst/>
          </a:prstGeom>
          <a:noFill/>
          <a:ln w="12700" cap="rnd">
            <a:solidFill>
              <a:srgbClr val="BFBFBF"/>
            </a:solidFill>
            <a:prstDash val="sysDash"/>
            <a:round/>
            <a:headEnd/>
            <a:tailEnd/>
          </a:ln>
          <a:extLst>
            <a:ext uri="{909E8E84-426E-40DD-AFC4-6F175D3DCCD1}">
              <a14:hiddenFill xmlns:a14="http://schemas.microsoft.com/office/drawing/2010/main">
                <a:noFill/>
              </a14:hiddenFill>
            </a:ext>
          </a:extLst>
        </p:spPr>
      </p:cxnSp>
      <p:sp>
        <p:nvSpPr>
          <p:cNvPr id="22533" name="文本框 2"/>
          <p:cNvSpPr txBox="1">
            <a:spLocks noChangeArrowheads="1"/>
          </p:cNvSpPr>
          <p:nvPr/>
        </p:nvSpPr>
        <p:spPr bwMode="auto">
          <a:xfrm>
            <a:off x="5922661" y="1419622"/>
            <a:ext cx="2879725" cy="164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400" b="1">
                <a:solidFill>
                  <a:srgbClr val="262626"/>
                </a:solidFill>
                <a:latin typeface="微软雅黑" charset="-122"/>
                <a:ea typeface="微软雅黑" charset="-122"/>
                <a:cs typeface="Calibri" charset="0"/>
              </a:rPr>
              <a:t>多元语法模型</a:t>
            </a:r>
            <a:endParaRPr lang="en-US" altLang="zh-CN" sz="1400" b="1">
              <a:solidFill>
                <a:srgbClr val="262626"/>
              </a:solidFill>
              <a:latin typeface="微软雅黑" charset="-122"/>
              <a:ea typeface="微软雅黑" charset="-122"/>
              <a:cs typeface="Calibri" charset="0"/>
            </a:endParaRPr>
          </a:p>
          <a:p>
            <a:pPr>
              <a:lnSpc>
                <a:spcPct val="150000"/>
              </a:lnSpc>
            </a:pPr>
            <a:r>
              <a:rPr lang="zh-CN" altLang="en-US" sz="1000">
                <a:solidFill>
                  <a:srgbClr val="262626"/>
                </a:solidFill>
                <a:latin typeface="微软雅黑" charset="-122"/>
                <a:ea typeface="微软雅黑" charset="-122"/>
                <a:cs typeface="Calibri" charset="0"/>
              </a:rPr>
              <a:t>我们可以把二元推广到</a:t>
            </a:r>
            <a:r>
              <a:rPr lang="zh-CN" altLang="en-US" sz="1000">
                <a:solidFill>
                  <a:srgbClr val="FF0000"/>
                </a:solidFill>
                <a:latin typeface="微软雅黑" charset="-122"/>
                <a:ea typeface="微软雅黑" charset="-122"/>
                <a:cs typeface="Calibri" charset="0"/>
              </a:rPr>
              <a:t>三元语法模型，即当前词语仅受到他前两个词语的影响</a:t>
            </a:r>
            <a:endParaRPr lang="en-US" altLang="zh-CN" sz="1000">
              <a:solidFill>
                <a:srgbClr val="FF0000"/>
              </a:solidFill>
              <a:latin typeface="微软雅黑" charset="-122"/>
              <a:ea typeface="微软雅黑" charset="-122"/>
              <a:cs typeface="Calibri" charset="0"/>
            </a:endParaRPr>
          </a:p>
          <a:p>
            <a:pPr>
              <a:lnSpc>
                <a:spcPct val="150000"/>
              </a:lnSpc>
            </a:pPr>
            <a:endParaRPr lang="en-US" altLang="zh-CN" sz="1000">
              <a:solidFill>
                <a:srgbClr val="FF0000"/>
              </a:solidFill>
              <a:latin typeface="微软雅黑" charset="-122"/>
              <a:ea typeface="微软雅黑" charset="-122"/>
              <a:cs typeface="Calibri" charset="0"/>
            </a:endParaRPr>
          </a:p>
          <a:p>
            <a:pPr>
              <a:lnSpc>
                <a:spcPct val="150000"/>
              </a:lnSpc>
            </a:pPr>
            <a:r>
              <a:rPr lang="zh-CN" altLang="en-US" sz="1000">
                <a:solidFill>
                  <a:srgbClr val="262626"/>
                </a:solidFill>
                <a:latin typeface="微软雅黑" charset="-122"/>
                <a:ea typeface="微软雅黑" charset="-122"/>
                <a:cs typeface="Calibri" charset="0"/>
              </a:rPr>
              <a:t>在推广到</a:t>
            </a:r>
            <a:r>
              <a:rPr lang="en-US" altLang="zh-CN" sz="1000">
                <a:solidFill>
                  <a:srgbClr val="FF0000"/>
                </a:solidFill>
                <a:latin typeface="微软雅黑" charset="-122"/>
                <a:ea typeface="微软雅黑" charset="-122"/>
                <a:cs typeface="Calibri" charset="0"/>
              </a:rPr>
              <a:t>N</a:t>
            </a:r>
            <a:r>
              <a:rPr lang="zh-CN" altLang="en-US" sz="1000">
                <a:solidFill>
                  <a:srgbClr val="FF0000"/>
                </a:solidFill>
                <a:latin typeface="微软雅黑" charset="-122"/>
                <a:ea typeface="微软雅黑" charset="-122"/>
                <a:cs typeface="Calibri" charset="0"/>
              </a:rPr>
              <a:t>元语法模型，即当前词语会受到他的钱</a:t>
            </a:r>
            <a:r>
              <a:rPr lang="en-US" altLang="zh-CN" sz="1000">
                <a:solidFill>
                  <a:srgbClr val="FF0000"/>
                </a:solidFill>
                <a:latin typeface="微软雅黑" charset="-122"/>
                <a:ea typeface="微软雅黑" charset="-122"/>
                <a:cs typeface="Calibri" charset="0"/>
              </a:rPr>
              <a:t>N-1</a:t>
            </a:r>
            <a:r>
              <a:rPr lang="zh-CN" altLang="en-US" sz="1000">
                <a:solidFill>
                  <a:srgbClr val="FF0000"/>
                </a:solidFill>
                <a:latin typeface="微软雅黑" charset="-122"/>
                <a:ea typeface="微软雅黑" charset="-122"/>
                <a:cs typeface="Calibri" charset="0"/>
              </a:rPr>
              <a:t>个词的影响</a:t>
            </a:r>
          </a:p>
        </p:txBody>
      </p:sp>
      <mc:AlternateContent xmlns:mc="http://schemas.openxmlformats.org/markup-compatibility/2006" xmlns:a14="http://schemas.microsoft.com/office/drawing/2010/main">
        <mc:Choice Requires="a14">
          <p:sp>
            <p:nvSpPr>
              <p:cNvPr id="2" name="文本框 1"/>
              <p:cNvSpPr txBox="1"/>
              <p:nvPr/>
            </p:nvSpPr>
            <p:spPr>
              <a:xfrm>
                <a:off x="646131" y="1491630"/>
                <a:ext cx="4691063" cy="2631490"/>
              </a:xfrm>
              <a:prstGeom prst="rect">
                <a:avLst/>
              </a:prstGeom>
              <a:noFill/>
            </p:spPr>
            <p:txBody>
              <a:bodyPr wrap="square" rtlCol="0">
                <a:spAutoFit/>
              </a:bodyPr>
              <a:lstStyle/>
              <a:p>
                <a:pPr fontAlgn="auto">
                  <a:lnSpc>
                    <a:spcPct val="150000"/>
                  </a:lnSpc>
                  <a:spcBef>
                    <a:spcPts val="0"/>
                  </a:spcBef>
                  <a:spcAft>
                    <a:spcPts val="0"/>
                  </a:spcAft>
                </a:pPr>
                <a:r>
                  <a:rPr lang="zh-CN" altLang="en-US" sz="1000" dirty="0">
                    <a:solidFill>
                      <a:srgbClr val="262626"/>
                    </a:solidFill>
                    <a:latin typeface="Microsoft YaHei" charset="-122"/>
                    <a:ea typeface="Microsoft YaHei" charset="-122"/>
                    <a:cs typeface="Microsoft YaHei" charset="-122"/>
                  </a:rPr>
                  <a:t>在</a:t>
                </a:r>
                <a:r>
                  <a:rPr lang="zh-CN" altLang="en-US" sz="1000" dirty="0">
                    <a:solidFill>
                      <a:srgbClr val="FF0000"/>
                    </a:solidFill>
                    <a:latin typeface="Microsoft YaHei" charset="-122"/>
                    <a:ea typeface="Microsoft YaHei" charset="-122"/>
                    <a:cs typeface="Microsoft YaHei" charset="-122"/>
                  </a:rPr>
                  <a:t>计算某个单词的概率的时候，不去考虑它的全部历史，而只考虑最接近的</a:t>
                </a:r>
                <a:r>
                  <a:rPr lang="en-US" altLang="zh-CN" sz="1000" dirty="0">
                    <a:solidFill>
                      <a:srgbClr val="FF0000"/>
                    </a:solidFill>
                    <a:latin typeface="Microsoft YaHei" charset="-122"/>
                    <a:ea typeface="Microsoft YaHei" charset="-122"/>
                    <a:cs typeface="Microsoft YaHei" charset="-122"/>
                  </a:rPr>
                  <a:t>N</a:t>
                </a:r>
                <a:r>
                  <a:rPr lang="zh-CN" altLang="en-US" sz="1000" dirty="0">
                    <a:solidFill>
                      <a:srgbClr val="FF0000"/>
                    </a:solidFill>
                    <a:latin typeface="Microsoft YaHei" charset="-122"/>
                    <a:ea typeface="Microsoft YaHei" charset="-122"/>
                    <a:cs typeface="Microsoft YaHei" charset="-122"/>
                  </a:rPr>
                  <a:t>个词语</a:t>
                </a:r>
                <a:r>
                  <a:rPr lang="zh-CN" altLang="en-US" sz="1000" dirty="0">
                    <a:solidFill>
                      <a:srgbClr val="262626"/>
                    </a:solidFill>
                    <a:latin typeface="Microsoft YaHei" charset="-122"/>
                    <a:ea typeface="Microsoft YaHei" charset="-122"/>
                    <a:cs typeface="Microsoft YaHei" charset="-122"/>
                  </a:rPr>
                  <a:t>，从而近似的逼近该单词的历史，这就是</a:t>
                </a:r>
                <a:r>
                  <a:rPr lang="en-US" altLang="zh-CN" sz="1000" dirty="0">
                    <a:solidFill>
                      <a:srgbClr val="262626"/>
                    </a:solidFill>
                    <a:latin typeface="Microsoft YaHei" charset="-122"/>
                    <a:ea typeface="Microsoft YaHei" charset="-122"/>
                    <a:cs typeface="Microsoft YaHei" charset="-122"/>
                  </a:rPr>
                  <a:t>N-gram</a:t>
                </a:r>
                <a:r>
                  <a:rPr lang="zh-CN" altLang="en-US" sz="1000" dirty="0">
                    <a:solidFill>
                      <a:srgbClr val="262626"/>
                    </a:solidFill>
                    <a:latin typeface="Microsoft YaHei" charset="-122"/>
                    <a:ea typeface="Microsoft YaHei" charset="-122"/>
                    <a:cs typeface="Microsoft YaHei" charset="-122"/>
                  </a:rPr>
                  <a:t>的直观的解释。</a:t>
                </a:r>
                <a:endParaRPr lang="en-US" altLang="zh-CN" sz="1000" dirty="0">
                  <a:solidFill>
                    <a:srgbClr val="262626"/>
                  </a:solidFill>
                  <a:latin typeface="Microsoft YaHei" charset="-122"/>
                  <a:ea typeface="Microsoft YaHei" charset="-122"/>
                  <a:cs typeface="Microsoft YaHei" charset="-122"/>
                </a:endParaRPr>
              </a:p>
              <a:p>
                <a:pPr fontAlgn="auto">
                  <a:lnSpc>
                    <a:spcPct val="150000"/>
                  </a:lnSpc>
                  <a:spcBef>
                    <a:spcPts val="0"/>
                  </a:spcBef>
                  <a:spcAft>
                    <a:spcPts val="0"/>
                  </a:spcAft>
                </a:pPr>
                <a:r>
                  <a:rPr lang="zh-CN" altLang="en-US" sz="1000" dirty="0">
                    <a:solidFill>
                      <a:srgbClr val="262626"/>
                    </a:solidFill>
                    <a:latin typeface="Microsoft YaHei" charset="-122"/>
                    <a:ea typeface="Microsoft YaHei" charset="-122"/>
                    <a:cs typeface="Microsoft YaHei" charset="-122"/>
                  </a:rPr>
                  <a:t>例如：我们可以认为当前词语只受到该词语的前一个词语的影响，那么这就是</a:t>
                </a:r>
                <a:r>
                  <a:rPr lang="zh-CN" altLang="en-US" sz="1000" b="1" dirty="0">
                    <a:solidFill>
                      <a:srgbClr val="FF0000"/>
                    </a:solidFill>
                    <a:latin typeface="Microsoft YaHei" charset="-122"/>
                    <a:ea typeface="Microsoft YaHei" charset="-122"/>
                    <a:cs typeface="Microsoft YaHei" charset="-122"/>
                  </a:rPr>
                  <a:t>二元语法模型（</a:t>
                </a:r>
                <a:r>
                  <a:rPr lang="en-US" altLang="zh-CN" sz="1000" b="1" dirty="0">
                    <a:solidFill>
                      <a:srgbClr val="FF0000"/>
                    </a:solidFill>
                    <a:latin typeface="Microsoft YaHei" charset="-122"/>
                    <a:ea typeface="Microsoft YaHei" charset="-122"/>
                    <a:cs typeface="Microsoft YaHei" charset="-122"/>
                  </a:rPr>
                  <a:t>bigram</a:t>
                </a:r>
                <a:r>
                  <a:rPr lang="zh-CN" altLang="en-US" sz="1000" b="1" dirty="0">
                    <a:solidFill>
                      <a:srgbClr val="FF0000"/>
                    </a:solidFill>
                    <a:latin typeface="Microsoft YaHei" charset="-122"/>
                    <a:ea typeface="Microsoft YaHei" charset="-122"/>
                    <a:cs typeface="Microsoft YaHei" charset="-122"/>
                  </a:rPr>
                  <a:t> </a:t>
                </a:r>
                <a:r>
                  <a:rPr lang="en-US" altLang="zh-CN" sz="1000" b="1" dirty="0">
                    <a:solidFill>
                      <a:srgbClr val="FF0000"/>
                    </a:solidFill>
                    <a:latin typeface="Microsoft YaHei" charset="-122"/>
                    <a:ea typeface="Microsoft YaHei" charset="-122"/>
                    <a:cs typeface="Microsoft YaHei" charset="-122"/>
                  </a:rPr>
                  <a:t>model</a:t>
                </a:r>
                <a:r>
                  <a:rPr lang="zh-CN" altLang="en-US" sz="1000" b="1" dirty="0">
                    <a:solidFill>
                      <a:srgbClr val="FF0000"/>
                    </a:solidFill>
                    <a:latin typeface="Microsoft YaHei" charset="-122"/>
                    <a:ea typeface="Microsoft YaHei" charset="-122"/>
                    <a:cs typeface="Microsoft YaHei" charset="-122"/>
                  </a:rPr>
                  <a:t>）</a:t>
                </a:r>
                <a:endParaRPr lang="en-US" altLang="zh-CN" sz="1000" b="1" dirty="0">
                  <a:solidFill>
                    <a:srgbClr val="FF0000"/>
                  </a:solidFill>
                  <a:latin typeface="Microsoft YaHei" charset="-122"/>
                  <a:ea typeface="Microsoft YaHei" charset="-122"/>
                  <a:cs typeface="Microsoft YaHei" charset="-122"/>
                </a:endParaRPr>
              </a:p>
              <a:p>
                <a:pPr fontAlgn="auto">
                  <a:lnSpc>
                    <a:spcPct val="150000"/>
                  </a:lnSpc>
                  <a:spcBef>
                    <a:spcPts val="0"/>
                  </a:spcBef>
                  <a:spcAft>
                    <a:spcPts val="0"/>
                  </a:spcAft>
                </a:pPr>
                <a:endParaRPr lang="en-US" altLang="zh-CN" sz="1000" dirty="0">
                  <a:solidFill>
                    <a:srgbClr val="FF0000"/>
                  </a:solidFill>
                  <a:latin typeface="Microsoft YaHei" charset="-122"/>
                  <a:ea typeface="Microsoft YaHei" charset="-122"/>
                  <a:cs typeface="Microsoft YaHei" charset="-122"/>
                </a:endParaRPr>
              </a:p>
              <a:p>
                <a:pPr fontAlgn="auto">
                  <a:lnSpc>
                    <a:spcPct val="150000"/>
                  </a:lnSpc>
                  <a:spcBef>
                    <a:spcPts val="0"/>
                  </a:spcBef>
                  <a:spcAft>
                    <a:spcPts val="0"/>
                  </a:spcAft>
                </a:pPr>
                <a:r>
                  <a:rPr lang="zh-CN" altLang="en-US" sz="1000" dirty="0">
                    <a:latin typeface="Microsoft YaHei" charset="-122"/>
                    <a:ea typeface="Microsoft YaHei" charset="-122"/>
                    <a:cs typeface="Microsoft YaHei" charset="-122"/>
                  </a:rPr>
                  <a:t>换句话说，我们不是要去计算 </a:t>
                </a:r>
                <a14:m>
                  <m:oMath xmlns:m="http://schemas.openxmlformats.org/officeDocument/2006/math">
                    <m:r>
                      <a:rPr lang="en-US" altLang="zh-CN" sz="1000" i="1">
                        <a:latin typeface="Cambria Math" panose="02040503050406030204" pitchFamily="18" charset="0"/>
                        <a:ea typeface="Microsoft YaHei" charset="-122"/>
                        <a:cs typeface="Microsoft YaHei" charset="-122"/>
                      </a:rPr>
                      <m:t>𝑃</m:t>
                    </m:r>
                    <m:d>
                      <m:dPr>
                        <m:ctrlPr>
                          <a:rPr lang="zh-CN" altLang="zh-CN" sz="1000" i="1">
                            <a:latin typeface="Cambria Math" panose="02040503050406030204" pitchFamily="18" charset="0"/>
                            <a:ea typeface="Microsoft YaHei" charset="-122"/>
                            <a:cs typeface="Microsoft YaHei" charset="-122"/>
                          </a:rPr>
                        </m:ctrlPr>
                      </m:dPr>
                      <m:e>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𝑛</m:t>
                            </m:r>
                          </m:sub>
                        </m:sSub>
                        <m:r>
                          <a:rPr lang="en-US" altLang="zh-CN" sz="1000" i="1">
                            <a:latin typeface="Cambria Math" panose="02040503050406030204" pitchFamily="18" charset="0"/>
                            <a:ea typeface="Microsoft YaHei" charset="-122"/>
                            <a:cs typeface="Microsoft YaHei" charset="-122"/>
                          </a:rPr>
                          <m:t>|</m:t>
                        </m:r>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𝑛</m:t>
                            </m:r>
                            <m:r>
                              <a:rPr lang="en-US" altLang="zh-CN" sz="1000" i="1">
                                <a:latin typeface="Cambria Math" panose="02040503050406030204" pitchFamily="18" charset="0"/>
                                <a:ea typeface="Microsoft YaHei" charset="-122"/>
                                <a:cs typeface="Microsoft YaHei" charset="-122"/>
                              </a:rPr>
                              <m:t>−1</m:t>
                            </m:r>
                          </m:sub>
                        </m:sSub>
                        <m:r>
                          <a:rPr lang="en-US" altLang="zh-CN" sz="1000" i="1">
                            <a:latin typeface="Cambria Math" panose="02040503050406030204" pitchFamily="18" charset="0"/>
                            <a:ea typeface="Microsoft YaHei" charset="-122"/>
                            <a:cs typeface="Microsoft YaHei" charset="-122"/>
                          </a:rPr>
                          <m:t>,</m:t>
                        </m:r>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𝑛</m:t>
                            </m:r>
                            <m:r>
                              <a:rPr lang="en-US" altLang="zh-CN" sz="1000" i="1">
                                <a:latin typeface="Cambria Math" panose="02040503050406030204" pitchFamily="18" charset="0"/>
                                <a:ea typeface="Microsoft YaHei" charset="-122"/>
                                <a:cs typeface="Microsoft YaHei" charset="-122"/>
                              </a:rPr>
                              <m:t>−2</m:t>
                            </m:r>
                          </m:sub>
                        </m:sSub>
                        <m:r>
                          <a:rPr lang="en-US" altLang="zh-CN" sz="1000" i="1">
                            <a:latin typeface="Cambria Math" panose="02040503050406030204" pitchFamily="18" charset="0"/>
                            <a:ea typeface="Microsoft YaHei" charset="-122"/>
                            <a:cs typeface="Microsoft YaHei" charset="-122"/>
                          </a:rPr>
                          <m:t>…</m:t>
                        </m:r>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1</m:t>
                            </m:r>
                          </m:sub>
                        </m:sSub>
                      </m:e>
                    </m:d>
                  </m:oMath>
                </a14:m>
                <a:r>
                  <a:rPr lang="zh-CN" altLang="zh-CN" sz="1000">
                    <a:effectLst/>
                    <a:latin typeface="Microsoft YaHei" charset="-122"/>
                    <a:ea typeface="Microsoft YaHei" charset="-122"/>
                    <a:cs typeface="Microsoft YaHei" charset="-122"/>
                  </a:rPr>
                  <a:t> </a:t>
                </a:r>
                <a:r>
                  <a:rPr lang="zh-CN" altLang="en-US" sz="1000">
                    <a:effectLst/>
                    <a:latin typeface="Microsoft YaHei" charset="-122"/>
                    <a:ea typeface="Microsoft YaHei" charset="-122"/>
                    <a:cs typeface="Microsoft YaHei" charset="-122"/>
                  </a:rPr>
                  <a:t>而是要用</a:t>
                </a:r>
                <a:r>
                  <a:rPr lang="zh-CN" altLang="en-US" sz="1000">
                    <a:latin typeface="Microsoft YaHei" charset="-122"/>
                    <a:ea typeface="Microsoft YaHei" charset="-122"/>
                    <a:cs typeface="Microsoft YaHei" charset="-122"/>
                  </a:rPr>
                  <a:t> </a:t>
                </a:r>
                <a14:m>
                  <m:oMath xmlns:m="http://schemas.openxmlformats.org/officeDocument/2006/math">
                    <m:r>
                      <a:rPr lang="en-US" altLang="zh-CN" sz="1000" i="1">
                        <a:latin typeface="Cambria Math" panose="02040503050406030204" pitchFamily="18" charset="0"/>
                        <a:ea typeface="Microsoft YaHei" charset="-122"/>
                        <a:cs typeface="Microsoft YaHei" charset="-122"/>
                      </a:rPr>
                      <m:t>𝑃</m:t>
                    </m:r>
                    <m:d>
                      <m:dPr>
                        <m:ctrlPr>
                          <a:rPr lang="zh-CN" altLang="zh-CN" sz="1000" i="1">
                            <a:latin typeface="Cambria Math" panose="02040503050406030204" pitchFamily="18" charset="0"/>
                            <a:ea typeface="Microsoft YaHei" charset="-122"/>
                            <a:cs typeface="Microsoft YaHei" charset="-122"/>
                          </a:rPr>
                        </m:ctrlPr>
                      </m:dPr>
                      <m:e>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𝑛</m:t>
                            </m:r>
                          </m:sub>
                        </m:sSub>
                        <m:r>
                          <a:rPr lang="en-US" altLang="zh-CN" sz="1000" i="1">
                            <a:latin typeface="Cambria Math" panose="02040503050406030204" pitchFamily="18" charset="0"/>
                            <a:ea typeface="Microsoft YaHei" charset="-122"/>
                            <a:cs typeface="Microsoft YaHei" charset="-122"/>
                          </a:rPr>
                          <m:t>|</m:t>
                        </m:r>
                        <m:sSub>
                          <m:sSubPr>
                            <m:ctrlPr>
                              <a:rPr lang="zh-CN" altLang="zh-CN" sz="1000" i="1">
                                <a:latin typeface="Cambria Math" panose="02040503050406030204" pitchFamily="18" charset="0"/>
                                <a:ea typeface="Microsoft YaHei" charset="-122"/>
                                <a:cs typeface="Microsoft YaHei" charset="-122"/>
                              </a:rPr>
                            </m:ctrlPr>
                          </m:sSubPr>
                          <m:e>
                            <m:r>
                              <a:rPr lang="en-US" altLang="zh-CN" sz="1000" i="1">
                                <a:latin typeface="Cambria Math" panose="02040503050406030204" pitchFamily="18" charset="0"/>
                                <a:ea typeface="Microsoft YaHei" charset="-122"/>
                                <a:cs typeface="Microsoft YaHei" charset="-122"/>
                              </a:rPr>
                              <m:t>𝑤</m:t>
                            </m:r>
                          </m:e>
                          <m:sub>
                            <m:r>
                              <a:rPr lang="en-US" altLang="zh-CN" sz="1000" i="1">
                                <a:latin typeface="Cambria Math" panose="02040503050406030204" pitchFamily="18" charset="0"/>
                                <a:ea typeface="Microsoft YaHei" charset="-122"/>
                                <a:cs typeface="Microsoft YaHei" charset="-122"/>
                              </a:rPr>
                              <m:t>𝑛</m:t>
                            </m:r>
                            <m:r>
                              <a:rPr lang="en-US" altLang="zh-CN" sz="1000" i="1">
                                <a:latin typeface="Cambria Math" panose="02040503050406030204" pitchFamily="18" charset="0"/>
                                <a:ea typeface="Microsoft YaHei" charset="-122"/>
                                <a:cs typeface="Microsoft YaHei" charset="-122"/>
                              </a:rPr>
                              <m:t>−1</m:t>
                            </m:r>
                          </m:sub>
                        </m:sSub>
                        <m:r>
                          <a:rPr lang="zh-CN" altLang="zh-CN" sz="1000" i="1">
                            <a:latin typeface="Cambria Math" panose="02040503050406030204" pitchFamily="18" charset="0"/>
                            <a:ea typeface="Microsoft YaHei" charset="-122"/>
                            <a:cs typeface="Microsoft YaHei" charset="-122"/>
                          </a:rPr>
                          <m:t> </m:t>
                        </m:r>
                      </m:e>
                    </m:d>
                  </m:oMath>
                </a14:m>
                <a:r>
                  <a:rPr lang="zh-CN" altLang="en-US" sz="1000">
                    <a:effectLst/>
                    <a:latin typeface="Microsoft YaHei" charset="-122"/>
                    <a:ea typeface="Microsoft YaHei" charset="-122"/>
                    <a:cs typeface="Microsoft YaHei" charset="-122"/>
                  </a:rPr>
                  <a:t> 来逼近这个概率</a:t>
                </a:r>
                <a:endParaRPr lang="en-US" altLang="zh-CN" sz="1000">
                  <a:effectLst/>
                  <a:latin typeface="Microsoft YaHei" charset="-122"/>
                  <a:ea typeface="Microsoft YaHei" charset="-122"/>
                  <a:cs typeface="Microsoft YaHei" charset="-122"/>
                </a:endParaRPr>
              </a:p>
              <a:p>
                <a:pPr fontAlgn="auto">
                  <a:lnSpc>
                    <a:spcPct val="150000"/>
                  </a:lnSpc>
                  <a:spcBef>
                    <a:spcPts val="0"/>
                  </a:spcBef>
                  <a:spcAft>
                    <a:spcPts val="0"/>
                  </a:spcAft>
                </a:pPr>
                <a:r>
                  <a:rPr lang="zh-CN" altLang="en-US" sz="1000">
                    <a:solidFill>
                      <a:srgbClr val="262626"/>
                    </a:solidFill>
                    <a:latin typeface="Microsoft YaHei" charset="-122"/>
                    <a:ea typeface="Microsoft YaHei" charset="-122"/>
                    <a:cs typeface="Microsoft YaHei" charset="-122"/>
                  </a:rPr>
                  <a:t>即：</a:t>
                </a:r>
                <a:endParaRPr lang="en-US" altLang="zh-CN" sz="1000">
                  <a:solidFill>
                    <a:srgbClr val="262626"/>
                  </a:solidFill>
                  <a:latin typeface="Microsoft YaHei" charset="-122"/>
                  <a:ea typeface="Microsoft YaHei" charset="-122"/>
                  <a:cs typeface="Microsoft YaHei" charset="-122"/>
                </a:endParaRPr>
              </a:p>
              <a:p>
                <a:pPr algn="ctr" fontAlgn="auto">
                  <a:lnSpc>
                    <a:spcPct val="150000"/>
                  </a:lnSpc>
                  <a:spcBef>
                    <a:spcPts val="0"/>
                  </a:spcBef>
                  <a:spcAft>
                    <a:spcPts val="0"/>
                  </a:spcAft>
                </a:pPr>
                <a:r>
                  <a:rPr lang="zh-CN" altLang="zh-CN" sz="1000" b="1">
                    <a:effectLst/>
                    <a:latin typeface="Microsoft YaHei" charset="-122"/>
                    <a:ea typeface="Microsoft YaHei" charset="-122"/>
                    <a:cs typeface="Microsoft YaHei" charset="-122"/>
                  </a:rPr>
                  <a:t> </a:t>
                </a:r>
                <a14:m>
                  <m:oMath xmlns:m="http://schemas.openxmlformats.org/officeDocument/2006/math">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𝟐</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𝟏</m:t>
                            </m:r>
                          </m:sub>
                        </m:sSub>
                      </m:e>
                    </m:d>
                    <m:r>
                      <a:rPr lang="en-US" altLang="zh-CN" sz="1000" b="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𝑷</m:t>
                    </m:r>
                    <m:d>
                      <m:dPr>
                        <m:ctrlPr>
                          <a:rPr lang="zh-CN" altLang="zh-CN" sz="1000" b="1" i="1">
                            <a:latin typeface="Cambria Math" panose="02040503050406030204" pitchFamily="18" charset="0"/>
                            <a:ea typeface="Microsoft YaHei" charset="-122"/>
                            <a:cs typeface="Microsoft YaHei" charset="-122"/>
                          </a:rPr>
                        </m:ctrlPr>
                      </m:dPr>
                      <m:e>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sub>
                        </m:sSub>
                        <m:r>
                          <a:rPr lang="en-US" altLang="zh-CN" sz="1000" b="1" i="1">
                            <a:latin typeface="Cambria Math" panose="02040503050406030204" pitchFamily="18" charset="0"/>
                            <a:ea typeface="Microsoft YaHei" charset="-122"/>
                            <a:cs typeface="Microsoft YaHei" charset="-122"/>
                          </a:rPr>
                          <m:t>|</m:t>
                        </m:r>
                        <m:sSub>
                          <m:sSubPr>
                            <m:ctrlPr>
                              <a:rPr lang="zh-CN" altLang="zh-CN" sz="1000" b="1" i="1">
                                <a:latin typeface="Cambria Math" panose="02040503050406030204" pitchFamily="18" charset="0"/>
                                <a:ea typeface="Microsoft YaHei" charset="-122"/>
                                <a:cs typeface="Microsoft YaHei" charset="-122"/>
                              </a:rPr>
                            </m:ctrlPr>
                          </m:sSubPr>
                          <m:e>
                            <m:r>
                              <a:rPr lang="en-US" altLang="zh-CN" sz="1000" b="1" i="1">
                                <a:latin typeface="Cambria Math" panose="02040503050406030204" pitchFamily="18" charset="0"/>
                                <a:ea typeface="Microsoft YaHei" charset="-122"/>
                                <a:cs typeface="Microsoft YaHei" charset="-122"/>
                              </a:rPr>
                              <m:t>𝒘</m:t>
                            </m:r>
                          </m:e>
                          <m:sub>
                            <m:r>
                              <a:rPr lang="en-US" altLang="zh-CN" sz="1000" b="1" i="1">
                                <a:latin typeface="Cambria Math" panose="02040503050406030204" pitchFamily="18" charset="0"/>
                                <a:ea typeface="Microsoft YaHei" charset="-122"/>
                                <a:cs typeface="Microsoft YaHei" charset="-122"/>
                              </a:rPr>
                              <m:t>𝒏</m:t>
                            </m:r>
                            <m:r>
                              <a:rPr lang="en-US" altLang="zh-CN" sz="1000" b="1" i="1">
                                <a:latin typeface="Cambria Math" panose="02040503050406030204" pitchFamily="18" charset="0"/>
                                <a:ea typeface="Microsoft YaHei" charset="-122"/>
                                <a:cs typeface="Microsoft YaHei" charset="-122"/>
                              </a:rPr>
                              <m:t>−</m:t>
                            </m:r>
                            <m:r>
                              <a:rPr lang="en-US" altLang="zh-CN" sz="1000" b="1" i="1">
                                <a:latin typeface="Cambria Math" panose="02040503050406030204" pitchFamily="18" charset="0"/>
                                <a:ea typeface="Microsoft YaHei" charset="-122"/>
                                <a:cs typeface="Microsoft YaHei" charset="-122"/>
                              </a:rPr>
                              <m:t>𝟏</m:t>
                            </m:r>
                          </m:sub>
                        </m:sSub>
                        <m:r>
                          <a:rPr lang="zh-CN" altLang="zh-CN" sz="1000" b="1" i="1">
                            <a:latin typeface="Cambria Math" panose="02040503050406030204" pitchFamily="18" charset="0"/>
                            <a:ea typeface="Microsoft YaHei" charset="-122"/>
                            <a:cs typeface="Microsoft YaHei" charset="-122"/>
                          </a:rPr>
                          <m:t> </m:t>
                        </m:r>
                      </m:e>
                    </m:d>
                  </m:oMath>
                </a14:m>
                <a:endParaRPr lang="en-US" altLang="zh-CN" sz="1000" b="1" dirty="0">
                  <a:solidFill>
                    <a:srgbClr val="FF0000"/>
                  </a:solidFill>
                  <a:latin typeface="Microsoft YaHei" charset="-122"/>
                  <a:ea typeface="Microsoft YaHei" charset="-122"/>
                  <a:cs typeface="Microsoft YaHei" charset="-122"/>
                </a:endParaRPr>
              </a:p>
              <a:p>
                <a:pPr fontAlgn="auto">
                  <a:lnSpc>
                    <a:spcPct val="150000"/>
                  </a:lnSpc>
                  <a:spcBef>
                    <a:spcPts val="0"/>
                  </a:spcBef>
                  <a:spcAft>
                    <a:spcPts val="0"/>
                  </a:spcAft>
                </a:pPr>
                <a:endParaRPr lang="en-US" altLang="zh-CN" sz="1000" dirty="0">
                  <a:solidFill>
                    <a:srgbClr val="FF0000"/>
                  </a:solidFill>
                  <a:latin typeface="Microsoft YaHei" charset="-122"/>
                  <a:ea typeface="Microsoft YaHei" charset="-122"/>
                  <a:cs typeface="Microsoft YaHei" charset="-122"/>
                </a:endParaRPr>
              </a:p>
              <a:p>
                <a:pPr fontAlgn="auto">
                  <a:lnSpc>
                    <a:spcPct val="150000"/>
                  </a:lnSpc>
                  <a:spcBef>
                    <a:spcPts val="0"/>
                  </a:spcBef>
                  <a:spcAft>
                    <a:spcPts val="0"/>
                  </a:spcAft>
                </a:pPr>
                <a:r>
                  <a:rPr lang="zh-CN" altLang="en-US" sz="1000" dirty="0">
                    <a:latin typeface="Microsoft YaHei" charset="-122"/>
                    <a:ea typeface="Microsoft YaHei" charset="-122"/>
                    <a:cs typeface="Microsoft YaHei" charset="-122"/>
                  </a:rPr>
                  <a:t>一个词语只和它</a:t>
                </a:r>
                <a:r>
                  <a:rPr lang="zh-CN" altLang="en-US" sz="1000">
                    <a:latin typeface="Microsoft YaHei" charset="-122"/>
                    <a:ea typeface="Microsoft YaHei" charset="-122"/>
                    <a:cs typeface="Microsoft YaHei" charset="-122"/>
                  </a:rPr>
                  <a:t>之前的有限个</a:t>
                </a:r>
                <a:r>
                  <a:rPr lang="zh-CN" altLang="en-US" sz="1000" dirty="0">
                    <a:latin typeface="Microsoft YaHei" charset="-122"/>
                    <a:ea typeface="Microsoft YaHei" charset="-122"/>
                    <a:cs typeface="Microsoft YaHei" charset="-122"/>
                  </a:rPr>
                  <a:t>词语相关，这种假设也被成为</a:t>
                </a:r>
                <a:r>
                  <a:rPr lang="zh-CN" altLang="en-US" sz="1000" b="1" dirty="0">
                    <a:solidFill>
                      <a:srgbClr val="FF0000"/>
                    </a:solidFill>
                    <a:latin typeface="Microsoft YaHei" charset="-122"/>
                    <a:ea typeface="Microsoft YaHei" charset="-122"/>
                    <a:cs typeface="Microsoft YaHei" charset="-122"/>
                  </a:rPr>
                  <a:t>马尔科夫假设</a:t>
                </a:r>
                <a:r>
                  <a:rPr lang="zh-CN" altLang="en-US" sz="1000" dirty="0">
                    <a:solidFill>
                      <a:srgbClr val="FF0000"/>
                    </a:solidFill>
                    <a:latin typeface="Microsoft YaHei" charset="-122"/>
                    <a:ea typeface="Microsoft YaHei" charset="-122"/>
                    <a:cs typeface="Microsoft YaHei" charset="-122"/>
                  </a:rPr>
                  <a:t>。</a:t>
                </a:r>
                <a:endParaRPr lang="en-US" altLang="zh-CN" sz="1000" dirty="0">
                  <a:solidFill>
                    <a:srgbClr val="FF0000"/>
                  </a:solidFill>
                  <a:latin typeface="Microsoft YaHei" charset="-122"/>
                  <a:ea typeface="Microsoft YaHei" charset="-122"/>
                  <a:cs typeface="Microsoft YaHei"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646131" y="1491630"/>
                <a:ext cx="4691063" cy="2631490"/>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6909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2"/>
          <p:cNvSpPr txBox="1">
            <a:spLocks noChangeArrowheads="1"/>
          </p:cNvSpPr>
          <p:nvPr/>
        </p:nvSpPr>
        <p:spPr bwMode="auto">
          <a:xfrm>
            <a:off x="628650" y="-37839"/>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ko-KR" sz="2400" b="1">
                <a:solidFill>
                  <a:srgbClr val="595959"/>
                </a:solidFill>
                <a:latin typeface="微软雅黑" charset="-122"/>
                <a:ea typeface="微软雅黑" charset="-122"/>
              </a:rPr>
              <a:t>N-gram </a:t>
            </a:r>
            <a:r>
              <a:rPr lang="zh-CN" altLang="en-US" sz="2400" b="1">
                <a:solidFill>
                  <a:srgbClr val="595959"/>
                </a:solidFill>
                <a:latin typeface="微软雅黑" charset="-122"/>
                <a:ea typeface="微软雅黑" charset="-122"/>
              </a:rPr>
              <a:t>语言模型</a:t>
            </a:r>
            <a:endParaRPr lang="ko-KR" altLang="en-US" sz="2400" b="1">
              <a:solidFill>
                <a:srgbClr val="595959"/>
              </a:solidFill>
              <a:latin typeface="微软雅黑" charset="-122"/>
              <a:ea typeface="微软雅黑" charset="-122"/>
            </a:endParaRPr>
          </a:p>
        </p:txBody>
      </p:sp>
      <p:sp>
        <p:nvSpPr>
          <p:cNvPr id="23554" name="Text Box 3"/>
          <p:cNvSpPr txBox="1">
            <a:spLocks noChangeArrowheads="1"/>
          </p:cNvSpPr>
          <p:nvPr/>
        </p:nvSpPr>
        <p:spPr bwMode="auto">
          <a:xfrm>
            <a:off x="668337" y="1020970"/>
            <a:ext cx="35147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en-US" altLang="ko-KR" b="1">
                <a:solidFill>
                  <a:srgbClr val="404040"/>
                </a:solidFill>
                <a:latin typeface="微软雅黑" charset="-122"/>
                <a:ea typeface="微软雅黑" charset="-122"/>
              </a:rPr>
              <a:t>N-gram</a:t>
            </a:r>
            <a:r>
              <a:rPr lang="zh-CN" altLang="en-US" b="1">
                <a:solidFill>
                  <a:srgbClr val="404040"/>
                </a:solidFill>
                <a:latin typeface="微软雅黑" charset="-122"/>
                <a:ea typeface="微软雅黑" charset="-122"/>
              </a:rPr>
              <a:t> 中的平滑</a:t>
            </a:r>
            <a:endParaRPr lang="ko-KR" altLang="en-US" b="1">
              <a:solidFill>
                <a:srgbClr val="404040"/>
              </a:solidFill>
              <a:latin typeface="微软雅黑" charset="-122"/>
              <a:ea typeface="微软雅黑" charset="-122"/>
            </a:endParaRPr>
          </a:p>
        </p:txBody>
      </p:sp>
      <p:sp>
        <p:nvSpPr>
          <p:cNvPr id="15365" name="Text Box 4">
            <a:extLst>
              <a:ext uri="{FF2B5EF4-FFF2-40B4-BE49-F238E27FC236}">
                <a16:creationId xmlns:a16="http://schemas.microsoft.com/office/drawing/2014/main" id="{4271B3E6-1580-204B-86AF-FDC043B3062A}"/>
              </a:ext>
            </a:extLst>
          </p:cNvPr>
          <p:cNvSpPr txBox="1">
            <a:spLocks noChangeArrowheads="1"/>
          </p:cNvSpPr>
          <p:nvPr/>
        </p:nvSpPr>
        <p:spPr bwMode="auto">
          <a:xfrm>
            <a:off x="668337" y="1511011"/>
            <a:ext cx="7936111" cy="303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000">
                <a:solidFill>
                  <a:srgbClr val="262626"/>
                </a:solidFill>
                <a:latin typeface="微软雅黑" charset="-122"/>
                <a:ea typeface="微软雅黑" charset="-122"/>
              </a:rPr>
              <a:t>当我们使用极大似然估计（</a:t>
            </a:r>
            <a:r>
              <a:rPr lang="en-US" altLang="zh-CN" sz="1000">
                <a:solidFill>
                  <a:srgbClr val="262626"/>
                </a:solidFill>
                <a:latin typeface="微软雅黑" charset="-122"/>
                <a:ea typeface="微软雅黑" charset="-122"/>
              </a:rPr>
              <a:t>MLE</a:t>
            </a:r>
            <a:r>
              <a:rPr lang="zh-CN" altLang="en-US" sz="1000">
                <a:solidFill>
                  <a:srgbClr val="262626"/>
                </a:solidFill>
                <a:latin typeface="微软雅黑" charset="-122"/>
                <a:ea typeface="微软雅黑" charset="-122"/>
              </a:rPr>
              <a:t>）来计算某个词语的概率的时候，会出现在语料库中出现的次数太少，或者是没有出现的现象，那么此时该单词算出来的概率就为</a:t>
            </a:r>
            <a:r>
              <a:rPr lang="en-US" altLang="zh-CN" sz="1000">
                <a:solidFill>
                  <a:srgbClr val="262626"/>
                </a:solidFill>
                <a:latin typeface="微软雅黑" charset="-122"/>
                <a:ea typeface="微软雅黑" charset="-122"/>
              </a:rPr>
              <a:t>0</a:t>
            </a:r>
            <a:r>
              <a:rPr lang="zh-CN" altLang="en-US" sz="1000">
                <a:solidFill>
                  <a:srgbClr val="262626"/>
                </a:solidFill>
                <a:latin typeface="微软雅黑" charset="-122"/>
                <a:ea typeface="微软雅黑" charset="-122"/>
              </a:rPr>
              <a:t>，那么会导致整个句子的概率为</a:t>
            </a:r>
            <a:r>
              <a:rPr lang="en-US" altLang="zh-CN" sz="1000">
                <a:solidFill>
                  <a:srgbClr val="262626"/>
                </a:solidFill>
                <a:latin typeface="微软雅黑" charset="-122"/>
                <a:ea typeface="微软雅黑" charset="-122"/>
              </a:rPr>
              <a:t>0</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OOV</a:t>
            </a:r>
            <a:r>
              <a:rPr lang="zh-CN" altLang="en-US" sz="1000">
                <a:solidFill>
                  <a:srgbClr val="262626"/>
                </a:solidFill>
                <a:latin typeface="微软雅黑" charset="-122"/>
                <a:ea typeface="微软雅黑" charset="-122"/>
              </a:rPr>
              <a:t>：</a:t>
            </a:r>
            <a:r>
              <a:rPr lang="en-US" altLang="zh-CN" sz="1000">
                <a:solidFill>
                  <a:srgbClr val="262626"/>
                </a:solidFill>
                <a:latin typeface="微软雅黑" charset="-122"/>
                <a:ea typeface="微软雅黑" charset="-122"/>
              </a:rPr>
              <a:t>out</a:t>
            </a:r>
            <a:r>
              <a:rPr lang="zh-CN" altLang="en-US" sz="1000">
                <a:solidFill>
                  <a:srgbClr val="262626"/>
                </a:solidFill>
                <a:latin typeface="微软雅黑" charset="-122"/>
                <a:ea typeface="微软雅黑" charset="-122"/>
              </a:rPr>
              <a:t> </a:t>
            </a:r>
            <a:r>
              <a:rPr lang="en-US" altLang="zh-CN" sz="1000">
                <a:solidFill>
                  <a:srgbClr val="262626"/>
                </a:solidFill>
                <a:latin typeface="微软雅黑" charset="-122"/>
                <a:ea typeface="微软雅黑" charset="-122"/>
              </a:rPr>
              <a:t>of</a:t>
            </a:r>
            <a:r>
              <a:rPr lang="zh-CN" altLang="en-US" sz="1000">
                <a:solidFill>
                  <a:srgbClr val="262626"/>
                </a:solidFill>
                <a:latin typeface="微软雅黑" charset="-122"/>
                <a:ea typeface="微软雅黑" charset="-122"/>
              </a:rPr>
              <a:t> </a:t>
            </a:r>
            <a:r>
              <a:rPr lang="en-US" altLang="zh-CN" sz="1000">
                <a:solidFill>
                  <a:srgbClr val="262626"/>
                </a:solidFill>
                <a:latin typeface="微软雅黑" charset="-122"/>
                <a:ea typeface="微软雅黑" charset="-122"/>
              </a:rPr>
              <a:t>vocabulary</a:t>
            </a:r>
            <a:r>
              <a:rPr lang="zh-CN" altLang="en-US" sz="1000">
                <a:solidFill>
                  <a:srgbClr val="262626"/>
                </a:solidFill>
                <a:latin typeface="微软雅黑" charset="-122"/>
                <a:ea typeface="微软雅黑" charset="-122"/>
              </a:rPr>
              <a:t>）。为了避免这个情况，我们使用</a:t>
            </a:r>
            <a:r>
              <a:rPr lang="zh-CN" altLang="en-US" sz="1000">
                <a:solidFill>
                  <a:srgbClr val="FF0000"/>
                </a:solidFill>
                <a:latin typeface="微软雅黑" charset="-122"/>
                <a:ea typeface="微软雅黑" charset="-122"/>
              </a:rPr>
              <a:t>平滑的方法，对计算的结果进行修正。</a:t>
            </a:r>
            <a:endParaRPr lang="en-US" altLang="zh-CN" sz="1000">
              <a:solidFill>
                <a:srgbClr val="FF0000"/>
              </a:solidFill>
              <a:latin typeface="微软雅黑" charset="-122"/>
              <a:ea typeface="微软雅黑" charset="-122"/>
            </a:endParaRPr>
          </a:p>
          <a:p>
            <a:pPr>
              <a:lnSpc>
                <a:spcPct val="150000"/>
              </a:lnSpc>
            </a:pPr>
            <a:endParaRPr lang="en-US" altLang="zh-CN" sz="1000">
              <a:solidFill>
                <a:srgbClr val="FF0000"/>
              </a:solidFill>
              <a:latin typeface="微软雅黑" charset="-122"/>
              <a:ea typeface="微软雅黑" charset="-122"/>
            </a:endParaRPr>
          </a:p>
          <a:p>
            <a:pPr>
              <a:lnSpc>
                <a:spcPct val="150000"/>
              </a:lnSpc>
            </a:pPr>
            <a:r>
              <a:rPr lang="zh-CN" altLang="en-US" sz="1000" b="1">
                <a:solidFill>
                  <a:srgbClr val="262626"/>
                </a:solidFill>
                <a:latin typeface="微软雅黑" charset="-122"/>
                <a:ea typeface="微软雅黑" charset="-122"/>
                <a:cs typeface="Calibri" charset="0"/>
              </a:rPr>
              <a:t>平滑过程中</a:t>
            </a:r>
            <a:r>
              <a:rPr lang="zh-CN" altLang="en-US" sz="1000">
                <a:solidFill>
                  <a:srgbClr val="262626"/>
                </a:solidFill>
                <a:latin typeface="微软雅黑" charset="-122"/>
                <a:ea typeface="微软雅黑" charset="-122"/>
                <a:cs typeface="Calibri" charset="0"/>
              </a:rPr>
              <a:t>：</a:t>
            </a:r>
            <a:r>
              <a:rPr lang="zh-CN" altLang="en-US" sz="1000">
                <a:solidFill>
                  <a:schemeClr val="tx1">
                    <a:lumMod val="75000"/>
                    <a:lumOff val="25000"/>
                  </a:schemeClr>
                </a:solidFill>
                <a:latin typeface="微软雅黑" charset="-122"/>
                <a:ea typeface="微软雅黑" charset="-122"/>
                <a:cs typeface="Calibri" charset="0"/>
              </a:rPr>
              <a:t>我们会</a:t>
            </a:r>
            <a:r>
              <a:rPr lang="zh-CN" altLang="en-US" sz="1000">
                <a:solidFill>
                  <a:srgbClr val="FF0000"/>
                </a:solidFill>
                <a:latin typeface="微软雅黑" charset="-122"/>
                <a:ea typeface="微软雅黑" charset="-122"/>
                <a:cs typeface="Calibri" charset="0"/>
              </a:rPr>
              <a:t>削减来自高计数的概率，</a:t>
            </a:r>
            <a:r>
              <a:rPr lang="zh-CN" altLang="en-US" sz="1000">
                <a:solidFill>
                  <a:schemeClr val="tx1">
                    <a:lumMod val="75000"/>
                    <a:lumOff val="25000"/>
                  </a:schemeClr>
                </a:solidFill>
                <a:latin typeface="微软雅黑" charset="-122"/>
                <a:ea typeface="微软雅黑" charset="-122"/>
                <a:cs typeface="Calibri" charset="0"/>
              </a:rPr>
              <a:t>然后去</a:t>
            </a:r>
            <a:r>
              <a:rPr lang="zh-CN" altLang="en-US" sz="1000">
                <a:solidFill>
                  <a:srgbClr val="FF0000"/>
                </a:solidFill>
                <a:latin typeface="微软雅黑" charset="-122"/>
                <a:ea typeface="微软雅黑" charset="-122"/>
                <a:cs typeface="Calibri" charset="0"/>
              </a:rPr>
              <a:t>填补</a:t>
            </a:r>
            <a:r>
              <a:rPr lang="en-US" altLang="zh-CN" sz="1000">
                <a:solidFill>
                  <a:srgbClr val="FF0000"/>
                </a:solidFill>
                <a:latin typeface="微软雅黑" charset="-122"/>
                <a:ea typeface="微软雅黑" charset="-122"/>
                <a:cs typeface="Calibri" charset="0"/>
              </a:rPr>
              <a:t>0</a:t>
            </a:r>
            <a:r>
              <a:rPr lang="zh-CN" altLang="en-US" sz="1000">
                <a:solidFill>
                  <a:srgbClr val="FF0000"/>
                </a:solidFill>
                <a:latin typeface="微软雅黑" charset="-122"/>
                <a:ea typeface="微软雅黑" charset="-122"/>
                <a:cs typeface="Calibri" charset="0"/>
              </a:rPr>
              <a:t>计数的概率</a:t>
            </a:r>
            <a:endParaRPr lang="en-US" altLang="zh-CN" sz="1000">
              <a:solidFill>
                <a:srgbClr val="FF0000"/>
              </a:solidFill>
              <a:latin typeface="微软雅黑" charset="-122"/>
              <a:ea typeface="微软雅黑" charset="-122"/>
              <a:cs typeface="Calibri" charset="0"/>
            </a:endParaRPr>
          </a:p>
          <a:p>
            <a:pPr>
              <a:lnSpc>
                <a:spcPct val="150000"/>
              </a:lnSpc>
            </a:pPr>
            <a:endParaRPr lang="en-US" altLang="ko-KR" sz="1000">
              <a:solidFill>
                <a:srgbClr val="000000"/>
              </a:solidFill>
              <a:latin typeface="微软雅黑" charset="-122"/>
              <a:ea typeface="微软雅黑" charset="-122"/>
              <a:cs typeface="Calibri" charset="0"/>
            </a:endParaRPr>
          </a:p>
          <a:p>
            <a:pPr>
              <a:lnSpc>
                <a:spcPct val="150000"/>
              </a:lnSpc>
              <a:spcAft>
                <a:spcPts val="600"/>
              </a:spcAft>
            </a:pPr>
            <a:r>
              <a:rPr lang="zh-CN" altLang="en-US" sz="1400" b="1">
                <a:solidFill>
                  <a:srgbClr val="404040"/>
                </a:solidFill>
                <a:latin typeface="微软雅黑" charset="-122"/>
                <a:ea typeface="微软雅黑" charset="-122"/>
              </a:rPr>
              <a:t>平滑的方法 </a:t>
            </a:r>
            <a:r>
              <a:rPr lang="en-US" altLang="zh-CN" sz="1400">
                <a:solidFill>
                  <a:srgbClr val="404040"/>
                </a:solidFill>
                <a:latin typeface="微软雅黑" charset="-122"/>
                <a:ea typeface="微软雅黑" charset="-122"/>
              </a:rPr>
              <a:t>(</a:t>
            </a:r>
            <a:r>
              <a:rPr lang="zh-CN" altLang="en-US" sz="1400">
                <a:solidFill>
                  <a:srgbClr val="404040"/>
                </a:solidFill>
                <a:latin typeface="微软雅黑" charset="-122"/>
                <a:ea typeface="微软雅黑" charset="-122"/>
              </a:rPr>
              <a:t>了解</a:t>
            </a:r>
            <a:r>
              <a:rPr lang="en-US" altLang="zh-CN" sz="1400">
                <a:solidFill>
                  <a:srgbClr val="404040"/>
                </a:solidFill>
                <a:latin typeface="微软雅黑" charset="-122"/>
                <a:ea typeface="微软雅黑" charset="-122"/>
              </a:rPr>
              <a:t>)</a:t>
            </a:r>
            <a:r>
              <a:rPr lang="zh-CN" altLang="en-US" sz="1400" b="1">
                <a:solidFill>
                  <a:srgbClr val="404040"/>
                </a:solidFill>
                <a:latin typeface="微软雅黑" charset="-122"/>
                <a:ea typeface="微软雅黑" charset="-122"/>
              </a:rPr>
              <a:t>：</a:t>
            </a:r>
            <a:endParaRPr lang="en-US" altLang="zh-CN" sz="1400" b="1">
              <a:solidFill>
                <a:srgbClr val="404040"/>
              </a:solidFill>
              <a:latin typeface="微软雅黑" charset="-122"/>
              <a:ea typeface="微软雅黑" charset="-122"/>
            </a:endParaRPr>
          </a:p>
          <a:p>
            <a:pPr marL="228600" indent="-228600">
              <a:lnSpc>
                <a:spcPct val="150000"/>
              </a:lnSpc>
              <a:buFont typeface="+mj-lt"/>
              <a:buAutoNum type="arabicPeriod"/>
            </a:pPr>
            <a:r>
              <a:rPr lang="en-US" altLang="zh-CN" sz="1000">
                <a:solidFill>
                  <a:srgbClr val="000000"/>
                </a:solidFill>
                <a:latin typeface="微软雅黑" charset="-122"/>
                <a:ea typeface="微软雅黑" charset="-122"/>
                <a:cs typeface="Calibri" charset="0"/>
              </a:rPr>
              <a:t>Laplace</a:t>
            </a:r>
            <a:r>
              <a:rPr lang="zh-CN" altLang="en-US" sz="1000">
                <a:solidFill>
                  <a:srgbClr val="000000"/>
                </a:solidFill>
                <a:latin typeface="微软雅黑" charset="-122"/>
                <a:ea typeface="微软雅黑" charset="-122"/>
                <a:cs typeface="Calibri" charset="0"/>
              </a:rPr>
              <a:t>平滑（又称为加</a:t>
            </a:r>
            <a:r>
              <a:rPr lang="en-US" altLang="zh-CN" sz="1000">
                <a:solidFill>
                  <a:srgbClr val="000000"/>
                </a:solidFill>
                <a:latin typeface="微软雅黑" charset="-122"/>
                <a:ea typeface="微软雅黑" charset="-122"/>
                <a:cs typeface="Calibri" charset="0"/>
              </a:rPr>
              <a:t>1</a:t>
            </a:r>
            <a:r>
              <a:rPr lang="zh-CN" altLang="en-US" sz="1000">
                <a:solidFill>
                  <a:srgbClr val="000000"/>
                </a:solidFill>
                <a:latin typeface="微软雅黑" charset="-122"/>
                <a:ea typeface="微软雅黑" charset="-122"/>
                <a:cs typeface="Calibri" charset="0"/>
              </a:rPr>
              <a:t>平滑）</a:t>
            </a:r>
            <a:endParaRPr lang="en-US" altLang="zh-CN" sz="1000">
              <a:solidFill>
                <a:srgbClr val="000000"/>
              </a:solidFill>
              <a:latin typeface="微软雅黑" charset="-122"/>
              <a:ea typeface="微软雅黑" charset="-122"/>
              <a:cs typeface="Calibri" charset="0"/>
            </a:endParaRPr>
          </a:p>
          <a:p>
            <a:pPr marL="228600" indent="-228600">
              <a:lnSpc>
                <a:spcPct val="150000"/>
              </a:lnSpc>
              <a:buFont typeface="+mj-lt"/>
              <a:buAutoNum type="arabicPeriod"/>
            </a:pPr>
            <a:r>
              <a:rPr lang="en-US" altLang="ko-KR" sz="1000">
                <a:solidFill>
                  <a:srgbClr val="262626"/>
                </a:solidFill>
                <a:latin typeface="微软雅黑" charset="-122"/>
                <a:ea typeface="微软雅黑" charset="-122"/>
                <a:cs typeface="Calibri" charset="0"/>
              </a:rPr>
              <a:t>Good</a:t>
            </a:r>
            <a:r>
              <a:rPr lang="en-US" altLang="zh-CN" sz="1000">
                <a:solidFill>
                  <a:srgbClr val="262626"/>
                </a:solidFill>
                <a:latin typeface="微软雅黑" charset="-122"/>
                <a:ea typeface="微软雅黑" charset="-122"/>
                <a:cs typeface="Calibri" charset="0"/>
              </a:rPr>
              <a:t>-Turing</a:t>
            </a:r>
            <a:r>
              <a:rPr lang="zh-CN" altLang="en-US" sz="1000">
                <a:solidFill>
                  <a:srgbClr val="262626"/>
                </a:solidFill>
                <a:latin typeface="微软雅黑" charset="-122"/>
                <a:ea typeface="微软雅黑" charset="-122"/>
                <a:cs typeface="Calibri" charset="0"/>
              </a:rPr>
              <a:t>打折法</a:t>
            </a:r>
            <a:endParaRPr lang="en-US" altLang="zh-CN" sz="1000">
              <a:solidFill>
                <a:srgbClr val="262626"/>
              </a:solidFill>
              <a:latin typeface="微软雅黑" charset="-122"/>
              <a:ea typeface="微软雅黑" charset="-122"/>
              <a:cs typeface="Calibri" charset="0"/>
            </a:endParaRPr>
          </a:p>
          <a:p>
            <a:pPr marL="228600" indent="-228600">
              <a:lnSpc>
                <a:spcPct val="150000"/>
              </a:lnSpc>
              <a:buFont typeface="+mj-lt"/>
              <a:buAutoNum type="arabicPeriod"/>
            </a:pPr>
            <a:r>
              <a:rPr lang="zh-CN" altLang="en-US" sz="1000">
                <a:solidFill>
                  <a:srgbClr val="262626"/>
                </a:solidFill>
                <a:latin typeface="微软雅黑" charset="-122"/>
                <a:ea typeface="微软雅黑" charset="-122"/>
                <a:cs typeface="Calibri" charset="0"/>
              </a:rPr>
              <a:t>插值法</a:t>
            </a:r>
            <a:endParaRPr lang="en-US" altLang="zh-CN" sz="1000">
              <a:solidFill>
                <a:srgbClr val="262626"/>
              </a:solidFill>
              <a:latin typeface="微软雅黑" charset="-122"/>
              <a:ea typeface="微软雅黑" charset="-122"/>
              <a:cs typeface="Calibri" charset="0"/>
            </a:endParaRPr>
          </a:p>
          <a:p>
            <a:pPr marL="228600" indent="-228600">
              <a:lnSpc>
                <a:spcPct val="150000"/>
              </a:lnSpc>
              <a:buFont typeface="+mj-lt"/>
              <a:buAutoNum type="arabicPeriod"/>
            </a:pPr>
            <a:r>
              <a:rPr lang="zh-CN" altLang="en-US" sz="1000">
                <a:solidFill>
                  <a:srgbClr val="262626"/>
                </a:solidFill>
                <a:latin typeface="微软雅黑" charset="-122"/>
                <a:ea typeface="微软雅黑" charset="-122"/>
                <a:cs typeface="Calibri" charset="0"/>
              </a:rPr>
              <a:t>回退法</a:t>
            </a:r>
            <a:endParaRPr lang="en-US" altLang="zh-CN" sz="1000">
              <a:solidFill>
                <a:srgbClr val="262626"/>
              </a:solidFill>
              <a:latin typeface="微软雅黑" charset="-122"/>
              <a:ea typeface="微软雅黑" charset="-122"/>
              <a:cs typeface="Calibri" charset="0"/>
            </a:endParaRPr>
          </a:p>
          <a:p>
            <a:pPr marL="228600" indent="-228600">
              <a:lnSpc>
                <a:spcPct val="150000"/>
              </a:lnSpc>
              <a:buFont typeface="+mj-lt"/>
              <a:buAutoNum type="arabicPeriod"/>
            </a:pPr>
            <a:r>
              <a:rPr lang="en-US" altLang="zh-CN" sz="1000">
                <a:solidFill>
                  <a:srgbClr val="262626"/>
                </a:solidFill>
                <a:latin typeface="微软雅黑" charset="-122"/>
                <a:ea typeface="微软雅黑" charset="-122"/>
                <a:cs typeface="Calibri" charset="0"/>
              </a:rPr>
              <a:t>Kneser-Ney</a:t>
            </a:r>
            <a:r>
              <a:rPr lang="zh-CN" altLang="en-US" sz="1000">
                <a:solidFill>
                  <a:srgbClr val="262626"/>
                </a:solidFill>
                <a:latin typeface="微软雅黑" charset="-122"/>
                <a:ea typeface="微软雅黑" charset="-122"/>
                <a:cs typeface="Calibri" charset="0"/>
              </a:rPr>
              <a:t>平滑法</a:t>
            </a:r>
            <a:endParaRPr lang="en-US" altLang="ko-KR" sz="1000">
              <a:solidFill>
                <a:srgbClr val="262626"/>
              </a:solidFill>
              <a:latin typeface="微软雅黑" charset="-122"/>
              <a:ea typeface="微软雅黑" charset="-122"/>
              <a:cs typeface="Calibri"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6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36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ko-KR" sz="2400" b="1">
                <a:solidFill>
                  <a:srgbClr val="595959"/>
                </a:solidFill>
                <a:latin typeface="微软雅黑" charset="-122"/>
                <a:ea typeface="微软雅黑" charset="-122"/>
              </a:rPr>
              <a:t>N-gram </a:t>
            </a:r>
            <a:r>
              <a:rPr lang="zh-CN" altLang="en-US" sz="2400" b="1">
                <a:solidFill>
                  <a:srgbClr val="595959"/>
                </a:solidFill>
                <a:latin typeface="微软雅黑" charset="-122"/>
                <a:ea typeface="微软雅黑" charset="-122"/>
              </a:rPr>
              <a:t>语言模型</a:t>
            </a:r>
            <a:endParaRPr lang="ko-KR" altLang="en-US" sz="2400" b="1">
              <a:solidFill>
                <a:srgbClr val="595959"/>
              </a:solidFill>
              <a:latin typeface="微软雅黑" charset="-122"/>
              <a:ea typeface="微软雅黑" charset="-122"/>
            </a:endParaRPr>
          </a:p>
        </p:txBody>
      </p:sp>
      <p:sp>
        <p:nvSpPr>
          <p:cNvPr id="24578" name="Text Box 3"/>
          <p:cNvSpPr txBox="1">
            <a:spLocks noChangeArrowheads="1"/>
          </p:cNvSpPr>
          <p:nvPr/>
        </p:nvSpPr>
        <p:spPr bwMode="auto">
          <a:xfrm>
            <a:off x="647441" y="771550"/>
            <a:ext cx="56753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en-US" altLang="ko-KR" b="1">
                <a:solidFill>
                  <a:srgbClr val="404040"/>
                </a:solidFill>
                <a:latin typeface="微软雅黑" charset="-122"/>
                <a:ea typeface="微软雅黑" charset="-122"/>
              </a:rPr>
              <a:t>N-gram</a:t>
            </a:r>
            <a:r>
              <a:rPr lang="zh-CN" altLang="en-US" b="1">
                <a:solidFill>
                  <a:srgbClr val="404040"/>
                </a:solidFill>
                <a:latin typeface="微软雅黑" charset="-122"/>
                <a:ea typeface="微软雅黑" charset="-122"/>
              </a:rPr>
              <a:t> 模型的评估：困惑度（</a:t>
            </a:r>
            <a:r>
              <a:rPr lang="en-US" altLang="zh-CN" b="1">
                <a:solidFill>
                  <a:srgbClr val="404040"/>
                </a:solidFill>
                <a:latin typeface="微软雅黑" charset="-122"/>
                <a:ea typeface="微软雅黑" charset="-122"/>
              </a:rPr>
              <a:t>perplexity</a:t>
            </a:r>
            <a:r>
              <a:rPr lang="zh-CN" altLang="en-US" b="1">
                <a:solidFill>
                  <a:srgbClr val="404040"/>
                </a:solidFill>
                <a:latin typeface="微软雅黑" charset="-122"/>
                <a:ea typeface="微软雅黑" charset="-122"/>
              </a:rPr>
              <a:t>，</a:t>
            </a:r>
            <a:r>
              <a:rPr lang="en-US" altLang="zh-CN" b="1">
                <a:solidFill>
                  <a:srgbClr val="404040"/>
                </a:solidFill>
                <a:latin typeface="微软雅黑" charset="-122"/>
                <a:ea typeface="微软雅黑" charset="-122"/>
              </a:rPr>
              <a:t>PP</a:t>
            </a:r>
            <a:r>
              <a:rPr lang="zh-CN" altLang="en-US" b="1">
                <a:solidFill>
                  <a:srgbClr val="404040"/>
                </a:solidFill>
                <a:latin typeface="微软雅黑" charset="-122"/>
                <a:ea typeface="微软雅黑" charset="-122"/>
              </a:rPr>
              <a:t>）</a:t>
            </a:r>
            <a:endParaRPr lang="ko-KR" altLang="en-US" b="1">
              <a:solidFill>
                <a:srgbClr val="404040"/>
              </a:solidFill>
              <a:latin typeface="微软雅黑" charset="-122"/>
              <a:ea typeface="微软雅黑" charset="-122"/>
            </a:endParaRPr>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660471" y="1383255"/>
                <a:ext cx="7777360" cy="36496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100">
                    <a:solidFill>
                      <a:srgbClr val="262626"/>
                    </a:solidFill>
                    <a:latin typeface="微软雅黑" charset="-122"/>
                    <a:ea typeface="微软雅黑" charset="-122"/>
                    <a:cs typeface="Calibri" charset="0"/>
                  </a:rPr>
                  <a:t>在测试集上，我们经常使用困惑度来判断语言模型的好坏，</a:t>
                </a:r>
                <a:r>
                  <a:rPr lang="zh-CN" altLang="en-US" sz="1100">
                    <a:solidFill>
                      <a:srgbClr val="FF0000"/>
                    </a:solidFill>
                    <a:latin typeface="微软雅黑" charset="-122"/>
                    <a:ea typeface="微软雅黑" charset="-122"/>
                    <a:cs typeface="Calibri" charset="0"/>
                  </a:rPr>
                  <a:t>困惑度是语言模型指派给测试集的概率函数</a:t>
                </a:r>
                <a:endParaRPr lang="en-US" altLang="zh-CN" sz="1100">
                  <a:solidFill>
                    <a:srgbClr val="FF0000"/>
                  </a:solidFill>
                  <a:latin typeface="微软雅黑" charset="-122"/>
                  <a:ea typeface="微软雅黑" charset="-122"/>
                  <a:cs typeface="Calibri" charset="0"/>
                </a:endParaRPr>
              </a:p>
              <a:p>
                <a:pPr>
                  <a:lnSpc>
                    <a:spcPct val="150000"/>
                  </a:lnSpc>
                  <a:spcAft>
                    <a:spcPts val="600"/>
                  </a:spcAft>
                </a:pPr>
                <a:r>
                  <a:rPr lang="zh-CN" altLang="en-US" sz="1100">
                    <a:solidFill>
                      <a:srgbClr val="262626"/>
                    </a:solidFill>
                    <a:latin typeface="Microsoft YaHei" charset="-122"/>
                    <a:ea typeface="Microsoft YaHei" charset="-122"/>
                    <a:cs typeface="Microsoft YaHei" charset="-122"/>
                  </a:rPr>
                  <a:t>对于测试集 </a:t>
                </a:r>
                <a14:m>
                  <m:oMath xmlns:m="http://schemas.openxmlformats.org/officeDocument/2006/math">
                    <m:sSub>
                      <m:sSubPr>
                        <m:ctrlPr>
                          <a:rPr lang="zh-CN" altLang="zh-CN" sz="1100" i="1">
                            <a:latin typeface="Cambria Math" panose="02040503050406030204" pitchFamily="18" charset="0"/>
                            <a:ea typeface="Microsoft YaHei" charset="-122"/>
                            <a:cs typeface="Microsoft YaHei" charset="-122"/>
                          </a:rPr>
                        </m:ctrlPr>
                      </m:sSubPr>
                      <m:e>
                        <m:r>
                          <a:rPr lang="en-US" altLang="zh-CN" sz="1100" b="0" i="1">
                            <a:latin typeface="Cambria Math" panose="02040503050406030204" pitchFamily="18" charset="0"/>
                            <a:ea typeface="Microsoft YaHei" charset="-122"/>
                            <a:cs typeface="Microsoft YaHei" charset="-122"/>
                          </a:rPr>
                          <m:t>𝑊</m:t>
                        </m:r>
                        <m:r>
                          <a:rPr lang="en-US" altLang="zh-CN" sz="1100" b="0" i="1">
                            <a:latin typeface="Cambria Math" panose="02040503050406030204" pitchFamily="18" charset="0"/>
                            <a:ea typeface="Microsoft YaHei" charset="-122"/>
                            <a:cs typeface="Microsoft YaHei" charset="-122"/>
                          </a:rPr>
                          <m:t>=</m:t>
                        </m:r>
                        <m:r>
                          <a:rPr lang="en-US" altLang="zh-CN" sz="1100" i="1">
                            <a:latin typeface="Cambria Math" panose="02040503050406030204" pitchFamily="18" charset="0"/>
                            <a:ea typeface="Microsoft YaHei" charset="-122"/>
                            <a:cs typeface="Microsoft YaHei" charset="-122"/>
                          </a:rPr>
                          <m:t>𝑤</m:t>
                        </m:r>
                      </m:e>
                      <m:sub>
                        <m:r>
                          <a:rPr lang="en-US" altLang="zh-CN" sz="1100" i="1">
                            <a:latin typeface="Cambria Math" panose="02040503050406030204" pitchFamily="18" charset="0"/>
                            <a:ea typeface="Microsoft YaHei" charset="-122"/>
                            <a:cs typeface="Microsoft YaHei" charset="-122"/>
                          </a:rPr>
                          <m:t>1,</m:t>
                        </m:r>
                      </m:sub>
                    </m:sSub>
                    <m:sSub>
                      <m:sSubPr>
                        <m:ctrlPr>
                          <a:rPr lang="zh-CN" altLang="zh-CN" sz="1100" i="1">
                            <a:latin typeface="Cambria Math" panose="02040503050406030204" pitchFamily="18" charset="0"/>
                            <a:ea typeface="Microsoft YaHei" charset="-122"/>
                            <a:cs typeface="Microsoft YaHei" charset="-122"/>
                          </a:rPr>
                        </m:ctrlPr>
                      </m:sSubPr>
                      <m:e>
                        <m:r>
                          <a:rPr lang="en-US" altLang="zh-CN" sz="1100" i="1">
                            <a:latin typeface="Cambria Math" panose="02040503050406030204" pitchFamily="18" charset="0"/>
                            <a:ea typeface="Microsoft YaHei" charset="-122"/>
                            <a:cs typeface="Microsoft YaHei" charset="-122"/>
                          </a:rPr>
                          <m:t>𝑤</m:t>
                        </m:r>
                      </m:e>
                      <m:sub>
                        <m:r>
                          <a:rPr lang="en-US" altLang="zh-CN" sz="1100" i="1">
                            <a:latin typeface="Cambria Math" panose="02040503050406030204" pitchFamily="18" charset="0"/>
                            <a:ea typeface="Microsoft YaHei" charset="-122"/>
                            <a:cs typeface="Microsoft YaHei" charset="-122"/>
                          </a:rPr>
                          <m:t>2,</m:t>
                        </m:r>
                      </m:sub>
                    </m:sSub>
                    <m:r>
                      <a:rPr lang="en-US" altLang="zh-CN" sz="1100" i="1">
                        <a:latin typeface="Cambria Math" panose="02040503050406030204" pitchFamily="18" charset="0"/>
                        <a:ea typeface="Microsoft YaHei" charset="-122"/>
                        <a:cs typeface="Microsoft YaHei" charset="-122"/>
                      </a:rPr>
                      <m:t>…</m:t>
                    </m:r>
                    <m:sSub>
                      <m:sSubPr>
                        <m:ctrlPr>
                          <a:rPr lang="zh-CN" altLang="zh-CN" sz="1100" i="1">
                            <a:latin typeface="Cambria Math" panose="02040503050406030204" pitchFamily="18" charset="0"/>
                            <a:ea typeface="Microsoft YaHei" charset="-122"/>
                            <a:cs typeface="Microsoft YaHei" charset="-122"/>
                          </a:rPr>
                        </m:ctrlPr>
                      </m:sSubPr>
                      <m:e>
                        <m:r>
                          <a:rPr lang="en-US" altLang="zh-CN" sz="1100" i="1">
                            <a:latin typeface="Cambria Math" panose="02040503050406030204" pitchFamily="18" charset="0"/>
                            <a:ea typeface="Microsoft YaHei" charset="-122"/>
                            <a:cs typeface="Microsoft YaHei" charset="-122"/>
                          </a:rPr>
                          <m:t>𝑤</m:t>
                        </m:r>
                      </m:e>
                      <m:sub>
                        <m:r>
                          <a:rPr lang="en-US" altLang="zh-CN" sz="1100" i="1">
                            <a:latin typeface="Cambria Math" panose="02040503050406030204" pitchFamily="18" charset="0"/>
                            <a:ea typeface="Microsoft YaHei" charset="-122"/>
                            <a:cs typeface="Microsoft YaHei" charset="-122"/>
                          </a:rPr>
                          <m:t>𝑛</m:t>
                        </m:r>
                      </m:sub>
                    </m:sSub>
                  </m:oMath>
                </a14:m>
                <a:r>
                  <a:rPr lang="zh-CN" altLang="zh-CN" sz="1100">
                    <a:effectLst/>
                    <a:latin typeface="Microsoft YaHei" charset="-122"/>
                    <a:ea typeface="Microsoft YaHei" charset="-122"/>
                    <a:cs typeface="Microsoft YaHei" charset="-122"/>
                  </a:rPr>
                  <a:t> </a:t>
                </a:r>
                <a:r>
                  <a:rPr lang="zh-CN" altLang="en-US" sz="1100">
                    <a:effectLst/>
                    <a:latin typeface="Microsoft YaHei" charset="-122"/>
                    <a:ea typeface="Microsoft YaHei" charset="-122"/>
                    <a:cs typeface="Microsoft YaHei" charset="-122"/>
                  </a:rPr>
                  <a:t>，困惑度的计算如下：</a:t>
                </a:r>
                <a:endParaRPr lang="en-US" altLang="zh-CN" sz="1100">
                  <a:effectLst/>
                  <a:latin typeface="Microsoft YaHei" charset="-122"/>
                  <a:ea typeface="Microsoft YaHei" charset="-122"/>
                  <a:cs typeface="Microsoft YaHei" charset="-122"/>
                </a:endParaRPr>
              </a:p>
              <a:p>
                <a:pPr>
                  <a:lnSpc>
                    <a:spcPct val="150000"/>
                  </a:lnSpc>
                </a:pPr>
                <a14:m>
                  <m:oMathPara xmlns:m="http://schemas.openxmlformats.org/officeDocument/2006/math">
                    <m:oMathParaPr>
                      <m:jc m:val="centerGroup"/>
                    </m:oMathParaPr>
                    <m:oMath xmlns:m="http://schemas.openxmlformats.org/officeDocument/2006/math">
                      <m:sSup>
                        <m:sSupPr>
                          <m:ctrlPr>
                            <a:rPr lang="zh-CN" altLang="zh-CN" sz="1100" b="1" i="1">
                              <a:latin typeface="Cambria Math" panose="02040503050406030204" pitchFamily="18" charset="0"/>
                              <a:ea typeface="Microsoft YaHei" charset="-122"/>
                              <a:cs typeface="Microsoft YaHei" charset="-122"/>
                            </a:rPr>
                          </m:ctrlPr>
                        </m:sSupPr>
                        <m:e>
                          <m:r>
                            <a:rPr lang="en-US" altLang="zh-CN" sz="1100" b="1" i="1">
                              <a:latin typeface="Cambria Math" panose="02040503050406030204" pitchFamily="18" charset="0"/>
                              <a:ea typeface="Microsoft YaHei" charset="-122"/>
                              <a:cs typeface="Microsoft YaHei" charset="-122"/>
                            </a:rPr>
                            <m:t>𝑷𝑷</m:t>
                          </m:r>
                          <m:d>
                            <m:dPr>
                              <m:ctrlPr>
                                <a:rPr lang="zh-CN" altLang="zh-CN" sz="1100" b="1" i="1">
                                  <a:latin typeface="Cambria Math" panose="02040503050406030204" pitchFamily="18" charset="0"/>
                                  <a:ea typeface="Microsoft YaHei" charset="-122"/>
                                  <a:cs typeface="Microsoft YaHei" charset="-122"/>
                                </a:rPr>
                              </m:ctrlPr>
                            </m:dPr>
                            <m:e>
                              <m:r>
                                <a:rPr lang="en-US" altLang="zh-CN" sz="1100" b="1" i="1">
                                  <a:latin typeface="Cambria Math" panose="02040503050406030204" pitchFamily="18" charset="0"/>
                                  <a:ea typeface="Microsoft YaHei" charset="-122"/>
                                  <a:cs typeface="Microsoft YaHei" charset="-122"/>
                                </a:rPr>
                                <m:t>𝒘</m:t>
                              </m:r>
                            </m:e>
                          </m:d>
                          <m:r>
                            <a:rPr lang="en-US" altLang="zh-CN" sz="1100" b="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𝑷</m:t>
                          </m:r>
                          <m:r>
                            <a:rPr lang="zh-CN" altLang="zh-CN" sz="1100" b="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𝟏</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𝟐</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𝒏</m:t>
                              </m:r>
                            </m:sub>
                          </m:sSub>
                          <m:r>
                            <a:rPr lang="zh-CN" altLang="zh-CN" sz="1100" b="1">
                              <a:latin typeface="Cambria Math" panose="02040503050406030204" pitchFamily="18" charset="0"/>
                              <a:ea typeface="Microsoft YaHei" charset="-122"/>
                              <a:cs typeface="Microsoft YaHei" charset="-122"/>
                            </a:rPr>
                            <m:t>）</m:t>
                          </m:r>
                        </m:e>
                        <m:sup>
                          <m:r>
                            <a:rPr lang="en-US" altLang="zh-CN" sz="1100" b="1" i="1">
                              <a:latin typeface="Cambria Math" panose="02040503050406030204" pitchFamily="18" charset="0"/>
                              <a:ea typeface="Microsoft YaHei" charset="-122"/>
                              <a:cs typeface="Microsoft YaHei" charset="-122"/>
                            </a:rPr>
                            <m:t>−</m:t>
                          </m:r>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r>
                                <a:rPr lang="en-US" altLang="zh-CN" sz="1100" b="1" i="1">
                                  <a:latin typeface="Cambria Math" panose="02040503050406030204" pitchFamily="18" charset="0"/>
                                  <a:ea typeface="Microsoft YaHei" charset="-122"/>
                                  <a:cs typeface="Microsoft YaHei" charset="-122"/>
                                </a:rPr>
                                <m:t>𝒏</m:t>
                              </m:r>
                            </m:den>
                          </m:f>
                        </m:sup>
                      </m:sSup>
                      <m:r>
                        <a:rPr lang="en-US" altLang="zh-CN" sz="1100" b="1" i="1">
                          <a:latin typeface="Cambria Math" panose="02040503050406030204" pitchFamily="18" charset="0"/>
                          <a:ea typeface="Microsoft YaHei" charset="-122"/>
                          <a:cs typeface="Microsoft YaHei" charset="-122"/>
                        </a:rPr>
                        <m:t>=</m:t>
                      </m:r>
                      <m:sSup>
                        <m:sSupPr>
                          <m:ctrlPr>
                            <a:rPr lang="zh-CN" altLang="zh-CN" sz="1100" b="1" i="1">
                              <a:latin typeface="Cambria Math" panose="02040503050406030204" pitchFamily="18" charset="0"/>
                              <a:ea typeface="Microsoft YaHei" charset="-122"/>
                              <a:cs typeface="Microsoft YaHei" charset="-122"/>
                            </a:rPr>
                          </m:ctrlPr>
                        </m:sSupPr>
                        <m:e>
                          <m:nary>
                            <m:naryPr>
                              <m:chr m:val="∏"/>
                              <m:limLoc m:val="undOvr"/>
                              <m:ctrlPr>
                                <a:rPr lang="zh-CN" altLang="zh-CN" sz="1100" b="1" i="1">
                                  <a:latin typeface="Cambria Math" panose="02040503050406030204" pitchFamily="18" charset="0"/>
                                  <a:ea typeface="Microsoft YaHei" charset="-122"/>
                                  <a:cs typeface="Microsoft YaHei" charset="-122"/>
                                </a:rPr>
                              </m:ctrlPr>
                            </m:naryPr>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up>
                              <m:r>
                                <a:rPr lang="en-US" altLang="zh-CN" sz="1100" b="1" i="1">
                                  <a:latin typeface="Cambria Math" panose="02040503050406030204" pitchFamily="18" charset="0"/>
                                  <a:ea typeface="Microsoft YaHei" charset="-122"/>
                                  <a:cs typeface="Microsoft YaHei" charset="-122"/>
                                </a:rPr>
                                <m:t>𝒏</m:t>
                              </m:r>
                            </m:sup>
                            <m:e>
                              <m:r>
                                <a:rPr lang="en-US" altLang="zh-CN" sz="1100" b="1" i="1">
                                  <a:latin typeface="Cambria Math" panose="02040503050406030204" pitchFamily="18" charset="0"/>
                                  <a:ea typeface="Microsoft YaHei" charset="-122"/>
                                  <a:cs typeface="Microsoft YaHei" charset="-122"/>
                                </a:rPr>
                                <m:t>𝑷</m:t>
                              </m:r>
                              <m:r>
                                <a:rPr lang="zh-CN" altLang="zh-CN" sz="1100" b="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𝟏</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Sub>
                              <m:r>
                                <a:rPr lang="zh-CN" altLang="zh-CN" sz="1100" b="1">
                                  <a:latin typeface="Cambria Math" panose="02040503050406030204" pitchFamily="18" charset="0"/>
                                  <a:ea typeface="Microsoft YaHei" charset="-122"/>
                                  <a:cs typeface="Microsoft YaHei" charset="-122"/>
                                </a:rPr>
                                <m:t>）</m:t>
                              </m:r>
                            </m:e>
                          </m:nary>
                        </m:e>
                        <m:sup>
                          <m:r>
                            <a:rPr lang="en-US" altLang="zh-CN" sz="1100" b="1" i="1">
                              <a:latin typeface="Cambria Math" panose="02040503050406030204" pitchFamily="18" charset="0"/>
                              <a:ea typeface="Microsoft YaHei" charset="-122"/>
                              <a:cs typeface="Microsoft YaHei" charset="-122"/>
                            </a:rPr>
                            <m:t>−</m:t>
                          </m:r>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r>
                                <a:rPr lang="en-US" altLang="zh-CN" sz="1100" b="1" i="1">
                                  <a:latin typeface="Cambria Math" panose="02040503050406030204" pitchFamily="18" charset="0"/>
                                  <a:ea typeface="Microsoft YaHei" charset="-122"/>
                                  <a:cs typeface="Microsoft YaHei" charset="-122"/>
                                </a:rPr>
                                <m:t>𝒏</m:t>
                              </m:r>
                            </m:den>
                          </m:f>
                        </m:sup>
                      </m:sSup>
                      <m:r>
                        <a:rPr lang="en-US" altLang="zh-CN" sz="1100" b="1" i="1">
                          <a:latin typeface="Cambria Math" panose="02040503050406030204" pitchFamily="18" charset="0"/>
                          <a:ea typeface="Microsoft YaHei" charset="-122"/>
                          <a:cs typeface="Microsoft YaHei" charset="-122"/>
                        </a:rPr>
                        <m:t>=</m:t>
                      </m:r>
                      <m:rad>
                        <m:radPr>
                          <m:ctrlPr>
                            <a:rPr lang="zh-CN" altLang="zh-CN" sz="1100" b="1" i="1">
                              <a:latin typeface="Cambria Math" panose="02040503050406030204" pitchFamily="18" charset="0"/>
                              <a:ea typeface="Microsoft YaHei" charset="-122"/>
                              <a:cs typeface="Microsoft YaHei" charset="-122"/>
                            </a:rPr>
                          </m:ctrlPr>
                        </m:radPr>
                        <m:deg>
                          <m:r>
                            <a:rPr lang="en-US" altLang="zh-CN" sz="1100" b="1" i="1">
                              <a:latin typeface="Cambria Math" panose="02040503050406030204" pitchFamily="18" charset="0"/>
                              <a:ea typeface="Microsoft YaHei" charset="-122"/>
                              <a:cs typeface="Microsoft YaHei" charset="-122"/>
                            </a:rPr>
                            <m:t>𝒏</m:t>
                          </m:r>
                        </m:deg>
                        <m:e>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nary>
                                <m:naryPr>
                                  <m:chr m:val="∏"/>
                                  <m:limLoc m:val="subSup"/>
                                  <m:ctrlPr>
                                    <a:rPr lang="zh-CN" altLang="zh-CN" sz="1100" b="1" i="1">
                                      <a:latin typeface="Cambria Math" panose="02040503050406030204" pitchFamily="18" charset="0"/>
                                      <a:ea typeface="Microsoft YaHei" charset="-122"/>
                                      <a:cs typeface="Microsoft YaHei" charset="-122"/>
                                    </a:rPr>
                                  </m:ctrlPr>
                                </m:naryPr>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up>
                                  <m:r>
                                    <a:rPr lang="en-US" altLang="zh-CN" sz="1100" b="1" i="1">
                                      <a:latin typeface="Cambria Math" panose="02040503050406030204" pitchFamily="18" charset="0"/>
                                      <a:ea typeface="Microsoft YaHei" charset="-122"/>
                                      <a:cs typeface="Microsoft YaHei" charset="-122"/>
                                    </a:rPr>
                                    <m:t>𝒏</m:t>
                                  </m:r>
                                </m:sup>
                                <m:e>
                                  <m:r>
                                    <a:rPr lang="en-US" altLang="zh-CN" sz="1100" b="1" i="1">
                                      <a:latin typeface="Cambria Math" panose="02040503050406030204" pitchFamily="18" charset="0"/>
                                      <a:ea typeface="Microsoft YaHei" charset="-122"/>
                                      <a:cs typeface="Microsoft YaHei" charset="-122"/>
                                    </a:rPr>
                                    <m:t>𝑷</m:t>
                                  </m:r>
                                  <m:r>
                                    <a:rPr lang="zh-CN" altLang="zh-CN" sz="1100" b="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𝟏</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Sub>
                                  <m:r>
                                    <a:rPr lang="zh-CN" altLang="zh-CN" sz="1100" b="1">
                                      <a:latin typeface="Cambria Math" panose="02040503050406030204" pitchFamily="18" charset="0"/>
                                      <a:ea typeface="Microsoft YaHei" charset="-122"/>
                                      <a:cs typeface="Microsoft YaHei" charset="-122"/>
                                    </a:rPr>
                                    <m:t>）</m:t>
                                  </m:r>
                                </m:e>
                              </m:nary>
                            </m:den>
                          </m:f>
                        </m:e>
                      </m:rad>
                    </m:oMath>
                  </m:oMathPara>
                </a14:m>
                <a:endParaRPr lang="zh-CN" altLang="zh-CN" sz="1100" b="1">
                  <a:latin typeface="Microsoft YaHei" charset="-122"/>
                  <a:ea typeface="Microsoft YaHei" charset="-122"/>
                  <a:cs typeface="Microsoft YaHei" charset="-122"/>
                </a:endParaRPr>
              </a:p>
              <a:p>
                <a:pPr>
                  <a:lnSpc>
                    <a:spcPct val="150000"/>
                  </a:lnSpc>
                  <a:spcAft>
                    <a:spcPts val="600"/>
                  </a:spcAft>
                </a:pPr>
                <a:r>
                  <a:rPr lang="zh-CN" altLang="zh-CN" sz="1100">
                    <a:latin typeface="Microsoft YaHei" charset="-122"/>
                    <a:ea typeface="Microsoft YaHei" charset="-122"/>
                    <a:cs typeface="Microsoft YaHei" charset="-122"/>
                  </a:rPr>
                  <a:t>对于二</a:t>
                </a:r>
                <a:r>
                  <a:rPr lang="zh-CN" altLang="en-US" sz="1100">
                    <a:latin typeface="Microsoft YaHei" charset="-122"/>
                    <a:ea typeface="Microsoft YaHei" charset="-122"/>
                    <a:cs typeface="Microsoft YaHei" charset="-122"/>
                  </a:rPr>
                  <a:t>元</a:t>
                </a:r>
                <a:r>
                  <a:rPr lang="zh-CN" altLang="zh-CN" sz="1100">
                    <a:latin typeface="Microsoft YaHei" charset="-122"/>
                    <a:ea typeface="Microsoft YaHei" charset="-122"/>
                    <a:cs typeface="Microsoft YaHei" charset="-122"/>
                  </a:rPr>
                  <a:t>语法模型的时候：</a:t>
                </a:r>
                <a:r>
                  <a:rPr lang="zh-CN" altLang="zh-CN" sz="1100" b="1">
                    <a:latin typeface="Microsoft YaHei" charset="-122"/>
                    <a:ea typeface="Microsoft YaHei" charset="-122"/>
                    <a:cs typeface="Microsoft YaHei" charset="-122"/>
                  </a:rPr>
                  <a:t>上式</a:t>
                </a:r>
                <a:r>
                  <a:rPr lang="en-US" altLang="zh-CN" sz="1100" b="1">
                    <a:latin typeface="Microsoft YaHei" charset="-122"/>
                    <a:ea typeface="Microsoft YaHei" charset="-122"/>
                    <a:cs typeface="Microsoft YaHei" charset="-122"/>
                  </a:rPr>
                  <a:t>=</a:t>
                </a:r>
                <a14:m>
                  <m:oMath xmlns:m="http://schemas.openxmlformats.org/officeDocument/2006/math">
                    <m:r>
                      <a:rPr lang="en-US" altLang="zh-CN" sz="1100" b="1" i="1">
                        <a:latin typeface="Cambria Math" panose="02040503050406030204" pitchFamily="18" charset="0"/>
                        <a:ea typeface="Microsoft YaHei" charset="-122"/>
                        <a:cs typeface="Microsoft YaHei" charset="-122"/>
                      </a:rPr>
                      <m:t>(</m:t>
                    </m:r>
                    <m:sSup>
                      <m:sSupPr>
                        <m:ctrlPr>
                          <a:rPr lang="zh-CN" altLang="zh-CN" sz="1100" b="1" i="1">
                            <a:latin typeface="Cambria Math" panose="02040503050406030204" pitchFamily="18" charset="0"/>
                            <a:ea typeface="Microsoft YaHei" charset="-122"/>
                            <a:cs typeface="Microsoft YaHei" charset="-122"/>
                          </a:rPr>
                        </m:ctrlPr>
                      </m:sSupPr>
                      <m:e>
                        <m:nary>
                          <m:naryPr>
                            <m:chr m:val="∏"/>
                            <m:limLoc m:val="subSup"/>
                            <m:ctrlPr>
                              <a:rPr lang="zh-CN" altLang="zh-CN" sz="1100" b="1" i="1">
                                <a:latin typeface="Cambria Math" panose="02040503050406030204" pitchFamily="18" charset="0"/>
                                <a:ea typeface="Microsoft YaHei" charset="-122"/>
                                <a:cs typeface="Microsoft YaHei" charset="-122"/>
                              </a:rPr>
                            </m:ctrlPr>
                          </m:naryPr>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up>
                            <m:r>
                              <a:rPr lang="en-US" altLang="zh-CN" sz="1100" b="1" i="1">
                                <a:latin typeface="Cambria Math" panose="02040503050406030204" pitchFamily="18" charset="0"/>
                                <a:ea typeface="Microsoft YaHei" charset="-122"/>
                                <a:cs typeface="Microsoft YaHei" charset="-122"/>
                              </a:rPr>
                              <m:t>𝒏</m:t>
                            </m:r>
                          </m:sup>
                          <m:e>
                            <m:r>
                              <a:rPr lang="en-US" altLang="zh-CN" sz="1100" b="1" i="1">
                                <a:latin typeface="Cambria Math" panose="02040503050406030204" pitchFamily="18" charset="0"/>
                                <a:ea typeface="Microsoft YaHei" charset="-122"/>
                                <a:cs typeface="Microsoft YaHei" charset="-122"/>
                              </a:rPr>
                              <m:t>𝑷</m:t>
                            </m:r>
                            <m:r>
                              <a:rPr lang="zh-CN" altLang="zh-CN" sz="1100" b="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sub>
                            </m:sSub>
                            <m:r>
                              <a:rPr lang="en-US" altLang="zh-CN" sz="1100" b="1" i="1">
                                <a:latin typeface="Cambria Math" panose="02040503050406030204" pitchFamily="18" charset="0"/>
                                <a:ea typeface="Microsoft YaHei" charset="-122"/>
                                <a:cs typeface="Microsoft YaHei" charset="-122"/>
                              </a:rPr>
                              <m:t>|</m:t>
                            </m:r>
                            <m:sSub>
                              <m:sSubPr>
                                <m:ctrlPr>
                                  <a:rPr lang="zh-CN" altLang="zh-CN" sz="1100" b="1" i="1">
                                    <a:latin typeface="Cambria Math" panose="02040503050406030204" pitchFamily="18" charset="0"/>
                                    <a:ea typeface="Microsoft YaHei" charset="-122"/>
                                    <a:cs typeface="Microsoft YaHei" charset="-122"/>
                                  </a:rPr>
                                </m:ctrlPr>
                              </m:sSubPr>
                              <m:e>
                                <m:r>
                                  <a:rPr lang="en-US" altLang="zh-CN" sz="1100" b="1" i="1">
                                    <a:latin typeface="Cambria Math" panose="02040503050406030204" pitchFamily="18" charset="0"/>
                                    <a:ea typeface="Microsoft YaHei" charset="-122"/>
                                    <a:cs typeface="Microsoft YaHei" charset="-122"/>
                                  </a:rPr>
                                  <m:t>𝒘</m:t>
                                </m:r>
                              </m:e>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Sub>
                            <m:r>
                              <a:rPr lang="zh-CN" altLang="zh-CN" sz="1100" b="1">
                                <a:latin typeface="Cambria Math" panose="02040503050406030204" pitchFamily="18" charset="0"/>
                                <a:ea typeface="Microsoft YaHei" charset="-122"/>
                                <a:cs typeface="Microsoft YaHei" charset="-122"/>
                              </a:rPr>
                              <m:t>）</m:t>
                            </m:r>
                          </m:e>
                        </m:nary>
                        <m:r>
                          <a:rPr lang="en-US" altLang="zh-CN" sz="1100" b="1" i="1">
                            <a:latin typeface="Cambria Math" panose="02040503050406030204" pitchFamily="18" charset="0"/>
                            <a:ea typeface="Microsoft YaHei" charset="-122"/>
                            <a:cs typeface="Microsoft YaHei" charset="-122"/>
                          </a:rPr>
                          <m:t>)</m:t>
                        </m:r>
                      </m:e>
                      <m:sup>
                        <m:r>
                          <a:rPr lang="en-US" altLang="zh-CN" sz="1100" b="1" i="1">
                            <a:latin typeface="Cambria Math" panose="02040503050406030204" pitchFamily="18" charset="0"/>
                            <a:ea typeface="Microsoft YaHei" charset="-122"/>
                            <a:cs typeface="Microsoft YaHei" charset="-122"/>
                          </a:rPr>
                          <m:t>−</m:t>
                        </m:r>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r>
                              <a:rPr lang="en-US" altLang="zh-CN" sz="1100" b="1" i="1">
                                <a:latin typeface="Cambria Math" panose="02040503050406030204" pitchFamily="18" charset="0"/>
                                <a:ea typeface="Microsoft YaHei" charset="-122"/>
                                <a:cs typeface="Microsoft YaHei" charset="-122"/>
                              </a:rPr>
                              <m:t>𝒏</m:t>
                            </m:r>
                          </m:den>
                        </m:f>
                      </m:sup>
                    </m:sSup>
                  </m:oMath>
                </a14:m>
                <a:endParaRPr lang="zh-CN" altLang="zh-CN" sz="1100" b="1">
                  <a:latin typeface="Microsoft YaHei" charset="-122"/>
                  <a:ea typeface="Microsoft YaHei" charset="-122"/>
                  <a:cs typeface="Microsoft YaHei" charset="-122"/>
                </a:endParaRPr>
              </a:p>
              <a:p>
                <a:pPr>
                  <a:lnSpc>
                    <a:spcPct val="150000"/>
                  </a:lnSpc>
                  <a:spcAft>
                    <a:spcPts val="600"/>
                  </a:spcAft>
                </a:pPr>
                <a:r>
                  <a:rPr lang="zh-CN" altLang="zh-CN" sz="1100">
                    <a:latin typeface="Microsoft YaHei" charset="-122"/>
                    <a:ea typeface="Microsoft YaHei" charset="-122"/>
                    <a:cs typeface="Microsoft YaHei" charset="-122"/>
                  </a:rPr>
                  <a:t>由此</a:t>
                </a:r>
                <a:r>
                  <a:rPr lang="zh-CN" altLang="en-US" sz="1100">
                    <a:latin typeface="Microsoft YaHei" charset="-122"/>
                    <a:ea typeface="Microsoft YaHei" charset="-122"/>
                    <a:cs typeface="Microsoft YaHei" charset="-122"/>
                  </a:rPr>
                  <a:t>可见：</a:t>
                </a:r>
                <a:r>
                  <a:rPr lang="zh-CN" altLang="zh-CN" sz="1100">
                    <a:solidFill>
                      <a:srgbClr val="FF0000"/>
                    </a:solidFill>
                    <a:latin typeface="Microsoft YaHei" charset="-122"/>
                    <a:ea typeface="Microsoft YaHei" charset="-122"/>
                    <a:cs typeface="Microsoft YaHei" charset="-122"/>
                  </a:rPr>
                  <a:t>如果某个词语的组合困惑度越小，意味着其中单词概率的乘积越大</a:t>
                </a:r>
              </a:p>
              <a:p>
                <a:pPr>
                  <a:lnSpc>
                    <a:spcPct val="150000"/>
                  </a:lnSpc>
                </a:pPr>
                <a:r>
                  <a:rPr lang="zh-CN" altLang="zh-CN" sz="1100" b="1">
                    <a:latin typeface="Microsoft YaHei" charset="-122"/>
                    <a:ea typeface="Microsoft YaHei" charset="-122"/>
                    <a:cs typeface="Microsoft YaHei" charset="-122"/>
                  </a:rPr>
                  <a:t>例如</a:t>
                </a:r>
                <a:r>
                  <a:rPr lang="zh-CN" altLang="zh-CN" sz="1100">
                    <a:latin typeface="Microsoft YaHei" charset="-122"/>
                    <a:ea typeface="Microsoft YaHei" charset="-122"/>
                    <a:cs typeface="Microsoft YaHei" charset="-122"/>
                  </a:rPr>
                  <a:t>：我们有一个序列，包含</a:t>
                </a:r>
                <a:r>
                  <a:rPr lang="en-US" altLang="zh-CN" sz="1100">
                    <a:latin typeface="Microsoft YaHei" charset="-122"/>
                    <a:ea typeface="Microsoft YaHei" charset="-122"/>
                    <a:cs typeface="Microsoft YaHei" charset="-122"/>
                  </a:rPr>
                  <a:t>10</a:t>
                </a:r>
                <a:r>
                  <a:rPr lang="zh-CN" altLang="zh-CN" sz="1100">
                    <a:latin typeface="Microsoft YaHei" charset="-122"/>
                    <a:ea typeface="Microsoft YaHei" charset="-122"/>
                    <a:cs typeface="Microsoft YaHei" charset="-122"/>
                  </a:rPr>
                  <a:t>个词语，每个词语出现的概率都相等为</a:t>
                </a:r>
                <a:r>
                  <a:rPr lang="en-US" altLang="zh-CN" sz="1100">
                    <a:latin typeface="Microsoft YaHei" charset="-122"/>
                    <a:ea typeface="Microsoft YaHei" charset="-122"/>
                    <a:cs typeface="Microsoft YaHei" charset="-122"/>
                  </a:rPr>
                  <a:t>1/10</a:t>
                </a:r>
                <a:r>
                  <a:rPr lang="zh-CN" altLang="zh-CN" sz="1100">
                    <a:latin typeface="Microsoft YaHei" charset="-122"/>
                    <a:ea typeface="Microsoft YaHei" charset="-122"/>
                    <a:cs typeface="Microsoft YaHei" charset="-122"/>
                  </a:rPr>
                  <a:t>，那么此时序列的困惑度为多少？</a:t>
                </a:r>
              </a:p>
              <a:p>
                <a:pPr>
                  <a:lnSpc>
                    <a:spcPct val="150000"/>
                  </a:lnSpc>
                </a:pPr>
                <a14:m>
                  <m:oMathPara xmlns:m="http://schemas.openxmlformats.org/officeDocument/2006/math">
                    <m:oMathParaPr>
                      <m:jc m:val="centerGroup"/>
                    </m:oMathParaPr>
                    <m:oMath xmlns:m="http://schemas.openxmlformats.org/officeDocument/2006/math">
                      <m:r>
                        <a:rPr lang="en-US" altLang="zh-CN" sz="1100" b="1" i="1">
                          <a:latin typeface="Cambria Math" panose="02040503050406030204" pitchFamily="18" charset="0"/>
                          <a:ea typeface="Microsoft YaHei" charset="-122"/>
                          <a:cs typeface="Microsoft YaHei" charset="-122"/>
                        </a:rPr>
                        <m:t>𝑷𝑷</m:t>
                      </m:r>
                      <m:d>
                        <m:dPr>
                          <m:begChr m:val="（"/>
                          <m:endChr m:val="）"/>
                          <m:ctrlPr>
                            <a:rPr lang="zh-CN" altLang="zh-CN" sz="1100" b="1" i="1">
                              <a:latin typeface="Cambria Math" panose="02040503050406030204" pitchFamily="18" charset="0"/>
                              <a:ea typeface="Microsoft YaHei" charset="-122"/>
                              <a:cs typeface="Microsoft YaHei" charset="-122"/>
                            </a:rPr>
                          </m:ctrlPr>
                        </m:dPr>
                        <m:e>
                          <m:r>
                            <a:rPr lang="en-US" altLang="zh-CN" sz="1100" b="1" i="1">
                              <a:latin typeface="Cambria Math" panose="02040503050406030204" pitchFamily="18" charset="0"/>
                              <a:ea typeface="Microsoft YaHei" charset="-122"/>
                              <a:cs typeface="Microsoft YaHei" charset="-122"/>
                            </a:rPr>
                            <m:t>𝑾</m:t>
                          </m:r>
                        </m:e>
                      </m:d>
                      <m:r>
                        <a:rPr lang="en-US" altLang="zh-CN" sz="1100" b="1" i="1">
                          <a:latin typeface="Cambria Math" panose="02040503050406030204" pitchFamily="18" charset="0"/>
                          <a:ea typeface="Microsoft YaHei" charset="-122"/>
                          <a:cs typeface="Microsoft YaHei" charset="-122"/>
                        </a:rPr>
                        <m:t>=</m:t>
                      </m:r>
                      <m:rad>
                        <m:radPr>
                          <m:ctrlPr>
                            <a:rPr lang="zh-CN" altLang="zh-CN" sz="1100" b="1" i="1">
                              <a:latin typeface="Cambria Math" panose="02040503050406030204" pitchFamily="18" charset="0"/>
                              <a:ea typeface="Microsoft YaHei" charset="-122"/>
                              <a:cs typeface="Microsoft YaHei" charset="-122"/>
                            </a:rPr>
                          </m:ctrlPr>
                        </m:radPr>
                        <m:deg>
                          <m:r>
                            <a:rPr lang="en-US" altLang="zh-CN" sz="1100" b="1" i="1">
                              <a:latin typeface="Cambria Math" panose="02040503050406030204" pitchFamily="18" charset="0"/>
                              <a:ea typeface="Microsoft YaHei" charset="-122"/>
                              <a:cs typeface="Microsoft YaHei" charset="-122"/>
                            </a:rPr>
                            <m:t>𝟏𝟎</m:t>
                          </m:r>
                        </m:deg>
                        <m:e>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nary>
                                <m:naryPr>
                                  <m:chr m:val="∏"/>
                                  <m:limLoc m:val="subSup"/>
                                  <m:ctrlPr>
                                    <a:rPr lang="zh-CN" altLang="zh-CN" sz="1100" b="1" i="1">
                                      <a:latin typeface="Cambria Math" panose="02040503050406030204" pitchFamily="18" charset="0"/>
                                      <a:ea typeface="Microsoft YaHei" charset="-122"/>
                                      <a:cs typeface="Microsoft YaHei" charset="-122"/>
                                    </a:rPr>
                                  </m:ctrlPr>
                                </m:naryPr>
                                <m:sub>
                                  <m:r>
                                    <a:rPr lang="en-US" altLang="zh-CN" sz="1100" b="1" i="1">
                                      <a:latin typeface="Cambria Math" panose="02040503050406030204" pitchFamily="18" charset="0"/>
                                      <a:ea typeface="Microsoft YaHei" charset="-122"/>
                                      <a:cs typeface="Microsoft YaHei" charset="-122"/>
                                    </a:rPr>
                                    <m:t>𝒊</m:t>
                                  </m:r>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m:t>
                                  </m:r>
                                </m:sub>
                                <m:sup>
                                  <m:r>
                                    <a:rPr lang="en-US" altLang="zh-CN" sz="1100" b="1" i="1">
                                      <a:latin typeface="Cambria Math" panose="02040503050406030204" pitchFamily="18" charset="0"/>
                                      <a:ea typeface="Microsoft YaHei" charset="-122"/>
                                      <a:cs typeface="Microsoft YaHei" charset="-122"/>
                                    </a:rPr>
                                    <m:t>𝟏𝟎</m:t>
                                  </m:r>
                                </m:sup>
                                <m:e>
                                  <m:f>
                                    <m:fPr>
                                      <m:ctrlPr>
                                        <a:rPr lang="zh-CN" altLang="zh-CN" sz="1100" b="1" i="1">
                                          <a:latin typeface="Cambria Math" panose="02040503050406030204" pitchFamily="18" charset="0"/>
                                          <a:ea typeface="Microsoft YaHei" charset="-122"/>
                                          <a:cs typeface="Microsoft YaHei" charset="-122"/>
                                        </a:rPr>
                                      </m:ctrlPr>
                                    </m:fPr>
                                    <m:num>
                                      <m:r>
                                        <a:rPr lang="en-US" altLang="zh-CN" sz="1100" b="1" i="1">
                                          <a:latin typeface="Cambria Math" panose="02040503050406030204" pitchFamily="18" charset="0"/>
                                          <a:ea typeface="Microsoft YaHei" charset="-122"/>
                                          <a:cs typeface="Microsoft YaHei" charset="-122"/>
                                        </a:rPr>
                                        <m:t>𝟏</m:t>
                                      </m:r>
                                    </m:num>
                                    <m:den>
                                      <m:r>
                                        <a:rPr lang="en-US" altLang="zh-CN" sz="1100" b="1" i="1">
                                          <a:latin typeface="Cambria Math" panose="02040503050406030204" pitchFamily="18" charset="0"/>
                                          <a:ea typeface="Microsoft YaHei" charset="-122"/>
                                          <a:cs typeface="Microsoft YaHei" charset="-122"/>
                                        </a:rPr>
                                        <m:t>𝟏𝟎</m:t>
                                      </m:r>
                                    </m:den>
                                  </m:f>
                                </m:e>
                              </m:nary>
                            </m:den>
                          </m:f>
                        </m:e>
                      </m:rad>
                      <m:r>
                        <a:rPr lang="en-US" altLang="zh-CN" sz="1100" b="1" i="1">
                          <a:latin typeface="Cambria Math" panose="02040503050406030204" pitchFamily="18" charset="0"/>
                          <a:ea typeface="Microsoft YaHei" charset="-122"/>
                          <a:cs typeface="Microsoft YaHei" charset="-122"/>
                        </a:rPr>
                        <m:t>=</m:t>
                      </m:r>
                      <m:r>
                        <a:rPr lang="en-US" altLang="zh-CN" sz="1100" b="1" i="1">
                          <a:latin typeface="Cambria Math" panose="02040503050406030204" pitchFamily="18" charset="0"/>
                          <a:ea typeface="Microsoft YaHei" charset="-122"/>
                          <a:cs typeface="Microsoft YaHei" charset="-122"/>
                        </a:rPr>
                        <m:t>𝟏𝟎</m:t>
                      </m:r>
                    </m:oMath>
                  </m:oMathPara>
                </a14:m>
                <a:endParaRPr lang="zh-CN" altLang="zh-CN" sz="1100" b="1">
                  <a:latin typeface="Microsoft YaHei" charset="-122"/>
                  <a:ea typeface="Microsoft YaHei" charset="-122"/>
                  <a:cs typeface="Microsoft YaHei" charset="-122"/>
                </a:endParaRPr>
              </a:p>
              <a:p>
                <a:pPr>
                  <a:lnSpc>
                    <a:spcPct val="150000"/>
                  </a:lnSpc>
                  <a:spcAft>
                    <a:spcPts val="600"/>
                  </a:spcAft>
                </a:pPr>
                <a:endParaRPr lang="en-US" altLang="zh-CN" sz="1100">
                  <a:solidFill>
                    <a:srgbClr val="262626"/>
                  </a:solidFill>
                  <a:latin typeface="微软雅黑" charset="-122"/>
                  <a:ea typeface="微软雅黑" charset="-122"/>
                  <a:cs typeface="Calibri"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660471" y="1383255"/>
                <a:ext cx="7777360" cy="3649653"/>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92313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en-US" altLang="ko-KR" sz="2400" b="1">
                <a:solidFill>
                  <a:srgbClr val="595959"/>
                </a:solidFill>
                <a:latin typeface="微软雅黑" charset="-122"/>
                <a:ea typeface="微软雅黑" charset="-122"/>
              </a:rPr>
              <a:t>N-gram </a:t>
            </a:r>
            <a:r>
              <a:rPr lang="zh-CN" altLang="en-US" sz="2400" b="1">
                <a:solidFill>
                  <a:srgbClr val="595959"/>
                </a:solidFill>
                <a:latin typeface="微软雅黑" charset="-122"/>
                <a:ea typeface="微软雅黑" charset="-122"/>
              </a:rPr>
              <a:t>语言模型</a:t>
            </a:r>
            <a:endParaRPr lang="ko-KR" altLang="en-US" sz="2400" b="1">
              <a:solidFill>
                <a:srgbClr val="595959"/>
              </a:solidFill>
              <a:latin typeface="微软雅黑" charset="-122"/>
              <a:ea typeface="微软雅黑" charset="-122"/>
            </a:endParaRPr>
          </a:p>
        </p:txBody>
      </p:sp>
      <p:sp>
        <p:nvSpPr>
          <p:cNvPr id="25602" name="Text Box 3"/>
          <p:cNvSpPr txBox="1">
            <a:spLocks noChangeArrowheads="1"/>
          </p:cNvSpPr>
          <p:nvPr/>
        </p:nvSpPr>
        <p:spPr bwMode="auto">
          <a:xfrm>
            <a:off x="628650" y="887809"/>
            <a:ext cx="56753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en-US" altLang="ko-KR" b="1">
                <a:solidFill>
                  <a:srgbClr val="404040"/>
                </a:solidFill>
                <a:latin typeface="微软雅黑" charset="-122"/>
                <a:ea typeface="微软雅黑" charset="-122"/>
              </a:rPr>
              <a:t>N-gram</a:t>
            </a:r>
            <a:r>
              <a:rPr lang="zh-CN" altLang="en-US" b="1">
                <a:solidFill>
                  <a:srgbClr val="404040"/>
                </a:solidFill>
                <a:latin typeface="微软雅黑" charset="-122"/>
                <a:ea typeface="微软雅黑" charset="-122"/>
              </a:rPr>
              <a:t> 语言模型的局限性</a:t>
            </a:r>
            <a:endParaRPr lang="ko-KR" altLang="en-US" b="1">
              <a:solidFill>
                <a:srgbClr val="404040"/>
              </a:solidFill>
              <a:latin typeface="微软雅黑" charset="-122"/>
              <a:ea typeface="微软雅黑" charset="-122"/>
            </a:endParaRPr>
          </a:p>
        </p:txBody>
      </p:sp>
      <p:sp>
        <p:nvSpPr>
          <p:cNvPr id="25603" name="Text Box 4"/>
          <p:cNvSpPr txBox="1">
            <a:spLocks noChangeArrowheads="1"/>
          </p:cNvSpPr>
          <p:nvPr/>
        </p:nvSpPr>
        <p:spPr bwMode="auto">
          <a:xfrm>
            <a:off x="628650" y="1419622"/>
            <a:ext cx="7777360" cy="1184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spcAft>
                <a:spcPts val="600"/>
              </a:spcAft>
            </a:pPr>
            <a:r>
              <a:rPr lang="zh-CN" altLang="en-US" sz="1100">
                <a:solidFill>
                  <a:srgbClr val="262626"/>
                </a:solidFill>
                <a:latin typeface="微软雅黑" charset="-122"/>
                <a:ea typeface="微软雅黑" charset="-122"/>
                <a:cs typeface="Calibri" charset="0"/>
              </a:rPr>
              <a:t>基于最大似然估计的语言模型很容易训练，可解释性强，也可以扩充到大规模语料。但是仍然有几个重要的缺点：</a:t>
            </a:r>
            <a:endParaRPr lang="en-US" altLang="zh-CN" sz="1100">
              <a:solidFill>
                <a:srgbClr val="262626"/>
              </a:solidFill>
              <a:latin typeface="微软雅黑" charset="-122"/>
              <a:ea typeface="微软雅黑" charset="-122"/>
              <a:cs typeface="Calibri" charset="0"/>
            </a:endParaRPr>
          </a:p>
          <a:p>
            <a:pPr>
              <a:lnSpc>
                <a:spcPct val="150000"/>
              </a:lnSpc>
            </a:pPr>
            <a:r>
              <a:rPr lang="en-US" altLang="zh-CN" sz="1100">
                <a:solidFill>
                  <a:srgbClr val="262626"/>
                </a:solidFill>
                <a:latin typeface="微软雅黑" charset="-122"/>
                <a:ea typeface="微软雅黑" charset="-122"/>
                <a:cs typeface="Calibri" charset="0"/>
              </a:rPr>
              <a:t>1.</a:t>
            </a:r>
            <a:r>
              <a:rPr lang="zh-CN" altLang="en-US" sz="1100">
                <a:solidFill>
                  <a:srgbClr val="262626"/>
                </a:solidFill>
                <a:latin typeface="微软雅黑" charset="-122"/>
                <a:ea typeface="微软雅黑" charset="-122"/>
                <a:cs typeface="Calibri" charset="0"/>
              </a:rPr>
              <a:t> 人工设计的 </a:t>
            </a:r>
            <a:r>
              <a:rPr lang="en-US" altLang="zh-CN" sz="1100">
                <a:solidFill>
                  <a:srgbClr val="262626"/>
                </a:solidFill>
                <a:latin typeface="微软雅黑" charset="-122"/>
                <a:ea typeface="微软雅黑" charset="-122"/>
                <a:cs typeface="Calibri" charset="0"/>
              </a:rPr>
              <a:t>N</a:t>
            </a:r>
            <a:r>
              <a:rPr lang="zh-CN" altLang="en-US" sz="1100">
                <a:solidFill>
                  <a:srgbClr val="262626"/>
                </a:solidFill>
                <a:latin typeface="微软雅黑" charset="-122"/>
                <a:ea typeface="微软雅黑" charset="-122"/>
                <a:cs typeface="Calibri" charset="0"/>
              </a:rPr>
              <a:t> 元模型无法捕捉更长距离的依赖关系</a:t>
            </a:r>
            <a:endParaRPr lang="en-US" altLang="zh-CN" sz="1100">
              <a:solidFill>
                <a:srgbClr val="262626"/>
              </a:solidFill>
              <a:latin typeface="微软雅黑" charset="-122"/>
              <a:ea typeface="微软雅黑" charset="-122"/>
              <a:cs typeface="Calibri" charset="0"/>
            </a:endParaRPr>
          </a:p>
          <a:p>
            <a:pPr>
              <a:lnSpc>
                <a:spcPct val="150000"/>
              </a:lnSpc>
            </a:pPr>
            <a:r>
              <a:rPr lang="en-US" altLang="zh-CN" sz="1100">
                <a:solidFill>
                  <a:srgbClr val="262626"/>
                </a:solidFill>
                <a:latin typeface="微软雅黑" charset="-122"/>
                <a:ea typeface="微软雅黑" charset="-122"/>
                <a:cs typeface="Calibri" charset="0"/>
              </a:rPr>
              <a:t>2.</a:t>
            </a:r>
            <a:r>
              <a:rPr lang="zh-CN" altLang="en-US" sz="1100">
                <a:solidFill>
                  <a:srgbClr val="262626"/>
                </a:solidFill>
                <a:latin typeface="微软雅黑" charset="-122"/>
                <a:ea typeface="微软雅黑" charset="-122"/>
                <a:cs typeface="Calibri" charset="0"/>
              </a:rPr>
              <a:t> 当我们尝试增加 </a:t>
            </a:r>
            <a:r>
              <a:rPr lang="en-US" altLang="zh-CN" sz="1100">
                <a:solidFill>
                  <a:srgbClr val="262626"/>
                </a:solidFill>
                <a:latin typeface="微软雅黑" charset="-122"/>
                <a:ea typeface="微软雅黑" charset="-122"/>
                <a:cs typeface="Calibri" charset="0"/>
              </a:rPr>
              <a:t>N</a:t>
            </a:r>
            <a:r>
              <a:rPr lang="zh-CN" altLang="en-US" sz="1100">
                <a:solidFill>
                  <a:srgbClr val="262626"/>
                </a:solidFill>
                <a:latin typeface="微软雅黑" charset="-122"/>
                <a:ea typeface="微软雅黑" charset="-122"/>
                <a:cs typeface="Calibri" charset="0"/>
              </a:rPr>
              <a:t> 去捕捉长依赖的时候，会让参数呈指数级增长</a:t>
            </a:r>
            <a:endParaRPr lang="en-US" altLang="zh-CN" sz="1100">
              <a:solidFill>
                <a:srgbClr val="262626"/>
              </a:solidFill>
              <a:latin typeface="微软雅黑" charset="-122"/>
              <a:ea typeface="微软雅黑" charset="-122"/>
              <a:cs typeface="Calibri" charset="0"/>
            </a:endParaRPr>
          </a:p>
          <a:p>
            <a:pPr>
              <a:lnSpc>
                <a:spcPct val="150000"/>
              </a:lnSpc>
            </a:pPr>
            <a:r>
              <a:rPr lang="en-US" altLang="zh-CN" sz="1100">
                <a:solidFill>
                  <a:srgbClr val="262626"/>
                </a:solidFill>
                <a:latin typeface="微软雅黑" charset="-122"/>
                <a:ea typeface="微软雅黑" charset="-122"/>
                <a:cs typeface="Calibri" charset="0"/>
              </a:rPr>
              <a:t>3.</a:t>
            </a:r>
            <a:r>
              <a:rPr lang="zh-CN" altLang="en-US" sz="1100">
                <a:solidFill>
                  <a:srgbClr val="262626"/>
                </a:solidFill>
                <a:latin typeface="微软雅黑" charset="-122"/>
                <a:ea typeface="微软雅黑" charset="-122"/>
                <a:cs typeface="Calibri" charset="0"/>
              </a:rPr>
              <a:t> 泛化能力弱，根据现有语料统计出的 </a:t>
            </a:r>
            <a:r>
              <a:rPr lang="zh-CN" altLang="en-US" sz="1100">
                <a:solidFill>
                  <a:srgbClr val="FF0000"/>
                </a:solidFill>
                <a:latin typeface="微软雅黑" charset="-122"/>
                <a:ea typeface="微软雅黑" charset="-122"/>
                <a:cs typeface="Calibri" charset="0"/>
              </a:rPr>
              <a:t>黑汽车 </a:t>
            </a:r>
            <a:r>
              <a:rPr lang="zh-CN" altLang="en-US" sz="1100">
                <a:solidFill>
                  <a:srgbClr val="262626"/>
                </a:solidFill>
                <a:latin typeface="微软雅黑" charset="-122"/>
                <a:ea typeface="微软雅黑" charset="-122"/>
                <a:cs typeface="Calibri" charset="0"/>
              </a:rPr>
              <a:t>和 </a:t>
            </a:r>
            <a:r>
              <a:rPr lang="zh-CN" altLang="en-US" sz="1100">
                <a:solidFill>
                  <a:srgbClr val="FF0000"/>
                </a:solidFill>
                <a:latin typeface="微软雅黑" charset="-122"/>
                <a:ea typeface="微软雅黑" charset="-122"/>
                <a:cs typeface="Calibri" charset="0"/>
              </a:rPr>
              <a:t>蓝汽车</a:t>
            </a:r>
            <a:r>
              <a:rPr lang="zh-CN" altLang="en-US" sz="1100">
                <a:solidFill>
                  <a:srgbClr val="262626"/>
                </a:solidFill>
                <a:latin typeface="微软雅黑" charset="-122"/>
                <a:ea typeface="微软雅黑" charset="-122"/>
                <a:cs typeface="Calibri" charset="0"/>
              </a:rPr>
              <a:t>，假如我们没有看到 </a:t>
            </a:r>
            <a:r>
              <a:rPr lang="zh-CN" altLang="en-US" sz="1100">
                <a:solidFill>
                  <a:srgbClr val="FF0000"/>
                </a:solidFill>
                <a:latin typeface="微软雅黑" charset="-122"/>
                <a:ea typeface="微软雅黑" charset="-122"/>
                <a:cs typeface="Calibri" charset="0"/>
              </a:rPr>
              <a:t>红汽车</a:t>
            </a:r>
            <a:r>
              <a:rPr lang="zh-CN" altLang="en-US" sz="1100">
                <a:solidFill>
                  <a:srgbClr val="262626"/>
                </a:solidFill>
                <a:latin typeface="微软雅黑" charset="-122"/>
                <a:ea typeface="微软雅黑" charset="-122"/>
                <a:cs typeface="Calibri" charset="0"/>
              </a:rPr>
              <a:t>，会导致我们无法计算红汽车的概率</a:t>
            </a:r>
            <a:endParaRPr lang="en-US" altLang="zh-CN" sz="1100">
              <a:solidFill>
                <a:srgbClr val="262626"/>
              </a:solidFill>
              <a:latin typeface="微软雅黑" charset="-122"/>
              <a:ea typeface="微软雅黑" charset="-122"/>
              <a:cs typeface="Calibri"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5">
            <a:extLst>
              <a:ext uri="{FF2B5EF4-FFF2-40B4-BE49-F238E27FC236}">
                <a16:creationId xmlns:a16="http://schemas.microsoft.com/office/drawing/2014/main" id="{B1DF1442-A319-1D4B-A4F3-6F5EB6105048}"/>
              </a:ext>
            </a:extLst>
          </p:cNvPr>
          <p:cNvSpPr txBox="1">
            <a:spLocks noRot="1" noChangeAspect="1" noMove="1" noResize="1" noEditPoints="1" noAdjustHandles="1" noChangeArrowheads="1" noChangeShapeType="1" noTextEdit="1"/>
          </p:cNvSpPr>
          <p:nvPr/>
        </p:nvSpPr>
        <p:spPr bwMode="auto">
          <a:xfrm>
            <a:off x="-1116632" y="3184525"/>
            <a:ext cx="1943720" cy="760978"/>
          </a:xfrm>
          <a:prstGeom prst="rect">
            <a:avLst/>
          </a:prstGeom>
          <a:blipFill>
            <a:blip r:embed="rId3"/>
            <a:stretch>
              <a:fillRect l="99999" r="-180825"/>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dirty="0">
              <a:noFill/>
              <a:latin typeface="Calibri" panose="020F0502020204030204" pitchFamily="34" charset="0"/>
              <a:ea typeface="宋体" panose="02010600030101010101" pitchFamily="2" charset="-122"/>
            </a:endParaRPr>
          </a:p>
        </p:txBody>
      </p:sp>
      <p:cxnSp>
        <p:nvCxnSpPr>
          <p:cNvPr id="26628" name="Line 1"/>
          <p:cNvCxnSpPr>
            <a:cxnSpLocks noChangeShapeType="1"/>
          </p:cNvCxnSpPr>
          <p:nvPr/>
        </p:nvCxnSpPr>
        <p:spPr bwMode="auto">
          <a:xfrm>
            <a:off x="5484813" y="2466975"/>
            <a:ext cx="0" cy="1782763"/>
          </a:xfrm>
          <a:prstGeom prst="line">
            <a:avLst/>
          </a:prstGeom>
          <a:noFill/>
          <a:ln w="12700" cap="rnd">
            <a:solidFill>
              <a:srgbClr val="BFBFBF"/>
            </a:solidFill>
            <a:prstDash val="sysDash"/>
            <a:round/>
            <a:headEnd/>
            <a:tailEnd/>
          </a:ln>
          <a:extLst>
            <a:ext uri="{909E8E84-426E-40DD-AFC4-6F175D3DCCD1}">
              <a14:hiddenFill xmlns:a14="http://schemas.microsoft.com/office/drawing/2010/main">
                <a:noFill/>
              </a14:hiddenFill>
            </a:ext>
          </a:extLst>
        </p:spPr>
      </p:cxnSp>
      <p:sp>
        <p:nvSpPr>
          <p:cNvPr id="26629"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sz="2400" b="1">
                <a:solidFill>
                  <a:srgbClr val="595959"/>
                </a:solidFill>
                <a:latin typeface="微软雅黑" charset="-122"/>
                <a:ea typeface="微软雅黑" charset="-122"/>
              </a:rPr>
              <a:t>神经网络语言模型</a:t>
            </a:r>
            <a:endParaRPr lang="ko-KR" altLang="en-US" sz="2400" b="1">
              <a:solidFill>
                <a:srgbClr val="595959"/>
              </a:solidFill>
              <a:latin typeface="微软雅黑" charset="-122"/>
              <a:ea typeface="微软雅黑" charset="-122"/>
            </a:endParaRPr>
          </a:p>
        </p:txBody>
      </p:sp>
      <p:sp>
        <p:nvSpPr>
          <p:cNvPr id="26630" name="Text Box 6"/>
          <p:cNvSpPr txBox="1">
            <a:spLocks noChangeArrowheads="1"/>
          </p:cNvSpPr>
          <p:nvPr/>
        </p:nvSpPr>
        <p:spPr bwMode="auto">
          <a:xfrm>
            <a:off x="683568" y="2345203"/>
            <a:ext cx="35147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400" b="1">
                <a:solidFill>
                  <a:srgbClr val="262626"/>
                </a:solidFill>
                <a:latin typeface="微软雅黑" charset="-122"/>
                <a:ea typeface="微软雅黑" charset="-122"/>
              </a:rPr>
              <a:t>例如：</a:t>
            </a:r>
            <a:r>
              <a:rPr lang="en-US" altLang="zh-CN" sz="1400" b="1">
                <a:solidFill>
                  <a:srgbClr val="262626"/>
                </a:solidFill>
                <a:latin typeface="微软雅黑" charset="-122"/>
                <a:ea typeface="微软雅黑" charset="-122"/>
              </a:rPr>
              <a:t>Bengio[2003]</a:t>
            </a:r>
            <a:r>
              <a:rPr lang="zh-CN" altLang="en-US" sz="1400" b="1">
                <a:solidFill>
                  <a:srgbClr val="262626"/>
                </a:solidFill>
                <a:latin typeface="微软雅黑" charset="-122"/>
                <a:ea typeface="微软雅黑" charset="-122"/>
              </a:rPr>
              <a:t>的语言模型</a:t>
            </a:r>
            <a:endParaRPr lang="ko-KR" altLang="en-US" sz="1400" b="1">
              <a:solidFill>
                <a:srgbClr val="262626"/>
              </a:solidFill>
              <a:latin typeface="微软雅黑" charset="-122"/>
              <a:ea typeface="微软雅黑" charset="-122"/>
            </a:endParaRPr>
          </a:p>
        </p:txBody>
      </p:sp>
      <p:sp>
        <p:nvSpPr>
          <p:cNvPr id="26631" name="Text Box 8"/>
          <p:cNvSpPr txBox="1">
            <a:spLocks noChangeArrowheads="1"/>
          </p:cNvSpPr>
          <p:nvPr/>
        </p:nvSpPr>
        <p:spPr bwMode="auto">
          <a:xfrm>
            <a:off x="5700713" y="2345203"/>
            <a:ext cx="257333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sz="1400" b="1">
                <a:solidFill>
                  <a:srgbClr val="262626"/>
                </a:solidFill>
                <a:latin typeface="微软雅黑" charset="-122"/>
                <a:ea typeface="微软雅黑" charset="-122"/>
              </a:rPr>
              <a:t>例如：循环神经网络</a:t>
            </a:r>
            <a:r>
              <a:rPr lang="en-US" altLang="zh-CN" sz="1400" b="1">
                <a:solidFill>
                  <a:srgbClr val="262626"/>
                </a:solidFill>
                <a:latin typeface="微软雅黑" charset="-122"/>
                <a:ea typeface="微软雅黑" charset="-122"/>
              </a:rPr>
              <a:t>RNN</a:t>
            </a:r>
            <a:endParaRPr lang="ko-KR" altLang="en-US" sz="1400" b="1">
              <a:solidFill>
                <a:srgbClr val="262626"/>
              </a:solidFill>
              <a:latin typeface="微软雅黑" charset="-122"/>
              <a:ea typeface="微软雅黑" charset="-122"/>
            </a:endParaRPr>
          </a:p>
        </p:txBody>
      </p:sp>
      <p:sp>
        <p:nvSpPr>
          <p:cNvPr id="26639" name="Text Box 3"/>
          <p:cNvSpPr txBox="1">
            <a:spLocks noChangeArrowheads="1"/>
          </p:cNvSpPr>
          <p:nvPr/>
        </p:nvSpPr>
        <p:spPr bwMode="auto">
          <a:xfrm>
            <a:off x="652413" y="819805"/>
            <a:ext cx="3514725" cy="45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150000"/>
              </a:lnSpc>
            </a:pPr>
            <a:r>
              <a:rPr lang="zh-CN" altLang="en-US" b="1">
                <a:solidFill>
                  <a:srgbClr val="404040"/>
                </a:solidFill>
                <a:latin typeface="微软雅黑" charset="-122"/>
                <a:ea typeface="微软雅黑" charset="-122"/>
              </a:rPr>
              <a:t>神经网络语言模型</a:t>
            </a:r>
            <a:endParaRPr lang="ko-KR" altLang="en-US" b="1">
              <a:solidFill>
                <a:srgbClr val="404040"/>
              </a:solidFill>
              <a:latin typeface="微软雅黑" charset="-122"/>
              <a:ea typeface="微软雅黑" charset="-122"/>
            </a:endParaRPr>
          </a:p>
        </p:txBody>
      </p:sp>
      <p:sp>
        <p:nvSpPr>
          <p:cNvPr id="13" name="Text Box 4">
            <a:extLst>
              <a:ext uri="{FF2B5EF4-FFF2-40B4-BE49-F238E27FC236}">
                <a16:creationId xmlns:a16="http://schemas.microsoft.com/office/drawing/2014/main" id="{18632DB2-995F-C045-9450-936F7F72D990}"/>
              </a:ext>
            </a:extLst>
          </p:cNvPr>
          <p:cNvSpPr txBox="1">
            <a:spLocks noChangeArrowheads="1"/>
          </p:cNvSpPr>
          <p:nvPr/>
        </p:nvSpPr>
        <p:spPr bwMode="auto">
          <a:xfrm>
            <a:off x="683568" y="1315502"/>
            <a:ext cx="7519987"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1100">
                <a:solidFill>
                  <a:srgbClr val="262626"/>
                </a:solidFill>
                <a:latin typeface="微软雅黑" charset="-122"/>
                <a:ea typeface="微软雅黑" charset="-122"/>
                <a:cs typeface="Calibri" charset="0"/>
              </a:rPr>
              <a:t>神经网络</a:t>
            </a:r>
            <a:r>
              <a:rPr lang="zh-CN" altLang="en-US" sz="1100" dirty="0">
                <a:solidFill>
                  <a:srgbClr val="262626"/>
                </a:solidFill>
                <a:latin typeface="微软雅黑" charset="-122"/>
                <a:ea typeface="微软雅黑" charset="-122"/>
                <a:cs typeface="Calibri" charset="0"/>
              </a:rPr>
              <a:t>语言模型和</a:t>
            </a:r>
            <a:r>
              <a:rPr lang="zh-CN" altLang="en-US" sz="1100">
                <a:solidFill>
                  <a:srgbClr val="262626"/>
                </a:solidFill>
                <a:latin typeface="微软雅黑" charset="-122"/>
                <a:ea typeface="微软雅黑" charset="-122"/>
                <a:cs typeface="Calibri" charset="0"/>
              </a:rPr>
              <a:t>传统的语言模型</a:t>
            </a:r>
            <a:r>
              <a:rPr lang="zh-CN" altLang="en-US" sz="1100" dirty="0">
                <a:solidFill>
                  <a:srgbClr val="262626"/>
                </a:solidFill>
                <a:latin typeface="微软雅黑" charset="-122"/>
                <a:ea typeface="微软雅黑" charset="-122"/>
                <a:cs typeface="Calibri" charset="0"/>
              </a:rPr>
              <a:t>相似，但是对于输入和输出有些额外的操作</a:t>
            </a:r>
            <a:endParaRPr lang="en-US" altLang="zh-CN" sz="1100" dirty="0">
              <a:solidFill>
                <a:srgbClr val="262626"/>
              </a:solidFill>
              <a:latin typeface="微软雅黑" charset="-122"/>
              <a:ea typeface="微软雅黑" charset="-122"/>
              <a:cs typeface="Calibri" charset="0"/>
            </a:endParaRPr>
          </a:p>
          <a:p>
            <a:pPr marL="228600" indent="-228600">
              <a:lnSpc>
                <a:spcPct val="150000"/>
              </a:lnSpc>
              <a:buFontTx/>
              <a:buAutoNum type="arabicPeriod"/>
              <a:defRPr/>
            </a:pPr>
            <a:r>
              <a:rPr lang="zh-CN" altLang="en-US" sz="1100" dirty="0">
                <a:solidFill>
                  <a:srgbClr val="262626"/>
                </a:solidFill>
                <a:latin typeface="微软雅黑" charset="-122"/>
                <a:ea typeface="微软雅黑" charset="-122"/>
                <a:cs typeface="Calibri" charset="0"/>
              </a:rPr>
              <a:t>使用一个可训练的向量代表一个词语，整个句子和其中词语的向量的拼接</a:t>
            </a:r>
            <a:endParaRPr lang="en-US" altLang="zh-CN" sz="1100" dirty="0">
              <a:solidFill>
                <a:srgbClr val="262626"/>
              </a:solidFill>
              <a:latin typeface="微软雅黑" charset="-122"/>
              <a:ea typeface="微软雅黑" charset="-122"/>
              <a:cs typeface="Calibri" charset="0"/>
            </a:endParaRPr>
          </a:p>
          <a:p>
            <a:pPr marL="228600" indent="-228600">
              <a:lnSpc>
                <a:spcPct val="150000"/>
              </a:lnSpc>
              <a:buFontTx/>
              <a:buAutoNum type="arabicPeriod"/>
              <a:defRPr/>
            </a:pPr>
            <a:r>
              <a:rPr lang="zh-CN" altLang="en-US" sz="1100" dirty="0">
                <a:solidFill>
                  <a:srgbClr val="262626"/>
                </a:solidFill>
                <a:latin typeface="微软雅黑" charset="-122"/>
                <a:ea typeface="微软雅黑" charset="-122"/>
                <a:cs typeface="Calibri" charset="0"/>
              </a:rPr>
              <a:t>根据应用场景的不同，输出可以是一个词语的概率或者是其他</a:t>
            </a:r>
            <a:endParaRPr lang="ko-KR" altLang="en-US" sz="1100" dirty="0">
              <a:solidFill>
                <a:srgbClr val="262626"/>
              </a:solidFill>
              <a:latin typeface="微软雅黑" charset="-122"/>
              <a:ea typeface="微软雅黑" charset="-122"/>
              <a:cs typeface="Calibri" charset="0"/>
            </a:endParaRPr>
          </a:p>
        </p:txBody>
      </p:sp>
      <p:pic>
        <p:nvPicPr>
          <p:cNvPr id="26635"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91" y="2806700"/>
            <a:ext cx="2232025"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36FC765B-47AE-4BED-A92B-5C97640940C5}"/>
              </a:ext>
            </a:extLst>
          </p:cNvPr>
          <p:cNvGrpSpPr/>
          <p:nvPr/>
        </p:nvGrpSpPr>
        <p:grpSpPr>
          <a:xfrm>
            <a:off x="2915816" y="3030789"/>
            <a:ext cx="2289636" cy="964022"/>
            <a:chOff x="2915816" y="3030789"/>
            <a:chExt cx="2289636" cy="964022"/>
          </a:xfrm>
        </p:grpSpPr>
        <p:grpSp>
          <p:nvGrpSpPr>
            <p:cNvPr id="5" name="组合 4">
              <a:extLst>
                <a:ext uri="{FF2B5EF4-FFF2-40B4-BE49-F238E27FC236}">
                  <a16:creationId xmlns:a16="http://schemas.microsoft.com/office/drawing/2014/main" id="{09F7B363-B615-42E1-8A7F-64FD37999AA2}"/>
                </a:ext>
              </a:extLst>
            </p:cNvPr>
            <p:cNvGrpSpPr/>
            <p:nvPr/>
          </p:nvGrpSpPr>
          <p:grpSpPr>
            <a:xfrm>
              <a:off x="2917682" y="3030789"/>
              <a:ext cx="2287770" cy="791538"/>
              <a:chOff x="2917682" y="3030789"/>
              <a:chExt cx="2287770" cy="791538"/>
            </a:xfrm>
          </p:grpSpPr>
          <p:pic>
            <p:nvPicPr>
              <p:cNvPr id="2" name="图片 1">
                <a:extLst>
                  <a:ext uri="{FF2B5EF4-FFF2-40B4-BE49-F238E27FC236}">
                    <a16:creationId xmlns:a16="http://schemas.microsoft.com/office/drawing/2014/main" id="{00A0FE3B-EA23-4E74-8C14-59C0EF260FEA}"/>
                  </a:ext>
                </a:extLst>
              </p:cNvPr>
              <p:cNvPicPr>
                <a:picLocks noChangeAspect="1"/>
              </p:cNvPicPr>
              <p:nvPr/>
            </p:nvPicPr>
            <p:blipFill>
              <a:blip r:embed="rId5"/>
              <a:stretch>
                <a:fillRect/>
              </a:stretch>
            </p:blipFill>
            <p:spPr>
              <a:xfrm>
                <a:off x="2943421" y="3030789"/>
                <a:ext cx="2262031" cy="221361"/>
              </a:xfrm>
              <a:prstGeom prst="rect">
                <a:avLst/>
              </a:prstGeom>
            </p:spPr>
          </p:pic>
          <p:pic>
            <p:nvPicPr>
              <p:cNvPr id="3" name="图片 2">
                <a:extLst>
                  <a:ext uri="{FF2B5EF4-FFF2-40B4-BE49-F238E27FC236}">
                    <a16:creationId xmlns:a16="http://schemas.microsoft.com/office/drawing/2014/main" id="{1C307B80-8671-4D5D-B1E0-58CEA74EBB8C}"/>
                  </a:ext>
                </a:extLst>
              </p:cNvPr>
              <p:cNvPicPr>
                <a:picLocks noChangeAspect="1"/>
              </p:cNvPicPr>
              <p:nvPr/>
            </p:nvPicPr>
            <p:blipFill>
              <a:blip r:embed="rId6"/>
              <a:stretch>
                <a:fillRect/>
              </a:stretch>
            </p:blipFill>
            <p:spPr>
              <a:xfrm>
                <a:off x="2952270" y="3289460"/>
                <a:ext cx="1763969" cy="166021"/>
              </a:xfrm>
              <a:prstGeom prst="rect">
                <a:avLst/>
              </a:prstGeom>
            </p:spPr>
          </p:pic>
          <p:pic>
            <p:nvPicPr>
              <p:cNvPr id="4" name="图片 3">
                <a:extLst>
                  <a:ext uri="{FF2B5EF4-FFF2-40B4-BE49-F238E27FC236}">
                    <a16:creationId xmlns:a16="http://schemas.microsoft.com/office/drawing/2014/main" id="{20D2742D-A0B0-4447-A26A-6D30A367C100}"/>
                  </a:ext>
                </a:extLst>
              </p:cNvPr>
              <p:cNvPicPr>
                <a:picLocks noChangeAspect="1"/>
              </p:cNvPicPr>
              <p:nvPr/>
            </p:nvPicPr>
            <p:blipFill>
              <a:blip r:embed="rId7"/>
              <a:stretch>
                <a:fillRect/>
              </a:stretch>
            </p:blipFill>
            <p:spPr>
              <a:xfrm>
                <a:off x="2917682" y="3476451"/>
                <a:ext cx="1833144" cy="345876"/>
              </a:xfrm>
              <a:prstGeom prst="rect">
                <a:avLst/>
              </a:prstGeom>
            </p:spPr>
          </p:pic>
        </p:grpSp>
        <p:pic>
          <p:nvPicPr>
            <p:cNvPr id="6" name="图片 5">
              <a:extLst>
                <a:ext uri="{FF2B5EF4-FFF2-40B4-BE49-F238E27FC236}">
                  <a16:creationId xmlns:a16="http://schemas.microsoft.com/office/drawing/2014/main" id="{642260E3-6719-4C3B-923F-FBB5B4C07B4D}"/>
                </a:ext>
              </a:extLst>
            </p:cNvPr>
            <p:cNvPicPr>
              <a:picLocks noChangeAspect="1"/>
            </p:cNvPicPr>
            <p:nvPr/>
          </p:nvPicPr>
          <p:blipFill>
            <a:blip r:embed="rId8"/>
            <a:stretch>
              <a:fillRect/>
            </a:stretch>
          </p:blipFill>
          <p:spPr>
            <a:xfrm>
              <a:off x="2915816" y="3806045"/>
              <a:ext cx="1384282" cy="188766"/>
            </a:xfrm>
            <a:prstGeom prst="rect">
              <a:avLst/>
            </a:prstGeom>
          </p:spPr>
        </p:pic>
      </p:grpSp>
      <p:pic>
        <p:nvPicPr>
          <p:cNvPr id="1026" name="Picture 2" descr="Image result for RNN">
            <a:extLst>
              <a:ext uri="{FF2B5EF4-FFF2-40B4-BE49-F238E27FC236}">
                <a16:creationId xmlns:a16="http://schemas.microsoft.com/office/drawing/2014/main" id="{E5451855-F8B5-4B65-8C1A-41F8A27099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2092" y="2887335"/>
            <a:ext cx="2831825" cy="1136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50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6628"/>
                                        </p:tgtEl>
                                        <p:attrNameLst>
                                          <p:attrName>style.visibility</p:attrName>
                                        </p:attrNameLst>
                                      </p:cBhvr>
                                      <p:to>
                                        <p:strVal val="visible"/>
                                      </p:to>
                                    </p:set>
                                    <p:animEffect transition="in" filter="wipe(up)">
                                      <p:cBhvr>
                                        <p:cTn id="33" dur="500"/>
                                        <p:tgtEl>
                                          <p:spTgt spid="2662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66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26631" grpId="0"/>
      <p:bldP spid="266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5">
            <a:extLst>
              <a:ext uri="{FF2B5EF4-FFF2-40B4-BE49-F238E27FC236}">
                <a16:creationId xmlns:a16="http://schemas.microsoft.com/office/drawing/2014/main" id="{B1DF1442-A319-1D4B-A4F3-6F5EB6105048}"/>
              </a:ext>
            </a:extLst>
          </p:cNvPr>
          <p:cNvSpPr txBox="1">
            <a:spLocks noRot="1" noChangeAspect="1" noMove="1" noResize="1" noEditPoints="1" noAdjustHandles="1" noChangeArrowheads="1" noChangeShapeType="1" noTextEdit="1"/>
          </p:cNvSpPr>
          <p:nvPr/>
        </p:nvSpPr>
        <p:spPr bwMode="auto">
          <a:xfrm>
            <a:off x="-1116632" y="3184525"/>
            <a:ext cx="1943720" cy="760978"/>
          </a:xfrm>
          <a:prstGeom prst="rect">
            <a:avLst/>
          </a:prstGeom>
          <a:blipFill>
            <a:blip r:embed="rId3"/>
            <a:stretch>
              <a:fillRect l="99999" r="-180825"/>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dirty="0">
              <a:noFill/>
              <a:latin typeface="Calibri" panose="020F0502020204030204" pitchFamily="34" charset="0"/>
              <a:ea typeface="宋体" panose="02010600030101010101" pitchFamily="2" charset="-122"/>
            </a:endParaRPr>
          </a:p>
        </p:txBody>
      </p:sp>
      <p:sp>
        <p:nvSpPr>
          <p:cNvPr id="26629" name="Text Box 2"/>
          <p:cNvSpPr txBox="1">
            <a:spLocks noChangeArrowheads="1"/>
          </p:cNvSpPr>
          <p:nvPr/>
        </p:nvSpPr>
        <p:spPr bwMode="auto">
          <a:xfrm>
            <a:off x="628650" y="-19050"/>
            <a:ext cx="53832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nSpc>
                <a:spcPct val="90000"/>
              </a:lnSpc>
            </a:pPr>
            <a:r>
              <a:rPr lang="zh-CN" altLang="en-US" sz="2400" b="1">
                <a:solidFill>
                  <a:srgbClr val="595959"/>
                </a:solidFill>
                <a:latin typeface="微软雅黑" charset="-122"/>
                <a:ea typeface="微软雅黑" charset="-122"/>
              </a:rPr>
              <a:t>神经网络语言模型的优劣</a:t>
            </a:r>
            <a:endParaRPr lang="ko-KR" altLang="en-US" sz="2400" b="1">
              <a:solidFill>
                <a:srgbClr val="595959"/>
              </a:solidFill>
              <a:latin typeface="微软雅黑" charset="-122"/>
              <a:ea typeface="微软雅黑" charset="-122"/>
            </a:endParaRPr>
          </a:p>
        </p:txBody>
      </p:sp>
      <p:sp>
        <p:nvSpPr>
          <p:cNvPr id="13" name="Text Box 4">
            <a:extLst>
              <a:ext uri="{FF2B5EF4-FFF2-40B4-BE49-F238E27FC236}">
                <a16:creationId xmlns:a16="http://schemas.microsoft.com/office/drawing/2014/main" id="{18632DB2-995F-C045-9450-936F7F72D990}"/>
              </a:ext>
            </a:extLst>
          </p:cNvPr>
          <p:cNvSpPr txBox="1">
            <a:spLocks noChangeArrowheads="1"/>
          </p:cNvSpPr>
          <p:nvPr/>
        </p:nvSpPr>
        <p:spPr bwMode="auto">
          <a:xfrm>
            <a:off x="971600" y="915814"/>
            <a:ext cx="4375398" cy="2670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b="1">
                <a:solidFill>
                  <a:srgbClr val="262626"/>
                </a:solidFill>
                <a:latin typeface="微软雅黑" charset="-122"/>
                <a:ea typeface="微软雅黑" charset="-122"/>
                <a:cs typeface="Calibri" charset="0"/>
              </a:rPr>
              <a:t>神经网络语言模型的优点</a:t>
            </a:r>
            <a:endParaRPr lang="en-US" altLang="zh-CN" b="1">
              <a:solidFill>
                <a:srgbClr val="262626"/>
              </a:solidFill>
              <a:latin typeface="微软雅黑" charset="-122"/>
              <a:ea typeface="微软雅黑" charset="-122"/>
              <a:cs typeface="Calibri" charset="0"/>
            </a:endParaRPr>
          </a:p>
          <a:p>
            <a:pPr marL="228600" indent="-228600">
              <a:lnSpc>
                <a:spcPct val="150000"/>
              </a:lnSpc>
              <a:buAutoNum type="arabicPeriod"/>
              <a:defRPr/>
            </a:pPr>
            <a:r>
              <a:rPr lang="zh-CN" altLang="en-US" sz="1100">
                <a:solidFill>
                  <a:srgbClr val="262626"/>
                </a:solidFill>
                <a:latin typeface="微软雅黑" charset="-122"/>
                <a:ea typeface="微软雅黑" charset="-122"/>
                <a:cs typeface="Calibri" charset="0"/>
              </a:rPr>
              <a:t>可以获取更长距离的依赖，同时没有让参数呈指数级增长</a:t>
            </a:r>
            <a:endParaRPr lang="en-US" altLang="zh-CN" sz="1100">
              <a:solidFill>
                <a:srgbClr val="262626"/>
              </a:solidFill>
              <a:latin typeface="微软雅黑" charset="-122"/>
              <a:ea typeface="微软雅黑" charset="-122"/>
              <a:cs typeface="Calibri" charset="0"/>
            </a:endParaRPr>
          </a:p>
          <a:p>
            <a:pPr marL="228600" indent="-228600">
              <a:lnSpc>
                <a:spcPct val="150000"/>
              </a:lnSpc>
              <a:buAutoNum type="arabicPeriod"/>
              <a:defRPr/>
            </a:pPr>
            <a:r>
              <a:rPr lang="zh-CN" altLang="en-US" sz="1100">
                <a:solidFill>
                  <a:srgbClr val="262626"/>
                </a:solidFill>
                <a:latin typeface="微软雅黑" charset="-122"/>
                <a:ea typeface="微软雅黑" charset="-122"/>
                <a:cs typeface="Calibri" charset="0"/>
              </a:rPr>
              <a:t>使用了词向量的技术，让模型具有更好的泛化能力</a:t>
            </a:r>
            <a:endParaRPr lang="en-US" altLang="zh-CN" sz="1100">
              <a:solidFill>
                <a:srgbClr val="262626"/>
              </a:solidFill>
              <a:latin typeface="微软雅黑" charset="-122"/>
              <a:ea typeface="微软雅黑" charset="-122"/>
              <a:cs typeface="Calibri" charset="0"/>
            </a:endParaRPr>
          </a:p>
          <a:p>
            <a:pPr marL="228600" indent="-228600">
              <a:lnSpc>
                <a:spcPct val="150000"/>
              </a:lnSpc>
              <a:buAutoNum type="arabicPeriod"/>
              <a:defRPr/>
            </a:pPr>
            <a:endParaRPr lang="en-US" altLang="ko-KR" sz="1100">
              <a:solidFill>
                <a:srgbClr val="262626"/>
              </a:solidFill>
              <a:latin typeface="微软雅黑" charset="-122"/>
              <a:ea typeface="微软雅黑" charset="-122"/>
              <a:cs typeface="Calibri" charset="0"/>
            </a:endParaRPr>
          </a:p>
          <a:p>
            <a:pPr marL="228600" indent="-228600">
              <a:lnSpc>
                <a:spcPct val="150000"/>
              </a:lnSpc>
              <a:buAutoNum type="arabicPeriod"/>
              <a:defRPr/>
            </a:pPr>
            <a:endParaRPr lang="en-US" altLang="ko-KR" sz="1100">
              <a:solidFill>
                <a:srgbClr val="262626"/>
              </a:solidFill>
              <a:latin typeface="微软雅黑" charset="-122"/>
              <a:ea typeface="微软雅黑" charset="-122"/>
              <a:cs typeface="Calibri" charset="0"/>
            </a:endParaRPr>
          </a:p>
          <a:p>
            <a:pPr marL="228600" indent="-228600">
              <a:lnSpc>
                <a:spcPct val="150000"/>
              </a:lnSpc>
              <a:buAutoNum type="arabicPeriod"/>
              <a:defRPr/>
            </a:pPr>
            <a:endParaRPr lang="en-US" altLang="ko-KR" sz="1100">
              <a:solidFill>
                <a:srgbClr val="262626"/>
              </a:solidFill>
              <a:latin typeface="微软雅黑" charset="-122"/>
              <a:ea typeface="微软雅黑" charset="-122"/>
              <a:cs typeface="Calibri" charset="0"/>
            </a:endParaRPr>
          </a:p>
          <a:p>
            <a:pPr>
              <a:lnSpc>
                <a:spcPct val="150000"/>
              </a:lnSpc>
              <a:defRPr/>
            </a:pPr>
            <a:r>
              <a:rPr lang="zh-CN" altLang="en-US" b="1">
                <a:solidFill>
                  <a:srgbClr val="262626"/>
                </a:solidFill>
                <a:latin typeface="微软雅黑" charset="-122"/>
                <a:ea typeface="微软雅黑" charset="-122"/>
                <a:cs typeface="Calibri" charset="0"/>
              </a:rPr>
              <a:t>神经网络语言模型的缺点：</a:t>
            </a:r>
            <a:endParaRPr lang="en-US" altLang="zh-CN" b="1">
              <a:solidFill>
                <a:srgbClr val="262626"/>
              </a:solidFill>
              <a:latin typeface="微软雅黑" charset="-122"/>
              <a:ea typeface="微软雅黑" charset="-122"/>
              <a:cs typeface="Calibri" charset="0"/>
            </a:endParaRPr>
          </a:p>
          <a:p>
            <a:pPr marL="228600" indent="-228600">
              <a:lnSpc>
                <a:spcPct val="150000"/>
              </a:lnSpc>
              <a:buAutoNum type="arabicPeriod"/>
              <a:defRPr/>
            </a:pPr>
            <a:r>
              <a:rPr lang="zh-CN" altLang="en-US" sz="1100">
                <a:solidFill>
                  <a:srgbClr val="262626"/>
                </a:solidFill>
                <a:latin typeface="微软雅黑" charset="-122"/>
                <a:ea typeface="微软雅黑" charset="-122"/>
                <a:cs typeface="Calibri" charset="0"/>
              </a:rPr>
              <a:t>训练时间长</a:t>
            </a:r>
            <a:endParaRPr lang="en-US" altLang="zh-CN" sz="1100">
              <a:solidFill>
                <a:srgbClr val="262626"/>
              </a:solidFill>
              <a:latin typeface="微软雅黑" charset="-122"/>
              <a:ea typeface="微软雅黑" charset="-122"/>
              <a:cs typeface="Calibri" charset="0"/>
            </a:endParaRPr>
          </a:p>
          <a:p>
            <a:pPr marL="228600" indent="-228600">
              <a:lnSpc>
                <a:spcPct val="150000"/>
              </a:lnSpc>
              <a:buAutoNum type="arabicPeriod"/>
              <a:defRPr/>
            </a:pPr>
            <a:r>
              <a:rPr lang="zh-CN" altLang="en-US" sz="1100">
                <a:solidFill>
                  <a:srgbClr val="262626"/>
                </a:solidFill>
                <a:latin typeface="微软雅黑" charset="-122"/>
                <a:ea typeface="微软雅黑" charset="-122"/>
                <a:cs typeface="Calibri" charset="0"/>
              </a:rPr>
              <a:t>可解释性差</a:t>
            </a:r>
            <a:endParaRPr lang="ko-KR" altLang="en-US" sz="1100" dirty="0">
              <a:solidFill>
                <a:srgbClr val="262626"/>
              </a:solidFill>
              <a:latin typeface="微软雅黑" charset="-122"/>
              <a:ea typeface="微软雅黑" charset="-122"/>
              <a:cs typeface="Calibri" charset="0"/>
            </a:endParaRPr>
          </a:p>
        </p:txBody>
      </p:sp>
    </p:spTree>
    <p:extLst>
      <p:ext uri="{BB962C8B-B14F-4D97-AF65-F5344CB8AC3E}">
        <p14:creationId xmlns:p14="http://schemas.microsoft.com/office/powerpoint/2010/main" val="208015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2CD88FF-0E5E-4D9D-A994-7C2D42E7615D}"/>
              </a:ext>
            </a:extLst>
          </p:cNvPr>
          <p:cNvSpPr/>
          <p:nvPr/>
        </p:nvSpPr>
        <p:spPr>
          <a:xfrm rot="2700000">
            <a:off x="1363663" y="1519238"/>
            <a:ext cx="1544637" cy="1544637"/>
          </a:xfrm>
          <a:prstGeom prst="rect">
            <a:avLst/>
          </a:prstGeom>
          <a:noFill/>
          <a:ln w="6350">
            <a:solidFill>
              <a:srgbClr val="157CE7"/>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3794" name="标题占位符 1"/>
          <p:cNvSpPr txBox="1">
            <a:spLocks noChangeArrowheads="1"/>
          </p:cNvSpPr>
          <p:nvPr/>
        </p:nvSpPr>
        <p:spPr bwMode="auto">
          <a:xfrm>
            <a:off x="628650" y="-19050"/>
            <a:ext cx="39433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eaLnBrk="1" hangingPunct="1">
              <a:lnSpc>
                <a:spcPct val="90000"/>
              </a:lnSpc>
              <a:buFont typeface="Arial" charset="0"/>
              <a:buNone/>
            </a:pPr>
            <a:r>
              <a:rPr lang="zh-CN" altLang="en-US" sz="2400" b="1">
                <a:solidFill>
                  <a:srgbClr val="595959"/>
                </a:solidFill>
                <a:latin typeface="微软雅黑" charset="-122"/>
                <a:ea typeface="微软雅黑" charset="-122"/>
              </a:rPr>
              <a:t>总结</a:t>
            </a:r>
            <a:endParaRPr lang="zh-TW" altLang="zh-CN" sz="2400" b="1">
              <a:solidFill>
                <a:srgbClr val="595959"/>
              </a:solidFill>
              <a:latin typeface="微软雅黑" charset="-122"/>
              <a:ea typeface="微软雅黑" charset="-122"/>
            </a:endParaRPr>
          </a:p>
        </p:txBody>
      </p:sp>
      <p:sp>
        <p:nvSpPr>
          <p:cNvPr id="4" name="矩形 3">
            <a:extLst>
              <a:ext uri="{FF2B5EF4-FFF2-40B4-BE49-F238E27FC236}">
                <a16:creationId xmlns:a16="http://schemas.microsoft.com/office/drawing/2014/main" id="{388AFF6B-7185-4BFA-A762-2C6515B6CDDF}"/>
              </a:ext>
            </a:extLst>
          </p:cNvPr>
          <p:cNvSpPr/>
          <p:nvPr/>
        </p:nvSpPr>
        <p:spPr>
          <a:xfrm rot="2700000">
            <a:off x="1147763" y="1511300"/>
            <a:ext cx="1544638" cy="1544637"/>
          </a:xfrm>
          <a:prstGeom prst="rect">
            <a:avLst/>
          </a:prstGeom>
          <a:solidFill>
            <a:srgbClr val="157CE7"/>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3796" name="标题占位符 1"/>
          <p:cNvSpPr txBox="1">
            <a:spLocks noChangeArrowheads="1"/>
          </p:cNvSpPr>
          <p:nvPr/>
        </p:nvSpPr>
        <p:spPr bwMode="auto">
          <a:xfrm>
            <a:off x="22225" y="19240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algn="ctr" eaLnBrk="1" hangingPunct="1">
              <a:lnSpc>
                <a:spcPct val="90000"/>
              </a:lnSpc>
              <a:buFont typeface="Arial" charset="0"/>
              <a:buNone/>
            </a:pPr>
            <a:r>
              <a:rPr lang="zh-CN" altLang="en-US" sz="3600">
                <a:solidFill>
                  <a:schemeClr val="bg1"/>
                </a:solidFill>
                <a:latin typeface="微软雅黑" charset="-122"/>
                <a:ea typeface="微软雅黑" charset="-122"/>
              </a:rPr>
              <a:t>总结</a:t>
            </a:r>
            <a:endParaRPr lang="en-US" altLang="zh-CN" sz="3600">
              <a:solidFill>
                <a:schemeClr val="bg1"/>
              </a:solidFill>
              <a:latin typeface="微软雅黑" charset="-122"/>
              <a:ea typeface="微软雅黑" charset="-122"/>
            </a:endParaRPr>
          </a:p>
        </p:txBody>
      </p:sp>
      <p:sp>
        <p:nvSpPr>
          <p:cNvPr id="33797" name="TextBox 9"/>
          <p:cNvSpPr txBox="1">
            <a:spLocks noChangeArrowheads="1"/>
          </p:cNvSpPr>
          <p:nvPr/>
        </p:nvSpPr>
        <p:spPr bwMode="auto">
          <a:xfrm>
            <a:off x="3779838" y="1643063"/>
            <a:ext cx="3744912" cy="2719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eaLnBrk="1" hangingPunct="1">
              <a:lnSpc>
                <a:spcPct val="250000"/>
              </a:lnSpc>
              <a:buFont typeface="Calibri" charset="0"/>
              <a:buAutoNum type="arabicPeriod"/>
            </a:pPr>
            <a:r>
              <a:rPr lang="zh-CN" altLang="en-US" sz="1000">
                <a:solidFill>
                  <a:srgbClr val="262626"/>
                </a:solidFill>
                <a:latin typeface="微软雅黑" charset="-122"/>
                <a:ea typeface="微软雅黑" charset="-122"/>
              </a:rPr>
              <a:t>人工智能相关的概念</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zh-CN" altLang="en-US" sz="1000">
                <a:solidFill>
                  <a:srgbClr val="262626"/>
                </a:solidFill>
                <a:latin typeface="微软雅黑" charset="-122"/>
                <a:ea typeface="微软雅黑" charset="-122"/>
              </a:rPr>
              <a:t>数据集、机器学习问题的分类</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zh-CN" altLang="en-US" sz="1000">
                <a:solidFill>
                  <a:srgbClr val="262626"/>
                </a:solidFill>
                <a:latin typeface="微软雅黑" charset="-122"/>
                <a:ea typeface="微软雅黑" charset="-122"/>
              </a:rPr>
              <a:t>机器学习的常见应用场景</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zh-CN" altLang="en-US" sz="1000">
                <a:solidFill>
                  <a:srgbClr val="262626"/>
                </a:solidFill>
                <a:latin typeface="微软雅黑" charset="-122"/>
                <a:ea typeface="微软雅黑" charset="-122"/>
              </a:rPr>
              <a:t>机器学习的流程</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en-US" altLang="zh-CN" sz="1000">
                <a:solidFill>
                  <a:srgbClr val="262626"/>
                </a:solidFill>
                <a:latin typeface="微软雅黑" charset="-122"/>
                <a:ea typeface="微软雅黑" charset="-122"/>
              </a:rPr>
              <a:t>NLP</a:t>
            </a:r>
            <a:r>
              <a:rPr lang="zh-CN" altLang="en-US" sz="1000">
                <a:solidFill>
                  <a:srgbClr val="262626"/>
                </a:solidFill>
                <a:latin typeface="微软雅黑" charset="-122"/>
                <a:ea typeface="微软雅黑" charset="-122"/>
              </a:rPr>
              <a:t>的概念和主要问题</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en-US" altLang="zh-CN" sz="1000">
                <a:solidFill>
                  <a:srgbClr val="262626"/>
                </a:solidFill>
                <a:latin typeface="微软雅黑" charset="-122"/>
                <a:ea typeface="微软雅黑" charset="-122"/>
              </a:rPr>
              <a:t>N-gram</a:t>
            </a:r>
            <a:r>
              <a:rPr lang="zh-CN" altLang="en-US" sz="1000">
                <a:solidFill>
                  <a:srgbClr val="262626"/>
                </a:solidFill>
                <a:latin typeface="微软雅黑" charset="-122"/>
                <a:ea typeface="微软雅黑" charset="-122"/>
              </a:rPr>
              <a:t>模型和神经网络模型</a:t>
            </a:r>
            <a:endParaRPr lang="en-US" altLang="zh-CN" sz="1000">
              <a:solidFill>
                <a:srgbClr val="262626"/>
              </a:solidFill>
              <a:latin typeface="微软雅黑" charset="-122"/>
              <a:ea typeface="微软雅黑" charset="-122"/>
            </a:endParaRPr>
          </a:p>
          <a:p>
            <a:pPr eaLnBrk="1" hangingPunct="1">
              <a:lnSpc>
                <a:spcPct val="250000"/>
              </a:lnSpc>
              <a:buFont typeface="Calibri" charset="0"/>
              <a:buAutoNum type="arabicPeriod"/>
            </a:pPr>
            <a:r>
              <a:rPr lang="en-US" altLang="zh-CN" sz="1000">
                <a:solidFill>
                  <a:srgbClr val="262626"/>
                </a:solidFill>
                <a:latin typeface="微软雅黑" charset="-122"/>
                <a:ea typeface="微软雅黑" charset="-122"/>
              </a:rPr>
              <a:t>N-gram</a:t>
            </a:r>
            <a:r>
              <a:rPr lang="zh-CN" altLang="en-US" sz="1000">
                <a:solidFill>
                  <a:srgbClr val="262626"/>
                </a:solidFill>
                <a:latin typeface="微软雅黑" charset="-122"/>
                <a:ea typeface="微软雅黑" charset="-122"/>
              </a:rPr>
              <a:t>模型中模型的评估方法</a:t>
            </a:r>
          </a:p>
        </p:txBody>
      </p:sp>
      <p:sp>
        <p:nvSpPr>
          <p:cNvPr id="33798" name="TextBox 10"/>
          <p:cNvSpPr txBox="1">
            <a:spLocks noChangeArrowheads="1"/>
          </p:cNvSpPr>
          <p:nvPr/>
        </p:nvSpPr>
        <p:spPr bwMode="auto">
          <a:xfrm>
            <a:off x="3779838" y="1296988"/>
            <a:ext cx="35290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宋体" charset="-122"/>
              </a:defRPr>
            </a:lvl1pPr>
            <a:lvl2pPr marL="742950" indent="-285750">
              <a:defRPr>
                <a:solidFill>
                  <a:schemeClr val="tx1"/>
                </a:solidFill>
                <a:latin typeface="Calibri" charset="0"/>
                <a:ea typeface="宋体" charset="-122"/>
              </a:defRPr>
            </a:lvl2pPr>
            <a:lvl3pPr marL="1143000" indent="-228600">
              <a:defRPr>
                <a:solidFill>
                  <a:schemeClr val="tx1"/>
                </a:solidFill>
                <a:latin typeface="Calibri" charset="0"/>
                <a:ea typeface="宋体" charset="-122"/>
              </a:defRPr>
            </a:lvl3pPr>
            <a:lvl4pPr marL="1600200" indent="-228600">
              <a:defRPr>
                <a:solidFill>
                  <a:schemeClr val="tx1"/>
                </a:solidFill>
                <a:latin typeface="Calibri" charset="0"/>
                <a:ea typeface="宋体" charset="-122"/>
              </a:defRPr>
            </a:lvl4pPr>
            <a:lvl5pPr marL="2057400" indent="-228600">
              <a:defRPr>
                <a:solidFill>
                  <a:schemeClr val="tx1"/>
                </a:solidFill>
                <a:latin typeface="Calibri" charset="0"/>
                <a:ea typeface="宋体" charset="-122"/>
              </a:defRPr>
            </a:lvl5pPr>
            <a:lvl6pPr marL="2514600" indent="-228600" eaLnBrk="0" fontAlgn="base" hangingPunct="0">
              <a:spcBef>
                <a:spcPct val="0"/>
              </a:spcBef>
              <a:spcAft>
                <a:spcPct val="0"/>
              </a:spcAft>
              <a:defRPr>
                <a:solidFill>
                  <a:schemeClr val="tx1"/>
                </a:solidFill>
                <a:latin typeface="Calibri" charset="0"/>
                <a:ea typeface="宋体" charset="-122"/>
              </a:defRPr>
            </a:lvl6pPr>
            <a:lvl7pPr marL="2971800" indent="-228600" eaLnBrk="0" fontAlgn="base" hangingPunct="0">
              <a:spcBef>
                <a:spcPct val="0"/>
              </a:spcBef>
              <a:spcAft>
                <a:spcPct val="0"/>
              </a:spcAft>
              <a:defRPr>
                <a:solidFill>
                  <a:schemeClr val="tx1"/>
                </a:solidFill>
                <a:latin typeface="Calibri" charset="0"/>
                <a:ea typeface="宋体" charset="-122"/>
              </a:defRPr>
            </a:lvl7pPr>
            <a:lvl8pPr marL="3429000" indent="-228600" eaLnBrk="0" fontAlgn="base" hangingPunct="0">
              <a:spcBef>
                <a:spcPct val="0"/>
              </a:spcBef>
              <a:spcAft>
                <a:spcPct val="0"/>
              </a:spcAft>
              <a:defRPr>
                <a:solidFill>
                  <a:schemeClr val="tx1"/>
                </a:solidFill>
                <a:latin typeface="Calibri" charset="0"/>
                <a:ea typeface="宋体" charset="-122"/>
              </a:defRPr>
            </a:lvl8pPr>
            <a:lvl9pPr marL="3886200" indent="-228600" eaLnBrk="0" fontAlgn="base" hangingPunct="0">
              <a:spcBef>
                <a:spcPct val="0"/>
              </a:spcBef>
              <a:spcAft>
                <a:spcPct val="0"/>
              </a:spcAft>
              <a:defRPr>
                <a:solidFill>
                  <a:schemeClr val="tx1"/>
                </a:solidFill>
                <a:latin typeface="Calibri" charset="0"/>
                <a:ea typeface="宋体" charset="-122"/>
              </a:defRPr>
            </a:lvl9pPr>
          </a:lstStyle>
          <a:p>
            <a:pPr eaLnBrk="1" hangingPunct="1">
              <a:buFont typeface="Arial" charset="0"/>
              <a:buNone/>
            </a:pPr>
            <a:r>
              <a:rPr lang="en-US" altLang="zh-CN" sz="1600" b="1">
                <a:solidFill>
                  <a:srgbClr val="404040"/>
                </a:solidFill>
                <a:latin typeface="微软雅黑" charset="-122"/>
                <a:ea typeface="微软雅黑" charset="-122"/>
              </a:rPr>
              <a:t>NLP</a:t>
            </a:r>
            <a:r>
              <a:rPr lang="zh-CN" altLang="en-US" sz="1600" b="1">
                <a:solidFill>
                  <a:srgbClr val="404040"/>
                </a:solidFill>
                <a:latin typeface="微软雅黑" charset="-122"/>
                <a:ea typeface="微软雅黑" charset="-122"/>
              </a:rPr>
              <a:t>概述总结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80905155037"/>
  <p:tag name="MH_LIBRARY" val="CONTENTS"/>
  <p:tag name="MH_TYPE" val="OTHERS"/>
  <p:tag name="ID" val="545836"/>
</p:tagLst>
</file>

<file path=ppt/tags/tag2.xml><?xml version="1.0" encoding="utf-8"?>
<p:tagLst xmlns:a="http://schemas.openxmlformats.org/drawingml/2006/main" xmlns:r="http://schemas.openxmlformats.org/officeDocument/2006/relationships" xmlns:p="http://schemas.openxmlformats.org/presentationml/2006/main">
  <p:tag name="MH" val="20180905155037"/>
  <p:tag name="MH_LIBRARY" val="CONTENTS"/>
  <p:tag name="MH_TYPE" val="OTHERS"/>
  <p:tag name="ID" val="545836"/>
</p:tagLst>
</file>

<file path=ppt/tags/tag3.xml><?xml version="1.0" encoding="utf-8"?>
<p:tagLst xmlns:a="http://schemas.openxmlformats.org/drawingml/2006/main" xmlns:r="http://schemas.openxmlformats.org/officeDocument/2006/relationships" xmlns:p="http://schemas.openxmlformats.org/presentationml/2006/main">
  <p:tag name="MH" val="20180905155037"/>
  <p:tag name="MH_LIBRARY" val="CONTENTS"/>
  <p:tag name="MH_TYPE" val="OTHERS"/>
  <p:tag name="ID" val="545836"/>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6448</TotalTime>
  <Pages>1</Pages>
  <Words>1967</Words>
  <Characters>0</Characters>
  <Application>Microsoft Office PowerPoint</Application>
  <DocSecurity>0</DocSecurity>
  <PresentationFormat>全屏显示(16:9)</PresentationFormat>
  <Lines>0</Lines>
  <Paragraphs>257</Paragraphs>
  <Slides>20</Slides>
  <Notes>9</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20</vt:i4>
      </vt:variant>
    </vt:vector>
  </HeadingPairs>
  <TitlesOfParts>
    <vt:vector size="32" baseType="lpstr">
      <vt:lpstr>黑体</vt:lpstr>
      <vt:lpstr>微软雅黑</vt:lpstr>
      <vt:lpstr>微软雅黑</vt:lpstr>
      <vt:lpstr>Arial</vt:lpstr>
      <vt:lpstr>Calibri</vt:lpstr>
      <vt:lpstr>Cambria Math</vt:lpstr>
      <vt:lpstr>Segoe UI</vt:lpstr>
      <vt:lpstr>Wingdings</vt:lpstr>
      <vt:lpstr>1_自定义设计方案</vt:lpstr>
      <vt:lpstr>自定义设计方案</vt:lpstr>
      <vt:lpstr>3_自定义设计方案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大伟 周</cp:lastModifiedBy>
  <cp:revision>368</cp:revision>
  <dcterms:created xsi:type="dcterms:W3CDTF">2015-06-29T07:19:00Z</dcterms:created>
  <dcterms:modified xsi:type="dcterms:W3CDTF">2019-04-27T03:09:40Z</dcterms:modified>
</cp:coreProperties>
</file>