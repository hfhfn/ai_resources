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74" r:id="rId9"/>
    <p:sldMasterId id="2147483676" r:id="rId10"/>
    <p:sldMasterId id="2147483679" r:id="rId11"/>
    <p:sldMasterId id="2147483681" r:id="rId12"/>
    <p:sldMasterId id="2147483693" r:id="rId13"/>
  </p:sldMasterIdLst>
  <p:notesMasterIdLst>
    <p:notesMasterId r:id="rId15"/>
  </p:notesMasterIdLst>
  <p:sldIdLst>
    <p:sldId id="260" r:id="rId14"/>
    <p:sldId id="424" r:id="rId16"/>
    <p:sldId id="268" r:id="rId17"/>
    <p:sldId id="265" r:id="rId18"/>
    <p:sldId id="427" r:id="rId19"/>
    <p:sldId id="428" r:id="rId20"/>
    <p:sldId id="429" r:id="rId21"/>
    <p:sldId id="266" r:id="rId22"/>
    <p:sldId id="430" r:id="rId23"/>
    <p:sldId id="431" r:id="rId24"/>
    <p:sldId id="433" r:id="rId25"/>
    <p:sldId id="432" r:id="rId26"/>
    <p:sldId id="434" r:id="rId27"/>
    <p:sldId id="435" r:id="rId28"/>
    <p:sldId id="436" r:id="rId29"/>
    <p:sldId id="437" r:id="rId30"/>
    <p:sldId id="438" r:id="rId31"/>
    <p:sldId id="439" r:id="rId32"/>
    <p:sldId id="440" r:id="rId33"/>
    <p:sldId id="442" r:id="rId34"/>
    <p:sldId id="443" r:id="rId35"/>
    <p:sldId id="444" r:id="rId36"/>
    <p:sldId id="446" r:id="rId37"/>
    <p:sldId id="445" r:id="rId38"/>
    <p:sldId id="425" r:id="rId39"/>
    <p:sldId id="264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C00000"/>
    <a:srgbClr val="000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6355" autoAdjust="0"/>
  </p:normalViewPr>
  <p:slideViewPr>
    <p:cSldViewPr snapToGrid="0">
      <p:cViewPr varScale="1">
        <p:scale>
          <a:sx n="137" d="100"/>
          <a:sy n="137" d="100"/>
        </p:scale>
        <p:origin x="2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2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2"/>
          <p:cNvSpPr>
            <a:spLocks noGrp="1"/>
          </p:cNvSpPr>
          <p:nvPr>
            <p:ph type="title" hasCustomPrompt="1"/>
          </p:nvPr>
        </p:nvSpPr>
        <p:spPr>
          <a:xfrm>
            <a:off x="2889584" y="3023414"/>
            <a:ext cx="6412832" cy="811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请输入课程标题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8701" y="1940037"/>
            <a:ext cx="5630484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171575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emf"/><Relationship Id="rId8" Type="http://schemas.openxmlformats.org/officeDocument/2006/relationships/image" Target="../media/image7.emf"/><Relationship Id="rId7" Type="http://schemas.openxmlformats.org/officeDocument/2006/relationships/image" Target="../media/image6.emf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0" Type="http://schemas.openxmlformats.org/officeDocument/2006/relationships/theme" Target="../theme/theme1.xml"/><Relationship Id="rId2" Type="http://schemas.openxmlformats.org/officeDocument/2006/relationships/image" Target="../media/image1.emf"/><Relationship Id="rId19" Type="http://schemas.openxmlformats.org/officeDocument/2006/relationships/image" Target="../media/image18.emf"/><Relationship Id="rId18" Type="http://schemas.openxmlformats.org/officeDocument/2006/relationships/image" Target="../media/image17.emf"/><Relationship Id="rId17" Type="http://schemas.openxmlformats.org/officeDocument/2006/relationships/image" Target="../media/image16.emf"/><Relationship Id="rId16" Type="http://schemas.openxmlformats.org/officeDocument/2006/relationships/image" Target="../media/image15.emf"/><Relationship Id="rId15" Type="http://schemas.openxmlformats.org/officeDocument/2006/relationships/image" Target="../media/image14.emf"/><Relationship Id="rId14" Type="http://schemas.openxmlformats.org/officeDocument/2006/relationships/image" Target="../media/image13.emf"/><Relationship Id="rId13" Type="http://schemas.openxmlformats.org/officeDocument/2006/relationships/image" Target="../media/image12.emf"/><Relationship Id="rId12" Type="http://schemas.openxmlformats.org/officeDocument/2006/relationships/image" Target="../media/image11.emf"/><Relationship Id="rId11" Type="http://schemas.openxmlformats.org/officeDocument/2006/relationships/image" Target="../media/image10.emf"/><Relationship Id="rId10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image" Target="../media/image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5" Type="http://schemas.openxmlformats.org/officeDocument/2006/relationships/theme" Target="../theme/theme7.xml"/><Relationship Id="rId14" Type="http://schemas.openxmlformats.org/officeDocument/2006/relationships/image" Target="../media/image22.png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0.xml"/></Relationships>
</file>

<file path=ppt/slideMasters/_rels/slideMaster9.xml.rels><?xml version="1.0" encoding="UTF-8" standalone="yes"?>
<Relationships xmlns="http://schemas.openxmlformats.org/package/2006/relationships"><Relationship Id="rId7" Type="http://schemas.openxmlformats.org/officeDocument/2006/relationships/theme" Target="../theme/theme9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3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0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3" Type="http://schemas.openxmlformats.org/officeDocument/2006/relationships/theme" Target="../theme/theme11.xml"/><Relationship Id="rId12" Type="http://schemas.openxmlformats.org/officeDocument/2006/relationships/image" Target="../media/image24.png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4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452" y="855134"/>
            <a:ext cx="4169833" cy="458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518" y="1420285"/>
            <a:ext cx="2933700" cy="327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 3"/>
          <p:cNvSpPr/>
          <p:nvPr userDrawn="1"/>
        </p:nvSpPr>
        <p:spPr bwMode="auto">
          <a:xfrm>
            <a:off x="8509000" y="1845733"/>
            <a:ext cx="618067" cy="6180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5" name="椭圆 4"/>
          <p:cNvSpPr/>
          <p:nvPr userDrawn="1"/>
        </p:nvSpPr>
        <p:spPr bwMode="auto">
          <a:xfrm>
            <a:off x="3268134" y="2332567"/>
            <a:ext cx="245533" cy="245533"/>
          </a:xfrm>
          <a:prstGeom prst="ellipse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6" name="椭圆 10"/>
          <p:cNvSpPr>
            <a:spLocks noChangeArrowheads="1"/>
          </p:cNvSpPr>
          <p:nvPr userDrawn="1"/>
        </p:nvSpPr>
        <p:spPr bwMode="auto">
          <a:xfrm>
            <a:off x="6987118" y="5249334"/>
            <a:ext cx="292100" cy="2921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4353985" y="2586567"/>
            <a:ext cx="171449" cy="1735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32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2" y="2108201"/>
            <a:ext cx="2899833" cy="79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218" y="1947334"/>
            <a:ext cx="283633" cy="38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4" name="组合 43"/>
          <p:cNvGrpSpPr/>
          <p:nvPr userDrawn="1"/>
        </p:nvGrpSpPr>
        <p:grpSpPr bwMode="auto">
          <a:xfrm>
            <a:off x="8134351" y="2334685"/>
            <a:ext cx="173567" cy="171449"/>
            <a:chOff x="6101548" y="1750326"/>
            <a:chExt cx="129654" cy="129654"/>
          </a:xfrm>
        </p:grpSpPr>
        <p:sp>
          <p:nvSpPr>
            <p:cNvPr id="13" name="椭圆 12"/>
            <p:cNvSpPr/>
            <p:nvPr/>
          </p:nvSpPr>
          <p:spPr bwMode="auto">
            <a:xfrm>
              <a:off x="6101548" y="1750326"/>
              <a:ext cx="129654" cy="12965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6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394" y="1772988"/>
              <a:ext cx="84329" cy="84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5" name="Picture 7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201" y="5325534"/>
            <a:ext cx="1566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6" name="组合 41"/>
          <p:cNvGrpSpPr/>
          <p:nvPr userDrawn="1"/>
        </p:nvGrpSpPr>
        <p:grpSpPr bwMode="auto">
          <a:xfrm>
            <a:off x="4053418" y="728134"/>
            <a:ext cx="300567" cy="300567"/>
            <a:chOff x="3039900" y="545911"/>
            <a:chExt cx="225188" cy="225188"/>
          </a:xfrm>
        </p:grpSpPr>
        <p:sp>
          <p:nvSpPr>
            <p:cNvPr id="17" name="椭圆 16"/>
            <p:cNvSpPr/>
            <p:nvPr/>
          </p:nvSpPr>
          <p:spPr bwMode="auto">
            <a:xfrm>
              <a:off x="3039900" y="545911"/>
              <a:ext cx="225188" cy="22518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775" y="600432"/>
              <a:ext cx="143438" cy="110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37" name="组合 37"/>
          <p:cNvGrpSpPr/>
          <p:nvPr userDrawn="1"/>
        </p:nvGrpSpPr>
        <p:grpSpPr bwMode="auto">
          <a:xfrm>
            <a:off x="3448052" y="4030133"/>
            <a:ext cx="247649" cy="247651"/>
            <a:chOff x="2586251" y="3022980"/>
            <a:chExt cx="88710" cy="88710"/>
          </a:xfrm>
          <a:solidFill>
            <a:srgbClr val="C00000"/>
          </a:solidFill>
        </p:grpSpPr>
        <p:sp>
          <p:nvSpPr>
            <p:cNvPr id="20" name="椭圆 9"/>
            <p:cNvSpPr>
              <a:spLocks noChangeArrowheads="1"/>
            </p:cNvSpPr>
            <p:nvPr/>
          </p:nvSpPr>
          <p:spPr bwMode="auto">
            <a:xfrm>
              <a:off x="2586251" y="3022980"/>
              <a:ext cx="88710" cy="88710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4" name="Picture 10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611596" y="3041493"/>
              <a:ext cx="45720" cy="51684"/>
            </a:xfrm>
            <a:prstGeom prst="rect">
              <a:avLst/>
            </a:prstGeom>
            <a:grpFill/>
            <a:ln>
              <a:noFill/>
            </a:ln>
            <a:effectLst/>
          </p:spPr>
        </p:pic>
      </p:grpSp>
      <p:pic>
        <p:nvPicPr>
          <p:cNvPr id="1038" name="Picture 1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085" y="2633134"/>
            <a:ext cx="95249" cy="103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椭圆 22"/>
          <p:cNvSpPr/>
          <p:nvPr userDrawn="1"/>
        </p:nvSpPr>
        <p:spPr bwMode="auto">
          <a:xfrm>
            <a:off x="9484785" y="3507318"/>
            <a:ext cx="334433" cy="332316"/>
          </a:xfrm>
          <a:prstGeom prst="ellipse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40" name="Picture 15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333" y="3587752"/>
            <a:ext cx="177800" cy="171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1" name="组合 46"/>
          <p:cNvGrpSpPr/>
          <p:nvPr userDrawn="1"/>
        </p:nvGrpSpPr>
        <p:grpSpPr bwMode="auto">
          <a:xfrm>
            <a:off x="3103034" y="4514851"/>
            <a:ext cx="345017" cy="345016"/>
            <a:chOff x="1798978" y="3519004"/>
            <a:chExt cx="259307" cy="259307"/>
          </a:xfrm>
        </p:grpSpPr>
        <p:sp>
          <p:nvSpPr>
            <p:cNvPr id="26" name="椭圆 25"/>
            <p:cNvSpPr/>
            <p:nvPr/>
          </p:nvSpPr>
          <p:spPr bwMode="auto">
            <a:xfrm>
              <a:off x="1798978" y="3519004"/>
              <a:ext cx="259307" cy="2593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2" name="Picture 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039" y="3616294"/>
              <a:ext cx="173184" cy="85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2" name="组合 38"/>
          <p:cNvGrpSpPr/>
          <p:nvPr userDrawn="1"/>
        </p:nvGrpSpPr>
        <p:grpSpPr bwMode="auto">
          <a:xfrm>
            <a:off x="1301752" y="1394885"/>
            <a:ext cx="400049" cy="400049"/>
            <a:chOff x="748396" y="764271"/>
            <a:chExt cx="300782" cy="300782"/>
          </a:xfrm>
        </p:grpSpPr>
        <p:sp>
          <p:nvSpPr>
            <p:cNvPr id="29" name="椭圆 28"/>
            <p:cNvSpPr/>
            <p:nvPr/>
          </p:nvSpPr>
          <p:spPr bwMode="auto">
            <a:xfrm>
              <a:off x="748396" y="764271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0" name="Picture 4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06" y="856341"/>
              <a:ext cx="203362" cy="1166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3" name="组合 42"/>
          <p:cNvGrpSpPr/>
          <p:nvPr userDrawn="1"/>
        </p:nvGrpSpPr>
        <p:grpSpPr bwMode="auto">
          <a:xfrm>
            <a:off x="2351618" y="5854700"/>
            <a:ext cx="400049" cy="400051"/>
            <a:chOff x="1365228" y="4292790"/>
            <a:chExt cx="300782" cy="300782"/>
          </a:xfrm>
        </p:grpSpPr>
        <p:sp>
          <p:nvSpPr>
            <p:cNvPr id="32" name="椭圆 31"/>
            <p:cNvSpPr/>
            <p:nvPr/>
          </p:nvSpPr>
          <p:spPr bwMode="auto">
            <a:xfrm>
              <a:off x="1365228" y="4292790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8" name="Picture 5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391" y="4364115"/>
              <a:ext cx="196455" cy="158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4" name="组合 1"/>
          <p:cNvGrpSpPr/>
          <p:nvPr userDrawn="1"/>
        </p:nvGrpSpPr>
        <p:grpSpPr bwMode="auto">
          <a:xfrm>
            <a:off x="1559985" y="3492500"/>
            <a:ext cx="400049" cy="400051"/>
            <a:chOff x="1169908" y="2618983"/>
            <a:chExt cx="300782" cy="300782"/>
          </a:xfrm>
        </p:grpSpPr>
        <p:sp>
          <p:nvSpPr>
            <p:cNvPr id="35" name="椭圆 34"/>
            <p:cNvSpPr/>
            <p:nvPr/>
          </p:nvSpPr>
          <p:spPr bwMode="auto">
            <a:xfrm>
              <a:off x="1169908" y="2618983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6" name="Picture 6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531" y="2690308"/>
              <a:ext cx="211536" cy="181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5" name="组合 49"/>
          <p:cNvGrpSpPr/>
          <p:nvPr userDrawn="1"/>
        </p:nvGrpSpPr>
        <p:grpSpPr bwMode="auto">
          <a:xfrm>
            <a:off x="10375901" y="5395385"/>
            <a:ext cx="427567" cy="427567"/>
            <a:chOff x="7874758" y="4418464"/>
            <a:chExt cx="320722" cy="320722"/>
          </a:xfrm>
        </p:grpSpPr>
        <p:sp>
          <p:nvSpPr>
            <p:cNvPr id="38" name="椭圆 37"/>
            <p:cNvSpPr/>
            <p:nvPr/>
          </p:nvSpPr>
          <p:spPr bwMode="auto">
            <a:xfrm>
              <a:off x="7874758" y="4418464"/>
              <a:ext cx="320722" cy="32072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4" name="Picture 7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542" y="4486356"/>
              <a:ext cx="237154" cy="184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46" name="Picture 9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234" y="2364318"/>
            <a:ext cx="1693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7" name="组合 45"/>
          <p:cNvGrpSpPr/>
          <p:nvPr userDrawn="1"/>
        </p:nvGrpSpPr>
        <p:grpSpPr bwMode="auto">
          <a:xfrm>
            <a:off x="8818034" y="4578351"/>
            <a:ext cx="345017" cy="345016"/>
            <a:chOff x="8470946" y="4206098"/>
            <a:chExt cx="259071" cy="259071"/>
          </a:xfrm>
        </p:grpSpPr>
        <p:sp>
          <p:nvSpPr>
            <p:cNvPr id="42" name="椭圆 41"/>
            <p:cNvSpPr/>
            <p:nvPr/>
          </p:nvSpPr>
          <p:spPr bwMode="auto">
            <a:xfrm>
              <a:off x="8470946" y="4206098"/>
              <a:ext cx="259071" cy="25907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2" name="Picture 10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0841" y="4263524"/>
              <a:ext cx="145353" cy="144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8" name="组合 44"/>
          <p:cNvGrpSpPr/>
          <p:nvPr userDrawn="1"/>
        </p:nvGrpSpPr>
        <p:grpSpPr bwMode="auto">
          <a:xfrm>
            <a:off x="9745134" y="1217084"/>
            <a:ext cx="429684" cy="429683"/>
            <a:chOff x="7308304" y="912172"/>
            <a:chExt cx="323068" cy="323068"/>
          </a:xfrm>
        </p:grpSpPr>
        <p:sp>
          <p:nvSpPr>
            <p:cNvPr id="45" name="椭圆 44"/>
            <p:cNvSpPr/>
            <p:nvPr/>
          </p:nvSpPr>
          <p:spPr bwMode="auto">
            <a:xfrm>
              <a:off x="7308304" y="912172"/>
              <a:ext cx="323068" cy="32306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0" name="Picture 11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8238" y="989568"/>
              <a:ext cx="203200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MH_Others_1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611967" y="2556933"/>
            <a:ext cx="859367" cy="3524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91440" tIns="45720" rIns="91440" bIns="4572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48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Contents</a:t>
            </a:r>
            <a:endParaRPr lang="en-US" altLang="zh-CN" sz="48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MH_Others_2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2264834" y="1221318"/>
            <a:ext cx="1248833" cy="1246716"/>
          </a:xfrm>
          <a:prstGeom prst="ellipse">
            <a:avLst/>
          </a:prstGeom>
          <a:solidFill>
            <a:srgbClr val="404040"/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91440" tIns="45720" rIns="91440" bIns="180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9335"/>
              </a:lnSpc>
              <a:spcBef>
                <a:spcPct val="0"/>
              </a:spcBef>
              <a:buNone/>
              <a:defRPr/>
            </a:pPr>
            <a:r>
              <a:rPr lang="zh-CN" altLang="en-US" sz="5400" b="1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</a:t>
            </a:r>
            <a:endParaRPr lang="zh-CN" altLang="en-US" sz="5400" b="1" dirty="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MH_Others_3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1775520" y="2346261"/>
            <a:ext cx="979155" cy="979155"/>
          </a:xfrm>
          <a:prstGeom prst="ellipse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5400" b="1" dirty="0">
                <a:ln w="3175">
                  <a:solidFill>
                    <a:srgbClr val="FFFFFF"/>
                  </a:solidFill>
                </a:ln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录</a:t>
            </a:r>
            <a:endParaRPr lang="zh-CN" altLang="en-US" sz="5400" b="1" dirty="0">
              <a:ln w="3175">
                <a:solidFill>
                  <a:srgbClr val="FFFFFF"/>
                </a:solidFill>
              </a:ln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464051" y="1845734"/>
            <a:ext cx="0" cy="32639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4415367" y="1797052"/>
            <a:ext cx="97367" cy="9524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2" name="椭圆 11"/>
          <p:cNvSpPr/>
          <p:nvPr userDrawn="1"/>
        </p:nvSpPr>
        <p:spPr>
          <a:xfrm>
            <a:off x="4415367" y="5109633"/>
            <a:ext cx="97367" cy="9525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4" name="标题占位符 1"/>
          <p:cNvSpPr txBox="1">
            <a:spLocks noChangeArrowheads="1"/>
          </p:cNvSpPr>
          <p:nvPr userDrawn="1"/>
        </p:nvSpPr>
        <p:spPr bwMode="auto">
          <a:xfrm>
            <a:off x="1390651" y="2565401"/>
            <a:ext cx="229446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265" b="1" kern="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TW" altLang="zh-CN" sz="4265" b="1" kern="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占位符 1"/>
          <p:cNvSpPr txBox="1">
            <a:spLocks noChangeArrowheads="1"/>
          </p:cNvSpPr>
          <p:nvPr userDrawn="1"/>
        </p:nvSpPr>
        <p:spPr bwMode="auto">
          <a:xfrm>
            <a:off x="1678518" y="3431118"/>
            <a:ext cx="2821516" cy="68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3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endParaRPr lang="zh-TW" altLang="zh-CN" sz="32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/>
          <p:cNvGrpSpPr/>
          <p:nvPr userDrawn="1"/>
        </p:nvGrpSpPr>
        <p:grpSpPr bwMode="auto">
          <a:xfrm>
            <a:off x="658285" y="292101"/>
            <a:ext cx="122767" cy="419100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Segoe UI" panose="020B0502040204020203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52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2053" name="图片 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9"/>
          <p:cNvGrpSpPr/>
          <p:nvPr userDrawn="1"/>
        </p:nvGrpSpPr>
        <p:grpSpPr bwMode="auto">
          <a:xfrm>
            <a:off x="2592918" y="2423584"/>
            <a:ext cx="6864349" cy="1049867"/>
            <a:chOff x="1944836" y="1767215"/>
            <a:chExt cx="5147444" cy="787423"/>
          </a:xfrm>
        </p:grpSpPr>
        <p:pic>
          <p:nvPicPr>
            <p:cNvPr id="4099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直接连接符 8"/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apply</a:t>
            </a:r>
            <a:r>
              <a:rPr lang="zh-CN" altLang="en-US" dirty="0"/>
              <a:t>自定义函数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掌握</a:t>
            </a:r>
            <a:r>
              <a:rPr lang="en-US" altLang="zh-CN" dirty="0"/>
              <a:t>apply</a:t>
            </a:r>
            <a:r>
              <a:rPr lang="zh-CN" altLang="en-US" dirty="0"/>
              <a:t>的用法</a:t>
            </a:r>
            <a:endParaRPr lang="zh-CN" altLang="en-US" dirty="0"/>
          </a:p>
          <a:p>
            <a:r>
              <a:rPr lang="zh-CN" altLang="en-US" dirty="0"/>
              <a:t>知道如何创建向量化函数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>
                <a:solidFill>
                  <a:srgbClr val="FF0000"/>
                </a:solidFill>
              </a:rPr>
              <a:t>Series</a:t>
            </a:r>
            <a:r>
              <a:rPr lang="zh-CN" altLang="en-US" b="1" dirty="0">
                <a:solidFill>
                  <a:srgbClr val="FF0000"/>
                </a:solidFill>
              </a:rPr>
              <a:t>的</a:t>
            </a:r>
            <a:r>
              <a:rPr lang="en-GB" altLang="zh-CN" b="1" dirty="0">
                <a:solidFill>
                  <a:srgbClr val="FF0000"/>
                </a:solidFill>
              </a:rPr>
              <a:t>apply</a:t>
            </a:r>
            <a:r>
              <a:rPr lang="zh-CN" altLang="en-US" b="1" dirty="0">
                <a:solidFill>
                  <a:srgbClr val="FF0000"/>
                </a:solidFill>
              </a:rPr>
              <a:t>方法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GB" altLang="zh-CN" b="1" dirty="0"/>
              <a:t>DataFrame</a:t>
            </a:r>
            <a:r>
              <a:rPr lang="zh-CN" altLang="en-US" b="1" dirty="0"/>
              <a:t>的</a:t>
            </a:r>
            <a:r>
              <a:rPr lang="en-GB" altLang="zh-CN" b="1" dirty="0"/>
              <a:t>apply</a:t>
            </a:r>
            <a:r>
              <a:rPr lang="zh-CN" altLang="en-US" b="1" dirty="0"/>
              <a:t>方法</a:t>
            </a:r>
            <a:endParaRPr lang="zh-CN" altLang="en-US" b="1" dirty="0"/>
          </a:p>
          <a:p>
            <a:r>
              <a:rPr lang="en-GB" altLang="zh-CN" b="1" dirty="0"/>
              <a:t>apply </a:t>
            </a:r>
            <a:r>
              <a:rPr lang="zh-CN" altLang="en-US" b="1" dirty="0"/>
              <a:t>使用案例</a:t>
            </a:r>
            <a:endParaRPr lang="zh-CN" altLang="en-US" b="1" dirty="0"/>
          </a:p>
          <a:p>
            <a:r>
              <a:rPr lang="zh-CN" altLang="en-US" b="1" dirty="0"/>
              <a:t>向量化函数</a:t>
            </a:r>
            <a:endParaRPr lang="zh-CN" altLang="en-US" b="1" dirty="0"/>
          </a:p>
          <a:p>
            <a:r>
              <a:rPr lang="en-GB" altLang="zh-CN" b="1" dirty="0"/>
              <a:t>lambda</a:t>
            </a:r>
            <a:r>
              <a:rPr lang="zh-CN" altLang="en-US" b="1" dirty="0"/>
              <a:t>函数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1 Series</a:t>
            </a:r>
            <a:r>
              <a:rPr lang="zh-CN" altLang="en-US" dirty="0"/>
              <a:t>的</a:t>
            </a:r>
            <a:r>
              <a:rPr lang="en-GB" altLang="zh-CN" dirty="0"/>
              <a:t>apply</a:t>
            </a:r>
            <a:r>
              <a:rPr lang="zh-CN" altLang="en-US" dirty="0"/>
              <a:t>方法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Pandas</a:t>
            </a:r>
            <a:r>
              <a:rPr lang="zh-CN" altLang="en-US" dirty="0"/>
              <a:t>提供了很多数据处理的</a:t>
            </a:r>
            <a:r>
              <a:rPr lang="en-US" altLang="zh-CN" dirty="0"/>
              <a:t>API,</a:t>
            </a:r>
            <a:r>
              <a:rPr lang="zh-CN" altLang="en-US" dirty="0"/>
              <a:t>但当提供的</a:t>
            </a:r>
            <a:r>
              <a:rPr lang="en-US" altLang="zh-CN" dirty="0"/>
              <a:t>API</a:t>
            </a:r>
            <a:r>
              <a:rPr lang="zh-CN" altLang="en-US" dirty="0"/>
              <a:t>不能满足需求的时候</a:t>
            </a:r>
            <a:r>
              <a:rPr lang="en-US" altLang="zh-CN" dirty="0"/>
              <a:t>,</a:t>
            </a:r>
            <a:r>
              <a:rPr lang="zh-CN" altLang="en-US" dirty="0"/>
              <a:t>需要自己编写数据处理函数</a:t>
            </a:r>
            <a:r>
              <a:rPr lang="en-US" altLang="zh-CN" dirty="0"/>
              <a:t>, </a:t>
            </a:r>
            <a:r>
              <a:rPr lang="zh-CN" altLang="en-US" dirty="0"/>
              <a:t>这个时候可以使用</a:t>
            </a:r>
            <a:r>
              <a:rPr lang="en-US" altLang="zh-CN" dirty="0"/>
              <a:t>apply</a:t>
            </a:r>
            <a:r>
              <a:rPr lang="zh-CN" altLang="en-US" dirty="0"/>
              <a:t>函数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apply</a:t>
            </a:r>
            <a:r>
              <a:rPr lang="zh-CN" altLang="en-US" dirty="0"/>
              <a:t>函数可以接收一个自定义函数</a:t>
            </a:r>
            <a:r>
              <a:rPr lang="en-US" altLang="zh-CN" dirty="0"/>
              <a:t>, </a:t>
            </a:r>
            <a:r>
              <a:rPr lang="zh-CN" altLang="en-US" dirty="0"/>
              <a:t>可以将</a:t>
            </a:r>
            <a:r>
              <a:rPr lang="en-US" altLang="zh-CN" dirty="0"/>
              <a:t>DataFrame</a:t>
            </a:r>
            <a:r>
              <a:rPr lang="zh-CN" altLang="en-US" dirty="0"/>
              <a:t>的行</a:t>
            </a:r>
            <a:r>
              <a:rPr lang="en-US" altLang="zh-CN" dirty="0"/>
              <a:t>/</a:t>
            </a:r>
            <a:r>
              <a:rPr lang="zh-CN" altLang="en-US" dirty="0"/>
              <a:t>列数据传递给自定义函数处理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apply</a:t>
            </a:r>
            <a:r>
              <a:rPr lang="zh-CN" altLang="en-US" dirty="0"/>
              <a:t>函数类似于编写一个</a:t>
            </a:r>
            <a:r>
              <a:rPr lang="en-US" altLang="zh-CN" dirty="0"/>
              <a:t>for</a:t>
            </a:r>
            <a:r>
              <a:rPr lang="zh-CN" altLang="en-US" dirty="0"/>
              <a:t>循环</a:t>
            </a:r>
            <a:r>
              <a:rPr lang="en-US" altLang="zh-CN" dirty="0"/>
              <a:t>, </a:t>
            </a:r>
            <a:r>
              <a:rPr lang="zh-CN" altLang="en-US" dirty="0"/>
              <a:t>遍历行</a:t>
            </a:r>
            <a:r>
              <a:rPr lang="en-US" altLang="zh-CN" dirty="0"/>
              <a:t>/</a:t>
            </a:r>
            <a:r>
              <a:rPr lang="zh-CN" altLang="en-US" dirty="0"/>
              <a:t>列的每一个元素</a:t>
            </a:r>
            <a:r>
              <a:rPr lang="en-US" altLang="zh-CN" dirty="0"/>
              <a:t>,</a:t>
            </a:r>
            <a:r>
              <a:rPr lang="zh-CN" altLang="en-US" dirty="0"/>
              <a:t>但比使用</a:t>
            </a:r>
            <a:r>
              <a:rPr lang="en-US" altLang="zh-CN" dirty="0"/>
              <a:t>for</a:t>
            </a:r>
            <a:r>
              <a:rPr lang="zh-CN" altLang="en-US" dirty="0"/>
              <a:t>循环效率高很多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1 Series</a:t>
            </a:r>
            <a:r>
              <a:rPr lang="zh-CN" altLang="en-US" dirty="0"/>
              <a:t>的</a:t>
            </a:r>
            <a:r>
              <a:rPr lang="en-GB" altLang="zh-CN" dirty="0"/>
              <a:t>apply</a:t>
            </a:r>
            <a:r>
              <a:rPr lang="zh-CN" altLang="en-US" dirty="0"/>
              <a:t>方法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使用方法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数据准备</a:t>
            </a:r>
            <a:endParaRPr lang="en-US" altLang="zh-CN" dirty="0"/>
          </a:p>
          <a:p>
            <a:r>
              <a:rPr lang="en-GB" altLang="zh-CN" dirty="0"/>
              <a:t>import pandas as </a:t>
            </a:r>
            <a:r>
              <a:rPr lang="en-GB" altLang="zh-CN" dirty="0" err="1"/>
              <a:t>pd</a:t>
            </a:r>
            <a:endParaRPr lang="en-GB" altLang="zh-CN" dirty="0"/>
          </a:p>
          <a:p>
            <a:r>
              <a:rPr lang="en-GB" altLang="zh-CN" dirty="0" err="1"/>
              <a:t>df</a:t>
            </a:r>
            <a:r>
              <a:rPr lang="en-GB" altLang="zh-CN" dirty="0"/>
              <a:t> = </a:t>
            </a:r>
            <a:r>
              <a:rPr lang="en-GB" altLang="zh-CN" dirty="0" err="1"/>
              <a:t>pd.DataFrame</a:t>
            </a:r>
            <a:r>
              <a:rPr lang="en-GB" altLang="zh-CN" dirty="0"/>
              <a:t>({'a':[10,20,30],'b':[20,30,40]})</a:t>
            </a:r>
            <a:endParaRPr lang="zh-CN" altLang="en-US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创建一个自定义函数</a:t>
            </a:r>
            <a:endParaRPr lang="en-US" altLang="zh-CN" dirty="0"/>
          </a:p>
          <a:p>
            <a:r>
              <a:rPr lang="en-GB" altLang="zh-CN" dirty="0"/>
              <a:t>def </a:t>
            </a:r>
            <a:r>
              <a:rPr lang="en-GB" altLang="zh-CN" dirty="0" err="1"/>
              <a:t>my_sq</a:t>
            </a:r>
            <a:r>
              <a:rPr lang="en-GB" altLang="zh-CN" dirty="0"/>
              <a:t>(x):</a:t>
            </a:r>
            <a:endParaRPr lang="en-GB" altLang="zh-CN" dirty="0"/>
          </a:p>
          <a:p>
            <a:r>
              <a:rPr lang="zh-CN" altLang="en-US" dirty="0"/>
              <a:t>    </a:t>
            </a:r>
            <a:r>
              <a:rPr lang="en-GB" altLang="zh-CN" dirty="0"/>
              <a:t>return x**2</a:t>
            </a:r>
            <a:endParaRPr lang="en-GB" altLang="zh-CN" dirty="0"/>
          </a:p>
          <a:p>
            <a:r>
              <a:rPr lang="en-US" altLang="zh-CN" dirty="0"/>
              <a:t>my_sq(2)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1 Series</a:t>
            </a:r>
            <a:r>
              <a:rPr lang="zh-CN" altLang="en-US" dirty="0"/>
              <a:t>的</a:t>
            </a:r>
            <a:r>
              <a:rPr lang="en-GB" altLang="zh-CN" dirty="0"/>
              <a:t>apply</a:t>
            </a:r>
            <a:r>
              <a:rPr lang="zh-CN" altLang="en-US" dirty="0"/>
              <a:t>方法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使用方法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en-US" altLang="zh-CN" dirty="0"/>
              <a:t>Series有一个apply方法,apply</a:t>
            </a:r>
            <a:r>
              <a:rPr lang="zh-CN" altLang="en-US" dirty="0"/>
              <a:t>方法有一个</a:t>
            </a:r>
            <a:r>
              <a:rPr lang="en-US" altLang="zh-CN" dirty="0" err="1"/>
              <a:t>func</a:t>
            </a:r>
            <a:r>
              <a:rPr lang="zh-CN" altLang="en-US" dirty="0"/>
              <a:t>参数</a:t>
            </a:r>
            <a:r>
              <a:rPr lang="en-US" altLang="zh-CN" dirty="0"/>
              <a:t>,</a:t>
            </a:r>
            <a:r>
              <a:rPr lang="zh-CN" altLang="en-US" dirty="0"/>
              <a:t> 把传入的函数应用于</a:t>
            </a:r>
            <a:r>
              <a:rPr lang="en-US" altLang="zh-CN" dirty="0"/>
              <a:t>Series</a:t>
            </a:r>
            <a:r>
              <a:rPr lang="zh-CN" altLang="en-US" dirty="0"/>
              <a:t>的每个元素</a:t>
            </a:r>
            <a:endParaRPr lang="en-US" altLang="zh-CN" dirty="0"/>
          </a:p>
          <a:p>
            <a:r>
              <a:rPr lang="en-GB" altLang="zh-CN" dirty="0" err="1"/>
              <a:t>sq</a:t>
            </a:r>
            <a:r>
              <a:rPr lang="en-GB" altLang="zh-CN" dirty="0"/>
              <a:t> = </a:t>
            </a:r>
            <a:r>
              <a:rPr lang="en-GB" altLang="zh-CN" dirty="0" err="1"/>
              <a:t>df</a:t>
            </a:r>
            <a:r>
              <a:rPr lang="en-GB" altLang="zh-CN" dirty="0"/>
              <a:t>['a'].apply(</a:t>
            </a:r>
            <a:r>
              <a:rPr lang="en-GB" altLang="zh-CN" dirty="0" err="1"/>
              <a:t>my_sq</a:t>
            </a:r>
            <a:r>
              <a:rPr lang="en-GB" altLang="zh-CN" dirty="0"/>
              <a:t>)</a:t>
            </a:r>
            <a:endParaRPr lang="zh-CN" altLang="en-US" dirty="0"/>
          </a:p>
          <a:p>
            <a:r>
              <a:rPr lang="zh-CN" altLang="en-US" dirty="0"/>
              <a:t>注意</a:t>
            </a:r>
            <a:r>
              <a:rPr lang="en-US" altLang="zh-CN" dirty="0"/>
              <a:t>,</a:t>
            </a:r>
            <a:r>
              <a:rPr lang="zh-CN" altLang="en-US" dirty="0"/>
              <a:t>把</a:t>
            </a:r>
            <a:r>
              <a:rPr lang="en-US" altLang="zh-CN" dirty="0" err="1"/>
              <a:t>my_sq</a:t>
            </a:r>
            <a:r>
              <a:rPr lang="zh-CN" altLang="en-US" dirty="0"/>
              <a:t>传递给</a:t>
            </a:r>
            <a:r>
              <a:rPr lang="en-US" altLang="zh-CN" dirty="0"/>
              <a:t>apply</a:t>
            </a:r>
            <a:r>
              <a:rPr lang="zh-CN" altLang="en-US" dirty="0"/>
              <a:t>的时候</a:t>
            </a:r>
            <a:r>
              <a:rPr lang="en-US" altLang="zh-CN" dirty="0"/>
              <a:t>,</a:t>
            </a:r>
            <a:r>
              <a:rPr lang="zh-CN" altLang="en-US" dirty="0"/>
              <a:t>不要加上圆括号</a:t>
            </a:r>
            <a:endParaRPr lang="zh-CN" altLang="en-US" dirty="0"/>
          </a:p>
          <a:p>
            <a:pPr marL="342900" indent="-342900">
              <a:buFont typeface="+mj-lt"/>
              <a:buAutoNum type="arabicPeriod" startAt="4"/>
            </a:pPr>
            <a:r>
              <a:rPr lang="en-US" altLang="zh-CN" dirty="0"/>
              <a:t>apply </a:t>
            </a:r>
            <a:r>
              <a:rPr lang="zh-CN" altLang="en-US" dirty="0"/>
              <a:t>传入需要多个参数的函数</a:t>
            </a:r>
            <a:endParaRPr lang="en-US" altLang="zh-CN" dirty="0"/>
          </a:p>
          <a:p>
            <a:r>
              <a:rPr lang="en-GB" altLang="zh-CN" dirty="0"/>
              <a:t>def </a:t>
            </a:r>
            <a:r>
              <a:rPr lang="en-GB" altLang="zh-CN" dirty="0" err="1"/>
              <a:t>my_exp</a:t>
            </a:r>
            <a:r>
              <a:rPr lang="en-GB" altLang="zh-CN" dirty="0"/>
              <a:t>(</a:t>
            </a:r>
            <a:r>
              <a:rPr lang="en-GB" altLang="zh-CN" dirty="0" err="1"/>
              <a:t>x,e</a:t>
            </a:r>
            <a:r>
              <a:rPr lang="en-GB" altLang="zh-CN" dirty="0"/>
              <a:t>):</a:t>
            </a:r>
            <a:endParaRPr lang="en-GB" altLang="zh-CN" dirty="0"/>
          </a:p>
          <a:p>
            <a:r>
              <a:rPr lang="en-GB" altLang="zh-CN" dirty="0"/>
              <a:t>    return x**e</a:t>
            </a:r>
            <a:endParaRPr lang="en-GB" altLang="zh-CN" dirty="0"/>
          </a:p>
          <a:p>
            <a:r>
              <a:rPr lang="en-GB" altLang="zh-CN" dirty="0" err="1"/>
              <a:t>my_exp</a:t>
            </a:r>
            <a:r>
              <a:rPr lang="en-GB" altLang="zh-CN" dirty="0"/>
              <a:t>(2,3)</a:t>
            </a:r>
            <a:br>
              <a:rPr lang="en-GB" altLang="zh-CN" dirty="0"/>
            </a:br>
            <a:r>
              <a:rPr lang="en-GB" altLang="zh-CN" dirty="0"/>
              <a:t>ex = </a:t>
            </a:r>
            <a:r>
              <a:rPr lang="en-GB" altLang="zh-CN" dirty="0" err="1"/>
              <a:t>df</a:t>
            </a:r>
            <a:r>
              <a:rPr lang="en-GB" altLang="zh-CN" dirty="0"/>
              <a:t>['a'].apply(</a:t>
            </a:r>
            <a:r>
              <a:rPr lang="en-GB" altLang="zh-CN" dirty="0" err="1"/>
              <a:t>my_exp,e</a:t>
            </a:r>
            <a:r>
              <a:rPr lang="en-GB" altLang="zh-CN" dirty="0"/>
              <a:t>=2)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Series</a:t>
            </a:r>
            <a:r>
              <a:rPr lang="zh-CN" altLang="en-US" b="1" dirty="0"/>
              <a:t>的</a:t>
            </a:r>
            <a:r>
              <a:rPr lang="en-GB" altLang="zh-CN" b="1" dirty="0"/>
              <a:t>apply</a:t>
            </a:r>
            <a:r>
              <a:rPr lang="zh-CN" altLang="en-US" b="1" dirty="0"/>
              <a:t>方法</a:t>
            </a:r>
            <a:endParaRPr lang="zh-CN" altLang="en-US" b="1" dirty="0"/>
          </a:p>
          <a:p>
            <a:r>
              <a:rPr lang="en-GB" altLang="zh-CN" b="1" dirty="0">
                <a:solidFill>
                  <a:srgbClr val="FF0000"/>
                </a:solidFill>
              </a:rPr>
              <a:t>DataFrame</a:t>
            </a:r>
            <a:r>
              <a:rPr lang="zh-CN" altLang="en-US" b="1" dirty="0">
                <a:solidFill>
                  <a:srgbClr val="FF0000"/>
                </a:solidFill>
              </a:rPr>
              <a:t>的</a:t>
            </a:r>
            <a:r>
              <a:rPr lang="en-GB" altLang="zh-CN" b="1" dirty="0">
                <a:solidFill>
                  <a:srgbClr val="FF0000"/>
                </a:solidFill>
              </a:rPr>
              <a:t>apply</a:t>
            </a:r>
            <a:r>
              <a:rPr lang="zh-CN" altLang="en-US" b="1" dirty="0">
                <a:solidFill>
                  <a:srgbClr val="FF0000"/>
                </a:solidFill>
              </a:rPr>
              <a:t>方法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GB" altLang="zh-CN" b="1" dirty="0"/>
              <a:t>apply </a:t>
            </a:r>
            <a:r>
              <a:rPr lang="zh-CN" altLang="en-US" b="1" dirty="0"/>
              <a:t>使用案例</a:t>
            </a:r>
            <a:endParaRPr lang="zh-CN" altLang="en-US" b="1" dirty="0"/>
          </a:p>
          <a:p>
            <a:r>
              <a:rPr lang="zh-CN" altLang="en-US" b="1" dirty="0"/>
              <a:t>向量化函数</a:t>
            </a:r>
            <a:endParaRPr lang="zh-CN" altLang="en-US" b="1" dirty="0"/>
          </a:p>
          <a:p>
            <a:r>
              <a:rPr lang="en-GB" altLang="zh-CN" b="1" dirty="0"/>
              <a:t>lambda</a:t>
            </a:r>
            <a:r>
              <a:rPr lang="zh-CN" altLang="en-US" b="1" dirty="0"/>
              <a:t>函数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en-GB" altLang="zh-CN" dirty="0"/>
              <a:t>DataFrame</a:t>
            </a:r>
            <a:r>
              <a:rPr lang="zh-CN" altLang="en-US" dirty="0"/>
              <a:t>的</a:t>
            </a:r>
            <a:r>
              <a:rPr lang="en-GB" altLang="zh-CN" dirty="0"/>
              <a:t>apply</a:t>
            </a:r>
            <a:r>
              <a:rPr lang="zh-CN" altLang="en-US" dirty="0"/>
              <a:t>方法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使用方法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把上面创建的</a:t>
            </a:r>
            <a:r>
              <a:rPr lang="en-US" altLang="zh-CN" dirty="0" err="1"/>
              <a:t>my_sq</a:t>
            </a:r>
            <a:r>
              <a:rPr lang="en-US" altLang="zh-CN" dirty="0"/>
              <a:t>, </a:t>
            </a:r>
            <a:r>
              <a:rPr lang="zh-CN" altLang="en-US" dirty="0"/>
              <a:t>直接应用到整个</a:t>
            </a:r>
            <a:r>
              <a:rPr lang="en-US" altLang="zh-CN" dirty="0"/>
              <a:t>DataFrame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lang="en-GB" altLang="zh-CN" dirty="0" err="1"/>
              <a:t>df.apply</a:t>
            </a:r>
            <a:r>
              <a:rPr lang="en-GB" altLang="zh-CN" dirty="0"/>
              <a:t>(</a:t>
            </a:r>
            <a:r>
              <a:rPr lang="en-GB" altLang="zh-CN" dirty="0" err="1"/>
              <a:t>my_sq</a:t>
            </a:r>
            <a:r>
              <a:rPr lang="en-GB" altLang="zh-CN" dirty="0"/>
              <a:t>)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en-GB" altLang="zh-CN" dirty="0" err="1"/>
              <a:t>dataframe</a:t>
            </a:r>
            <a:r>
              <a:rPr lang="zh-CN" altLang="en-US" dirty="0"/>
              <a:t>是二维数据</a:t>
            </a:r>
            <a:endParaRPr lang="en-US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编写函数计算列的平均值</a:t>
            </a:r>
            <a:endParaRPr lang="zh-CN" altLang="en-US" dirty="0"/>
          </a:p>
          <a:p>
            <a:r>
              <a:rPr lang="en-US" altLang="zh-CN" dirty="0"/>
              <a:t>def avg_3(</a:t>
            </a:r>
            <a:r>
              <a:rPr lang="en-US" altLang="zh-CN" dirty="0" err="1"/>
              <a:t>x,y,z</a:t>
            </a:r>
            <a:r>
              <a:rPr lang="en-US" altLang="zh-CN" dirty="0"/>
              <a:t>):</a:t>
            </a:r>
            <a:endParaRPr lang="en-US" altLang="zh-CN" dirty="0"/>
          </a:p>
          <a:p>
            <a:r>
              <a:rPr lang="en-US" altLang="zh-CN" dirty="0"/>
              <a:t>    return (</a:t>
            </a:r>
            <a:r>
              <a:rPr lang="en-US" altLang="zh-CN" dirty="0" err="1"/>
              <a:t>x+y+z</a:t>
            </a:r>
            <a:r>
              <a:rPr lang="en-US" altLang="zh-CN" dirty="0"/>
              <a:t>)/3</a:t>
            </a:r>
            <a:endParaRPr lang="en-US" altLang="zh-CN" dirty="0"/>
          </a:p>
          <a:p>
            <a:r>
              <a:rPr lang="en-US" altLang="zh-CN" dirty="0" err="1"/>
              <a:t>df.apply</a:t>
            </a:r>
            <a:r>
              <a:rPr lang="en-US" altLang="zh-CN" dirty="0"/>
              <a:t>(avg_3)</a:t>
            </a:r>
            <a:endParaRPr lang="en-US" altLang="zh-CN" dirty="0"/>
          </a:p>
          <a:p>
            <a:r>
              <a:rPr lang="zh-CN" altLang="en-US" dirty="0"/>
              <a:t>从报错的信息中看到</a:t>
            </a:r>
            <a:r>
              <a:rPr lang="en-US" altLang="zh-CN" dirty="0"/>
              <a:t>,</a:t>
            </a:r>
            <a:r>
              <a:rPr lang="zh-CN" altLang="en-US" dirty="0"/>
              <a:t>实际上传入</a:t>
            </a:r>
            <a:r>
              <a:rPr lang="en-US" altLang="zh-CN" dirty="0"/>
              <a:t>avg_3</a:t>
            </a:r>
            <a:r>
              <a:rPr lang="zh-CN" altLang="en-US" dirty="0"/>
              <a:t>函数中的只有一个变量</a:t>
            </a:r>
            <a:r>
              <a:rPr lang="en-US" altLang="zh-CN" dirty="0"/>
              <a:t>,</a:t>
            </a:r>
            <a:r>
              <a:rPr lang="zh-CN" altLang="en-US" dirty="0"/>
              <a:t>这个变量可以是</a:t>
            </a:r>
            <a:r>
              <a:rPr lang="en-US" altLang="zh-CN" dirty="0"/>
              <a:t>DataFrame</a:t>
            </a:r>
            <a:r>
              <a:rPr lang="zh-CN" altLang="en-US" dirty="0"/>
              <a:t>的行也可以是</a:t>
            </a:r>
            <a:r>
              <a:rPr lang="en-US" altLang="zh-CN" dirty="0"/>
              <a:t>DataFrame</a:t>
            </a:r>
            <a:r>
              <a:rPr lang="zh-CN" altLang="en-US" dirty="0"/>
              <a:t>的列</a:t>
            </a:r>
            <a:r>
              <a:rPr lang="en-US" altLang="zh-CN" dirty="0"/>
              <a:t>, </a:t>
            </a:r>
            <a:r>
              <a:rPr lang="zh-CN" altLang="en-US" dirty="0"/>
              <a:t>使用</a:t>
            </a:r>
            <a:r>
              <a:rPr lang="en-US" altLang="zh-CN" dirty="0"/>
              <a:t>apply</a:t>
            </a:r>
            <a:r>
              <a:rPr lang="zh-CN" altLang="en-US" dirty="0"/>
              <a:t>的时候</a:t>
            </a:r>
            <a:r>
              <a:rPr lang="en-US" altLang="zh-CN" dirty="0"/>
              <a:t>,</a:t>
            </a:r>
            <a:r>
              <a:rPr lang="zh-CN" altLang="en-US" dirty="0"/>
              <a:t>可以通过</a:t>
            </a:r>
            <a:r>
              <a:rPr lang="en-US" altLang="zh-CN" dirty="0"/>
              <a:t>axis</a:t>
            </a:r>
            <a:r>
              <a:rPr lang="zh-CN" altLang="en-US" dirty="0"/>
              <a:t>参数指定按行</a:t>
            </a:r>
            <a:r>
              <a:rPr lang="en-US" altLang="zh-CN" dirty="0"/>
              <a:t>/ </a:t>
            </a:r>
            <a:r>
              <a:rPr lang="zh-CN" altLang="en-US" dirty="0"/>
              <a:t>按列 传入数据</a:t>
            </a:r>
            <a:endParaRPr lang="en-US" altLang="zh-CN" dirty="0"/>
          </a:p>
          <a:p>
            <a:r>
              <a:rPr lang="en-US" altLang="zh-CN" dirty="0"/>
              <a:t>axis = 0 (</a:t>
            </a:r>
            <a:r>
              <a:rPr lang="zh-CN" altLang="en-US" dirty="0"/>
              <a:t>默认</a:t>
            </a:r>
            <a:r>
              <a:rPr lang="en-US" altLang="zh-CN" dirty="0"/>
              <a:t>) </a:t>
            </a:r>
            <a:r>
              <a:rPr lang="zh-CN" altLang="en-US" dirty="0"/>
              <a:t>按列处理</a:t>
            </a:r>
            <a:endParaRPr lang="zh-CN" altLang="en-US" dirty="0"/>
          </a:p>
          <a:p>
            <a:r>
              <a:rPr lang="en-US" altLang="zh-CN" dirty="0"/>
              <a:t>axis = 1 </a:t>
            </a:r>
            <a:r>
              <a:rPr lang="zh-CN" altLang="en-US" dirty="0"/>
              <a:t>按行处理</a:t>
            </a:r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en-GB" altLang="zh-CN" dirty="0"/>
              <a:t>DataFrame</a:t>
            </a:r>
            <a:r>
              <a:rPr lang="zh-CN" altLang="en-US" dirty="0"/>
              <a:t>的</a:t>
            </a:r>
            <a:r>
              <a:rPr lang="en-GB" altLang="zh-CN" dirty="0"/>
              <a:t>apply</a:t>
            </a:r>
            <a:r>
              <a:rPr lang="zh-CN" altLang="en-US" dirty="0"/>
              <a:t>方法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使用方法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# </a:t>
            </a:r>
            <a:r>
              <a:rPr lang="zh-CN" altLang="en-US" dirty="0"/>
              <a:t>修改</a:t>
            </a:r>
            <a:r>
              <a:rPr lang="en-GB" altLang="zh-CN" dirty="0"/>
              <a:t>avg_3</a:t>
            </a:r>
            <a:r>
              <a:rPr lang="zh-CN" altLang="en-US" dirty="0"/>
              <a:t>函数</a:t>
            </a:r>
            <a:endParaRPr lang="zh-CN" altLang="en-US" dirty="0"/>
          </a:p>
          <a:p>
            <a:r>
              <a:rPr lang="en-GB" altLang="zh-CN" dirty="0"/>
              <a:t>def avg_3_apply(col):</a:t>
            </a:r>
            <a:endParaRPr lang="en-GB" altLang="zh-CN" dirty="0"/>
          </a:p>
          <a:p>
            <a:r>
              <a:rPr lang="en-GB" altLang="zh-CN" dirty="0"/>
              <a:t>    x = col[0]</a:t>
            </a:r>
            <a:endParaRPr lang="en-GB" altLang="zh-CN" dirty="0"/>
          </a:p>
          <a:p>
            <a:r>
              <a:rPr lang="en-GB" altLang="zh-CN" dirty="0"/>
              <a:t>    y = col[1]</a:t>
            </a:r>
            <a:endParaRPr lang="en-GB" altLang="zh-CN" dirty="0"/>
          </a:p>
          <a:p>
            <a:r>
              <a:rPr lang="en-GB" altLang="zh-CN" dirty="0"/>
              <a:t>    z = col[2]</a:t>
            </a:r>
            <a:endParaRPr lang="en-GB" altLang="zh-CN" dirty="0"/>
          </a:p>
          <a:p>
            <a:r>
              <a:rPr lang="en-GB" altLang="zh-CN" dirty="0"/>
              <a:t>    return (</a:t>
            </a:r>
            <a:r>
              <a:rPr lang="en-GB" altLang="zh-CN" dirty="0" err="1"/>
              <a:t>x+y+z</a:t>
            </a:r>
            <a:r>
              <a:rPr lang="en-GB" altLang="zh-CN" dirty="0"/>
              <a:t>)/3</a:t>
            </a:r>
            <a:endParaRPr lang="en-GB" altLang="zh-CN" dirty="0"/>
          </a:p>
          <a:p>
            <a:r>
              <a:rPr lang="en-GB" altLang="zh-CN" dirty="0" err="1"/>
              <a:t>df.apply</a:t>
            </a:r>
            <a:r>
              <a:rPr lang="en-GB" altLang="zh-CN" dirty="0"/>
              <a:t>(avg_3_apply)</a:t>
            </a:r>
            <a:endParaRPr lang="en-GB" altLang="zh-CN" dirty="0"/>
          </a:p>
          <a:p>
            <a:r>
              <a:rPr lang="en-US" altLang="zh-CN" dirty="0"/>
              <a:t># </a:t>
            </a:r>
            <a:r>
              <a:rPr lang="zh-CN" altLang="en-US" dirty="0"/>
              <a:t>传入</a:t>
            </a:r>
            <a:r>
              <a:rPr lang="en-GB" altLang="zh-CN" dirty="0"/>
              <a:t>axis =0 </a:t>
            </a:r>
            <a:r>
              <a:rPr lang="zh-CN" altLang="en-US" dirty="0"/>
              <a:t>效果跟不传是一样的</a:t>
            </a:r>
            <a:endParaRPr lang="zh-CN" altLang="en-US" dirty="0"/>
          </a:p>
          <a:p>
            <a:r>
              <a:rPr lang="en-GB" altLang="zh-CN" dirty="0" err="1"/>
              <a:t>df.apply</a:t>
            </a:r>
            <a:r>
              <a:rPr lang="en-GB" altLang="zh-CN" dirty="0"/>
              <a:t>(avg_3_apply,axis=0)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 </a:t>
            </a:r>
            <a:r>
              <a:rPr lang="en-GB" altLang="zh-CN" dirty="0"/>
              <a:t>DataFrame</a:t>
            </a:r>
            <a:r>
              <a:rPr lang="zh-CN" altLang="en-US" dirty="0"/>
              <a:t>的</a:t>
            </a:r>
            <a:r>
              <a:rPr lang="en-GB" altLang="zh-CN" dirty="0"/>
              <a:t>apply</a:t>
            </a:r>
            <a:r>
              <a:rPr lang="zh-CN" altLang="en-US" dirty="0"/>
              <a:t>方法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使用方法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按行处理</a:t>
            </a:r>
            <a:endParaRPr lang="zh-CN" altLang="en-US" dirty="0"/>
          </a:p>
          <a:p>
            <a:r>
              <a:rPr lang="en-US" altLang="zh-CN" dirty="0"/>
              <a:t>def avg_2_apply(row):</a:t>
            </a:r>
            <a:endParaRPr lang="en-US" altLang="zh-CN" dirty="0"/>
          </a:p>
          <a:p>
            <a:r>
              <a:rPr lang="en-US" altLang="zh-CN" dirty="0"/>
              <a:t>    x = row[0]</a:t>
            </a:r>
            <a:endParaRPr lang="en-US" altLang="zh-CN" dirty="0"/>
          </a:p>
          <a:p>
            <a:r>
              <a:rPr lang="en-US" altLang="zh-CN" dirty="0"/>
              <a:t>    y = row[1]</a:t>
            </a:r>
            <a:endParaRPr lang="en-US" altLang="zh-CN" dirty="0"/>
          </a:p>
          <a:p>
            <a:r>
              <a:rPr lang="en-US" altLang="zh-CN" dirty="0"/>
              <a:t>    return (</a:t>
            </a:r>
            <a:r>
              <a:rPr lang="en-US" altLang="zh-CN" dirty="0" err="1"/>
              <a:t>x+y</a:t>
            </a:r>
            <a:r>
              <a:rPr lang="en-US" altLang="zh-CN" dirty="0"/>
              <a:t>)/2</a:t>
            </a:r>
            <a:endParaRPr lang="en-US" altLang="zh-CN" dirty="0"/>
          </a:p>
          <a:p>
            <a:r>
              <a:rPr lang="en-US" altLang="zh-CN" dirty="0" err="1"/>
              <a:t>df.apply</a:t>
            </a:r>
            <a:r>
              <a:rPr lang="en-US" altLang="zh-CN" dirty="0"/>
              <a:t>(avg_2_apply,axis=1)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Series</a:t>
            </a:r>
            <a:r>
              <a:rPr lang="zh-CN" altLang="en-US" b="1" dirty="0"/>
              <a:t>的</a:t>
            </a:r>
            <a:r>
              <a:rPr lang="en-GB" altLang="zh-CN" b="1" dirty="0"/>
              <a:t>apply</a:t>
            </a:r>
            <a:r>
              <a:rPr lang="zh-CN" altLang="en-US" b="1" dirty="0"/>
              <a:t>方法</a:t>
            </a:r>
            <a:endParaRPr lang="zh-CN" altLang="en-US" b="1" dirty="0"/>
          </a:p>
          <a:p>
            <a:r>
              <a:rPr lang="en-GB" altLang="zh-CN" b="1" dirty="0"/>
              <a:t>DataFrame</a:t>
            </a:r>
            <a:r>
              <a:rPr lang="zh-CN" altLang="en-US" b="1" dirty="0"/>
              <a:t>的</a:t>
            </a:r>
            <a:r>
              <a:rPr lang="en-GB" altLang="zh-CN" b="1" dirty="0"/>
              <a:t>apply</a:t>
            </a:r>
            <a:r>
              <a:rPr lang="zh-CN" altLang="en-US" b="1" dirty="0"/>
              <a:t>方法</a:t>
            </a:r>
            <a:endParaRPr lang="zh-CN" altLang="en-US" b="1" dirty="0"/>
          </a:p>
          <a:p>
            <a:r>
              <a:rPr lang="en-GB" altLang="zh-CN" b="1" dirty="0">
                <a:solidFill>
                  <a:srgbClr val="FF0000"/>
                </a:solidFill>
              </a:rPr>
              <a:t>apply </a:t>
            </a:r>
            <a:r>
              <a:rPr lang="zh-CN" altLang="en-US" b="1" dirty="0">
                <a:solidFill>
                  <a:srgbClr val="FF0000"/>
                </a:solidFill>
              </a:rPr>
              <a:t>使用案例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向量化函数</a:t>
            </a:r>
            <a:endParaRPr lang="zh-CN" altLang="en-US" b="1" dirty="0"/>
          </a:p>
          <a:p>
            <a:r>
              <a:rPr lang="en-GB" altLang="zh-CN" b="1" dirty="0"/>
              <a:t>lambda</a:t>
            </a:r>
            <a:r>
              <a:rPr lang="zh-CN" altLang="en-US" b="1" dirty="0"/>
              <a:t>函数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en-GB" altLang="zh-CN" dirty="0"/>
              <a:t>apply </a:t>
            </a:r>
            <a:r>
              <a:rPr lang="zh-CN" altLang="en-US" dirty="0"/>
              <a:t>使用案例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titanic</a:t>
            </a:r>
            <a:r>
              <a:rPr lang="zh-CN" altLang="en-US" dirty="0"/>
              <a:t>案例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使用</a:t>
            </a:r>
            <a:r>
              <a:rPr lang="en-GB" altLang="zh-CN" dirty="0"/>
              <a:t>titanic</a:t>
            </a:r>
            <a:r>
              <a:rPr lang="zh-CN" altLang="en-US" dirty="0"/>
              <a:t>数据集来介绍</a:t>
            </a:r>
            <a:r>
              <a:rPr lang="en-GB" altLang="zh-CN" dirty="0"/>
              <a:t>apply</a:t>
            </a:r>
            <a:r>
              <a:rPr lang="zh-CN" altLang="en-US" dirty="0"/>
              <a:t>的用法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加载数据</a:t>
            </a:r>
            <a:r>
              <a:rPr lang="en-US" altLang="zh-CN" dirty="0"/>
              <a:t>,</a:t>
            </a:r>
            <a:r>
              <a:rPr lang="zh-CN" altLang="en-US" dirty="0"/>
              <a:t>使用</a:t>
            </a:r>
            <a:r>
              <a:rPr lang="en-GB" altLang="zh-CN" dirty="0"/>
              <a:t>info</a:t>
            </a:r>
            <a:r>
              <a:rPr lang="zh-CN" altLang="en-US" dirty="0"/>
              <a:t>查看该数据集的基本特征</a:t>
            </a:r>
            <a:endParaRPr lang="zh-CN" altLang="en-US" dirty="0"/>
          </a:p>
          <a:p>
            <a:r>
              <a:rPr lang="en-GB" altLang="zh-CN" dirty="0"/>
              <a:t>titanic = 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titanic.csv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 err="1"/>
              <a:t>titanic.info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zh-CN" altLang="en-US" dirty="0"/>
              <a:t>该数据集有</a:t>
            </a:r>
            <a:r>
              <a:rPr lang="en-US" altLang="zh-CN" dirty="0"/>
              <a:t>891</a:t>
            </a:r>
            <a:r>
              <a:rPr lang="zh-CN" altLang="en-US" dirty="0"/>
              <a:t>行</a:t>
            </a:r>
            <a:r>
              <a:rPr lang="en-US" altLang="zh-CN" dirty="0"/>
              <a:t>,15</a:t>
            </a:r>
            <a:r>
              <a:rPr lang="zh-CN" altLang="en-US" dirty="0"/>
              <a:t>列</a:t>
            </a:r>
            <a:r>
              <a:rPr lang="en-US" altLang="zh-CN" dirty="0"/>
              <a:t>, </a:t>
            </a:r>
            <a:r>
              <a:rPr lang="zh-CN" altLang="en-US" dirty="0"/>
              <a:t>其中</a:t>
            </a:r>
            <a:r>
              <a:rPr lang="en-US" altLang="zh-CN" dirty="0"/>
              <a:t>age </a:t>
            </a:r>
            <a:r>
              <a:rPr lang="zh-CN" altLang="en-US" dirty="0"/>
              <a:t>和 </a:t>
            </a:r>
            <a:r>
              <a:rPr lang="en-US" altLang="zh-CN" dirty="0"/>
              <a:t>deck </a:t>
            </a:r>
            <a:r>
              <a:rPr lang="zh-CN" altLang="en-US" dirty="0"/>
              <a:t>两列中包含缺失值</a:t>
            </a:r>
            <a:endParaRPr lang="en-US" altLang="zh-CN" dirty="0"/>
          </a:p>
          <a:p>
            <a:r>
              <a:rPr lang="zh-CN" altLang="en-US" dirty="0"/>
              <a:t>可以使用</a:t>
            </a:r>
            <a:r>
              <a:rPr lang="en-US" altLang="zh-CN" dirty="0"/>
              <a:t>apply</a:t>
            </a:r>
            <a:r>
              <a:rPr lang="zh-CN" altLang="en-US" dirty="0"/>
              <a:t>计算数据中有多少</a:t>
            </a:r>
            <a:r>
              <a:rPr lang="en-US" altLang="zh-CN" dirty="0"/>
              <a:t>null </a:t>
            </a:r>
            <a:r>
              <a:rPr lang="zh-CN" altLang="en-US" dirty="0"/>
              <a:t>或 </a:t>
            </a:r>
            <a:r>
              <a:rPr lang="en-US" altLang="zh-CN" dirty="0" err="1"/>
              <a:t>NaN</a:t>
            </a:r>
            <a:r>
              <a:rPr lang="zh-CN" altLang="en-US" dirty="0"/>
              <a:t>值</a:t>
            </a:r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en-GB" altLang="zh-CN" dirty="0"/>
              <a:t>apply </a:t>
            </a:r>
            <a:r>
              <a:rPr lang="zh-CN" altLang="en-US" dirty="0"/>
              <a:t>使用案例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titanic</a:t>
            </a:r>
            <a:r>
              <a:rPr lang="zh-CN" altLang="en-US" dirty="0"/>
              <a:t>案例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缺失值数目</a:t>
            </a:r>
            <a:endParaRPr lang="en-US" altLang="zh-CN" dirty="0"/>
          </a:p>
          <a:p>
            <a:r>
              <a:rPr lang="en-GB" altLang="zh-CN" dirty="0"/>
              <a:t>import </a:t>
            </a:r>
            <a:r>
              <a:rPr lang="en-GB" altLang="zh-CN" dirty="0" err="1"/>
              <a:t>numpy</a:t>
            </a:r>
            <a:r>
              <a:rPr lang="en-GB" altLang="zh-CN" dirty="0"/>
              <a:t> as np</a:t>
            </a:r>
            <a:endParaRPr lang="en-GB" altLang="zh-CN" dirty="0"/>
          </a:p>
          <a:p>
            <a:r>
              <a:rPr lang="en-GB" altLang="zh-CN" dirty="0"/>
              <a:t>def </a:t>
            </a:r>
            <a:r>
              <a:rPr lang="en-GB" altLang="zh-CN" dirty="0" err="1"/>
              <a:t>count_missing</a:t>
            </a:r>
            <a:r>
              <a:rPr lang="en-GB" altLang="zh-CN" dirty="0"/>
              <a:t>(</a:t>
            </a:r>
            <a:r>
              <a:rPr lang="en-GB" altLang="zh-CN" dirty="0" err="1"/>
              <a:t>vec</a:t>
            </a:r>
            <a:r>
              <a:rPr lang="en-GB" altLang="zh-CN" dirty="0"/>
              <a:t>):</a:t>
            </a:r>
            <a:endParaRPr lang="en-GB" altLang="zh-CN" dirty="0"/>
          </a:p>
          <a:p>
            <a:r>
              <a:rPr lang="zh-CN" altLang="en-US" dirty="0"/>
              <a:t>    </a:t>
            </a:r>
            <a:r>
              <a:rPr lang="en-US" altLang="zh-CN" dirty="0"/>
              <a:t>#</a:t>
            </a:r>
            <a:r>
              <a:rPr lang="zh-CN" altLang="en-US" dirty="0"/>
              <a:t>根据值是否缺失获取一个由</a:t>
            </a:r>
            <a:r>
              <a:rPr lang="en-GB" altLang="zh-CN" dirty="0"/>
              <a:t>True/False</a:t>
            </a:r>
            <a:r>
              <a:rPr lang="zh-CN" altLang="en-US" dirty="0"/>
              <a:t>组成的向量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GB" altLang="zh-CN" dirty="0" err="1"/>
              <a:t>null_vec</a:t>
            </a:r>
            <a:r>
              <a:rPr lang="en-GB" altLang="zh-CN" dirty="0"/>
              <a:t> = </a:t>
            </a:r>
            <a:r>
              <a:rPr lang="en-GB" altLang="zh-CN" dirty="0" err="1"/>
              <a:t>pd.isnull</a:t>
            </a:r>
            <a:r>
              <a:rPr lang="en-GB" altLang="zh-CN" dirty="0"/>
              <a:t>(</a:t>
            </a:r>
            <a:r>
              <a:rPr lang="en-GB" altLang="zh-CN" dirty="0" err="1"/>
              <a:t>vec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/>
              <a:t>    # </a:t>
            </a:r>
            <a:r>
              <a:rPr lang="zh-CN" altLang="en-US" dirty="0"/>
              <a:t>得到</a:t>
            </a:r>
            <a:r>
              <a:rPr lang="en-GB" altLang="zh-CN" dirty="0" err="1"/>
              <a:t>null_vec</a:t>
            </a:r>
            <a:r>
              <a:rPr lang="zh-CN" altLang="en-US" dirty="0"/>
              <a:t>中</a:t>
            </a:r>
            <a:r>
              <a:rPr lang="en-GB" altLang="zh-CN" dirty="0"/>
              <a:t>null</a:t>
            </a:r>
            <a:r>
              <a:rPr lang="zh-CN" altLang="en-US" dirty="0"/>
              <a:t>值的个数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# </a:t>
            </a:r>
            <a:r>
              <a:rPr lang="en-GB" altLang="zh-CN" dirty="0"/>
              <a:t>null</a:t>
            </a:r>
            <a:r>
              <a:rPr lang="zh-CN" altLang="en-US" dirty="0"/>
              <a:t>值对应</a:t>
            </a:r>
            <a:r>
              <a:rPr lang="en-GB" altLang="zh-CN" dirty="0"/>
              <a:t>True, True</a:t>
            </a:r>
            <a:r>
              <a:rPr lang="zh-CN" altLang="en-US" dirty="0"/>
              <a:t>为</a:t>
            </a:r>
            <a:r>
              <a:rPr lang="en-US" altLang="zh-CN" dirty="0"/>
              <a:t>1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GB" altLang="zh-CN" dirty="0" err="1"/>
              <a:t>null_count</a:t>
            </a:r>
            <a:r>
              <a:rPr lang="en-GB" altLang="zh-CN" dirty="0"/>
              <a:t> = </a:t>
            </a:r>
            <a:r>
              <a:rPr lang="en-GB" altLang="zh-CN" dirty="0" err="1"/>
              <a:t>np.sum</a:t>
            </a:r>
            <a:r>
              <a:rPr lang="en-GB" altLang="zh-CN" dirty="0"/>
              <a:t>(</a:t>
            </a:r>
            <a:r>
              <a:rPr lang="en-GB" altLang="zh-CN" dirty="0" err="1"/>
              <a:t>null_vec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/>
              <a:t>    #</a:t>
            </a:r>
            <a:r>
              <a:rPr lang="zh-CN" altLang="en-US" dirty="0"/>
              <a:t>返回向量中缺失值的个数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GB" altLang="zh-CN" dirty="0"/>
              <a:t>return </a:t>
            </a:r>
            <a:r>
              <a:rPr lang="en-GB" altLang="zh-CN" dirty="0" err="1"/>
              <a:t>null_count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en-GB" altLang="zh-CN" dirty="0"/>
              <a:t>apply </a:t>
            </a:r>
            <a:r>
              <a:rPr lang="zh-CN" altLang="en-US" dirty="0"/>
              <a:t>使用案例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titanic</a:t>
            </a:r>
            <a:r>
              <a:rPr lang="zh-CN" altLang="en-US" dirty="0"/>
              <a:t>案例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缺失值占比</a:t>
            </a:r>
            <a:endParaRPr lang="en-US" altLang="zh-CN" dirty="0"/>
          </a:p>
          <a:p>
            <a:r>
              <a:rPr lang="en-GB" altLang="zh-CN" dirty="0"/>
              <a:t>def </a:t>
            </a:r>
            <a:r>
              <a:rPr lang="en-GB" altLang="zh-CN" dirty="0" err="1"/>
              <a:t>prop_missing</a:t>
            </a:r>
            <a:r>
              <a:rPr lang="en-GB" altLang="zh-CN" dirty="0"/>
              <a:t>(</a:t>
            </a:r>
            <a:r>
              <a:rPr lang="en-GB" altLang="zh-CN" dirty="0" err="1"/>
              <a:t>vec</a:t>
            </a:r>
            <a:r>
              <a:rPr lang="en-GB" altLang="zh-CN" dirty="0"/>
              <a:t>):</a:t>
            </a:r>
            <a:endParaRPr lang="en-GB" altLang="zh-CN" dirty="0"/>
          </a:p>
          <a:p>
            <a:r>
              <a:rPr lang="zh-CN" altLang="en-US" dirty="0"/>
              <a:t>    </a:t>
            </a:r>
            <a:r>
              <a:rPr lang="en-US" altLang="zh-CN" dirty="0"/>
              <a:t># </a:t>
            </a:r>
            <a:r>
              <a:rPr lang="zh-CN" altLang="en-US" dirty="0"/>
              <a:t>计算缺失值的个数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# </a:t>
            </a:r>
            <a:r>
              <a:rPr lang="zh-CN" altLang="en-US" dirty="0"/>
              <a:t>这里使用刚刚编写的</a:t>
            </a:r>
            <a:r>
              <a:rPr lang="en-GB" altLang="zh-CN" dirty="0" err="1"/>
              <a:t>count_missing</a:t>
            </a:r>
            <a:r>
              <a:rPr lang="zh-CN" altLang="en-US" dirty="0"/>
              <a:t>函数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GB" altLang="zh-CN" dirty="0" err="1"/>
              <a:t>num</a:t>
            </a:r>
            <a:r>
              <a:rPr lang="en-GB" altLang="zh-CN" dirty="0"/>
              <a:t> = </a:t>
            </a:r>
            <a:r>
              <a:rPr lang="en-GB" altLang="zh-CN" dirty="0" err="1"/>
              <a:t>count_missing</a:t>
            </a:r>
            <a:r>
              <a:rPr lang="en-GB" altLang="zh-CN" dirty="0"/>
              <a:t>(</a:t>
            </a:r>
            <a:r>
              <a:rPr lang="en-GB" altLang="zh-CN" dirty="0" err="1"/>
              <a:t>vec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/>
              <a:t>    #</a:t>
            </a:r>
            <a:r>
              <a:rPr lang="zh-CN" altLang="en-US" dirty="0"/>
              <a:t>获得向量中元素的个数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#</a:t>
            </a:r>
            <a:r>
              <a:rPr lang="zh-CN" altLang="en-US" dirty="0"/>
              <a:t>也需要统计缺失值个数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GB" altLang="zh-CN" dirty="0" err="1"/>
              <a:t>dem</a:t>
            </a:r>
            <a:r>
              <a:rPr lang="en-GB" altLang="zh-CN" dirty="0"/>
              <a:t> = </a:t>
            </a:r>
            <a:r>
              <a:rPr lang="en-GB" altLang="zh-CN" dirty="0" err="1"/>
              <a:t>vec.size</a:t>
            </a:r>
            <a:endParaRPr lang="en-GB" altLang="zh-CN" dirty="0"/>
          </a:p>
          <a:p>
            <a:r>
              <a:rPr lang="en-GB" altLang="zh-CN" dirty="0"/>
              <a:t>    return </a:t>
            </a:r>
            <a:r>
              <a:rPr lang="en-GB" altLang="zh-CN" dirty="0" err="1"/>
              <a:t>num</a:t>
            </a:r>
            <a:r>
              <a:rPr lang="en-GB" altLang="zh-CN" dirty="0"/>
              <a:t>/</a:t>
            </a:r>
            <a:r>
              <a:rPr lang="en-GB" altLang="zh-CN" dirty="0" err="1"/>
              <a:t>dem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en-GB" altLang="zh-CN" dirty="0"/>
              <a:t>apply </a:t>
            </a:r>
            <a:r>
              <a:rPr lang="zh-CN" altLang="en-US" dirty="0"/>
              <a:t>使用案例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titanic</a:t>
            </a:r>
            <a:r>
              <a:rPr lang="zh-CN" altLang="en-US" dirty="0"/>
              <a:t>案例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非缺失值占比</a:t>
            </a:r>
            <a:endParaRPr lang="zh-CN" altLang="en-US" dirty="0"/>
          </a:p>
          <a:p>
            <a:r>
              <a:rPr lang="en-GB" altLang="zh-CN" dirty="0"/>
              <a:t>def </a:t>
            </a:r>
            <a:r>
              <a:rPr lang="en-GB" altLang="zh-CN" dirty="0" err="1"/>
              <a:t>prop_complete</a:t>
            </a:r>
            <a:r>
              <a:rPr lang="en-GB" altLang="zh-CN" dirty="0"/>
              <a:t>(</a:t>
            </a:r>
            <a:r>
              <a:rPr lang="en-GB" altLang="zh-CN" dirty="0" err="1"/>
              <a:t>vec</a:t>
            </a:r>
            <a:r>
              <a:rPr lang="en-GB" altLang="zh-CN" dirty="0"/>
              <a:t>):</a:t>
            </a:r>
            <a:endParaRPr lang="en-GB" altLang="zh-CN" dirty="0"/>
          </a:p>
          <a:p>
            <a:r>
              <a:rPr lang="zh-CN" altLang="en-US" dirty="0"/>
              <a:t>    </a:t>
            </a:r>
            <a:r>
              <a:rPr lang="en-US" altLang="zh-CN" dirty="0"/>
              <a:t>#</a:t>
            </a:r>
            <a:r>
              <a:rPr lang="zh-CN" altLang="en-US" dirty="0"/>
              <a:t>先计算缺失值占的比例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US" altLang="zh-CN" dirty="0"/>
              <a:t>#</a:t>
            </a:r>
            <a:r>
              <a:rPr lang="zh-CN" altLang="en-US" dirty="0"/>
              <a:t>然后用</a:t>
            </a:r>
            <a:r>
              <a:rPr lang="en-US" altLang="zh-CN" dirty="0"/>
              <a:t>1</a:t>
            </a:r>
            <a:r>
              <a:rPr lang="zh-CN" altLang="en-US" dirty="0"/>
              <a:t>减去缺失值的占比</a:t>
            </a:r>
            <a:endParaRPr lang="zh-CN" altLang="en-US" dirty="0"/>
          </a:p>
          <a:p>
            <a:r>
              <a:rPr lang="zh-CN" altLang="en-US" dirty="0"/>
              <a:t>    </a:t>
            </a:r>
            <a:r>
              <a:rPr lang="en-GB" altLang="zh-CN" dirty="0"/>
              <a:t>return 1-prop_missing(</a:t>
            </a:r>
            <a:r>
              <a:rPr lang="en-GB" altLang="zh-CN" dirty="0" err="1"/>
              <a:t>vec</a:t>
            </a:r>
            <a:r>
              <a:rPr lang="en-GB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en-GB" altLang="zh-CN" dirty="0"/>
              <a:t>apply </a:t>
            </a:r>
            <a:r>
              <a:rPr lang="zh-CN" altLang="en-US" dirty="0"/>
              <a:t>使用案例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titanic</a:t>
            </a:r>
            <a:r>
              <a:rPr lang="zh-CN" altLang="en-US" dirty="0"/>
              <a:t>案例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5"/>
            </a:pPr>
            <a:r>
              <a:rPr lang="zh-CN" altLang="en-US" dirty="0"/>
              <a:t>把前面定义好的函数应用于数据的各列</a:t>
            </a:r>
            <a:endParaRPr lang="en-US" altLang="zh-CN" dirty="0"/>
          </a:p>
          <a:p>
            <a:r>
              <a:rPr lang="en-GB" altLang="zh-CN" dirty="0" err="1"/>
              <a:t>titanic.apply</a:t>
            </a:r>
            <a:r>
              <a:rPr lang="en-GB" altLang="zh-CN" dirty="0"/>
              <a:t>(</a:t>
            </a:r>
            <a:r>
              <a:rPr lang="en-GB" altLang="zh-CN" dirty="0" err="1"/>
              <a:t>count_missing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 err="1"/>
              <a:t>titanic.apply</a:t>
            </a:r>
            <a:r>
              <a:rPr lang="en-GB" altLang="zh-CN" dirty="0"/>
              <a:t>(</a:t>
            </a:r>
            <a:r>
              <a:rPr lang="en-GB" altLang="zh-CN" dirty="0" err="1"/>
              <a:t>prop_missing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 err="1"/>
              <a:t>titanic.apply</a:t>
            </a:r>
            <a:r>
              <a:rPr lang="en-GB" altLang="zh-CN" dirty="0"/>
              <a:t>(</a:t>
            </a:r>
            <a:r>
              <a:rPr lang="en-GB" altLang="zh-CN" dirty="0" err="1"/>
              <a:t>prop_complete</a:t>
            </a:r>
            <a:r>
              <a:rPr lang="en-GB" altLang="zh-CN" dirty="0"/>
              <a:t>)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</a:t>
            </a:r>
            <a:r>
              <a:rPr lang="en-GB" altLang="zh-CN" dirty="0"/>
              <a:t>apply </a:t>
            </a:r>
            <a:r>
              <a:rPr lang="zh-CN" altLang="en-US" dirty="0"/>
              <a:t>使用案例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titanic</a:t>
            </a:r>
            <a:r>
              <a:rPr lang="zh-CN" altLang="en-US" dirty="0"/>
              <a:t>案例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6"/>
            </a:pPr>
            <a:r>
              <a:rPr lang="zh-CN" altLang="en-US" dirty="0"/>
              <a:t>把前面定义好的函数应用于数据的各行</a:t>
            </a:r>
            <a:endParaRPr lang="en-US" altLang="zh-CN" dirty="0"/>
          </a:p>
          <a:p>
            <a:r>
              <a:rPr lang="en-GB" altLang="zh-CN" dirty="0" err="1"/>
              <a:t>titanic.apply</a:t>
            </a:r>
            <a:r>
              <a:rPr lang="en-GB" altLang="zh-CN" dirty="0"/>
              <a:t>(</a:t>
            </a:r>
            <a:r>
              <a:rPr lang="en-GB" altLang="zh-CN" dirty="0" err="1"/>
              <a:t>count_missing</a:t>
            </a:r>
            <a:r>
              <a:rPr lang="en-GB" altLang="zh-CN" dirty="0"/>
              <a:t> ,axis = 1)</a:t>
            </a:r>
            <a:endParaRPr lang="en-GB" altLang="zh-CN" dirty="0"/>
          </a:p>
          <a:p>
            <a:r>
              <a:rPr lang="en-GB" altLang="zh-CN" dirty="0" err="1"/>
              <a:t>titanic.apply</a:t>
            </a:r>
            <a:r>
              <a:rPr lang="en-GB" altLang="zh-CN" dirty="0"/>
              <a:t>(</a:t>
            </a:r>
            <a:r>
              <a:rPr lang="en-GB" altLang="zh-CN" dirty="0" err="1"/>
              <a:t>prop_missing</a:t>
            </a:r>
            <a:r>
              <a:rPr lang="en-GB" altLang="zh-CN" dirty="0"/>
              <a:t> ,axis = 1)</a:t>
            </a:r>
            <a:endParaRPr lang="en-GB" altLang="zh-CN" dirty="0"/>
          </a:p>
          <a:p>
            <a:r>
              <a:rPr lang="en-GB" altLang="zh-CN" dirty="0" err="1"/>
              <a:t>titanic.apply</a:t>
            </a:r>
            <a:r>
              <a:rPr lang="en-GB" altLang="zh-CN" dirty="0"/>
              <a:t>(</a:t>
            </a:r>
            <a:r>
              <a:rPr lang="en-GB" altLang="zh-CN" dirty="0" err="1"/>
              <a:t>prop_complete</a:t>
            </a:r>
            <a:r>
              <a:rPr lang="en-GB" altLang="zh-CN" dirty="0"/>
              <a:t> ,axis = 1)</a:t>
            </a:r>
            <a:endParaRPr lang="en-GB" altLang="zh-CN" dirty="0"/>
          </a:p>
          <a:p>
            <a:endParaRPr lang="en-GB" altLang="zh-CN" dirty="0"/>
          </a:p>
          <a:p>
            <a:r>
              <a:rPr lang="en-GB" altLang="zh-CN" dirty="0" err="1"/>
              <a:t>titanic.apply</a:t>
            </a:r>
            <a:r>
              <a:rPr lang="en-GB" altLang="zh-CN" dirty="0"/>
              <a:t>(</a:t>
            </a:r>
            <a:r>
              <a:rPr lang="en-GB" altLang="zh-CN" dirty="0" err="1"/>
              <a:t>count_missing,axis</a:t>
            </a:r>
            <a:r>
              <a:rPr lang="en-GB" altLang="zh-CN" dirty="0"/>
              <a:t> = 1).</a:t>
            </a:r>
            <a:r>
              <a:rPr lang="en-GB" altLang="zh-CN" dirty="0" err="1"/>
              <a:t>value_counts</a:t>
            </a:r>
            <a:r>
              <a:rPr lang="en-GB" altLang="zh-CN" dirty="0"/>
              <a:t>()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060" y="4268470"/>
            <a:ext cx="6477000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Series</a:t>
            </a:r>
            <a:r>
              <a:rPr lang="zh-CN" altLang="en-US" b="1" dirty="0"/>
              <a:t>的</a:t>
            </a:r>
            <a:r>
              <a:rPr lang="en-GB" altLang="zh-CN" b="1" dirty="0"/>
              <a:t>apply</a:t>
            </a:r>
            <a:r>
              <a:rPr lang="zh-CN" altLang="en-US" b="1" dirty="0"/>
              <a:t>方法</a:t>
            </a:r>
            <a:endParaRPr lang="zh-CN" altLang="en-US" b="1" dirty="0"/>
          </a:p>
          <a:p>
            <a:r>
              <a:rPr lang="en-GB" altLang="zh-CN" b="1" dirty="0"/>
              <a:t>DataFrame</a:t>
            </a:r>
            <a:r>
              <a:rPr lang="zh-CN" altLang="en-US" b="1" dirty="0"/>
              <a:t>的</a:t>
            </a:r>
            <a:r>
              <a:rPr lang="en-GB" altLang="zh-CN" b="1" dirty="0"/>
              <a:t>apply</a:t>
            </a:r>
            <a:r>
              <a:rPr lang="zh-CN" altLang="en-US" b="1" dirty="0"/>
              <a:t>方法</a:t>
            </a:r>
            <a:endParaRPr lang="zh-CN" altLang="en-US" b="1" dirty="0"/>
          </a:p>
          <a:p>
            <a:r>
              <a:rPr lang="en-GB" altLang="zh-CN" b="1" dirty="0"/>
              <a:t>apply </a:t>
            </a:r>
            <a:r>
              <a:rPr lang="zh-CN" altLang="en-US" b="1" dirty="0"/>
              <a:t>使用案例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向量化函数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en-GB" altLang="zh-CN" b="1" dirty="0"/>
              <a:t>lambda</a:t>
            </a:r>
            <a:r>
              <a:rPr lang="zh-CN" altLang="en-US" b="1" dirty="0"/>
              <a:t>函数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向量化函数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使用方法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创建一个</a:t>
            </a:r>
            <a:r>
              <a:rPr lang="en-GB" altLang="zh-CN" dirty="0"/>
              <a:t>DataFrame</a:t>
            </a:r>
            <a:endParaRPr lang="en-GB" altLang="zh-CN" dirty="0"/>
          </a:p>
          <a:p>
            <a:r>
              <a:rPr lang="en-GB" altLang="zh-CN" dirty="0" err="1"/>
              <a:t>df</a:t>
            </a:r>
            <a:r>
              <a:rPr lang="en-GB" altLang="zh-CN" dirty="0"/>
              <a:t> = </a:t>
            </a:r>
            <a:r>
              <a:rPr lang="en-GB" altLang="zh-CN" dirty="0" err="1"/>
              <a:t>pd.DataFrame</a:t>
            </a:r>
            <a:r>
              <a:rPr lang="en-GB" altLang="zh-CN" dirty="0"/>
              <a:t>({'a':[10,20,30],'b':[20,30,40]})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创建函数</a:t>
            </a:r>
            <a:endParaRPr lang="en-US" altLang="zh-CN" dirty="0"/>
          </a:p>
          <a:p>
            <a:r>
              <a:rPr lang="en-GB" altLang="zh-CN" dirty="0"/>
              <a:t>def avg_2(</a:t>
            </a:r>
            <a:r>
              <a:rPr lang="en-GB" altLang="zh-CN" dirty="0" err="1"/>
              <a:t>x,y</a:t>
            </a:r>
            <a:r>
              <a:rPr lang="en-GB" altLang="zh-CN" dirty="0"/>
              <a:t>):</a:t>
            </a:r>
            <a:endParaRPr lang="en-GB" altLang="zh-CN" dirty="0"/>
          </a:p>
          <a:p>
            <a:r>
              <a:rPr lang="en-GB" altLang="zh-CN" dirty="0"/>
              <a:t>    return (</a:t>
            </a:r>
            <a:r>
              <a:rPr lang="en-GB" altLang="zh-CN" dirty="0" err="1"/>
              <a:t>x+y</a:t>
            </a:r>
            <a:r>
              <a:rPr lang="en-GB" altLang="zh-CN" dirty="0"/>
              <a:t>)/2</a:t>
            </a:r>
            <a:endParaRPr lang="en-GB" altLang="zh-CN" dirty="0"/>
          </a:p>
          <a:p>
            <a:r>
              <a:rPr lang="en-GB" altLang="zh-CN" dirty="0"/>
              <a:t>avg_2(</a:t>
            </a:r>
            <a:r>
              <a:rPr lang="en-GB" altLang="zh-CN" dirty="0" err="1"/>
              <a:t>df</a:t>
            </a:r>
            <a:r>
              <a:rPr lang="en-GB" altLang="zh-CN" dirty="0"/>
              <a:t>['a'],</a:t>
            </a:r>
            <a:r>
              <a:rPr lang="en-GB" altLang="zh-CN" dirty="0" err="1"/>
              <a:t>df</a:t>
            </a:r>
            <a:r>
              <a:rPr lang="en-GB" altLang="zh-CN" dirty="0"/>
              <a:t>['b'])</a:t>
            </a:r>
            <a:endParaRPr lang="en-GB" altLang="zh-CN" dirty="0"/>
          </a:p>
          <a:p>
            <a:r>
              <a:rPr lang="en-GB" altLang="zh-CN" dirty="0"/>
              <a:t>	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0550" y="2574925"/>
            <a:ext cx="6362700" cy="17081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590415"/>
            <a:ext cx="4159250" cy="11493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向量化函数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使用方法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修改函数</a:t>
            </a:r>
            <a:endParaRPr lang="en-US" altLang="zh-CN" dirty="0"/>
          </a:p>
          <a:p>
            <a:r>
              <a:rPr lang="en-GB" altLang="zh-CN" dirty="0"/>
              <a:t>def avg_2_mod(</a:t>
            </a:r>
            <a:r>
              <a:rPr lang="en-GB" altLang="zh-CN" dirty="0" err="1"/>
              <a:t>x,y</a:t>
            </a:r>
            <a:r>
              <a:rPr lang="en-GB" altLang="zh-CN" dirty="0"/>
              <a:t>):</a:t>
            </a:r>
            <a:endParaRPr lang="en-GB" altLang="zh-CN" dirty="0"/>
          </a:p>
          <a:p>
            <a:r>
              <a:rPr lang="en-GB" altLang="zh-CN" dirty="0"/>
              <a:t>    if(x==20):</a:t>
            </a:r>
            <a:endParaRPr lang="en-GB" altLang="zh-CN" dirty="0"/>
          </a:p>
          <a:p>
            <a:r>
              <a:rPr lang="en-GB" altLang="zh-CN" dirty="0"/>
              <a:t>        return (</a:t>
            </a:r>
            <a:r>
              <a:rPr lang="en-GB" altLang="zh-CN" dirty="0" err="1"/>
              <a:t>np.NaN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/>
              <a:t>    else:</a:t>
            </a:r>
            <a:endParaRPr lang="en-GB" altLang="zh-CN" dirty="0"/>
          </a:p>
          <a:p>
            <a:r>
              <a:rPr lang="en-GB" altLang="zh-CN" dirty="0"/>
              <a:t>        return (</a:t>
            </a:r>
            <a:r>
              <a:rPr lang="en-GB" altLang="zh-CN" dirty="0" err="1"/>
              <a:t>x+y</a:t>
            </a:r>
            <a:r>
              <a:rPr lang="en-GB" altLang="zh-CN" dirty="0"/>
              <a:t>)/2</a:t>
            </a:r>
            <a:endParaRPr lang="en-GB" altLang="zh-CN" dirty="0"/>
          </a:p>
          <a:p>
            <a:r>
              <a:rPr lang="en-GB" altLang="zh-CN" dirty="0"/>
              <a:t>avg_2_mod(</a:t>
            </a:r>
            <a:r>
              <a:rPr lang="en-GB" altLang="zh-CN" dirty="0" err="1"/>
              <a:t>df</a:t>
            </a:r>
            <a:r>
              <a:rPr lang="en-GB" altLang="zh-CN" dirty="0"/>
              <a:t>['a'],</a:t>
            </a:r>
            <a:r>
              <a:rPr lang="en-GB" altLang="zh-CN" dirty="0" err="1"/>
              <a:t>df</a:t>
            </a:r>
            <a:r>
              <a:rPr lang="en-GB" altLang="zh-CN" dirty="0"/>
              <a:t>['b’])	</a:t>
            </a:r>
            <a:endParaRPr lang="en-GB" altLang="zh-CN" dirty="0"/>
          </a:p>
          <a:p>
            <a:r>
              <a:rPr lang="zh-CN" altLang="en-US" dirty="0"/>
              <a:t>上面函数中</a:t>
            </a:r>
            <a:r>
              <a:rPr lang="en-US" altLang="zh-CN" dirty="0"/>
              <a:t>, x==20 , x </a:t>
            </a:r>
            <a:r>
              <a:rPr lang="zh-CN" altLang="en-US" dirty="0"/>
              <a:t>是向量</a:t>
            </a:r>
            <a:r>
              <a:rPr lang="en-US" altLang="zh-CN" dirty="0"/>
              <a:t>, </a:t>
            </a:r>
            <a:r>
              <a:rPr lang="zh-CN" altLang="en-US" dirty="0"/>
              <a:t>但</a:t>
            </a:r>
            <a:r>
              <a:rPr lang="en-US" altLang="zh-CN" dirty="0"/>
              <a:t>20</a:t>
            </a:r>
            <a:r>
              <a:rPr lang="zh-CN" altLang="en-US" dirty="0"/>
              <a:t>是标量</a:t>
            </a:r>
            <a:r>
              <a:rPr lang="en-US" altLang="zh-CN" dirty="0"/>
              <a:t>, </a:t>
            </a:r>
            <a:r>
              <a:rPr lang="zh-CN" altLang="en-US" dirty="0"/>
              <a:t>不能直接计算</a:t>
            </a:r>
            <a:endParaRPr lang="zh-CN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向量化函数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使用方法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4"/>
            </a:pPr>
            <a:r>
              <a:rPr lang="zh-CN" altLang="en-US" dirty="0"/>
              <a:t>使用</a:t>
            </a:r>
            <a:r>
              <a:rPr lang="en-US" altLang="zh-CN" dirty="0" err="1"/>
              <a:t>np.vectorize</a:t>
            </a:r>
            <a:r>
              <a:rPr lang="zh-CN" altLang="en-US" dirty="0"/>
              <a:t>将函数向量化</a:t>
            </a:r>
            <a:endParaRPr lang="en-GB" altLang="zh-CN" dirty="0"/>
          </a:p>
          <a:p>
            <a:r>
              <a:rPr lang="en-GB" altLang="zh-CN" dirty="0"/>
              <a:t>avg_2_mod_vec = </a:t>
            </a:r>
            <a:r>
              <a:rPr lang="en-GB" altLang="zh-CN" dirty="0" err="1"/>
              <a:t>np.vectorize</a:t>
            </a:r>
            <a:r>
              <a:rPr lang="en-GB" altLang="zh-CN" dirty="0"/>
              <a:t>(avg_2_mod)</a:t>
            </a:r>
            <a:endParaRPr lang="en-GB" altLang="zh-CN" dirty="0"/>
          </a:p>
          <a:p>
            <a:r>
              <a:rPr lang="en-GB" altLang="zh-CN" dirty="0"/>
              <a:t>avg_2_mod_vec(</a:t>
            </a:r>
            <a:r>
              <a:rPr lang="en-GB" altLang="zh-CN" dirty="0" err="1"/>
              <a:t>df</a:t>
            </a:r>
            <a:r>
              <a:rPr lang="en-GB" altLang="zh-CN" dirty="0"/>
              <a:t>['a'],</a:t>
            </a:r>
            <a:r>
              <a:rPr lang="en-GB" altLang="zh-CN" dirty="0" err="1"/>
              <a:t>df</a:t>
            </a:r>
            <a:r>
              <a:rPr lang="en-GB" altLang="zh-CN" dirty="0"/>
              <a:t>['b'])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145" y="3194050"/>
            <a:ext cx="3105150" cy="9842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 </a:t>
            </a:r>
            <a:r>
              <a:rPr lang="zh-CN" altLang="en-US" dirty="0"/>
              <a:t>向量化函数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使用方法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5"/>
            </a:pPr>
            <a:r>
              <a:rPr lang="zh-CN" altLang="en-US" dirty="0"/>
              <a:t>使用装饰器</a:t>
            </a:r>
            <a:endParaRPr lang="en-US" altLang="zh-CN" dirty="0"/>
          </a:p>
          <a:p>
            <a:r>
              <a:rPr lang="en-GB" altLang="zh-CN" dirty="0"/>
              <a:t>@</a:t>
            </a:r>
            <a:r>
              <a:rPr lang="en-GB" altLang="zh-CN" dirty="0" err="1"/>
              <a:t>np.vectorize</a:t>
            </a:r>
            <a:endParaRPr lang="en-GB" altLang="zh-CN" dirty="0"/>
          </a:p>
          <a:p>
            <a:r>
              <a:rPr lang="en-GB" altLang="zh-CN" dirty="0"/>
              <a:t>def vec_avg_2_mod(</a:t>
            </a:r>
            <a:r>
              <a:rPr lang="en-GB" altLang="zh-CN" dirty="0" err="1"/>
              <a:t>x,y</a:t>
            </a:r>
            <a:r>
              <a:rPr lang="en-GB" altLang="zh-CN" dirty="0"/>
              <a:t>):</a:t>
            </a:r>
            <a:endParaRPr lang="en-GB" altLang="zh-CN" dirty="0"/>
          </a:p>
          <a:p>
            <a:r>
              <a:rPr lang="en-GB" altLang="zh-CN" dirty="0"/>
              <a:t>    if(x==20):</a:t>
            </a:r>
            <a:endParaRPr lang="en-GB" altLang="zh-CN" dirty="0"/>
          </a:p>
          <a:p>
            <a:r>
              <a:rPr lang="en-GB" altLang="zh-CN" dirty="0"/>
              <a:t>        return (</a:t>
            </a:r>
            <a:r>
              <a:rPr lang="en-GB" altLang="zh-CN" dirty="0" err="1"/>
              <a:t>np.NaN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/>
              <a:t>    else:</a:t>
            </a:r>
            <a:endParaRPr lang="en-GB" altLang="zh-CN" dirty="0"/>
          </a:p>
          <a:p>
            <a:r>
              <a:rPr lang="en-GB" altLang="zh-CN" dirty="0"/>
              <a:t>        return (</a:t>
            </a:r>
            <a:r>
              <a:rPr lang="en-GB" altLang="zh-CN" dirty="0" err="1"/>
              <a:t>x+y</a:t>
            </a:r>
            <a:r>
              <a:rPr lang="en-GB" altLang="zh-CN" dirty="0"/>
              <a:t>)/2</a:t>
            </a:r>
            <a:endParaRPr lang="en-GB" altLang="zh-CN" dirty="0"/>
          </a:p>
          <a:p>
            <a:r>
              <a:rPr lang="en-GB" altLang="zh-CN" dirty="0"/>
              <a:t>vec_avg_2_mod(</a:t>
            </a:r>
            <a:r>
              <a:rPr lang="en-GB" altLang="zh-CN" dirty="0" err="1"/>
              <a:t>df</a:t>
            </a:r>
            <a:r>
              <a:rPr lang="en-GB" altLang="zh-CN" dirty="0"/>
              <a:t>['a'],</a:t>
            </a:r>
            <a:r>
              <a:rPr lang="en-GB" altLang="zh-CN" dirty="0" err="1"/>
              <a:t>df</a:t>
            </a:r>
            <a:r>
              <a:rPr lang="en-GB" altLang="zh-CN" dirty="0"/>
              <a:t>['b'])</a:t>
            </a:r>
            <a:endParaRPr lang="en-GB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680" y="5252085"/>
            <a:ext cx="3549650" cy="9461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b="1" dirty="0"/>
              <a:t>Series</a:t>
            </a:r>
            <a:r>
              <a:rPr lang="zh-CN" altLang="en-US" b="1" dirty="0"/>
              <a:t>的</a:t>
            </a:r>
            <a:r>
              <a:rPr lang="en-GB" altLang="zh-CN" b="1" dirty="0"/>
              <a:t>apply</a:t>
            </a:r>
            <a:r>
              <a:rPr lang="zh-CN" altLang="en-US" b="1" dirty="0"/>
              <a:t>方法</a:t>
            </a:r>
            <a:endParaRPr lang="zh-CN" altLang="en-US" b="1" dirty="0"/>
          </a:p>
          <a:p>
            <a:r>
              <a:rPr lang="en-GB" altLang="zh-CN" b="1" dirty="0"/>
              <a:t>DataFrame</a:t>
            </a:r>
            <a:r>
              <a:rPr lang="zh-CN" altLang="en-US" b="1" dirty="0"/>
              <a:t>的</a:t>
            </a:r>
            <a:r>
              <a:rPr lang="en-GB" altLang="zh-CN" b="1" dirty="0"/>
              <a:t>apply</a:t>
            </a:r>
            <a:r>
              <a:rPr lang="zh-CN" altLang="en-US" b="1" dirty="0"/>
              <a:t>方法</a:t>
            </a:r>
            <a:endParaRPr lang="zh-CN" altLang="en-US" b="1" dirty="0"/>
          </a:p>
          <a:p>
            <a:r>
              <a:rPr lang="en-GB" altLang="zh-CN" b="1" dirty="0"/>
              <a:t>apply </a:t>
            </a:r>
            <a:r>
              <a:rPr lang="zh-CN" altLang="en-US" b="1" dirty="0"/>
              <a:t>使用案例</a:t>
            </a:r>
            <a:endParaRPr lang="zh-CN" altLang="en-US" b="1" dirty="0"/>
          </a:p>
          <a:p>
            <a:r>
              <a:rPr lang="zh-CN" altLang="en-US" b="1" dirty="0"/>
              <a:t>向量化函数</a:t>
            </a:r>
            <a:endParaRPr lang="zh-CN" altLang="en-US" b="1" dirty="0"/>
          </a:p>
          <a:p>
            <a:r>
              <a:rPr lang="en-GB" altLang="zh-CN" b="1" dirty="0">
                <a:solidFill>
                  <a:srgbClr val="FF0000"/>
                </a:solidFill>
              </a:rPr>
              <a:t>lambda</a:t>
            </a:r>
            <a:r>
              <a:rPr lang="zh-CN" altLang="en-US" b="1" dirty="0">
                <a:solidFill>
                  <a:srgbClr val="FF0000"/>
                </a:solidFill>
              </a:rPr>
              <a:t>函数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 </a:t>
            </a:r>
            <a:r>
              <a:rPr lang="en-GB" altLang="zh-CN" dirty="0"/>
              <a:t>lambda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使用方法</a:t>
            </a:r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当函数比较简单的时候</a:t>
            </a:r>
            <a:r>
              <a:rPr lang="en-US" altLang="zh-CN" dirty="0"/>
              <a:t>, </a:t>
            </a:r>
            <a:r>
              <a:rPr lang="zh-CN" altLang="en-US" dirty="0"/>
              <a:t>没有必要创建一个</a:t>
            </a:r>
            <a:r>
              <a:rPr lang="en-US" altLang="zh-CN" dirty="0"/>
              <a:t>def</a:t>
            </a:r>
            <a:r>
              <a:rPr lang="zh-CN" altLang="en-US" dirty="0"/>
              <a:t>函数</a:t>
            </a:r>
            <a:r>
              <a:rPr lang="en-US" altLang="zh-CN" dirty="0"/>
              <a:t>, </a:t>
            </a:r>
            <a:r>
              <a:rPr lang="zh-CN" altLang="en-US" dirty="0"/>
              <a:t>可以使用</a:t>
            </a:r>
            <a:r>
              <a:rPr lang="en-US" altLang="zh-CN" dirty="0"/>
              <a:t>lambda</a:t>
            </a:r>
            <a:r>
              <a:rPr lang="zh-CN" altLang="en-US" dirty="0"/>
              <a:t>表达式创建匿名函数</a:t>
            </a:r>
            <a:endParaRPr lang="en-US" altLang="zh-CN" dirty="0"/>
          </a:p>
          <a:p>
            <a:r>
              <a:rPr lang="en-GB" altLang="zh-CN" dirty="0" err="1"/>
              <a:t>df.apply</a:t>
            </a:r>
            <a:r>
              <a:rPr lang="en-GB" altLang="zh-CN" dirty="0"/>
              <a:t>(lambda x: x+1)</a:t>
            </a:r>
            <a:endParaRPr lang="en-GB" altLang="zh-CN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300" y="2722880"/>
            <a:ext cx="6546850" cy="21907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altLang="zh-CN" dirty="0"/>
              <a:t>Series</a:t>
            </a:r>
            <a:r>
              <a:rPr lang="zh-CN" altLang="en-US" dirty="0"/>
              <a:t>和</a:t>
            </a:r>
            <a:r>
              <a:rPr lang="en-GB" altLang="zh-CN" dirty="0"/>
              <a:t>DataFrame</a:t>
            </a:r>
            <a:r>
              <a:rPr lang="zh-CN" altLang="en-US" dirty="0"/>
              <a:t>均可以通过</a:t>
            </a:r>
            <a:r>
              <a:rPr lang="en-GB" altLang="zh-CN" dirty="0"/>
              <a:t>apply</a:t>
            </a:r>
            <a:r>
              <a:rPr lang="zh-CN" altLang="en-US" dirty="0"/>
              <a:t>传入自定义函数</a:t>
            </a:r>
            <a:endParaRPr lang="zh-CN" altLang="en-US" dirty="0"/>
          </a:p>
          <a:p>
            <a:r>
              <a:rPr lang="zh-CN" altLang="en-US" dirty="0"/>
              <a:t>有些时候需要通过</a:t>
            </a:r>
            <a:r>
              <a:rPr lang="en-GB" altLang="zh-CN" dirty="0"/>
              <a:t>np</a:t>
            </a:r>
            <a:r>
              <a:rPr lang="zh-CN" altLang="en-US" dirty="0"/>
              <a:t>的</a:t>
            </a:r>
            <a:r>
              <a:rPr lang="en-GB" altLang="zh-CN" dirty="0"/>
              <a:t>vectorize</a:t>
            </a:r>
            <a:r>
              <a:rPr lang="zh-CN" altLang="en-US" dirty="0"/>
              <a:t>函数才能进行向量化计算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lambda</a:t>
            </a:r>
            <a:r>
              <a:rPr lang="zh-CN" altLang="en-US" dirty="0">
                <a:sym typeface="+mn-ea"/>
              </a:rPr>
              <a:t>表达式创建匿名函数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2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3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heme/theme1.xml><?xml version="1.0" encoding="utf-8"?>
<a:theme xmlns:a="http://schemas.openxmlformats.org/drawingml/2006/main" name="1_课程标题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目录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目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3259</Words>
  <Application>WPS 演示</Application>
  <PresentationFormat>宽屏</PresentationFormat>
  <Paragraphs>247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26</vt:i4>
      </vt:variant>
    </vt:vector>
  </HeadingPairs>
  <TitlesOfParts>
    <vt:vector size="54" baseType="lpstr">
      <vt:lpstr>Arial</vt:lpstr>
      <vt:lpstr>宋体</vt:lpstr>
      <vt:lpstr>Wingdings</vt:lpstr>
      <vt:lpstr>Calibri</vt:lpstr>
      <vt:lpstr>黑体</vt:lpstr>
      <vt:lpstr>阿里巴巴普惠体</vt:lpstr>
      <vt:lpstr>Alibaba PuHuiTi B</vt:lpstr>
      <vt:lpstr>Alibaba PuHuiTi R</vt:lpstr>
      <vt:lpstr>Segoe UI</vt:lpstr>
      <vt:lpstr>微软雅黑</vt:lpstr>
      <vt:lpstr>Verdana</vt:lpstr>
      <vt:lpstr>Alibaba PuHuiTi M</vt:lpstr>
      <vt:lpstr>Segoe UI Light</vt:lpstr>
      <vt:lpstr>微软雅黑 Light</vt:lpstr>
      <vt:lpstr>等线</vt:lpstr>
      <vt:lpstr>Arial Unicode MS</vt:lpstr>
      <vt:lpstr>1_课程标题页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6_结束页设计方案</vt:lpstr>
      <vt:lpstr>2_目录设计方案</vt:lpstr>
      <vt:lpstr>3_目标设计方案</vt:lpstr>
      <vt:lpstr>4_正文设计方案</vt:lpstr>
      <vt:lpstr>5_结束页设计方案</vt:lpstr>
      <vt:lpstr>apply自定义函数</vt:lpstr>
      <vt:lpstr>PowerPoint 演示文稿</vt:lpstr>
      <vt:lpstr>PowerPoint 演示文稿</vt:lpstr>
      <vt:lpstr>1 Series的apply方法</vt:lpstr>
      <vt:lpstr>1 Series的apply方法</vt:lpstr>
      <vt:lpstr>1 Series的apply方法</vt:lpstr>
      <vt:lpstr>PowerPoint 演示文稿</vt:lpstr>
      <vt:lpstr>2 DataFrame的apply方法</vt:lpstr>
      <vt:lpstr>2 DataFrame的apply方法</vt:lpstr>
      <vt:lpstr>2 DataFrame的apply方法</vt:lpstr>
      <vt:lpstr>PowerPoint 演示文稿</vt:lpstr>
      <vt:lpstr>3 apply 使用案例</vt:lpstr>
      <vt:lpstr>3 apply 使用案例</vt:lpstr>
      <vt:lpstr>3 apply 使用案例</vt:lpstr>
      <vt:lpstr>3 apply 使用案例</vt:lpstr>
      <vt:lpstr>3 apply 使用案例</vt:lpstr>
      <vt:lpstr>3 apply 使用案例</vt:lpstr>
      <vt:lpstr>PowerPoint 演示文稿</vt:lpstr>
      <vt:lpstr>4 向量化函数</vt:lpstr>
      <vt:lpstr>4 向量化函数</vt:lpstr>
      <vt:lpstr>4 向量化函数</vt:lpstr>
      <vt:lpstr>4 向量化函数</vt:lpstr>
      <vt:lpstr>PowerPoint 演示文稿</vt:lpstr>
      <vt:lpstr>5 lambda函数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空白格</cp:lastModifiedBy>
  <cp:revision>151</cp:revision>
  <dcterms:created xsi:type="dcterms:W3CDTF">2020-03-31T02:23:00Z</dcterms:created>
  <dcterms:modified xsi:type="dcterms:W3CDTF">2021-05-06T07:42:40Z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C15C1E0D687C49DA973833B406365F92</vt:lpwstr>
  </property>
  <property fmtid="{D5CDD505-2E9C-101B-9397-08002B2CF9AE}" pid="3" name="KSOProductBuildVer">
    <vt:lpwstr>2052-11.1.0.10463</vt:lpwstr>
  </property>
</Properties>
</file>