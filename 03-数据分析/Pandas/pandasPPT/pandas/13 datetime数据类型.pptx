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5" r:id="rId5"/>
    <p:sldMasterId id="2147483667" r:id="rId6"/>
    <p:sldMasterId id="2147483669" r:id="rId7"/>
    <p:sldMasterId id="2147483671" r:id="rId8"/>
    <p:sldMasterId id="2147483673" r:id="rId9"/>
    <p:sldMasterId id="2147483675" r:id="rId10"/>
    <p:sldMasterId id="2147483677" r:id="rId11"/>
    <p:sldMasterId id="2147483679" r:id="rId12"/>
    <p:sldMasterId id="2147483693" r:id="rId13"/>
  </p:sldMasterIdLst>
  <p:notesMasterIdLst>
    <p:notesMasterId r:id="rId15"/>
  </p:notesMasterIdLst>
  <p:sldIdLst>
    <p:sldId id="260" r:id="rId14"/>
    <p:sldId id="424" r:id="rId16"/>
    <p:sldId id="432" r:id="rId17"/>
    <p:sldId id="265" r:id="rId18"/>
    <p:sldId id="428" r:id="rId19"/>
    <p:sldId id="429" r:id="rId20"/>
    <p:sldId id="434" r:id="rId21"/>
    <p:sldId id="431" r:id="rId22"/>
    <p:sldId id="433" r:id="rId23"/>
    <p:sldId id="435" r:id="rId24"/>
    <p:sldId id="436" r:id="rId25"/>
    <p:sldId id="438" r:id="rId26"/>
    <p:sldId id="439" r:id="rId27"/>
    <p:sldId id="440" r:id="rId28"/>
    <p:sldId id="441" r:id="rId29"/>
    <p:sldId id="442" r:id="rId30"/>
    <p:sldId id="443" r:id="rId31"/>
    <p:sldId id="444" r:id="rId32"/>
    <p:sldId id="445" r:id="rId33"/>
    <p:sldId id="446" r:id="rId34"/>
    <p:sldId id="448" r:id="rId35"/>
    <p:sldId id="449" r:id="rId36"/>
    <p:sldId id="450" r:id="rId37"/>
    <p:sldId id="451" r:id="rId38"/>
    <p:sldId id="452" r:id="rId39"/>
    <p:sldId id="453" r:id="rId40"/>
    <p:sldId id="454" r:id="rId41"/>
    <p:sldId id="455" r:id="rId42"/>
    <p:sldId id="456" r:id="rId43"/>
    <p:sldId id="457" r:id="rId44"/>
    <p:sldId id="458" r:id="rId45"/>
    <p:sldId id="459" r:id="rId46"/>
    <p:sldId id="460" r:id="rId47"/>
    <p:sldId id="461" r:id="rId48"/>
    <p:sldId id="462" r:id="rId49"/>
    <p:sldId id="447" r:id="rId50"/>
    <p:sldId id="264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C00000"/>
    <a:srgbClr val="000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6379" autoAdjust="0"/>
  </p:normalViewPr>
  <p:slideViewPr>
    <p:cSldViewPr snapToGrid="0">
      <p:cViewPr varScale="1">
        <p:scale>
          <a:sx n="137" d="100"/>
          <a:sy n="137" d="100"/>
        </p:scale>
        <p:origin x="200" y="360"/>
      </p:cViewPr>
      <p:guideLst/>
    </p:cSldViewPr>
  </p:slideViewPr>
  <p:outlineViewPr>
    <p:cViewPr>
      <p:scale>
        <a:sx n="33" d="100"/>
        <a:sy n="33" d="100"/>
      </p:scale>
      <p:origin x="0" y="-138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6" d="100"/>
        <a:sy n="9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37.xml"/><Relationship Id="rId50" Type="http://schemas.openxmlformats.org/officeDocument/2006/relationships/slide" Target="slides/slide3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5.xml"/><Relationship Id="rId48" Type="http://schemas.openxmlformats.org/officeDocument/2006/relationships/slide" Target="slides/slide34.xml"/><Relationship Id="rId47" Type="http://schemas.openxmlformats.org/officeDocument/2006/relationships/slide" Target="slides/slide33.xml"/><Relationship Id="rId46" Type="http://schemas.openxmlformats.org/officeDocument/2006/relationships/slide" Target="slides/slide32.xml"/><Relationship Id="rId45" Type="http://schemas.openxmlformats.org/officeDocument/2006/relationships/slide" Target="slides/slide31.xml"/><Relationship Id="rId44" Type="http://schemas.openxmlformats.org/officeDocument/2006/relationships/slide" Target="slides/slide30.xml"/><Relationship Id="rId43" Type="http://schemas.openxmlformats.org/officeDocument/2006/relationships/slide" Target="slides/slide29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40" Type="http://schemas.openxmlformats.org/officeDocument/2006/relationships/slide" Target="slides/slide2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2"/>
          <p:cNvSpPr>
            <a:spLocks noGrp="1"/>
          </p:cNvSpPr>
          <p:nvPr>
            <p:ph type="title" hasCustomPrompt="1"/>
          </p:nvPr>
        </p:nvSpPr>
        <p:spPr>
          <a:xfrm>
            <a:off x="2889584" y="3023414"/>
            <a:ext cx="6412832" cy="81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请输入课程标题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8701" y="1940037"/>
            <a:ext cx="5630484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171575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image" Target="../media/image7.emf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0" Type="http://schemas.openxmlformats.org/officeDocument/2006/relationships/theme" Target="../theme/theme1.xml"/><Relationship Id="rId2" Type="http://schemas.openxmlformats.org/officeDocument/2006/relationships/image" Target="../media/image1.e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emf"/><Relationship Id="rId16" Type="http://schemas.openxmlformats.org/officeDocument/2006/relationships/image" Target="../media/image15.emf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4.xml"/><Relationship Id="rId12" Type="http://schemas.openxmlformats.org/officeDocument/2006/relationships/image" Target="../media/image19.png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1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5" Type="http://schemas.openxmlformats.org/officeDocument/2006/relationships/theme" Target="../theme/theme11.xml"/><Relationship Id="rId14" Type="http://schemas.openxmlformats.org/officeDocument/2006/relationships/image" Target="../media/image24.png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2" y="855134"/>
            <a:ext cx="4169833" cy="458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518" y="1420285"/>
            <a:ext cx="2933700" cy="327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8509000" y="1845733"/>
            <a:ext cx="618067" cy="6180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3268134" y="2332567"/>
            <a:ext cx="245533" cy="245533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6987118" y="5249334"/>
            <a:ext cx="292100" cy="2921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4353985" y="2586567"/>
            <a:ext cx="171449" cy="1735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2" y="2108201"/>
            <a:ext cx="2899833" cy="79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218" y="1947334"/>
            <a:ext cx="283633" cy="38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/>
          <p:nvPr userDrawn="1"/>
        </p:nvGrpSpPr>
        <p:grpSpPr bwMode="auto">
          <a:xfrm>
            <a:off x="8134351" y="2334685"/>
            <a:ext cx="173567" cy="171449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394" y="1772988"/>
              <a:ext cx="84329" cy="84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1" y="5325534"/>
            <a:ext cx="1566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/>
          <p:nvPr userDrawn="1"/>
        </p:nvGrpSpPr>
        <p:grpSpPr bwMode="auto">
          <a:xfrm>
            <a:off x="4053418" y="728134"/>
            <a:ext cx="300567" cy="300567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775" y="600432"/>
              <a:ext cx="143438" cy="110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/>
          <p:nvPr userDrawn="1"/>
        </p:nvGrpSpPr>
        <p:grpSpPr bwMode="auto">
          <a:xfrm>
            <a:off x="3448052" y="4030133"/>
            <a:ext cx="247649" cy="247651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085" y="2633134"/>
            <a:ext cx="95249" cy="103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9484785" y="3507318"/>
            <a:ext cx="334433" cy="332316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3" y="3587752"/>
            <a:ext cx="177800" cy="17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/>
          <p:nvPr userDrawn="1"/>
        </p:nvGrpSpPr>
        <p:grpSpPr bwMode="auto">
          <a:xfrm>
            <a:off x="3103034" y="4514851"/>
            <a:ext cx="345017" cy="345016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039" y="3616294"/>
              <a:ext cx="173184" cy="85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/>
          <p:nvPr userDrawn="1"/>
        </p:nvGrpSpPr>
        <p:grpSpPr bwMode="auto">
          <a:xfrm>
            <a:off x="1301752" y="1394885"/>
            <a:ext cx="400049" cy="400049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06" y="856341"/>
              <a:ext cx="203362" cy="116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/>
          <p:nvPr userDrawn="1"/>
        </p:nvGrpSpPr>
        <p:grpSpPr bwMode="auto">
          <a:xfrm>
            <a:off x="2351618" y="5854700"/>
            <a:ext cx="400049" cy="400051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391" y="4364115"/>
              <a:ext cx="196455" cy="158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/>
          <p:nvPr userDrawn="1"/>
        </p:nvGrpSpPr>
        <p:grpSpPr bwMode="auto">
          <a:xfrm>
            <a:off x="1559985" y="3492500"/>
            <a:ext cx="400049" cy="400051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531" y="2690308"/>
              <a:ext cx="211536" cy="181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/>
          <p:nvPr userDrawn="1"/>
        </p:nvGrpSpPr>
        <p:grpSpPr bwMode="auto">
          <a:xfrm>
            <a:off x="10375901" y="5395385"/>
            <a:ext cx="427567" cy="427567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542" y="4486356"/>
              <a:ext cx="237154" cy="184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234" y="2364318"/>
            <a:ext cx="1693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/>
          <p:nvPr userDrawn="1"/>
        </p:nvGrpSpPr>
        <p:grpSpPr bwMode="auto">
          <a:xfrm>
            <a:off x="8818034" y="4578351"/>
            <a:ext cx="345017" cy="345016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0841" y="4263524"/>
              <a:ext cx="145353" cy="144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/>
          <p:nvPr userDrawn="1"/>
        </p:nvGrpSpPr>
        <p:grpSpPr bwMode="auto">
          <a:xfrm>
            <a:off x="9745134" y="1217084"/>
            <a:ext cx="429684" cy="429683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238" y="989568"/>
              <a:ext cx="2032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MH_Others_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611967" y="2556933"/>
            <a:ext cx="859367" cy="352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91440" tIns="45720" rIns="91440" bIns="4572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4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Contents</a:t>
            </a:r>
            <a:endParaRPr lang="en-US" altLang="zh-CN" sz="48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MH_Others_2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2264834" y="1221318"/>
            <a:ext cx="1248833" cy="1246716"/>
          </a:xfrm>
          <a:prstGeom prst="ellipse">
            <a:avLst/>
          </a:prstGeom>
          <a:solidFill>
            <a:srgbClr val="404040"/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91440" tIns="45720" rIns="91440" bIns="180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9335"/>
              </a:lnSpc>
              <a:spcBef>
                <a:spcPct val="0"/>
              </a:spcBef>
              <a:buNone/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</a:t>
            </a:r>
            <a:endParaRPr lang="zh-CN" altLang="en-US" sz="5400" b="1" dirty="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MH_Others_3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1775520" y="2346261"/>
            <a:ext cx="979155" cy="979155"/>
          </a:xfrm>
          <a:prstGeom prst="ellipse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5400" b="1" dirty="0">
                <a:ln w="3175">
                  <a:solidFill>
                    <a:srgbClr val="FFFFFF"/>
                  </a:solidFill>
                </a:ln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录</a:t>
            </a:r>
            <a:endParaRPr lang="zh-CN" altLang="en-US" sz="5400" b="1" dirty="0">
              <a:ln w="3175">
                <a:solidFill>
                  <a:srgbClr val="FFFFFF"/>
                </a:solidFill>
              </a:ln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464051" y="1845734"/>
            <a:ext cx="0" cy="32639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4415367" y="1797052"/>
            <a:ext cx="97367" cy="9524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2" name="椭圆 11"/>
          <p:cNvSpPr/>
          <p:nvPr userDrawn="1"/>
        </p:nvSpPr>
        <p:spPr>
          <a:xfrm>
            <a:off x="4415367" y="5109633"/>
            <a:ext cx="97367" cy="95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4" name="标题占位符 1"/>
          <p:cNvSpPr txBox="1">
            <a:spLocks noChangeArrowheads="1"/>
          </p:cNvSpPr>
          <p:nvPr userDrawn="1"/>
        </p:nvSpPr>
        <p:spPr bwMode="auto">
          <a:xfrm>
            <a:off x="1390651" y="2565401"/>
            <a:ext cx="229446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265" b="1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TW" altLang="zh-CN" sz="4265" b="1" kern="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占位符 1"/>
          <p:cNvSpPr txBox="1">
            <a:spLocks noChangeArrowheads="1"/>
          </p:cNvSpPr>
          <p:nvPr userDrawn="1"/>
        </p:nvSpPr>
        <p:spPr bwMode="auto">
          <a:xfrm>
            <a:off x="1678518" y="3431118"/>
            <a:ext cx="2821516" cy="6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3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TW" altLang="zh-CN" sz="3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/>
          <p:nvPr userDrawn="1"/>
        </p:nvGrpSpPr>
        <p:grpSpPr bwMode="auto">
          <a:xfrm>
            <a:off x="658285" y="292101"/>
            <a:ext cx="122767" cy="419100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Segoe UI" panose="020B05020402040202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52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/>
          <p:nvPr userDrawn="1"/>
        </p:nvGrpSpPr>
        <p:grpSpPr bwMode="auto">
          <a:xfrm>
            <a:off x="2592918" y="2423584"/>
            <a:ext cx="6864349" cy="1049867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zh-CN" dirty="0"/>
              <a:t>datetime </a:t>
            </a:r>
            <a:r>
              <a:rPr lang="zh-CN" altLang="en-US" dirty="0"/>
              <a:t>数据类型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应用</a:t>
            </a:r>
            <a:r>
              <a:rPr lang="en-US" altLang="zh-CN" dirty="0"/>
              <a:t>Pandas</a:t>
            </a:r>
            <a:r>
              <a:rPr lang="zh-CN" altLang="en-US" dirty="0"/>
              <a:t>来处理日期时间类型数据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>
                <a:solidFill>
                  <a:srgbClr val="FF0000"/>
                </a:solidFill>
              </a:rPr>
              <a:t>Python</a:t>
            </a:r>
            <a:r>
              <a:rPr lang="zh-CN" altLang="en-US" b="1" dirty="0">
                <a:solidFill>
                  <a:srgbClr val="FF0000"/>
                </a:solidFill>
              </a:rPr>
              <a:t>的</a:t>
            </a:r>
            <a:r>
              <a:rPr lang="en-GB" altLang="zh-CN" b="1" dirty="0">
                <a:solidFill>
                  <a:srgbClr val="FF0000"/>
                </a:solidFill>
              </a:rPr>
              <a:t>datetime</a:t>
            </a:r>
            <a:r>
              <a:rPr lang="zh-CN" altLang="en-US" b="1" dirty="0">
                <a:solidFill>
                  <a:srgbClr val="FF0000"/>
                </a:solidFill>
              </a:rPr>
              <a:t>对象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将</a:t>
            </a:r>
            <a:r>
              <a:rPr lang="en-GB" altLang="zh-CN" b="1" dirty="0"/>
              <a:t>pandas</a:t>
            </a:r>
            <a:r>
              <a:rPr lang="zh-CN" altLang="en-US" b="1" dirty="0"/>
              <a:t>中的数据转换成</a:t>
            </a:r>
            <a:r>
              <a:rPr lang="en-GB" altLang="zh-CN" b="1" dirty="0"/>
              <a:t>datetime</a:t>
            </a:r>
            <a:endParaRPr lang="en-GB" altLang="zh-CN" b="1" dirty="0"/>
          </a:p>
          <a:p>
            <a:r>
              <a:rPr lang="zh-CN" altLang="en-US" b="1" dirty="0"/>
              <a:t>提取日期的各个部分</a:t>
            </a:r>
            <a:endParaRPr lang="zh-CN" altLang="en-US" b="1" dirty="0"/>
          </a:p>
          <a:p>
            <a:r>
              <a:rPr lang="zh-CN" altLang="en-US" b="1" dirty="0"/>
              <a:t>日期运算和</a:t>
            </a:r>
            <a:r>
              <a:rPr lang="en-GB" altLang="zh-CN" b="1" dirty="0" err="1"/>
              <a:t>Timedelta</a:t>
            </a:r>
            <a:endParaRPr lang="en-GB" altLang="zh-CN" b="1" dirty="0"/>
          </a:p>
          <a:p>
            <a:r>
              <a:rPr lang="zh-CN" altLang="en-US" b="1" dirty="0"/>
              <a:t>处理股票数据</a:t>
            </a:r>
            <a:endParaRPr lang="zh-CN" altLang="en-US" b="1" dirty="0"/>
          </a:p>
          <a:p>
            <a:r>
              <a:rPr lang="zh-CN" altLang="en-US" b="1" dirty="0"/>
              <a:t>日期范围</a:t>
            </a:r>
            <a:endParaRPr lang="zh-CN" altLang="en-US" b="1" dirty="0"/>
          </a:p>
          <a:p>
            <a:r>
              <a:rPr lang="en-GB" altLang="zh-CN" b="1" dirty="0"/>
              <a:t>datetime</a:t>
            </a:r>
            <a:r>
              <a:rPr lang="zh-CN" altLang="en-US" b="1" dirty="0"/>
              <a:t>类型案例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1 Python</a:t>
            </a:r>
            <a:r>
              <a:rPr lang="zh-CN" altLang="en-US" dirty="0"/>
              <a:t>的</a:t>
            </a:r>
            <a:r>
              <a:rPr lang="en-GB" altLang="zh-CN" dirty="0"/>
              <a:t>datetime</a:t>
            </a:r>
            <a:r>
              <a:rPr lang="zh-CN" altLang="en-US" dirty="0"/>
              <a:t>对象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927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/>
              <a:t>Python</a:t>
            </a:r>
            <a:r>
              <a:rPr lang="zh-CN" altLang="en-US" dirty="0"/>
              <a:t>内置了</a:t>
            </a:r>
            <a:r>
              <a:rPr lang="en-GB" altLang="zh-CN" dirty="0"/>
              <a:t>datetime</a:t>
            </a:r>
            <a:r>
              <a:rPr lang="zh-CN" altLang="en-US" dirty="0"/>
              <a:t>对象，可以在</a:t>
            </a:r>
            <a:r>
              <a:rPr lang="en-GB" altLang="zh-CN" dirty="0"/>
              <a:t>datetime</a:t>
            </a:r>
            <a:r>
              <a:rPr lang="zh-CN" altLang="en-US" dirty="0"/>
              <a:t>库中找到</a:t>
            </a:r>
            <a:endParaRPr lang="en-US" altLang="zh-CN" dirty="0"/>
          </a:p>
          <a:p>
            <a:r>
              <a:rPr lang="en-GB" altLang="zh-CN" dirty="0"/>
              <a:t>from datetime import datetime</a:t>
            </a:r>
            <a:endParaRPr lang="en-GB" altLang="zh-CN" dirty="0"/>
          </a:p>
          <a:p>
            <a:r>
              <a:rPr lang="en-GB" altLang="zh-CN" dirty="0"/>
              <a:t>now = </a:t>
            </a:r>
            <a:r>
              <a:rPr lang="en-GB" altLang="zh-CN" dirty="0" err="1"/>
              <a:t>datetime.now</a:t>
            </a:r>
            <a:r>
              <a:rPr lang="en-GB" altLang="zh-CN" dirty="0"/>
              <a:t>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还可以手动创建</a:t>
            </a:r>
            <a:r>
              <a:rPr lang="en-GB" altLang="zh-CN" dirty="0"/>
              <a:t>datetime</a:t>
            </a:r>
            <a:endParaRPr lang="en-GB" altLang="zh-CN" dirty="0"/>
          </a:p>
          <a:p>
            <a:r>
              <a:rPr lang="en-GB" altLang="zh-CN" dirty="0"/>
              <a:t>t1 = </a:t>
            </a:r>
            <a:r>
              <a:rPr lang="en-GB" altLang="zh-CN" dirty="0" err="1"/>
              <a:t>datetime.now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t2 = datetime(2020,1,1)</a:t>
            </a:r>
            <a:endParaRPr lang="en-GB" altLang="zh-CN" dirty="0"/>
          </a:p>
          <a:p>
            <a:r>
              <a:rPr lang="en-GB" altLang="zh-CN" dirty="0"/>
              <a:t>diff = t1-t2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查看</a:t>
            </a:r>
            <a:r>
              <a:rPr lang="en-US" altLang="zh-CN" dirty="0"/>
              <a:t>diff</a:t>
            </a:r>
            <a:r>
              <a:rPr lang="zh-CN" altLang="en-US" dirty="0"/>
              <a:t>的数据类型</a:t>
            </a:r>
            <a:endParaRPr lang="zh-CN" altLang="en-US" dirty="0"/>
          </a:p>
          <a:p>
            <a:r>
              <a:rPr lang="en-GB" altLang="zh-CN" dirty="0"/>
              <a:t>type(diff)</a:t>
            </a:r>
            <a:endParaRPr lang="en-GB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375" y="5487670"/>
            <a:ext cx="346075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Python</a:t>
            </a:r>
            <a:r>
              <a:rPr lang="zh-CN" altLang="en-US" b="1" dirty="0"/>
              <a:t>的</a:t>
            </a:r>
            <a:r>
              <a:rPr lang="en-GB" altLang="zh-CN" b="1" dirty="0"/>
              <a:t>datetime</a:t>
            </a:r>
            <a:r>
              <a:rPr lang="zh-CN" altLang="en-US" b="1" dirty="0"/>
              <a:t>对象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将</a:t>
            </a:r>
            <a:r>
              <a:rPr lang="en-GB" altLang="zh-CN" b="1" dirty="0">
                <a:solidFill>
                  <a:srgbClr val="FF0000"/>
                </a:solidFill>
              </a:rPr>
              <a:t>pandas</a:t>
            </a:r>
            <a:r>
              <a:rPr lang="zh-CN" altLang="en-US" b="1" dirty="0">
                <a:solidFill>
                  <a:srgbClr val="FF0000"/>
                </a:solidFill>
              </a:rPr>
              <a:t>中的数据转换成</a:t>
            </a:r>
            <a:r>
              <a:rPr lang="en-GB" altLang="zh-CN" b="1" dirty="0">
                <a:solidFill>
                  <a:srgbClr val="FF0000"/>
                </a:solidFill>
              </a:rPr>
              <a:t>datetime</a:t>
            </a:r>
            <a:endParaRPr lang="en-GB" altLang="zh-CN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提取日期的各个部分</a:t>
            </a:r>
            <a:endParaRPr lang="zh-CN" altLang="en-US" b="1" dirty="0"/>
          </a:p>
          <a:p>
            <a:r>
              <a:rPr lang="zh-CN" altLang="en-US" b="1" dirty="0"/>
              <a:t>日期运算和</a:t>
            </a:r>
            <a:r>
              <a:rPr lang="en-GB" altLang="zh-CN" b="1" dirty="0" err="1"/>
              <a:t>Timedelta</a:t>
            </a:r>
            <a:endParaRPr lang="en-GB" altLang="zh-CN" b="1" dirty="0"/>
          </a:p>
          <a:p>
            <a:r>
              <a:rPr lang="zh-CN" altLang="en-US" b="1" dirty="0"/>
              <a:t>处理股票数据</a:t>
            </a:r>
            <a:endParaRPr lang="zh-CN" altLang="en-US" b="1" dirty="0"/>
          </a:p>
          <a:p>
            <a:r>
              <a:rPr lang="zh-CN" altLang="en-US" b="1" dirty="0"/>
              <a:t>日期范围</a:t>
            </a:r>
            <a:endParaRPr lang="zh-CN" altLang="en-US" b="1" dirty="0"/>
          </a:p>
          <a:p>
            <a:r>
              <a:rPr lang="en-GB" altLang="zh-CN" b="1" dirty="0"/>
              <a:t>datetime</a:t>
            </a:r>
            <a:r>
              <a:rPr lang="zh-CN" altLang="en-US" b="1" dirty="0"/>
              <a:t>类型案例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将</a:t>
            </a:r>
            <a:r>
              <a:rPr lang="en-GB" altLang="zh-CN" dirty="0"/>
              <a:t>pandas</a:t>
            </a:r>
            <a:r>
              <a:rPr lang="zh-CN" altLang="en-US" dirty="0"/>
              <a:t>中的数据转换成</a:t>
            </a:r>
            <a:r>
              <a:rPr lang="en-GB" altLang="zh-CN" dirty="0"/>
              <a:t>Timestamp</a:t>
            </a:r>
            <a:endParaRPr lang="en-GB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</a:t>
            </a:r>
            <a:r>
              <a:rPr lang="en-GB" altLang="zh-CN" dirty="0" err="1"/>
              <a:t>to_datetime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/>
              <a:t>Timestamp</a:t>
            </a:r>
            <a:r>
              <a:rPr lang="zh-CN" altLang="en-GB" dirty="0"/>
              <a:t>是</a:t>
            </a:r>
            <a:r>
              <a:rPr lang="en-GB" altLang="zh-CN" dirty="0"/>
              <a:t>pandas</a:t>
            </a:r>
            <a:r>
              <a:rPr lang="zh-CN" altLang="en-US" dirty="0"/>
              <a:t>用来替换</a:t>
            </a:r>
            <a:r>
              <a:rPr lang="en-GB" altLang="zh-CN" dirty="0"/>
              <a:t>python </a:t>
            </a:r>
            <a:r>
              <a:rPr lang="en-GB" altLang="zh-CN" dirty="0" err="1"/>
              <a:t>datetime.datetime</a:t>
            </a:r>
            <a:r>
              <a:rPr lang="zh-CN" altLang="en-GB" dirty="0"/>
              <a:t>的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可以使用</a:t>
            </a:r>
            <a:r>
              <a:rPr lang="en-GB" altLang="zh-CN" dirty="0" err="1"/>
              <a:t>to_datetime</a:t>
            </a:r>
            <a:r>
              <a:rPr lang="zh-CN" altLang="en-US" dirty="0"/>
              <a:t>函数把数据转换成</a:t>
            </a:r>
            <a:r>
              <a:rPr lang="en-GB" altLang="zh-CN" dirty="0"/>
              <a:t>Timestamp</a:t>
            </a:r>
            <a:r>
              <a:rPr lang="zh-CN" altLang="en-US" dirty="0"/>
              <a:t>类型</a:t>
            </a:r>
            <a:endParaRPr lang="en-US" altLang="zh-CN" dirty="0"/>
          </a:p>
          <a:p>
            <a:r>
              <a:rPr lang="zh-CN" altLang="en-US" dirty="0"/>
              <a:t>加载数据 并把</a:t>
            </a:r>
            <a:r>
              <a:rPr lang="en-GB" altLang="zh-CN" dirty="0"/>
              <a:t>Date</a:t>
            </a:r>
            <a:r>
              <a:rPr lang="zh-CN" altLang="en-US" dirty="0"/>
              <a:t>列转换为</a:t>
            </a:r>
            <a:r>
              <a:rPr lang="en-GB" altLang="zh-CN" dirty="0"/>
              <a:t>Timestamp</a:t>
            </a:r>
            <a:r>
              <a:rPr lang="zh-CN" altLang="en-US" dirty="0"/>
              <a:t>对象</a:t>
            </a:r>
            <a:endParaRPr lang="zh-CN" altLang="en-US" dirty="0"/>
          </a:p>
          <a:p>
            <a:r>
              <a:rPr lang="en-GB" altLang="zh-CN" dirty="0" err="1"/>
              <a:t>ebola</a:t>
            </a:r>
            <a:r>
              <a:rPr lang="en-GB" altLang="zh-CN" dirty="0"/>
              <a:t>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country_timeseries.csv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获取左上角数据</a:t>
            </a:r>
            <a:endParaRPr lang="zh-CN" altLang="en-US" dirty="0"/>
          </a:p>
          <a:p>
            <a:r>
              <a:rPr lang="en-GB" altLang="zh-CN" dirty="0" err="1"/>
              <a:t>ebola.iloc</a:t>
            </a:r>
            <a:r>
              <a:rPr lang="en-GB" altLang="zh-CN" dirty="0"/>
              <a:t>[:5,:5]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从数据中看出 </a:t>
            </a:r>
            <a:r>
              <a:rPr lang="en-US" altLang="zh-CN" dirty="0"/>
              <a:t>Date</a:t>
            </a:r>
            <a:r>
              <a:rPr lang="zh-CN" altLang="en-US" dirty="0"/>
              <a:t>列是日期，但通过</a:t>
            </a:r>
            <a:r>
              <a:rPr lang="en-US" altLang="zh-CN" dirty="0"/>
              <a:t>info</a:t>
            </a:r>
            <a:r>
              <a:rPr lang="zh-CN" altLang="en-US" dirty="0"/>
              <a:t>查看加载后数据为</a:t>
            </a:r>
            <a:r>
              <a:rPr lang="en-US" altLang="zh-CN" dirty="0"/>
              <a:t>object</a:t>
            </a:r>
            <a:r>
              <a:rPr lang="zh-CN" altLang="en-US" dirty="0"/>
              <a:t>类型</a:t>
            </a:r>
            <a:endParaRPr lang="en-US" altLang="zh-CN" dirty="0"/>
          </a:p>
          <a:p>
            <a:r>
              <a:rPr lang="en-GB" altLang="zh-CN" dirty="0" err="1"/>
              <a:t>ebola.info</a:t>
            </a:r>
            <a:r>
              <a:rPr lang="en-GB" altLang="zh-CN" dirty="0"/>
              <a:t>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可以通过</a:t>
            </a:r>
            <a:r>
              <a:rPr lang="en-GB" altLang="zh-CN" dirty="0" err="1"/>
              <a:t>to_datetime</a:t>
            </a:r>
            <a:r>
              <a:rPr lang="zh-CN" altLang="en-US" dirty="0"/>
              <a:t>方法把</a:t>
            </a:r>
            <a:r>
              <a:rPr lang="en-GB" altLang="zh-CN" dirty="0"/>
              <a:t>Date</a:t>
            </a:r>
            <a:r>
              <a:rPr lang="zh-CN" altLang="en-US" dirty="0"/>
              <a:t>列转换为</a:t>
            </a:r>
            <a:r>
              <a:rPr lang="en-GB" altLang="zh-CN" dirty="0"/>
              <a:t>Timestamp,</a:t>
            </a:r>
            <a:r>
              <a:rPr lang="zh-CN" altLang="en-US" dirty="0"/>
              <a:t>然后创建新列</a:t>
            </a:r>
            <a:endParaRPr lang="en-US" altLang="zh-CN" dirty="0"/>
          </a:p>
          <a:p>
            <a:r>
              <a:rPr lang="en-GB" altLang="zh-CN" dirty="0" err="1"/>
              <a:t>ebola</a:t>
            </a:r>
            <a:r>
              <a:rPr lang="en-GB" altLang="zh-CN" dirty="0"/>
              <a:t>['</a:t>
            </a:r>
            <a:r>
              <a:rPr lang="en-GB" altLang="zh-CN" dirty="0" err="1"/>
              <a:t>date_dt</a:t>
            </a:r>
            <a:r>
              <a:rPr lang="en-GB" altLang="zh-CN" dirty="0"/>
              <a:t>'] = </a:t>
            </a:r>
            <a:r>
              <a:rPr lang="en-GB" altLang="zh-CN" dirty="0" err="1"/>
              <a:t>pd.to_datetime</a:t>
            </a:r>
            <a:r>
              <a:rPr lang="en-GB" altLang="zh-CN" dirty="0"/>
              <a:t>(</a:t>
            </a:r>
            <a:r>
              <a:rPr lang="en-GB" altLang="zh-CN" dirty="0" err="1"/>
              <a:t>ebola</a:t>
            </a:r>
            <a:r>
              <a:rPr lang="en-GB" altLang="zh-CN" dirty="0"/>
              <a:t>['Date'])</a:t>
            </a:r>
            <a:endParaRPr lang="en-GB" altLang="zh-CN" dirty="0"/>
          </a:p>
          <a:p>
            <a:r>
              <a:rPr lang="en-GB" altLang="zh-CN" dirty="0" err="1"/>
              <a:t>ebola.info</a:t>
            </a:r>
            <a:r>
              <a:rPr lang="en-GB" altLang="zh-CN" dirty="0"/>
              <a:t>()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2335" y="2098040"/>
            <a:ext cx="6106795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将</a:t>
            </a:r>
            <a:r>
              <a:rPr lang="en-GB" altLang="zh-CN" dirty="0"/>
              <a:t>pandas</a:t>
            </a:r>
            <a:r>
              <a:rPr lang="zh-CN" altLang="en-US" dirty="0"/>
              <a:t>中的数据转换成</a:t>
            </a:r>
            <a:r>
              <a:rPr lang="en-GB" altLang="zh-CN" dirty="0"/>
              <a:t>Timestamp</a:t>
            </a:r>
            <a:endParaRPr lang="en-GB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</a:t>
            </a:r>
            <a:r>
              <a:rPr lang="zh-CN" altLang="en-US" dirty="0"/>
              <a:t> 通过</a:t>
            </a:r>
            <a:r>
              <a:rPr lang="en-US" altLang="zh-CN" dirty="0" err="1"/>
              <a:t>parse_dates</a:t>
            </a:r>
            <a:r>
              <a:rPr lang="zh-CN" altLang="en-US" dirty="0"/>
              <a:t>参数指定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92700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altLang="en-GB" dirty="0" err="1"/>
              <a:t>parse_dates </a:t>
            </a:r>
            <a:r>
              <a:rPr lang="zh-CN" altLang="en-US" dirty="0" err="1"/>
              <a:t>指定列为日期类型</a:t>
            </a:r>
            <a:endParaRPr lang="en-GB" altLang="zh-CN" dirty="0" err="1"/>
          </a:p>
          <a:p>
            <a:r>
              <a:rPr lang="en-GB" altLang="zh-CN" dirty="0" err="1"/>
              <a:t>ebola</a:t>
            </a:r>
            <a:r>
              <a:rPr lang="en-GB" altLang="zh-CN" dirty="0"/>
              <a:t> = </a:t>
            </a:r>
            <a:r>
              <a:rPr lang="en-GB" altLang="zh-CN" dirty="0" err="1"/>
              <a:t>pd.read_csv</a:t>
            </a:r>
            <a:r>
              <a:rPr lang="en-GB" altLang="zh-CN" dirty="0"/>
              <a:t>('data/country_timeseries.csv',</a:t>
            </a:r>
            <a:r>
              <a:rPr lang="en-GB" altLang="zh-CN" dirty="0" err="1"/>
              <a:t>parse_dates</a:t>
            </a:r>
            <a:r>
              <a:rPr lang="en-GB" altLang="zh-CN" dirty="0"/>
              <a:t>=[0])</a:t>
            </a:r>
            <a:endParaRPr lang="en-GB" altLang="zh-CN" dirty="0"/>
          </a:p>
          <a:p>
            <a:r>
              <a:rPr lang="en-GB" altLang="zh-CN" dirty="0" err="1"/>
              <a:t>ebola.info</a:t>
            </a:r>
            <a:r>
              <a:rPr lang="en-GB" altLang="zh-CN" dirty="0"/>
              <a:t>()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8055" y="2633345"/>
            <a:ext cx="6165850" cy="39458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Python</a:t>
            </a:r>
            <a:r>
              <a:rPr lang="zh-CN" altLang="en-US" b="1" dirty="0"/>
              <a:t>的</a:t>
            </a:r>
            <a:r>
              <a:rPr lang="en-GB" altLang="zh-CN" b="1" dirty="0"/>
              <a:t>datetime</a:t>
            </a:r>
            <a:r>
              <a:rPr lang="zh-CN" altLang="en-US" b="1" dirty="0"/>
              <a:t>对象</a:t>
            </a:r>
            <a:endParaRPr lang="zh-CN" altLang="en-US" b="1" dirty="0"/>
          </a:p>
          <a:p>
            <a:r>
              <a:rPr lang="zh-CN" altLang="en-US" b="1" dirty="0"/>
              <a:t>将</a:t>
            </a:r>
            <a:r>
              <a:rPr lang="en-GB" altLang="zh-CN" b="1" dirty="0"/>
              <a:t>pandas</a:t>
            </a:r>
            <a:r>
              <a:rPr lang="zh-CN" altLang="en-US" b="1" dirty="0"/>
              <a:t>中的数据转换成</a:t>
            </a:r>
            <a:r>
              <a:rPr lang="en-GB" altLang="zh-CN" b="1" dirty="0"/>
              <a:t>datetime</a:t>
            </a:r>
            <a:endParaRPr lang="en-GB" altLang="zh-CN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提取日期的各个部分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日期运算和</a:t>
            </a:r>
            <a:r>
              <a:rPr lang="en-GB" altLang="zh-CN" b="1" dirty="0" err="1"/>
              <a:t>Timedelta</a:t>
            </a:r>
            <a:endParaRPr lang="en-GB" altLang="zh-CN" b="1" dirty="0"/>
          </a:p>
          <a:p>
            <a:r>
              <a:rPr lang="zh-CN" altLang="en-US" b="1" dirty="0"/>
              <a:t>处理股票数据</a:t>
            </a:r>
            <a:endParaRPr lang="zh-CN" altLang="en-US" b="1" dirty="0"/>
          </a:p>
          <a:p>
            <a:r>
              <a:rPr lang="zh-CN" altLang="en-US" b="1" dirty="0"/>
              <a:t>日期范围</a:t>
            </a:r>
            <a:endParaRPr lang="zh-CN" altLang="en-US" b="1" dirty="0"/>
          </a:p>
          <a:p>
            <a:r>
              <a:rPr lang="en-GB" altLang="zh-CN" b="1" dirty="0"/>
              <a:t>datetime</a:t>
            </a:r>
            <a:r>
              <a:rPr lang="zh-CN" altLang="en-US" b="1" dirty="0"/>
              <a:t>类型案例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提取日期的各个部分</a:t>
            </a:r>
            <a:endParaRPr lang="en-GB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</a:t>
            </a:r>
            <a:r>
              <a:rPr lang="zh-CN" altLang="en-US" dirty="0"/>
              <a:t> 获取了</a:t>
            </a:r>
            <a:r>
              <a:rPr lang="en-US" altLang="zh-CN" dirty="0"/>
              <a:t>Timestamp</a:t>
            </a:r>
            <a:r>
              <a:rPr lang="zh-CN" altLang="en-US" dirty="0"/>
              <a:t>对象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altLang="zh-CN" dirty="0"/>
              <a:t>d = </a:t>
            </a:r>
            <a:r>
              <a:rPr lang="en-GB" altLang="zh-CN" dirty="0" err="1"/>
              <a:t>pd.to_datetime</a:t>
            </a:r>
            <a:r>
              <a:rPr lang="en-GB" altLang="zh-CN" dirty="0"/>
              <a:t>('2020-06-20’)</a:t>
            </a:r>
            <a:endParaRPr lang="en-GB" altLang="zh-CN" dirty="0"/>
          </a:p>
          <a:p>
            <a:r>
              <a:rPr lang="zh-CN" altLang="en-US" dirty="0"/>
              <a:t>可以看到得到的数据是</a:t>
            </a:r>
            <a:r>
              <a:rPr lang="en-GB" altLang="zh-CN" dirty="0"/>
              <a:t>Timestamp</a:t>
            </a:r>
            <a:r>
              <a:rPr lang="zh-CN" altLang="en-US" dirty="0"/>
              <a:t>类型，通过</a:t>
            </a:r>
            <a:r>
              <a:rPr lang="en-GB" altLang="zh-CN" dirty="0"/>
              <a:t>Timestamp</a:t>
            </a:r>
            <a:r>
              <a:rPr lang="zh-CN" altLang="en-US" dirty="0"/>
              <a:t>可以获取年，月，日等部分</a:t>
            </a:r>
            <a:endParaRPr lang="en-US" altLang="zh-CN" dirty="0"/>
          </a:p>
          <a:p>
            <a:r>
              <a:rPr lang="en-GB" altLang="zh-CN" dirty="0" err="1"/>
              <a:t>d.year</a:t>
            </a:r>
            <a:endParaRPr lang="en-GB" altLang="zh-CN" dirty="0"/>
          </a:p>
          <a:p>
            <a:r>
              <a:rPr lang="en-GB" altLang="zh-CN" dirty="0" err="1"/>
              <a:t>d.month</a:t>
            </a:r>
            <a:endParaRPr lang="en-GB" altLang="zh-CN" dirty="0"/>
          </a:p>
          <a:p>
            <a:r>
              <a:rPr lang="en-GB" altLang="zh-CN" dirty="0" err="1"/>
              <a:t>d.day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提取日期的各个部分</a:t>
            </a:r>
            <a:endParaRPr lang="en-GB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</a:t>
            </a:r>
            <a:r>
              <a:rPr lang="zh-CN" altLang="en-US" dirty="0"/>
              <a:t> 获取了</a:t>
            </a:r>
            <a:r>
              <a:rPr lang="en-US" altLang="zh-CN" dirty="0"/>
              <a:t>Timestamp</a:t>
            </a:r>
            <a:r>
              <a:rPr lang="zh-CN" altLang="en-US" dirty="0"/>
              <a:t>对象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通过</a:t>
            </a:r>
            <a:r>
              <a:rPr lang="en-US" altLang="zh-CN" dirty="0" err="1"/>
              <a:t>ebola</a:t>
            </a:r>
            <a:r>
              <a:rPr lang="zh-CN" altLang="en-US" dirty="0"/>
              <a:t>数据集的</a:t>
            </a:r>
            <a:r>
              <a:rPr lang="en-US" altLang="zh-CN" dirty="0"/>
              <a:t>Date</a:t>
            </a:r>
            <a:r>
              <a:rPr lang="zh-CN" altLang="en-US" dirty="0"/>
              <a:t>列，创建新列</a:t>
            </a:r>
            <a:r>
              <a:rPr lang="en-US" altLang="zh-CN" dirty="0"/>
              <a:t>year</a:t>
            </a:r>
            <a:endParaRPr lang="en-US" altLang="zh-CN" dirty="0"/>
          </a:p>
          <a:p>
            <a:r>
              <a:rPr lang="en-US" altLang="zh-CN" dirty="0" err="1"/>
              <a:t>ebola</a:t>
            </a:r>
            <a:r>
              <a:rPr lang="en-US" altLang="zh-CN" dirty="0"/>
              <a:t>['year'] = </a:t>
            </a:r>
            <a:r>
              <a:rPr lang="en-US" altLang="zh-CN" dirty="0" err="1"/>
              <a:t>ebola</a:t>
            </a:r>
            <a:r>
              <a:rPr lang="en-US" altLang="zh-CN" dirty="0"/>
              <a:t>['Date'].</a:t>
            </a:r>
            <a:r>
              <a:rPr lang="en-US" altLang="zh-CN" dirty="0" err="1"/>
              <a:t>dt.year</a:t>
            </a:r>
            <a:endParaRPr lang="en-US" altLang="zh-CN" dirty="0"/>
          </a:p>
          <a:p>
            <a:r>
              <a:rPr lang="en-US" altLang="zh-CN" dirty="0" err="1"/>
              <a:t>ebola</a:t>
            </a:r>
            <a:r>
              <a:rPr lang="en-US" altLang="zh-CN" dirty="0"/>
              <a:t>[</a:t>
            </a:r>
            <a:r>
              <a:rPr lang="en-US" altLang="zh-CN" dirty="0">
                <a:sym typeface="+mn-ea"/>
              </a:rPr>
              <a:t>'year'</a:t>
            </a:r>
            <a:r>
              <a:rPr lang="en-US" altLang="zh-CN" dirty="0"/>
              <a:t>]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创建年月</a:t>
            </a:r>
            <a:endParaRPr lang="en-US" altLang="zh-CN" dirty="0"/>
          </a:p>
          <a:p>
            <a:r>
              <a:rPr lang="en-US" altLang="zh-CN" dirty="0" err="1"/>
              <a:t>ebola</a:t>
            </a:r>
            <a:r>
              <a:rPr lang="en-US" altLang="zh-CN" dirty="0"/>
              <a:t>['month'],</a:t>
            </a:r>
            <a:r>
              <a:rPr lang="en-US" altLang="zh-CN" dirty="0" err="1"/>
              <a:t>ebola</a:t>
            </a:r>
            <a:r>
              <a:rPr lang="en-US" altLang="zh-CN" dirty="0"/>
              <a:t>['day']  = (</a:t>
            </a:r>
            <a:r>
              <a:rPr lang="en-US" altLang="zh-CN" dirty="0" err="1"/>
              <a:t>ebola</a:t>
            </a:r>
            <a:r>
              <a:rPr lang="en-US" altLang="zh-CN" dirty="0"/>
              <a:t>['Date'].</a:t>
            </a:r>
            <a:r>
              <a:rPr lang="en-US" altLang="zh-CN" dirty="0" err="1"/>
              <a:t>dt.month,ebola</a:t>
            </a:r>
            <a:r>
              <a:rPr lang="en-US" altLang="zh-CN" dirty="0"/>
              <a:t>['Date'].</a:t>
            </a:r>
            <a:r>
              <a:rPr lang="en-US" altLang="zh-CN" dirty="0" err="1"/>
              <a:t>dt.day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 err="1"/>
              <a:t>ebola</a:t>
            </a:r>
            <a:r>
              <a:rPr lang="en-US" altLang="zh-CN" dirty="0"/>
              <a:t>[['</a:t>
            </a:r>
            <a:r>
              <a:rPr lang="en-US" altLang="zh-CN" dirty="0" err="1"/>
              <a:t>Date','year','month','day</a:t>
            </a:r>
            <a:r>
              <a:rPr lang="en-US" altLang="zh-CN" dirty="0"/>
              <a:t>']].head()</a:t>
            </a:r>
            <a:endParaRPr lang="en-US" altLang="zh-CN" dirty="0"/>
          </a:p>
          <a:p>
            <a:r>
              <a:rPr lang="en-US" altLang="zh-CN" dirty="0" err="1"/>
              <a:t>ebola.info</a:t>
            </a:r>
            <a:r>
              <a:rPr lang="en-US" altLang="zh-CN" dirty="0"/>
              <a:t>()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0465" y="1123315"/>
            <a:ext cx="4597400" cy="21672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960" y="3818255"/>
            <a:ext cx="6259195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Python</a:t>
            </a:r>
            <a:r>
              <a:rPr lang="zh-CN" altLang="en-US" b="1" dirty="0"/>
              <a:t>的</a:t>
            </a:r>
            <a:r>
              <a:rPr lang="en-GB" altLang="zh-CN" b="1" dirty="0"/>
              <a:t>datetime</a:t>
            </a:r>
            <a:r>
              <a:rPr lang="zh-CN" altLang="en-US" b="1" dirty="0"/>
              <a:t>对象</a:t>
            </a:r>
            <a:endParaRPr lang="zh-CN" altLang="en-US" b="1" dirty="0"/>
          </a:p>
          <a:p>
            <a:r>
              <a:rPr lang="zh-CN" altLang="en-US" b="1" dirty="0"/>
              <a:t>将</a:t>
            </a:r>
            <a:r>
              <a:rPr lang="en-GB" altLang="zh-CN" b="1" dirty="0"/>
              <a:t>pandas</a:t>
            </a:r>
            <a:r>
              <a:rPr lang="zh-CN" altLang="en-US" b="1" dirty="0"/>
              <a:t>中的数据转换成</a:t>
            </a:r>
            <a:r>
              <a:rPr lang="en-GB" altLang="zh-CN" b="1" dirty="0"/>
              <a:t>datetime</a:t>
            </a:r>
            <a:endParaRPr lang="en-GB" altLang="zh-CN" b="1" dirty="0"/>
          </a:p>
          <a:p>
            <a:r>
              <a:rPr lang="zh-CN" altLang="en-US" b="1" dirty="0"/>
              <a:t>提取日期的各个部分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日期运算和</a:t>
            </a:r>
            <a:r>
              <a:rPr lang="en-GB" altLang="zh-CN" b="1" dirty="0" err="1">
                <a:solidFill>
                  <a:srgbClr val="FF0000"/>
                </a:solidFill>
              </a:rPr>
              <a:t>Timedelta</a:t>
            </a:r>
            <a:endParaRPr lang="en-GB" altLang="zh-CN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处理股票数据</a:t>
            </a:r>
            <a:endParaRPr lang="zh-CN" altLang="en-US" b="1" dirty="0"/>
          </a:p>
          <a:p>
            <a:r>
              <a:rPr lang="zh-CN" altLang="en-US" b="1" dirty="0"/>
              <a:t>日期范围</a:t>
            </a:r>
            <a:endParaRPr lang="zh-CN" altLang="en-US" b="1" dirty="0"/>
          </a:p>
          <a:p>
            <a:r>
              <a:rPr lang="en-GB" altLang="zh-CN" b="1" dirty="0"/>
              <a:t>datetime</a:t>
            </a:r>
            <a:r>
              <a:rPr lang="zh-CN" altLang="en-US" b="1" dirty="0"/>
              <a:t>类型案例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日期运算和</a:t>
            </a:r>
            <a:r>
              <a:rPr lang="en-GB" altLang="zh-CN" dirty="0" err="1"/>
              <a:t>Timedelta</a:t>
            </a:r>
            <a:endParaRPr lang="en-GB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</a:t>
            </a:r>
            <a:r>
              <a:rPr lang="zh-CN" altLang="en-US" dirty="0"/>
              <a:t> 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5142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Ebola</a:t>
            </a:r>
            <a:r>
              <a:rPr lang="zh-CN" altLang="en-US" dirty="0"/>
              <a:t>数据集中的</a:t>
            </a:r>
            <a:r>
              <a:rPr lang="en-US" altLang="zh-CN" dirty="0"/>
              <a:t>Day</a:t>
            </a:r>
            <a:r>
              <a:rPr lang="zh-CN" altLang="en-US" dirty="0"/>
              <a:t>列表示一个国家爆发</a:t>
            </a:r>
            <a:r>
              <a:rPr lang="en-US" altLang="zh-CN" dirty="0"/>
              <a:t>Ebola</a:t>
            </a:r>
            <a:r>
              <a:rPr lang="zh-CN" altLang="en-US" dirty="0"/>
              <a:t>疫情的天数。这一列数据可以通过日期运算重建该列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疫情爆发的第一天（数据集中最早的一天）是</a:t>
            </a:r>
            <a:r>
              <a:rPr lang="en-US" altLang="zh-CN" dirty="0"/>
              <a:t>2014-03-22</a:t>
            </a:r>
            <a:r>
              <a:rPr lang="zh-CN" altLang="en-US" dirty="0"/>
              <a:t>。计算疫情爆发的天数时，只需要用每个日期减去这个日期即可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获取疫情爆发的第一天</a:t>
            </a:r>
            <a:endParaRPr lang="zh-CN" altLang="en-US" dirty="0"/>
          </a:p>
          <a:p>
            <a:r>
              <a:rPr lang="en-GB" altLang="zh-CN" dirty="0" err="1"/>
              <a:t>ebola</a:t>
            </a:r>
            <a:r>
              <a:rPr lang="en-GB" altLang="zh-CN" dirty="0"/>
              <a:t>['Date'].min()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GB" dirty="0"/>
              <a:t>添加</a:t>
            </a:r>
            <a:r>
              <a:rPr lang="zh-CN" altLang="en-US" dirty="0"/>
              <a:t>新列</a:t>
            </a:r>
            <a:endParaRPr lang="en-GB" altLang="zh-CN" dirty="0"/>
          </a:p>
          <a:p>
            <a:r>
              <a:rPr lang="en-GB" altLang="zh-CN" dirty="0" err="1"/>
              <a:t>ebola</a:t>
            </a:r>
            <a:r>
              <a:rPr lang="en-GB" altLang="zh-CN" dirty="0"/>
              <a:t>['</a:t>
            </a:r>
            <a:r>
              <a:rPr lang="en-GB" altLang="zh-CN" dirty="0" err="1"/>
              <a:t>outbreak_d</a:t>
            </a:r>
            <a:r>
              <a:rPr lang="en-GB" altLang="zh-CN" dirty="0"/>
              <a:t>'] = </a:t>
            </a:r>
            <a:r>
              <a:rPr lang="en-GB" altLang="zh-CN" dirty="0" err="1"/>
              <a:t>ebola</a:t>
            </a:r>
            <a:r>
              <a:rPr lang="en-GB" altLang="zh-CN" dirty="0"/>
              <a:t>['Date']-</a:t>
            </a:r>
            <a:r>
              <a:rPr lang="en-GB" altLang="zh-CN" dirty="0" err="1"/>
              <a:t>ebola</a:t>
            </a:r>
            <a:r>
              <a:rPr lang="en-GB" altLang="zh-CN" dirty="0"/>
              <a:t>['Date'].min()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GB" dirty="0"/>
              <a:t>查看</a:t>
            </a:r>
            <a:r>
              <a:rPr lang="zh-CN" altLang="en-US" dirty="0"/>
              <a:t>数据</a:t>
            </a:r>
            <a:endParaRPr lang="en-GB" altLang="zh-CN" dirty="0"/>
          </a:p>
          <a:p>
            <a:r>
              <a:rPr lang="en-GB" altLang="zh-CN" dirty="0" err="1"/>
              <a:t>ebola</a:t>
            </a:r>
            <a:r>
              <a:rPr lang="en-GB" altLang="zh-CN" dirty="0"/>
              <a:t>[['Date','Day','</a:t>
            </a:r>
            <a:r>
              <a:rPr lang="en-GB" altLang="zh-CN" dirty="0" err="1"/>
              <a:t>outbreak_d</a:t>
            </a:r>
            <a:r>
              <a:rPr lang="en-GB" altLang="zh-CN" dirty="0"/>
              <a:t>']].head()</a:t>
            </a:r>
            <a:endParaRPr lang="en-GB" altLang="zh-CN" dirty="0"/>
          </a:p>
          <a:p>
            <a:r>
              <a:rPr lang="en-GB" altLang="zh-CN" dirty="0" err="1"/>
              <a:t>ebola</a:t>
            </a:r>
            <a:r>
              <a:rPr lang="en-GB" altLang="zh-CN" dirty="0"/>
              <a:t>[['Date','Day','</a:t>
            </a:r>
            <a:r>
              <a:rPr lang="en-GB" altLang="zh-CN" dirty="0" err="1"/>
              <a:t>outbreak_d</a:t>
            </a:r>
            <a:r>
              <a:rPr lang="en-GB" altLang="zh-CN" dirty="0"/>
              <a:t>']].tail()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5490" y="2937510"/>
            <a:ext cx="4032250" cy="1130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890" y="4643755"/>
            <a:ext cx="496824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日期运算和</a:t>
            </a:r>
            <a:r>
              <a:rPr lang="en-GB" altLang="zh-CN" dirty="0" err="1"/>
              <a:t>Timedelta</a:t>
            </a:r>
            <a:endParaRPr lang="en-GB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</a:t>
            </a:r>
            <a:r>
              <a:rPr lang="zh-CN" altLang="en-US" dirty="0"/>
              <a:t> 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执行这种日期运算，会得到一个</a:t>
            </a:r>
            <a:r>
              <a:rPr lang="en-US" altLang="zh-CN" dirty="0" err="1"/>
              <a:t>timedelta</a:t>
            </a:r>
            <a:r>
              <a:rPr lang="zh-CN" altLang="en-US" dirty="0"/>
              <a:t>对象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/>
              <a:t>Timestamp</a:t>
            </a:r>
            <a:r>
              <a:rPr lang="zh-CN" altLang="en-GB" dirty="0"/>
              <a:t>相减</a:t>
            </a:r>
            <a:r>
              <a:rPr lang="zh-CN" altLang="en-US" dirty="0"/>
              <a:t>得到的是</a:t>
            </a:r>
            <a:r>
              <a:rPr lang="en-US" altLang="zh-CN" dirty="0" err="1"/>
              <a:t>timedelta</a:t>
            </a:r>
            <a:r>
              <a:rPr lang="zh-CN" altLang="en-US" dirty="0"/>
              <a:t>对象</a:t>
            </a:r>
            <a:endParaRPr lang="zh-CN" altLang="en-US" dirty="0"/>
          </a:p>
          <a:p>
            <a:r>
              <a:rPr lang="en-GB" altLang="zh-CN" dirty="0" err="1"/>
              <a:t>ebola.info</a:t>
            </a:r>
            <a:r>
              <a:rPr lang="en-GB" altLang="zh-CN" dirty="0"/>
              <a:t>()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35" y="3183255"/>
            <a:ext cx="7251700" cy="181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日期运算和</a:t>
            </a:r>
            <a:r>
              <a:rPr lang="en-GB" altLang="zh-CN" dirty="0" err="1"/>
              <a:t>Timedelta</a:t>
            </a:r>
            <a:endParaRPr lang="en-GB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</a:t>
            </a:r>
            <a:r>
              <a:rPr lang="zh-CN" altLang="en-US" dirty="0"/>
              <a:t> 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加载数据</a:t>
            </a:r>
            <a:endParaRPr lang="zh-CN" altLang="en-US" dirty="0"/>
          </a:p>
          <a:p>
            <a:r>
              <a:rPr lang="en-GB" altLang="zh-CN" dirty="0"/>
              <a:t>banks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banklist.csv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 err="1"/>
              <a:t>banks.head</a:t>
            </a:r>
            <a:r>
              <a:rPr lang="en-GB" altLang="zh-CN" dirty="0"/>
              <a:t>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可以看到有两列数据是日期时间类型，可以在导入数据的时候直接解析日期</a:t>
            </a:r>
            <a:endParaRPr lang="en-US" altLang="zh-CN" dirty="0"/>
          </a:p>
          <a:p>
            <a:r>
              <a:rPr lang="en-GB" altLang="zh-CN" dirty="0"/>
              <a:t>banks = </a:t>
            </a:r>
            <a:r>
              <a:rPr lang="en-GB" altLang="zh-CN" dirty="0" err="1"/>
              <a:t>pd.read_csv</a:t>
            </a:r>
            <a:r>
              <a:rPr lang="en-GB" altLang="zh-CN" dirty="0"/>
              <a:t>('data/banklist.csv',</a:t>
            </a:r>
            <a:r>
              <a:rPr lang="en-GB" altLang="zh-CN" dirty="0" err="1"/>
              <a:t>parse_dates</a:t>
            </a:r>
            <a:r>
              <a:rPr lang="en-GB" altLang="zh-CN" dirty="0"/>
              <a:t>=[5,6])</a:t>
            </a:r>
            <a:endParaRPr lang="en-GB" altLang="zh-CN" dirty="0"/>
          </a:p>
          <a:p>
            <a:r>
              <a:rPr lang="en-GB" altLang="zh-CN" dirty="0" err="1"/>
              <a:t>banks.info</a:t>
            </a:r>
            <a:r>
              <a:rPr lang="en-GB" altLang="zh-CN" dirty="0"/>
              <a:t>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添加两列，分别表示银行破产的季度和年份</a:t>
            </a:r>
            <a:endParaRPr lang="en-US" altLang="zh-CN" dirty="0"/>
          </a:p>
          <a:p>
            <a:r>
              <a:rPr lang="en-GB" altLang="zh-CN" dirty="0"/>
              <a:t>banks['</a:t>
            </a:r>
            <a:r>
              <a:rPr lang="en-GB" altLang="zh-CN" dirty="0" err="1"/>
              <a:t>closing_quarter</a:t>
            </a:r>
            <a:r>
              <a:rPr lang="en-GB" altLang="zh-CN" dirty="0"/>
              <a:t>'],banks['</a:t>
            </a:r>
            <a:r>
              <a:rPr lang="en-GB" altLang="zh-CN" dirty="0" err="1"/>
              <a:t>closing_year</a:t>
            </a:r>
            <a:r>
              <a:rPr lang="en-GB" altLang="zh-CN" dirty="0"/>
              <a:t>'] = (banks['Closing Date'].</a:t>
            </a:r>
            <a:r>
              <a:rPr lang="en-GB" altLang="zh-CN" dirty="0" err="1"/>
              <a:t>dt.quarter,banks</a:t>
            </a:r>
            <a:r>
              <a:rPr lang="en-GB" altLang="zh-CN" dirty="0"/>
              <a:t>['Closing Date'].</a:t>
            </a:r>
            <a:r>
              <a:rPr lang="en-GB" altLang="zh-CN" dirty="0" err="1"/>
              <a:t>dt.year</a:t>
            </a:r>
            <a:r>
              <a:rPr lang="en-GB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日期运算和</a:t>
            </a:r>
            <a:r>
              <a:rPr lang="en-GB" altLang="zh-CN" dirty="0" err="1"/>
              <a:t>Timedelta</a:t>
            </a:r>
            <a:endParaRPr lang="en-GB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</a:t>
            </a:r>
            <a:r>
              <a:rPr lang="zh-CN" altLang="en-US" dirty="0"/>
              <a:t> 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1840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可以根据新添加的两列，计算每年破产银行数量，计算每年每季度破产银行数量</a:t>
            </a:r>
            <a:endParaRPr lang="en-US" altLang="zh-CN" dirty="0"/>
          </a:p>
          <a:p>
            <a:r>
              <a:rPr lang="en-GB" altLang="zh-CN" dirty="0" err="1"/>
              <a:t>closing_year</a:t>
            </a:r>
            <a:r>
              <a:rPr lang="en-GB" altLang="zh-CN" dirty="0"/>
              <a:t> = </a:t>
            </a:r>
            <a:r>
              <a:rPr lang="en-GB" altLang="zh-CN" dirty="0" err="1"/>
              <a:t>banks.groupby</a:t>
            </a:r>
            <a:r>
              <a:rPr lang="en-GB" altLang="zh-CN" dirty="0"/>
              <a:t>(['</a:t>
            </a:r>
            <a:r>
              <a:rPr lang="en-GB" altLang="zh-CN" dirty="0" err="1"/>
              <a:t>closing_year</a:t>
            </a:r>
            <a:r>
              <a:rPr lang="en-GB" altLang="zh-CN" dirty="0"/>
              <a:t>']).size()</a:t>
            </a:r>
            <a:endParaRPr lang="en-GB" altLang="zh-CN" dirty="0"/>
          </a:p>
          <a:p>
            <a:r>
              <a:rPr lang="en-GB" altLang="zh-CN" dirty="0" err="1"/>
              <a:t>closing_year</a:t>
            </a:r>
            <a:endParaRPr lang="en-GB" altLang="zh-CN" dirty="0"/>
          </a:p>
          <a:p>
            <a:r>
              <a:rPr lang="en-GB" altLang="zh-CN" dirty="0" err="1"/>
              <a:t>closing_year_q</a:t>
            </a:r>
            <a:r>
              <a:rPr lang="en-GB" altLang="zh-CN" dirty="0"/>
              <a:t> = </a:t>
            </a:r>
            <a:r>
              <a:rPr lang="en-GB" altLang="zh-CN" dirty="0" err="1"/>
              <a:t>banks.groupby</a:t>
            </a:r>
            <a:r>
              <a:rPr lang="en-GB" altLang="zh-CN" dirty="0"/>
              <a:t>(['closing_year','</a:t>
            </a:r>
            <a:r>
              <a:rPr lang="en-GB" altLang="zh-CN" dirty="0" err="1"/>
              <a:t>closing_quarter</a:t>
            </a:r>
            <a:r>
              <a:rPr lang="en-GB" altLang="zh-CN" dirty="0"/>
              <a:t>']).size()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可以使用绘图函数绘制结果</a:t>
            </a:r>
            <a:endParaRPr lang="zh-CN" altLang="en-US" dirty="0"/>
          </a:p>
          <a:p>
            <a:pPr>
              <a:buFont typeface="Wingdings" panose="05000000000000000000" pitchFamily="2" charset="2"/>
            </a:pPr>
            <a:r>
              <a:rPr lang="zh-CN" altLang="en-US" dirty="0"/>
              <a:t>import matplotlib.pyplot as plt </a:t>
            </a:r>
            <a:endParaRPr lang="zh-CN" altLang="en-US" dirty="0"/>
          </a:p>
          <a:p>
            <a:pPr>
              <a:buFont typeface="Wingdings" panose="05000000000000000000" pitchFamily="2" charset="2"/>
            </a:pPr>
            <a:r>
              <a:rPr lang="zh-CN" altLang="en-US" dirty="0"/>
              <a:t>%matplotlib inline</a:t>
            </a:r>
            <a:endParaRPr lang="zh-CN" altLang="en-US" dirty="0"/>
          </a:p>
          <a:p>
            <a:r>
              <a:rPr lang="en-GB" altLang="zh-CN" dirty="0" err="1"/>
              <a:t>closing_year.plot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 err="1"/>
              <a:t>closing_year_q.plot</a:t>
            </a:r>
            <a:r>
              <a:rPr lang="en-GB" altLang="zh-CN" dirty="0"/>
              <a:t>()</a:t>
            </a:r>
            <a:endParaRPr lang="zh-CN" altLang="en-US" dirty="0"/>
          </a:p>
          <a:p>
            <a:endParaRPr lang="en-GB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2155" y="1218565"/>
            <a:ext cx="2787650" cy="4965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270" y="4200525"/>
            <a:ext cx="4996815" cy="25184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Python</a:t>
            </a:r>
            <a:r>
              <a:rPr lang="zh-CN" altLang="en-US" b="1" dirty="0"/>
              <a:t>的</a:t>
            </a:r>
            <a:r>
              <a:rPr lang="en-GB" altLang="zh-CN" b="1" dirty="0"/>
              <a:t>datetime</a:t>
            </a:r>
            <a:r>
              <a:rPr lang="zh-CN" altLang="en-US" b="1" dirty="0"/>
              <a:t>对象</a:t>
            </a:r>
            <a:endParaRPr lang="zh-CN" altLang="en-US" b="1" dirty="0"/>
          </a:p>
          <a:p>
            <a:r>
              <a:rPr lang="zh-CN" altLang="en-US" b="1" dirty="0"/>
              <a:t>将</a:t>
            </a:r>
            <a:r>
              <a:rPr lang="en-GB" altLang="zh-CN" b="1" dirty="0"/>
              <a:t>pandas</a:t>
            </a:r>
            <a:r>
              <a:rPr lang="zh-CN" altLang="en-US" b="1" dirty="0"/>
              <a:t>中的数据转换成</a:t>
            </a:r>
            <a:r>
              <a:rPr lang="en-GB" altLang="zh-CN" b="1" dirty="0"/>
              <a:t>datetime</a:t>
            </a:r>
            <a:endParaRPr lang="en-GB" altLang="zh-CN" b="1" dirty="0"/>
          </a:p>
          <a:p>
            <a:r>
              <a:rPr lang="zh-CN" altLang="en-US" b="1" dirty="0"/>
              <a:t>提取日期的各个部分</a:t>
            </a:r>
            <a:endParaRPr lang="zh-CN" altLang="en-US" b="1" dirty="0"/>
          </a:p>
          <a:p>
            <a:r>
              <a:rPr lang="zh-CN" altLang="en-US" b="1" dirty="0"/>
              <a:t>日期运算和</a:t>
            </a:r>
            <a:r>
              <a:rPr lang="en-GB" altLang="zh-CN" b="1" dirty="0" err="1"/>
              <a:t>Timedelta</a:t>
            </a:r>
            <a:endParaRPr lang="en-GB" altLang="zh-CN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处理股票数据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日期范围</a:t>
            </a:r>
            <a:endParaRPr lang="zh-CN" altLang="en-US" b="1" dirty="0"/>
          </a:p>
          <a:p>
            <a:r>
              <a:rPr lang="en-GB" altLang="zh-CN" b="1" dirty="0"/>
              <a:t>datetime</a:t>
            </a:r>
            <a:r>
              <a:rPr lang="zh-CN" altLang="en-US" b="1" dirty="0"/>
              <a:t>类型案例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 处理股票数据</a:t>
            </a:r>
            <a:endParaRPr lang="en-GB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5.1</a:t>
            </a:r>
            <a:r>
              <a:rPr lang="zh-CN" altLang="en-US" dirty="0"/>
              <a:t> 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股票价格是包含日期的典型数据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加载特斯拉股票数据</a:t>
            </a:r>
            <a:endParaRPr lang="zh-CN" altLang="en-US" dirty="0"/>
          </a:p>
          <a:p>
            <a:r>
              <a:rPr lang="en-GB" altLang="zh-CN" dirty="0"/>
              <a:t>tesla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TSLA.csv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/>
              <a:t>tesla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tesla</a:t>
            </a:r>
            <a:r>
              <a:rPr lang="zh-CN" altLang="en-US" dirty="0"/>
              <a:t>股票数据中第一列为日期，在加载数据的时候，可以直接解析日期数据</a:t>
            </a:r>
            <a:endParaRPr lang="en-US" altLang="zh-CN" dirty="0"/>
          </a:p>
          <a:p>
            <a:r>
              <a:rPr lang="en-GB" altLang="zh-CN" dirty="0"/>
              <a:t>tesla = </a:t>
            </a:r>
            <a:r>
              <a:rPr lang="en-GB" altLang="zh-CN" dirty="0" err="1"/>
              <a:t>pd.read_csv</a:t>
            </a:r>
            <a:r>
              <a:rPr lang="en-GB" altLang="zh-CN" dirty="0"/>
              <a:t>('data/TSLA.csv',</a:t>
            </a:r>
            <a:r>
              <a:rPr lang="en-GB" altLang="zh-CN" dirty="0" err="1"/>
              <a:t>parse_dates</a:t>
            </a:r>
            <a:r>
              <a:rPr lang="en-GB" altLang="zh-CN" dirty="0"/>
              <a:t>=[0])</a:t>
            </a:r>
            <a:endParaRPr lang="en-GB" altLang="zh-CN" dirty="0"/>
          </a:p>
          <a:p>
            <a:r>
              <a:rPr lang="en-GB" altLang="zh-CN" dirty="0" err="1"/>
              <a:t>tesla.info</a:t>
            </a:r>
            <a:r>
              <a:rPr lang="en-GB" altLang="zh-CN" dirty="0"/>
              <a:t>()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 处理股票数据</a:t>
            </a:r>
            <a:endParaRPr lang="en-GB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5.2 </a:t>
            </a:r>
            <a:r>
              <a:rPr lang="zh-CN" altLang="en-US" dirty="0"/>
              <a:t>基于日期数据获取数据子集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1840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获取</a:t>
            </a:r>
            <a:r>
              <a:rPr lang="en-US" altLang="zh-CN" dirty="0"/>
              <a:t>2015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月的股票数据</a:t>
            </a:r>
            <a:endParaRPr lang="zh-CN" altLang="en-US" dirty="0"/>
          </a:p>
          <a:p>
            <a:r>
              <a:rPr lang="en-GB" altLang="zh-CN" dirty="0" err="1"/>
              <a:t>tesla.loc</a:t>
            </a:r>
            <a:r>
              <a:rPr lang="en-GB" altLang="zh-CN" dirty="0"/>
              <a:t>[(</a:t>
            </a:r>
            <a:r>
              <a:rPr lang="en-GB" altLang="zh-CN" dirty="0" err="1"/>
              <a:t>tesla.Date.dt.year</a:t>
            </a:r>
            <a:r>
              <a:rPr lang="en-GB" altLang="zh-CN" dirty="0"/>
              <a:t> ==2015) &amp; (</a:t>
            </a:r>
            <a:r>
              <a:rPr lang="en-GB" altLang="zh-CN" dirty="0" err="1"/>
              <a:t>tesla.Date.dt.month</a:t>
            </a:r>
            <a:r>
              <a:rPr lang="en-GB" altLang="zh-CN" dirty="0"/>
              <a:t>==8)]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 err="1"/>
              <a:t>DatetimeIndex</a:t>
            </a:r>
            <a:r>
              <a:rPr lang="zh-CN" altLang="en-US" dirty="0"/>
              <a:t>对象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在处理包含</a:t>
            </a:r>
            <a:r>
              <a:rPr lang="en-GB" altLang="zh-CN" dirty="0"/>
              <a:t>datetime</a:t>
            </a:r>
            <a:r>
              <a:rPr lang="zh-CN" altLang="en-US" dirty="0"/>
              <a:t>的数据时，经常需要把</a:t>
            </a:r>
            <a:r>
              <a:rPr lang="en-GB" altLang="zh-CN" dirty="0"/>
              <a:t>datetime</a:t>
            </a:r>
            <a:r>
              <a:rPr lang="zh-CN" altLang="en-US" dirty="0"/>
              <a:t>对象设置成</a:t>
            </a:r>
            <a:r>
              <a:rPr lang="en-GB" altLang="zh-CN" dirty="0" err="1"/>
              <a:t>DateFrame</a:t>
            </a:r>
            <a:r>
              <a:rPr lang="zh-CN" altLang="en-US" dirty="0"/>
              <a:t>的索引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首先把</a:t>
            </a:r>
            <a:r>
              <a:rPr lang="en-GB" altLang="zh-CN" dirty="0"/>
              <a:t>Date</a:t>
            </a:r>
            <a:r>
              <a:rPr lang="zh-CN" altLang="en-US" dirty="0"/>
              <a:t>列指定为索引</a:t>
            </a:r>
            <a:endParaRPr lang="zh-CN" altLang="en-US" dirty="0"/>
          </a:p>
          <a:p>
            <a:r>
              <a:rPr lang="en-GB" altLang="zh-CN" dirty="0" err="1"/>
              <a:t>tesla.index</a:t>
            </a:r>
            <a:r>
              <a:rPr lang="en-GB" altLang="zh-CN" dirty="0"/>
              <a:t> = tesla['Date']</a:t>
            </a:r>
            <a:endParaRPr lang="en-GB" altLang="zh-CN" dirty="0"/>
          </a:p>
          <a:p>
            <a:r>
              <a:rPr lang="en-GB" altLang="zh-CN" dirty="0" err="1"/>
              <a:t>tesla.index</a:t>
            </a:r>
            <a:endParaRPr lang="zh-CN" altLang="en-US" dirty="0"/>
          </a:p>
          <a:p>
            <a:r>
              <a:rPr lang="en-GB" altLang="zh-CN" dirty="0" err="1"/>
              <a:t>tesla.head</a:t>
            </a:r>
            <a:r>
              <a:rPr lang="en-GB" altLang="zh-CN" dirty="0"/>
              <a:t>()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0630" y="3528695"/>
            <a:ext cx="6680200" cy="30670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 处理股票数据</a:t>
            </a:r>
            <a:endParaRPr lang="en-GB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5.2 </a:t>
            </a:r>
            <a:r>
              <a:rPr lang="zh-CN" altLang="en-US" dirty="0"/>
              <a:t>基于日期数据获取数据子集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8508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把索引设置为日期对象后，可以直接使用日期来获取某些数据</a:t>
            </a:r>
            <a:endParaRPr lang="en-US" altLang="zh-CN" dirty="0"/>
          </a:p>
          <a:p>
            <a:r>
              <a:rPr lang="en-GB" altLang="zh-CN" dirty="0"/>
              <a:t>tesla['2016'].</a:t>
            </a:r>
            <a:r>
              <a:rPr lang="en-GB" altLang="zh-CN" dirty="0" err="1"/>
              <a:t>iloc</a:t>
            </a:r>
            <a:r>
              <a:rPr lang="en-GB" altLang="zh-CN" dirty="0"/>
              <a:t>[:5]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zh-CN" altLang="en-US" dirty="0"/>
          </a:p>
          <a:p>
            <a:r>
              <a:rPr lang="zh-CN" altLang="en-US" dirty="0"/>
              <a:t>也可以根据年份和月份获取数据</a:t>
            </a:r>
            <a:endParaRPr lang="en-US" altLang="zh-CN" dirty="0"/>
          </a:p>
          <a:p>
            <a:r>
              <a:rPr lang="en-GB" altLang="zh-CN" dirty="0"/>
              <a:t>tesla['2016-06'].</a:t>
            </a:r>
            <a:r>
              <a:rPr lang="en-GB" altLang="zh-CN" dirty="0" err="1"/>
              <a:t>iloc</a:t>
            </a:r>
            <a:r>
              <a:rPr lang="en-GB" altLang="zh-CN" dirty="0"/>
              <a:t>[:5]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45" y="2637790"/>
            <a:ext cx="6680200" cy="20961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830" y="4898390"/>
            <a:ext cx="5837555" cy="18434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 处理股票数据</a:t>
            </a:r>
            <a:endParaRPr lang="en-GB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5.2 </a:t>
            </a:r>
            <a:r>
              <a:rPr lang="zh-CN" altLang="en-US" dirty="0"/>
              <a:t>基于日期数据获取数据子集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5173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 err="1"/>
              <a:t>TimedeltaIndex</a:t>
            </a:r>
            <a:r>
              <a:rPr lang="zh-CN" altLang="en-US" dirty="0"/>
              <a:t>对象</a:t>
            </a:r>
            <a:endParaRPr lang="en-US" altLang="zh-CN" dirty="0"/>
          </a:p>
          <a:p>
            <a:r>
              <a:rPr lang="zh-CN" altLang="en-US" dirty="0"/>
              <a:t>首先创建一个</a:t>
            </a:r>
            <a:r>
              <a:rPr lang="en-GB" altLang="zh-CN" dirty="0" err="1"/>
              <a:t>timedelta</a:t>
            </a:r>
            <a:endParaRPr lang="en-GB" altLang="zh-CN" dirty="0"/>
          </a:p>
          <a:p>
            <a:r>
              <a:rPr lang="en-GB" altLang="zh-CN" dirty="0"/>
              <a:t>tesla['</a:t>
            </a:r>
            <a:r>
              <a:rPr lang="en-GB" altLang="zh-CN" dirty="0" err="1"/>
              <a:t>ref_date</a:t>
            </a:r>
            <a:r>
              <a:rPr lang="en-GB" altLang="zh-CN" dirty="0"/>
              <a:t>'] = tesla['Date']-tesla['Date'].min()</a:t>
            </a:r>
            <a:endParaRPr lang="en-GB" altLang="zh-CN" dirty="0"/>
          </a:p>
          <a:p>
            <a:r>
              <a:rPr lang="en-GB" altLang="zh-CN" dirty="0"/>
              <a:t>tesla['</a:t>
            </a:r>
            <a:r>
              <a:rPr lang="en-GB" altLang="zh-CN" dirty="0" err="1"/>
              <a:t>ref_date</a:t>
            </a:r>
            <a:r>
              <a:rPr lang="en-GB" altLang="zh-CN" dirty="0"/>
              <a:t>’]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把</a:t>
            </a:r>
            <a:r>
              <a:rPr lang="en-GB" altLang="zh-CN" dirty="0" err="1"/>
              <a:t>timedelta</a:t>
            </a:r>
            <a:r>
              <a:rPr lang="zh-CN" altLang="en-US" dirty="0"/>
              <a:t>设置为</a:t>
            </a:r>
            <a:r>
              <a:rPr lang="en-GB" altLang="zh-CN" dirty="0"/>
              <a:t>index</a:t>
            </a:r>
            <a:endParaRPr lang="en-GB" altLang="zh-CN" dirty="0"/>
          </a:p>
          <a:p>
            <a:r>
              <a:rPr lang="en-GB" altLang="zh-CN" dirty="0" err="1"/>
              <a:t>tesla.index</a:t>
            </a:r>
            <a:r>
              <a:rPr lang="en-GB" altLang="zh-CN" dirty="0"/>
              <a:t> = tesla['</a:t>
            </a:r>
            <a:r>
              <a:rPr lang="en-GB" altLang="zh-CN" dirty="0" err="1"/>
              <a:t>ref_date</a:t>
            </a:r>
            <a:r>
              <a:rPr lang="en-GB" altLang="zh-CN" dirty="0"/>
              <a:t>'] </a:t>
            </a:r>
            <a:endParaRPr lang="en-GB" altLang="zh-CN" dirty="0"/>
          </a:p>
          <a:p>
            <a:r>
              <a:rPr lang="en-GB" altLang="zh-CN" dirty="0" err="1"/>
              <a:t>tesla.info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 err="1"/>
              <a:t>tesla.head</a:t>
            </a:r>
            <a:r>
              <a:rPr lang="en-GB" altLang="zh-CN" dirty="0"/>
              <a:t>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可以基于</a:t>
            </a:r>
            <a:r>
              <a:rPr lang="en-US" altLang="zh-CN" dirty="0" err="1"/>
              <a:t>ref_date</a:t>
            </a:r>
            <a:r>
              <a:rPr lang="zh-CN" altLang="en-US" dirty="0"/>
              <a:t>来选择数据</a:t>
            </a:r>
            <a:endParaRPr lang="en-US" altLang="zh-CN" dirty="0"/>
          </a:p>
          <a:p>
            <a:r>
              <a:rPr lang="en-GB" altLang="zh-CN" dirty="0"/>
              <a:t>tesla['0 days':'4 days']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0325" y="4566920"/>
            <a:ext cx="6629400" cy="1917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Python</a:t>
            </a:r>
            <a:r>
              <a:rPr lang="zh-CN" altLang="en-US" b="1" dirty="0"/>
              <a:t>的</a:t>
            </a:r>
            <a:r>
              <a:rPr lang="en-GB" altLang="zh-CN" b="1" dirty="0"/>
              <a:t>datetime</a:t>
            </a:r>
            <a:r>
              <a:rPr lang="zh-CN" altLang="en-US" b="1" dirty="0"/>
              <a:t>对象</a:t>
            </a:r>
            <a:endParaRPr lang="zh-CN" altLang="en-US" b="1" dirty="0"/>
          </a:p>
          <a:p>
            <a:r>
              <a:rPr lang="zh-CN" altLang="en-US" b="1" dirty="0"/>
              <a:t>将</a:t>
            </a:r>
            <a:r>
              <a:rPr lang="en-GB" altLang="zh-CN" b="1" dirty="0"/>
              <a:t>pandas</a:t>
            </a:r>
            <a:r>
              <a:rPr lang="zh-CN" altLang="en-US" b="1" dirty="0"/>
              <a:t>中的数据转换成</a:t>
            </a:r>
            <a:r>
              <a:rPr lang="en-GB" altLang="zh-CN" b="1" dirty="0"/>
              <a:t>datetime</a:t>
            </a:r>
            <a:endParaRPr lang="en-GB" altLang="zh-CN" b="1" dirty="0"/>
          </a:p>
          <a:p>
            <a:r>
              <a:rPr lang="zh-CN" altLang="en-US" b="1" dirty="0"/>
              <a:t>提取日期的各个部分</a:t>
            </a:r>
            <a:endParaRPr lang="zh-CN" altLang="en-US" b="1" dirty="0"/>
          </a:p>
          <a:p>
            <a:r>
              <a:rPr lang="zh-CN" altLang="en-US" b="1" dirty="0"/>
              <a:t>日期运算和</a:t>
            </a:r>
            <a:r>
              <a:rPr lang="en-GB" altLang="zh-CN" b="1" dirty="0" err="1"/>
              <a:t>Timedelta</a:t>
            </a:r>
            <a:endParaRPr lang="en-GB" altLang="zh-CN" b="1" dirty="0"/>
          </a:p>
          <a:p>
            <a:r>
              <a:rPr lang="zh-CN" altLang="en-US" b="1" dirty="0"/>
              <a:t>处理股票数据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日期范围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/>
              <a:t>datetime</a:t>
            </a:r>
            <a:r>
              <a:rPr lang="zh-CN" altLang="en-US" b="1" dirty="0"/>
              <a:t>类型案例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 日期范围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6.1</a:t>
            </a:r>
            <a:r>
              <a:rPr lang="zh-CN" altLang="en-US" dirty="0"/>
              <a:t> 使用</a:t>
            </a:r>
            <a:r>
              <a:rPr lang="en-US" altLang="zh-CN" dirty="0" err="1"/>
              <a:t>date_range</a:t>
            </a:r>
            <a:r>
              <a:rPr lang="zh-CN" altLang="en-US" dirty="0"/>
              <a:t>函数来创建连续的日期范围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2826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包含日期的数据集中，并非每一个都包含固定频率。比如在</a:t>
            </a:r>
            <a:r>
              <a:rPr lang="en-US" altLang="zh-CN" dirty="0"/>
              <a:t>Ebola</a:t>
            </a:r>
            <a:r>
              <a:rPr lang="zh-CN" altLang="en-US" dirty="0"/>
              <a:t>数据集中，日期并没有规律</a:t>
            </a:r>
            <a:endParaRPr lang="zh-CN" altLang="en-US" dirty="0"/>
          </a:p>
          <a:p>
            <a:r>
              <a:rPr lang="en-GB" altLang="zh-CN" dirty="0" err="1"/>
              <a:t>ebola.iloc</a:t>
            </a:r>
            <a:r>
              <a:rPr lang="en-GB" altLang="zh-CN" dirty="0"/>
              <a:t>[:,:5]</a:t>
            </a:r>
            <a:endParaRPr lang="en-GB" altLang="zh-CN" dirty="0"/>
          </a:p>
          <a:p>
            <a:r>
              <a:rPr lang="zh-CN" altLang="en-US" dirty="0"/>
              <a:t>从上面的数据中可以看到，缺少</a:t>
            </a:r>
            <a:r>
              <a:rPr lang="en-US" altLang="zh-CN" dirty="0"/>
              <a:t>2015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日，</a:t>
            </a:r>
            <a:r>
              <a:rPr lang="en-US" altLang="zh-CN" dirty="0"/>
              <a:t>2014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23</a:t>
            </a:r>
            <a:r>
              <a:rPr lang="zh-CN" altLang="en-US" dirty="0"/>
              <a:t>日，如果想让日期连续，可以创建一个日期范围来为数据集重建索引。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</a:t>
            </a:r>
            <a:r>
              <a:rPr lang="en-GB" altLang="zh-CN" dirty="0" err="1"/>
              <a:t>date_range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en-GB" altLang="zh-CN" dirty="0" err="1"/>
              <a:t>head_range</a:t>
            </a:r>
            <a:r>
              <a:rPr lang="en-GB" altLang="zh-CN" dirty="0"/>
              <a:t> = </a:t>
            </a:r>
            <a:r>
              <a:rPr lang="en-GB" altLang="zh-CN" dirty="0" err="1"/>
              <a:t>pd.date_range</a:t>
            </a:r>
            <a:r>
              <a:rPr lang="en-GB" altLang="zh-CN" dirty="0"/>
              <a:t>(start='2014-12-31',end='2015-01-05')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在上面的例子中，只取前</a:t>
            </a:r>
            <a:r>
              <a:rPr lang="en-US" altLang="zh-CN" dirty="0"/>
              <a:t>5</a:t>
            </a:r>
            <a:r>
              <a:rPr lang="zh-CN" altLang="en-US" dirty="0"/>
              <a:t>行，首先设置日期索引，然后为数据重建连续索引</a:t>
            </a:r>
            <a:endParaRPr lang="zh-CN" altLang="en-US" dirty="0"/>
          </a:p>
          <a:p>
            <a:r>
              <a:rPr lang="en-GB" altLang="zh-CN" dirty="0"/>
              <a:t>ebola_5 = </a:t>
            </a:r>
            <a:r>
              <a:rPr lang="en-GB" altLang="zh-CN" dirty="0" err="1"/>
              <a:t>ebola.head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ebola_5.index = ebola_5['Date']</a:t>
            </a:r>
            <a:endParaRPr lang="en-GB" altLang="zh-CN" dirty="0"/>
          </a:p>
          <a:p>
            <a:r>
              <a:rPr lang="en-GB" altLang="zh-CN" dirty="0"/>
              <a:t>ebola_5.reindex(</a:t>
            </a:r>
            <a:r>
              <a:rPr lang="en-GB" altLang="zh-CN" dirty="0" err="1"/>
              <a:t>head_range</a:t>
            </a:r>
            <a:r>
              <a:rPr lang="en-GB" altLang="zh-CN" dirty="0"/>
              <a:t>).</a:t>
            </a:r>
            <a:r>
              <a:rPr lang="en-GB" altLang="zh-CN" dirty="0" err="1"/>
              <a:t>iloc</a:t>
            </a:r>
            <a:r>
              <a:rPr lang="en-GB" altLang="zh-CN" dirty="0"/>
              <a:t>[:,:5]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3925" y="4570095"/>
            <a:ext cx="6756400" cy="20453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 日期范围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6.1</a:t>
            </a:r>
            <a:r>
              <a:rPr lang="zh-CN" altLang="en-US" dirty="0"/>
              <a:t> 使用</a:t>
            </a:r>
            <a:r>
              <a:rPr lang="en-US" altLang="zh-CN" dirty="0" err="1"/>
              <a:t>date_range</a:t>
            </a:r>
            <a:r>
              <a:rPr lang="zh-CN" altLang="en-US" dirty="0"/>
              <a:t>函数来创建连续的日期范围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</a:t>
            </a:r>
            <a:r>
              <a:rPr lang="en-US" altLang="zh-CN" dirty="0" err="1"/>
              <a:t>date_range</a:t>
            </a:r>
            <a:r>
              <a:rPr lang="zh-CN" altLang="en-US" dirty="0"/>
              <a:t>函数创建日期序列时，可以传入一个参数</a:t>
            </a:r>
            <a:r>
              <a:rPr lang="en-US" altLang="zh-CN" dirty="0" err="1"/>
              <a:t>freq</a:t>
            </a:r>
            <a:r>
              <a:rPr lang="zh-CN" altLang="en-US" dirty="0"/>
              <a:t>，默认情况下</a:t>
            </a:r>
            <a:r>
              <a:rPr lang="en-US" altLang="zh-CN" dirty="0" err="1"/>
              <a:t>freq</a:t>
            </a:r>
            <a:r>
              <a:rPr lang="zh-CN" altLang="en-US" dirty="0"/>
              <a:t>取值为</a:t>
            </a:r>
            <a:r>
              <a:rPr lang="en-US" altLang="zh-CN" dirty="0"/>
              <a:t>D</a:t>
            </a:r>
            <a:r>
              <a:rPr lang="zh-CN" altLang="en-US" dirty="0"/>
              <a:t>，表示日期范围内的值是逐日递增的。</a:t>
            </a:r>
            <a:endParaRPr lang="zh-CN" altLang="en-US" dirty="0"/>
          </a:p>
          <a:p>
            <a:r>
              <a:rPr lang="en-US" altLang="zh-CN" dirty="0"/>
              <a:t># 2020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日这周所有的工作日</a:t>
            </a:r>
            <a:endParaRPr lang="zh-CN" altLang="en-US" dirty="0"/>
          </a:p>
          <a:p>
            <a:r>
              <a:rPr lang="en-GB" altLang="zh-CN" dirty="0" err="1"/>
              <a:t>pd.date_range</a:t>
            </a:r>
            <a:r>
              <a:rPr lang="en-GB" altLang="zh-CN" dirty="0"/>
              <a:t>('2020-01-01','2020-01-07',freq='B’)</a:t>
            </a:r>
            <a:endParaRPr lang="en-GB" altLang="zh-CN" dirty="0"/>
          </a:p>
          <a:p>
            <a:r>
              <a:rPr lang="zh-CN" altLang="en-US" dirty="0"/>
              <a:t>从结果中看到生成的日期中缺少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4</a:t>
            </a:r>
            <a:r>
              <a:rPr lang="zh-CN" altLang="en-US" dirty="0"/>
              <a:t>日，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5</a:t>
            </a:r>
            <a:r>
              <a:rPr lang="zh-CN" altLang="en-US" dirty="0"/>
              <a:t>日，为休息日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515" y="3919855"/>
            <a:ext cx="67691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 日期范围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6.1</a:t>
            </a:r>
            <a:r>
              <a:rPr lang="zh-CN" altLang="en-US" dirty="0"/>
              <a:t> 使用</a:t>
            </a:r>
            <a:r>
              <a:rPr lang="en-US" altLang="zh-CN" dirty="0" err="1"/>
              <a:t>date_range</a:t>
            </a:r>
            <a:r>
              <a:rPr lang="zh-CN" altLang="en-US" dirty="0"/>
              <a:t>函数来创建连续的日期范围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err="1"/>
              <a:t>feq</a:t>
            </a:r>
            <a:r>
              <a:rPr lang="zh-CN" altLang="en-US" dirty="0"/>
              <a:t>参数的可能取值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7632" y="1560998"/>
            <a:ext cx="4426809" cy="507585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 日期范围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6.1</a:t>
            </a:r>
            <a:r>
              <a:rPr lang="zh-CN" altLang="en-US" dirty="0"/>
              <a:t> 使用</a:t>
            </a:r>
            <a:r>
              <a:rPr lang="en-US" altLang="zh-CN" dirty="0" err="1"/>
              <a:t>date_range</a:t>
            </a:r>
            <a:r>
              <a:rPr lang="zh-CN" altLang="en-US" dirty="0"/>
              <a:t>函数来创建连续的日期范围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err="1"/>
              <a:t>feq</a:t>
            </a:r>
            <a:r>
              <a:rPr lang="zh-CN" altLang="en-US" dirty="0"/>
              <a:t>参数的可能取值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7011" y="1688152"/>
            <a:ext cx="4730621" cy="493305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 日期范围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6.1</a:t>
            </a:r>
            <a:r>
              <a:rPr lang="zh-CN" altLang="en-US" dirty="0"/>
              <a:t> 使用</a:t>
            </a:r>
            <a:r>
              <a:rPr lang="en-US" altLang="zh-CN" dirty="0" err="1"/>
              <a:t>date_range</a:t>
            </a:r>
            <a:r>
              <a:rPr lang="zh-CN" altLang="en-US" dirty="0"/>
              <a:t>函数来创建连续的日期范围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1429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在</a:t>
            </a:r>
            <a:r>
              <a:rPr lang="en-US" altLang="zh-CN" dirty="0" err="1"/>
              <a:t>freq</a:t>
            </a:r>
            <a:r>
              <a:rPr lang="zh-CN" altLang="en-US" dirty="0"/>
              <a:t>传入参数的基础上，可以做一些调整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隔一个工作日取一个工作日</a:t>
            </a:r>
            <a:endParaRPr lang="zh-CN" altLang="en-US" dirty="0"/>
          </a:p>
          <a:p>
            <a:r>
              <a:rPr lang="en-GB" altLang="zh-CN" dirty="0" err="1"/>
              <a:t>pd.date_range</a:t>
            </a:r>
            <a:r>
              <a:rPr lang="en-GB" altLang="zh-CN" dirty="0"/>
              <a:t>('2020-01-01','2020-01-07',freq='2B’)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freq</a:t>
            </a:r>
            <a:r>
              <a:rPr lang="zh-CN" altLang="en-US" dirty="0"/>
              <a:t>传入的参数可以传入多个</a:t>
            </a:r>
            <a:endParaRPr lang="en-US" altLang="zh-CN" dirty="0"/>
          </a:p>
          <a:p>
            <a:r>
              <a:rPr lang="en-US" altLang="zh-CN" dirty="0"/>
              <a:t>#2020</a:t>
            </a:r>
            <a:r>
              <a:rPr lang="zh-CN" altLang="en-US" dirty="0"/>
              <a:t>年每个月的第一个星期四</a:t>
            </a:r>
            <a:endParaRPr lang="zh-CN" altLang="en-US" dirty="0"/>
          </a:p>
          <a:p>
            <a:r>
              <a:rPr lang="en-GB" altLang="zh-CN" dirty="0" err="1"/>
              <a:t>pd.date_range</a:t>
            </a:r>
            <a:r>
              <a:rPr lang="en-GB" altLang="zh-CN" dirty="0"/>
              <a:t>('2020-01-01','2020-12-31',freq='WOM-1THU’)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每个月的第三个星期五</a:t>
            </a:r>
            <a:endParaRPr lang="zh-CN" altLang="en-US" dirty="0"/>
          </a:p>
          <a:p>
            <a:r>
              <a:rPr lang="en-GB" altLang="zh-CN" dirty="0" err="1"/>
              <a:t>pd.date_range</a:t>
            </a:r>
            <a:r>
              <a:rPr lang="en-GB" altLang="zh-CN" dirty="0"/>
              <a:t>('2020-01-01','2020-12-31',freq='WOM-3FRI')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240" y="3004185"/>
            <a:ext cx="6699250" cy="717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40" y="5026660"/>
            <a:ext cx="6546850" cy="8528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Python</a:t>
            </a:r>
            <a:r>
              <a:rPr lang="zh-CN" altLang="en-US" b="1" dirty="0"/>
              <a:t>的</a:t>
            </a:r>
            <a:r>
              <a:rPr lang="en-GB" altLang="zh-CN" b="1" dirty="0"/>
              <a:t>datetime</a:t>
            </a:r>
            <a:r>
              <a:rPr lang="zh-CN" altLang="en-US" b="1" dirty="0"/>
              <a:t>对象</a:t>
            </a:r>
            <a:endParaRPr lang="zh-CN" altLang="en-US" b="1" dirty="0"/>
          </a:p>
          <a:p>
            <a:r>
              <a:rPr lang="zh-CN" altLang="en-US" b="1" dirty="0"/>
              <a:t>将</a:t>
            </a:r>
            <a:r>
              <a:rPr lang="en-GB" altLang="zh-CN" b="1" dirty="0"/>
              <a:t>pandas</a:t>
            </a:r>
            <a:r>
              <a:rPr lang="zh-CN" altLang="en-US" b="1" dirty="0"/>
              <a:t>中的数据转换成</a:t>
            </a:r>
            <a:r>
              <a:rPr lang="en-GB" altLang="zh-CN" b="1" dirty="0"/>
              <a:t>datetime</a:t>
            </a:r>
            <a:endParaRPr lang="en-GB" altLang="zh-CN" b="1" dirty="0"/>
          </a:p>
          <a:p>
            <a:r>
              <a:rPr lang="zh-CN" altLang="en-US" b="1" dirty="0"/>
              <a:t>提取日期的各个部分</a:t>
            </a:r>
            <a:endParaRPr lang="zh-CN" altLang="en-US" b="1" dirty="0"/>
          </a:p>
          <a:p>
            <a:r>
              <a:rPr lang="zh-CN" altLang="en-US" b="1" dirty="0"/>
              <a:t>日期运算和</a:t>
            </a:r>
            <a:r>
              <a:rPr lang="en-GB" altLang="zh-CN" b="1" dirty="0" err="1"/>
              <a:t>Timedelta</a:t>
            </a:r>
            <a:endParaRPr lang="en-GB" altLang="zh-CN" b="1" dirty="0"/>
          </a:p>
          <a:p>
            <a:r>
              <a:rPr lang="zh-CN" altLang="en-US" b="1" dirty="0"/>
              <a:t>处理股票数据</a:t>
            </a:r>
            <a:endParaRPr lang="zh-CN" altLang="en-US" b="1" dirty="0"/>
          </a:p>
          <a:p>
            <a:r>
              <a:rPr lang="zh-CN" altLang="en-US" b="1" dirty="0"/>
              <a:t>日期范围</a:t>
            </a:r>
            <a:endParaRPr lang="zh-CN" altLang="en-US" b="1" dirty="0"/>
          </a:p>
          <a:p>
            <a:r>
              <a:rPr lang="en-GB" altLang="zh-CN" b="1" dirty="0">
                <a:solidFill>
                  <a:srgbClr val="FF0000"/>
                </a:solidFill>
              </a:rPr>
              <a:t>datetime</a:t>
            </a:r>
            <a:r>
              <a:rPr lang="zh-CN" altLang="en-US" b="1" dirty="0">
                <a:solidFill>
                  <a:srgbClr val="FF0000"/>
                </a:solidFill>
              </a:rPr>
              <a:t>类型案例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 </a:t>
            </a:r>
            <a:r>
              <a:rPr lang="en-GB" altLang="zh-CN" dirty="0"/>
              <a:t>datetime</a:t>
            </a:r>
            <a:r>
              <a:rPr lang="zh-CN" altLang="en-US" dirty="0"/>
              <a:t>类型案例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/>
              <a:t>加载丹佛市犯罪记录数据集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GB" dirty="0"/>
              <a:t>加载数据</a:t>
            </a:r>
            <a:endParaRPr lang="en-GB" altLang="zh-CN" dirty="0"/>
          </a:p>
          <a:p>
            <a:r>
              <a:rPr lang="en-GB" altLang="zh-CN" dirty="0"/>
              <a:t>crime = </a:t>
            </a:r>
            <a:r>
              <a:rPr lang="en-GB" altLang="zh-CN" dirty="0" err="1"/>
              <a:t>pd.read_csv</a:t>
            </a:r>
            <a:r>
              <a:rPr lang="en-GB" altLang="zh-CN" dirty="0"/>
              <a:t>('data/crime.csv',</a:t>
            </a:r>
            <a:r>
              <a:rPr lang="en-GB" altLang="zh-CN" dirty="0" err="1"/>
              <a:t>parse_dates</a:t>
            </a:r>
            <a:r>
              <a:rPr lang="en-GB" altLang="zh-CN" dirty="0"/>
              <a:t>=['REPORTED_DATE'])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GB" dirty="0"/>
              <a:t>查看</a:t>
            </a:r>
            <a:r>
              <a:rPr lang="zh-CN" altLang="en-US" dirty="0"/>
              <a:t>数据</a:t>
            </a:r>
            <a:endParaRPr lang="en-US" altLang="zh-CN" dirty="0"/>
          </a:p>
          <a:p>
            <a:r>
              <a:rPr lang="en-GB" altLang="zh-CN" dirty="0" err="1"/>
              <a:t>crime.info</a:t>
            </a:r>
            <a:r>
              <a:rPr lang="en-GB" altLang="zh-CN" dirty="0"/>
              <a:t>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设置报警时间为索引</a:t>
            </a:r>
            <a:endParaRPr lang="zh-CN" altLang="en-US" dirty="0"/>
          </a:p>
          <a:p>
            <a:r>
              <a:rPr lang="en-US" altLang="zh-CN" dirty="0"/>
              <a:t>crime = </a:t>
            </a:r>
            <a:r>
              <a:rPr lang="en-US" altLang="zh-CN" dirty="0" err="1"/>
              <a:t>crime.set_index</a:t>
            </a:r>
            <a:r>
              <a:rPr lang="en-US" altLang="zh-CN" dirty="0"/>
              <a:t>('REPORTED_DATE')</a:t>
            </a:r>
            <a:endParaRPr lang="en-US" altLang="zh-CN" dirty="0"/>
          </a:p>
          <a:p>
            <a:r>
              <a:rPr lang="en-US" altLang="zh-CN" dirty="0" err="1"/>
              <a:t>crime.head</a:t>
            </a:r>
            <a:r>
              <a:rPr lang="en-US" altLang="zh-CN" dirty="0"/>
              <a:t>()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 </a:t>
            </a:r>
            <a:r>
              <a:rPr lang="en-GB" altLang="zh-CN" dirty="0"/>
              <a:t>datetime</a:t>
            </a:r>
            <a:r>
              <a:rPr lang="zh-CN" altLang="en-US" dirty="0"/>
              <a:t>类型案例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7.2 </a:t>
            </a:r>
            <a:r>
              <a:rPr lang="zh-CN" altLang="en-US" dirty="0"/>
              <a:t>查看数据集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查看某一天的报警记录</a:t>
            </a:r>
            <a:endParaRPr lang="en-US" altLang="zh-CN" dirty="0"/>
          </a:p>
          <a:p>
            <a:r>
              <a:rPr lang="en-US" altLang="zh-CN" dirty="0" err="1"/>
              <a:t>crime.loc</a:t>
            </a:r>
            <a:r>
              <a:rPr lang="en-US" altLang="zh-CN" dirty="0"/>
              <a:t>['2016-05-12’]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查看某一段时间的犯罪记录</a:t>
            </a:r>
            <a:endParaRPr lang="en-US" altLang="zh-CN" dirty="0"/>
          </a:p>
          <a:p>
            <a:r>
              <a:rPr lang="en-US" altLang="zh-CN" dirty="0" err="1"/>
              <a:t>crime.loc</a:t>
            </a:r>
            <a:r>
              <a:rPr lang="en-US" altLang="zh-CN" dirty="0"/>
              <a:t>['2015-3-4':'2016-1-1'].</a:t>
            </a:r>
            <a:r>
              <a:rPr lang="en-US" altLang="zh-CN" dirty="0" err="1"/>
              <a:t>sort_index</a:t>
            </a:r>
            <a:r>
              <a:rPr lang="en-US" altLang="zh-CN" dirty="0"/>
              <a:t>()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时间段可以包括小时分钟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crime.loc</a:t>
            </a:r>
            <a:r>
              <a:rPr lang="en-US" altLang="zh-CN" dirty="0"/>
              <a:t>['2015-3-4 22':'2016-1-1 23:45:00'].</a:t>
            </a:r>
            <a:r>
              <a:rPr lang="en-US" altLang="zh-CN" dirty="0" err="1"/>
              <a:t>sort_index</a:t>
            </a:r>
            <a:r>
              <a:rPr lang="en-US" altLang="zh-CN" dirty="0"/>
              <a:t>()</a:t>
            </a:r>
            <a:br>
              <a:rPr lang="en-US" altLang="zh-CN" dirty="0"/>
            </a:br>
            <a:r>
              <a:rPr lang="zh-CN" altLang="en-US" dirty="0"/>
              <a:t>查询凌晨两点到五点的报警记录</a:t>
            </a:r>
            <a:endParaRPr lang="en-US" altLang="zh-CN" dirty="0"/>
          </a:p>
          <a:p>
            <a:r>
              <a:rPr lang="en-GB" altLang="zh-CN" dirty="0" err="1"/>
              <a:t>crime.between_time</a:t>
            </a:r>
            <a:r>
              <a:rPr lang="en-GB" altLang="zh-CN" dirty="0"/>
              <a:t>('2:00', '5:00', </a:t>
            </a:r>
            <a:r>
              <a:rPr lang="en-GB" altLang="zh-CN" dirty="0" err="1"/>
              <a:t>include_end</a:t>
            </a:r>
            <a:r>
              <a:rPr lang="en-GB" altLang="zh-CN" dirty="0"/>
              <a:t>=False)</a:t>
            </a:r>
            <a:endParaRPr lang="en-GB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 </a:t>
            </a:r>
            <a:r>
              <a:rPr lang="en-GB" altLang="zh-CN" dirty="0"/>
              <a:t>datetime</a:t>
            </a:r>
            <a:r>
              <a:rPr lang="zh-CN" altLang="en-US" dirty="0"/>
              <a:t>类型案例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7.2 </a:t>
            </a:r>
            <a:r>
              <a:rPr lang="zh-CN" altLang="en-US" dirty="0"/>
              <a:t>查看数据集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查看发生在某个时刻的犯罪记录</a:t>
            </a:r>
            <a:endParaRPr lang="en-US" altLang="zh-CN" dirty="0"/>
          </a:p>
          <a:p>
            <a:r>
              <a:rPr lang="en-US" altLang="zh-CN" dirty="0" err="1"/>
              <a:t>crime.at_time</a:t>
            </a:r>
            <a:r>
              <a:rPr lang="en-US" altLang="zh-CN" dirty="0"/>
              <a:t>('5:47’)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在按时间段选取数据时，可以将时间索引排序，排序之后再选取效率更高</a:t>
            </a:r>
            <a:endParaRPr lang="zh-CN" altLang="en-US" dirty="0"/>
          </a:p>
          <a:p>
            <a:r>
              <a:rPr lang="en-US" altLang="zh-CN" dirty="0" err="1"/>
              <a:t>crime_sort</a:t>
            </a:r>
            <a:r>
              <a:rPr lang="en-US" altLang="zh-CN" dirty="0"/>
              <a:t> = </a:t>
            </a:r>
            <a:r>
              <a:rPr lang="en-US" altLang="zh-CN" dirty="0" err="1"/>
              <a:t>crime.sort_index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/>
              <a:t>%</a:t>
            </a:r>
            <a:r>
              <a:rPr lang="en-US" altLang="zh-CN" dirty="0" err="1"/>
              <a:t>timeit</a:t>
            </a:r>
            <a:r>
              <a:rPr lang="en-US" altLang="zh-CN" dirty="0"/>
              <a:t> </a:t>
            </a:r>
            <a:r>
              <a:rPr lang="en-US" altLang="zh-CN" dirty="0" err="1"/>
              <a:t>crime.loc</a:t>
            </a:r>
            <a:r>
              <a:rPr lang="en-US" altLang="zh-CN" dirty="0"/>
              <a:t>['2015-3-4':'2016-1-1’]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%</a:t>
            </a:r>
            <a:r>
              <a:rPr lang="en-US" altLang="zh-CN" dirty="0" err="1"/>
              <a:t>timeit</a:t>
            </a:r>
            <a:r>
              <a:rPr lang="en-US" altLang="zh-CN" dirty="0"/>
              <a:t> </a:t>
            </a:r>
            <a:r>
              <a:rPr lang="en-US" altLang="zh-CN" dirty="0" err="1"/>
              <a:t>crime_sort.loc</a:t>
            </a:r>
            <a:r>
              <a:rPr lang="en-US" altLang="zh-CN" dirty="0"/>
              <a:t>['2015-3-4':'2016-1-1']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90" y="3797935"/>
            <a:ext cx="6800850" cy="850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90" y="5060950"/>
            <a:ext cx="686435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 </a:t>
            </a:r>
            <a:r>
              <a:rPr lang="en-GB" altLang="zh-CN" dirty="0"/>
              <a:t>datetime</a:t>
            </a:r>
            <a:r>
              <a:rPr lang="zh-CN" altLang="en-US" dirty="0"/>
              <a:t>类型案例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7.3 </a:t>
            </a:r>
            <a:r>
              <a:rPr lang="zh-CN" altLang="en-US" dirty="0"/>
              <a:t>计算每周的犯罪数量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8856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为了统计每周的犯罪数，需要按周分组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resample</a:t>
            </a:r>
            <a:r>
              <a:rPr lang="zh-CN" altLang="en-US" dirty="0"/>
              <a:t>重采样，可以按照指定时间周期分组</a:t>
            </a:r>
            <a:endParaRPr lang="zh-CN" altLang="en-US" dirty="0"/>
          </a:p>
          <a:p>
            <a:r>
              <a:rPr lang="en-US" altLang="zh-CN" dirty="0" err="1"/>
              <a:t>crime_sort.resample</a:t>
            </a:r>
            <a:r>
              <a:rPr lang="en-US" altLang="zh-CN" dirty="0"/>
              <a:t>('W')</a:t>
            </a:r>
            <a:endParaRPr lang="en-US" altLang="zh-CN" dirty="0"/>
          </a:p>
          <a:p>
            <a:r>
              <a:rPr lang="en-US" altLang="zh-CN" dirty="0"/>
              <a:t>#size</a:t>
            </a:r>
            <a:r>
              <a:rPr lang="zh-CN" altLang="en-US" dirty="0"/>
              <a:t>查看分组大小</a:t>
            </a:r>
            <a:endParaRPr lang="zh-CN" altLang="en-US" dirty="0"/>
          </a:p>
          <a:p>
            <a:r>
              <a:rPr lang="en-US" altLang="zh-CN" dirty="0" err="1"/>
              <a:t>weekly_crimes</a:t>
            </a:r>
            <a:r>
              <a:rPr lang="en-US" altLang="zh-CN" dirty="0"/>
              <a:t> = </a:t>
            </a:r>
            <a:r>
              <a:rPr lang="en-US" altLang="zh-CN" dirty="0" err="1"/>
              <a:t>crime_sort.resample</a:t>
            </a:r>
            <a:r>
              <a:rPr lang="en-US" altLang="zh-CN" dirty="0"/>
              <a:t>('W').size()</a:t>
            </a:r>
            <a:endParaRPr lang="en-US" altLang="zh-CN" dirty="0"/>
          </a:p>
          <a:p>
            <a:r>
              <a:rPr lang="en-US" altLang="zh-CN" dirty="0" err="1"/>
              <a:t>weekly_crimes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150" y="3867785"/>
            <a:ext cx="3797300" cy="269621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 </a:t>
            </a:r>
            <a:r>
              <a:rPr lang="en-GB" altLang="zh-CN" dirty="0"/>
              <a:t>datetime</a:t>
            </a:r>
            <a:r>
              <a:rPr lang="zh-CN" altLang="en-US" dirty="0"/>
              <a:t>类型案例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7.3</a:t>
            </a:r>
            <a:r>
              <a:rPr lang="zh-CN" altLang="en-US" dirty="0"/>
              <a:t> 计算每周的犯罪数量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1429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检验分组结果</a:t>
            </a:r>
            <a:endParaRPr lang="en-US" altLang="zh-CN" dirty="0"/>
          </a:p>
          <a:p>
            <a:r>
              <a:rPr lang="en-US" altLang="zh-CN" dirty="0" err="1"/>
              <a:t>len</a:t>
            </a:r>
            <a:r>
              <a:rPr lang="en-US" altLang="zh-CN" dirty="0"/>
              <a:t>(</a:t>
            </a:r>
            <a:r>
              <a:rPr lang="en-US" altLang="zh-CN" dirty="0" err="1"/>
              <a:t>crime_sort.loc</a:t>
            </a:r>
            <a:r>
              <a:rPr lang="en-US" altLang="zh-CN" dirty="0"/>
              <a:t>[:'2012-1-8</a:t>
            </a:r>
            <a:r>
              <a:rPr lang="en-US" altLang="zh-CN" dirty="0">
                <a:sym typeface="+mn-ea"/>
              </a:rPr>
              <a:t>'</a:t>
            </a:r>
            <a:r>
              <a:rPr lang="en-US" altLang="zh-CN" dirty="0"/>
              <a:t>])</a:t>
            </a:r>
            <a:endParaRPr lang="en-US" altLang="zh-CN" dirty="0"/>
          </a:p>
          <a:p>
            <a:r>
              <a:rPr lang="en-US" altLang="zh-CN" dirty="0" err="1"/>
              <a:t>len</a:t>
            </a:r>
            <a:r>
              <a:rPr lang="en-US" altLang="zh-CN" dirty="0"/>
              <a:t>(</a:t>
            </a:r>
            <a:r>
              <a:rPr lang="en-US" altLang="zh-CN" dirty="0" err="1"/>
              <a:t>crime_sort.loc</a:t>
            </a:r>
            <a:r>
              <a:rPr lang="en-US" altLang="zh-CN" dirty="0"/>
              <a:t>['2012-1-9':'2012-1-15</a:t>
            </a:r>
            <a:r>
              <a:rPr lang="en-US" altLang="zh-CN" dirty="0">
                <a:sym typeface="+mn-ea"/>
              </a:rPr>
              <a:t>'</a:t>
            </a:r>
            <a:r>
              <a:rPr lang="en-US" altLang="zh-CN" dirty="0"/>
              <a:t>])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也可以把周四作为每周的结束</a:t>
            </a:r>
            <a:endParaRPr lang="en-US" altLang="zh-CN" dirty="0"/>
          </a:p>
          <a:p>
            <a:r>
              <a:rPr lang="en-GB" altLang="zh-CN" dirty="0" err="1"/>
              <a:t>crime_sort.resample</a:t>
            </a:r>
            <a:r>
              <a:rPr lang="en-GB" altLang="zh-CN" dirty="0"/>
              <a:t>('W-THU').size()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将按周分组结果可视化</a:t>
            </a:r>
            <a:endParaRPr lang="en-US" altLang="zh-CN" dirty="0"/>
          </a:p>
          <a:p>
            <a:r>
              <a:rPr lang="en-US" altLang="zh-CN" dirty="0" err="1"/>
              <a:t>weekly_crimes.plot</a:t>
            </a:r>
            <a:r>
              <a:rPr lang="en-US" altLang="zh-CN" dirty="0"/>
              <a:t>(</a:t>
            </a:r>
            <a:r>
              <a:rPr lang="en-US" altLang="zh-CN" dirty="0" err="1"/>
              <a:t>figsize</a:t>
            </a:r>
            <a:r>
              <a:rPr lang="en-US" altLang="zh-CN" dirty="0"/>
              <a:t>=(16,4),title='</a:t>
            </a:r>
            <a:r>
              <a:rPr lang="zh-CN" altLang="en-US" dirty="0"/>
              <a:t>丹佛犯罪情况</a:t>
            </a:r>
            <a:r>
              <a:rPr lang="en-US" altLang="zh-CN" dirty="0"/>
              <a:t>')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3575" y="1156970"/>
            <a:ext cx="3810000" cy="2984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45" y="4695190"/>
            <a:ext cx="6800850" cy="20891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 </a:t>
            </a:r>
            <a:r>
              <a:rPr lang="en-GB" altLang="zh-CN" dirty="0"/>
              <a:t>datetime</a:t>
            </a:r>
            <a:r>
              <a:rPr lang="zh-CN" altLang="en-US" dirty="0"/>
              <a:t>类型案例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7.4 </a:t>
            </a:r>
            <a:r>
              <a:rPr lang="zh-CN" altLang="en-US" dirty="0"/>
              <a:t>分析每季度的犯罪和交通事故数据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err="1"/>
              <a:t>crime_quarterly</a:t>
            </a:r>
            <a:r>
              <a:rPr lang="en-US" altLang="zh-CN" dirty="0"/>
              <a:t> = </a:t>
            </a:r>
            <a:r>
              <a:rPr lang="en-US" altLang="zh-CN" dirty="0" err="1"/>
              <a:t>crime_sort.resample</a:t>
            </a:r>
            <a:r>
              <a:rPr lang="en-US" altLang="zh-CN" dirty="0"/>
              <a:t>('</a:t>
            </a:r>
            <a:r>
              <a:rPr lang="en-US" altLang="zh-CN" dirty="0" err="1"/>
              <a:t>Q</a:t>
            </a:r>
            <a:r>
              <a:rPr lang="en-US" altLang="zh-CN" dirty="0"/>
              <a:t>')['IS_CRIME', 'IS_TRAFFIC'].sum()</a:t>
            </a:r>
            <a:endParaRPr lang="en-US" altLang="zh-CN" dirty="0"/>
          </a:p>
          <a:p>
            <a:r>
              <a:rPr lang="en-US" altLang="zh-CN" dirty="0" err="1"/>
              <a:t>crime_quarterly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所有日期都是该季度的最后一天，使用</a:t>
            </a:r>
            <a:r>
              <a:rPr lang="en-US" altLang="zh-CN" dirty="0"/>
              <a:t>QS</a:t>
            </a:r>
            <a:r>
              <a:rPr lang="zh-CN" altLang="en-US" dirty="0"/>
              <a:t>生成每季度的第一天</a:t>
            </a:r>
            <a:endParaRPr lang="en-US" altLang="zh-CN" dirty="0"/>
          </a:p>
          <a:p>
            <a:r>
              <a:rPr lang="en-GB" altLang="zh-CN" dirty="0" err="1"/>
              <a:t>crime_sort.resample</a:t>
            </a:r>
            <a:r>
              <a:rPr lang="en-GB" altLang="zh-CN" dirty="0"/>
              <a:t>('QS')['IS_CRIME', 'IS_TRAFFIC'].sum().head()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查看第二季度的数据，检验结果</a:t>
            </a:r>
            <a:endParaRPr lang="zh-CN" altLang="en-US" dirty="0"/>
          </a:p>
          <a:p>
            <a:r>
              <a:rPr lang="en-GB" altLang="zh-CN" dirty="0" err="1"/>
              <a:t>crime_sort.loc</a:t>
            </a:r>
            <a:r>
              <a:rPr lang="en-GB" altLang="zh-CN" dirty="0"/>
              <a:t>['2012-4-1':'2012-6-30', ['IS_CRIME', 'IS_TRAFFIC']].sum()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结果可视化</a:t>
            </a:r>
            <a:endParaRPr lang="en-US" altLang="zh-CN" dirty="0"/>
          </a:p>
          <a:p>
            <a:r>
              <a:rPr lang="en-US" altLang="zh-CN" dirty="0" err="1"/>
              <a:t>plot_kwargs</a:t>
            </a:r>
            <a:r>
              <a:rPr lang="en-US" altLang="zh-CN" dirty="0"/>
              <a:t> = </a:t>
            </a:r>
            <a:r>
              <a:rPr lang="en-US" altLang="zh-CN" dirty="0" err="1"/>
              <a:t>dict</a:t>
            </a:r>
            <a:r>
              <a:rPr lang="en-US" altLang="zh-CN" dirty="0"/>
              <a:t>(</a:t>
            </a:r>
            <a:r>
              <a:rPr lang="en-US" altLang="zh-CN" dirty="0" err="1"/>
              <a:t>figsize</a:t>
            </a:r>
            <a:r>
              <a:rPr lang="en-US" altLang="zh-CN" dirty="0"/>
              <a:t>=(16,4), color=['black', 'blue'], title='</a:t>
            </a:r>
            <a:r>
              <a:rPr lang="zh-CN" altLang="en-US" dirty="0"/>
              <a:t>丹佛犯罪和交通事故数据</a:t>
            </a:r>
            <a:r>
              <a:rPr lang="en-US" altLang="zh-CN" dirty="0"/>
              <a:t>')</a:t>
            </a:r>
            <a:endParaRPr lang="en-US" altLang="zh-CN" dirty="0"/>
          </a:p>
          <a:p>
            <a:r>
              <a:rPr lang="en-US" altLang="zh-CN" dirty="0" err="1"/>
              <a:t>crime_quarterly.plot</a:t>
            </a:r>
            <a:r>
              <a:rPr lang="en-US" altLang="zh-CN" dirty="0"/>
              <a:t>(**</a:t>
            </a:r>
            <a:r>
              <a:rPr lang="en-US" altLang="zh-CN" dirty="0" err="1"/>
              <a:t>plot_kwargs</a:t>
            </a:r>
            <a:r>
              <a:rPr lang="en-US" altLang="zh-CN" dirty="0"/>
              <a:t>)</a:t>
            </a:r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 </a:t>
            </a:r>
            <a:r>
              <a:rPr lang="en-GB" altLang="zh-CN" dirty="0"/>
              <a:t>datetime</a:t>
            </a:r>
            <a:r>
              <a:rPr lang="zh-CN" altLang="en-US" dirty="0"/>
              <a:t>类型案例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7.5</a:t>
            </a:r>
            <a:r>
              <a:rPr lang="zh-CN" altLang="en-US" dirty="0"/>
              <a:t> 分析工作日的犯罪情况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3776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可以通过</a:t>
            </a:r>
            <a:r>
              <a:rPr lang="en-GB" altLang="zh-CN" dirty="0"/>
              <a:t>Timestamp</a:t>
            </a:r>
            <a:r>
              <a:rPr lang="zh-CN" altLang="en-US" dirty="0"/>
              <a:t>的</a:t>
            </a:r>
            <a:r>
              <a:rPr lang="en-GB" altLang="zh-CN" dirty="0" err="1"/>
              <a:t>dt</a:t>
            </a:r>
            <a:r>
              <a:rPr lang="zh-CN" altLang="en-US" dirty="0"/>
              <a:t>属性得到周几，然后统计</a:t>
            </a:r>
            <a:endParaRPr lang="en-US" altLang="zh-CN" dirty="0"/>
          </a:p>
          <a:p>
            <a:r>
              <a:rPr lang="en-US" altLang="zh-CN" dirty="0"/>
              <a:t>crime = </a:t>
            </a:r>
            <a:r>
              <a:rPr lang="en-US" altLang="zh-CN" dirty="0" err="1"/>
              <a:t>pd.read_csv</a:t>
            </a:r>
            <a:r>
              <a:rPr lang="en-US" altLang="zh-CN" dirty="0"/>
              <a:t>('data/</a:t>
            </a:r>
            <a:r>
              <a:rPr lang="en-US" altLang="zh-CN" dirty="0" err="1"/>
              <a:t>crime.csv</a:t>
            </a:r>
            <a:r>
              <a:rPr lang="en-US" altLang="zh-CN" dirty="0"/>
              <a:t>', </a:t>
            </a:r>
            <a:r>
              <a:rPr lang="en-US" altLang="zh-CN" dirty="0" err="1"/>
              <a:t>parse_dates</a:t>
            </a:r>
            <a:r>
              <a:rPr lang="en-US" altLang="zh-CN" dirty="0"/>
              <a:t>=['REPORTED_DATE'])</a:t>
            </a:r>
            <a:endParaRPr lang="en-US" altLang="zh-CN" dirty="0"/>
          </a:p>
          <a:p>
            <a:r>
              <a:rPr lang="en-US" altLang="zh-CN" dirty="0" err="1"/>
              <a:t>wd_counts</a:t>
            </a:r>
            <a:r>
              <a:rPr lang="en-US" altLang="zh-CN" dirty="0"/>
              <a:t> = crime['REPORTED_DATE'].</a:t>
            </a:r>
            <a:r>
              <a:rPr lang="en-US" altLang="zh-CN" dirty="0" err="1"/>
              <a:t>dt.weekday.value_counts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 err="1"/>
              <a:t>wd_counts</a:t>
            </a:r>
            <a:endParaRPr lang="en-US" altLang="zh-CN" dirty="0" err="1"/>
          </a:p>
          <a:p>
            <a:endParaRPr lang="en-US" altLang="zh-CN" dirty="0" err="1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GB" altLang="zh-CN" dirty="0"/>
              <a:t>title = '</a:t>
            </a:r>
            <a:r>
              <a:rPr lang="zh-CN" altLang="en-GB" dirty="0"/>
              <a:t>丹佛犯罪和交通事故按周分析</a:t>
            </a:r>
            <a:r>
              <a:rPr lang="en-GB" altLang="zh-CN" dirty="0"/>
              <a:t>'</a:t>
            </a:r>
            <a:endParaRPr lang="en-GB" altLang="zh-CN" dirty="0"/>
          </a:p>
          <a:p>
            <a:r>
              <a:rPr lang="en-GB" altLang="zh-CN" dirty="0" err="1"/>
              <a:t>wd_counts.plot</a:t>
            </a:r>
            <a:r>
              <a:rPr lang="en-GB" altLang="zh-CN" dirty="0"/>
              <a:t>(kind='</a:t>
            </a:r>
            <a:r>
              <a:rPr lang="en-GB" altLang="zh-CN" dirty="0" err="1"/>
              <a:t>barh</a:t>
            </a:r>
            <a:r>
              <a:rPr lang="en-GB" altLang="zh-CN" dirty="0"/>
              <a:t>', title=title)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790" y="3388360"/>
            <a:ext cx="3448050" cy="1962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805" y="3188335"/>
            <a:ext cx="466090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Pandas</a:t>
            </a:r>
            <a:r>
              <a:rPr lang="zh-CN" altLang="en-US" dirty="0"/>
              <a:t>中，</a:t>
            </a:r>
            <a:r>
              <a:rPr lang="en-US" altLang="zh-CN" dirty="0"/>
              <a:t>datetime64</a:t>
            </a:r>
            <a:r>
              <a:rPr lang="zh-CN" altLang="en-US" dirty="0"/>
              <a:t>用来表示时间序列类型</a:t>
            </a:r>
            <a:endParaRPr lang="zh-CN" altLang="en-US" dirty="0"/>
          </a:p>
          <a:p>
            <a:r>
              <a:rPr lang="zh-CN" altLang="en-US" dirty="0"/>
              <a:t>时间序列类型的数据可以作为行索引，对应的数据类型是</a:t>
            </a:r>
            <a:r>
              <a:rPr lang="en-US" altLang="zh-CN" dirty="0" err="1"/>
              <a:t>DatetimeIndex</a:t>
            </a:r>
            <a:r>
              <a:rPr lang="zh-CN" altLang="en-US" dirty="0"/>
              <a:t>类型</a:t>
            </a:r>
            <a:endParaRPr lang="zh-CN" altLang="en-US" dirty="0"/>
          </a:p>
          <a:p>
            <a:r>
              <a:rPr lang="en-US" altLang="zh-CN" dirty="0"/>
              <a:t>datetime64</a:t>
            </a:r>
            <a:r>
              <a:rPr lang="zh-CN" altLang="en-US" dirty="0"/>
              <a:t>类型可以做差，返回的是</a:t>
            </a:r>
            <a:r>
              <a:rPr lang="en-US" altLang="zh-CN" dirty="0" err="1"/>
              <a:t>Timedelta</a:t>
            </a:r>
            <a:r>
              <a:rPr lang="zh-CN" altLang="en-US" dirty="0"/>
              <a:t>类型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+mj-lt"/>
              <a:buAutoNum type="arabicPeriod" startAt="4"/>
            </a:pPr>
            <a:r>
              <a:rPr lang="zh-CN" altLang="en-US" dirty="0"/>
              <a:t>转换成时间序列类型后，可以按照时间的特点对数据进行处理</a:t>
            </a:r>
            <a:endParaRPr lang="zh-CN" altLang="en-US" dirty="0"/>
          </a:p>
          <a:p>
            <a:pPr lvl="1"/>
            <a:r>
              <a:rPr lang="zh-CN" altLang="en-US" b="0" dirty="0"/>
              <a:t>提取日期的各个部分（月，日，星期</a:t>
            </a:r>
            <a:r>
              <a:rPr lang="en-US" altLang="zh-CN" b="0" dirty="0"/>
              <a:t>...)</a:t>
            </a:r>
            <a:endParaRPr lang="en-US" altLang="zh-CN" b="0" dirty="0"/>
          </a:p>
          <a:p>
            <a:pPr lvl="1"/>
            <a:r>
              <a:rPr lang="zh-CN" altLang="en-US" b="0" dirty="0"/>
              <a:t>进行日期运算</a:t>
            </a:r>
            <a:endParaRPr lang="zh-CN" altLang="en-US" b="0" dirty="0"/>
          </a:p>
          <a:p>
            <a:pPr lvl="1"/>
            <a:r>
              <a:rPr lang="zh-CN" altLang="en-US" b="0" dirty="0"/>
              <a:t>按照日期范围取值</a:t>
            </a:r>
            <a:endParaRPr lang="zh-CN" altLang="en-US" b="0" dirty="0"/>
          </a:p>
          <a:p>
            <a:pPr>
              <a:buAutoNum type="arabicPeriod" startAt="4"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 </a:t>
            </a:r>
            <a:r>
              <a:rPr lang="zh-CN" altLang="en-US" dirty="0"/>
              <a:t>日期范围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heme/theme1.xml><?xml version="1.0" encoding="utf-8"?>
<a:theme xmlns:a="http://schemas.openxmlformats.org/drawingml/2006/main" name="1_课程标题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目录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目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6228</Words>
  <Application>WPS 演示</Application>
  <PresentationFormat>宽屏</PresentationFormat>
  <Paragraphs>398</Paragraphs>
  <Slides>37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37</vt:i4>
      </vt:variant>
    </vt:vector>
  </HeadingPairs>
  <TitlesOfParts>
    <vt:vector size="65" baseType="lpstr">
      <vt:lpstr>Arial</vt:lpstr>
      <vt:lpstr>宋体</vt:lpstr>
      <vt:lpstr>Wingdings</vt:lpstr>
      <vt:lpstr>Calibri</vt:lpstr>
      <vt:lpstr>黑体</vt:lpstr>
      <vt:lpstr>阿里巴巴普惠体</vt:lpstr>
      <vt:lpstr>Segoe UI</vt:lpstr>
      <vt:lpstr>微软雅黑</vt:lpstr>
      <vt:lpstr>Segoe UI Light</vt:lpstr>
      <vt:lpstr>微软雅黑 Light</vt:lpstr>
      <vt:lpstr>Alibaba PuHuiTi B</vt:lpstr>
      <vt:lpstr>Alibaba PuHuiTi R</vt:lpstr>
      <vt:lpstr>Verdana</vt:lpstr>
      <vt:lpstr>Alibaba PuHuiTi M</vt:lpstr>
      <vt:lpstr>等线</vt:lpstr>
      <vt:lpstr>Arial Unicode MS</vt:lpstr>
      <vt:lpstr>1_课程标题页</vt:lpstr>
      <vt:lpstr>2_目录设计方案</vt:lpstr>
      <vt:lpstr>3_目标设计方案</vt:lpstr>
      <vt:lpstr>4_正文设计方案</vt:lpstr>
      <vt:lpstr>5_结束页设计方案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6_结束页设计方案</vt:lpstr>
      <vt:lpstr>datetime 数据类型</vt:lpstr>
      <vt:lpstr>PowerPoint 演示文稿</vt:lpstr>
      <vt:lpstr>PowerPoint 演示文稿</vt:lpstr>
      <vt:lpstr>1 Python的datetime对象</vt:lpstr>
      <vt:lpstr>PowerPoint 演示文稿</vt:lpstr>
      <vt:lpstr>2 将pandas中的数据转换成Timestamp</vt:lpstr>
      <vt:lpstr>2 将pandas中的数据转换成Timestamp</vt:lpstr>
      <vt:lpstr>PowerPoint 演示文稿</vt:lpstr>
      <vt:lpstr>3 提取日期的各个部分</vt:lpstr>
      <vt:lpstr>3 提取日期的各个部分</vt:lpstr>
      <vt:lpstr>PowerPoint 演示文稿</vt:lpstr>
      <vt:lpstr>4 日期运算和Timedelta</vt:lpstr>
      <vt:lpstr>4 日期运算和Timedelta</vt:lpstr>
      <vt:lpstr>4 日期运算和Timedelta</vt:lpstr>
      <vt:lpstr>4 日期运算和Timedelta</vt:lpstr>
      <vt:lpstr>PowerPoint 演示文稿</vt:lpstr>
      <vt:lpstr>5 处理股票数据</vt:lpstr>
      <vt:lpstr>5 处理股票数据</vt:lpstr>
      <vt:lpstr>5 处理股票数据</vt:lpstr>
      <vt:lpstr>5 处理股票数据</vt:lpstr>
      <vt:lpstr>PowerPoint 演示文稿</vt:lpstr>
      <vt:lpstr>6 日期范围</vt:lpstr>
      <vt:lpstr>6 日期范围</vt:lpstr>
      <vt:lpstr>6 日期范围</vt:lpstr>
      <vt:lpstr>6 日期范围</vt:lpstr>
      <vt:lpstr>6 日期范围</vt:lpstr>
      <vt:lpstr>PowerPoint 演示文稿</vt:lpstr>
      <vt:lpstr>7 datetime类型案例</vt:lpstr>
      <vt:lpstr>7 datetime类型案例</vt:lpstr>
      <vt:lpstr>7 datetime类型案例</vt:lpstr>
      <vt:lpstr>7 datetime类型案例</vt:lpstr>
      <vt:lpstr>7 datetime类型案例</vt:lpstr>
      <vt:lpstr>7 datetime类型案例</vt:lpstr>
      <vt:lpstr>7 datetime类型案例</vt:lpstr>
      <vt:lpstr>PowerPoint 演示文稿</vt:lpstr>
      <vt:lpstr>6 日期范围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空白格</cp:lastModifiedBy>
  <cp:revision>195</cp:revision>
  <dcterms:created xsi:type="dcterms:W3CDTF">2020-03-31T02:23:00Z</dcterms:created>
  <dcterms:modified xsi:type="dcterms:W3CDTF">2021-05-07T08:25:26Z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29C9DFF3625046BA979F7B9FBA05A16C</vt:lpwstr>
  </property>
  <property fmtid="{D5CDD505-2E9C-101B-9397-08002B2CF9AE}" pid="3" name="KSOProductBuildVer">
    <vt:lpwstr>2052-11.1.0.10463</vt:lpwstr>
  </property>
</Properties>
</file>