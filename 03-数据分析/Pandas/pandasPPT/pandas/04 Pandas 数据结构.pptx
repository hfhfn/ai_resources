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93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27" r:id="rId19"/>
    <p:sldId id="428" r:id="rId20"/>
    <p:sldId id="429" r:id="rId21"/>
    <p:sldId id="430" r:id="rId22"/>
    <p:sldId id="444" r:id="rId23"/>
    <p:sldId id="431" r:id="rId24"/>
    <p:sldId id="432" r:id="rId25"/>
    <p:sldId id="433" r:id="rId26"/>
    <p:sldId id="434" r:id="rId27"/>
    <p:sldId id="435" r:id="rId28"/>
    <p:sldId id="436" r:id="rId29"/>
    <p:sldId id="437" r:id="rId30"/>
    <p:sldId id="438" r:id="rId31"/>
    <p:sldId id="485" r:id="rId32"/>
    <p:sldId id="484" r:id="rId33"/>
    <p:sldId id="439" r:id="rId34"/>
    <p:sldId id="440" r:id="rId35"/>
    <p:sldId id="441" r:id="rId36"/>
    <p:sldId id="442" r:id="rId37"/>
    <p:sldId id="445" r:id="rId38"/>
    <p:sldId id="443" r:id="rId39"/>
    <p:sldId id="446" r:id="rId40"/>
    <p:sldId id="447" r:id="rId41"/>
    <p:sldId id="448" r:id="rId42"/>
    <p:sldId id="449" r:id="rId43"/>
    <p:sldId id="450" r:id="rId44"/>
    <p:sldId id="451" r:id="rId45"/>
    <p:sldId id="452" r:id="rId46"/>
    <p:sldId id="453" r:id="rId47"/>
    <p:sldId id="454" r:id="rId48"/>
    <p:sldId id="455" r:id="rId49"/>
    <p:sldId id="456" r:id="rId50"/>
    <p:sldId id="457" r:id="rId51"/>
    <p:sldId id="458" r:id="rId52"/>
    <p:sldId id="459" r:id="rId53"/>
    <p:sldId id="460" r:id="rId54"/>
    <p:sldId id="461" r:id="rId55"/>
    <p:sldId id="462" r:id="rId56"/>
    <p:sldId id="463" r:id="rId57"/>
    <p:sldId id="464" r:id="rId58"/>
    <p:sldId id="465" r:id="rId59"/>
    <p:sldId id="466" r:id="rId60"/>
    <p:sldId id="467" r:id="rId61"/>
    <p:sldId id="468" r:id="rId62"/>
    <p:sldId id="266" r:id="rId63"/>
    <p:sldId id="264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6379" autoAdjust="0"/>
  </p:normalViewPr>
  <p:slideViewPr>
    <p:cSldViewPr snapToGrid="0">
      <p:cViewPr varScale="1">
        <p:scale>
          <a:sx n="137" d="100"/>
          <a:sy n="137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50.xml"/><Relationship Id="rId63" Type="http://schemas.openxmlformats.org/officeDocument/2006/relationships/slide" Target="slides/slide49.xml"/><Relationship Id="rId62" Type="http://schemas.openxmlformats.org/officeDocument/2006/relationships/slide" Target="slides/slide48.xml"/><Relationship Id="rId61" Type="http://schemas.openxmlformats.org/officeDocument/2006/relationships/slide" Target="slides/slide47.xml"/><Relationship Id="rId60" Type="http://schemas.openxmlformats.org/officeDocument/2006/relationships/slide" Target="slides/slide46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5.xml"/><Relationship Id="rId58" Type="http://schemas.openxmlformats.org/officeDocument/2006/relationships/slide" Target="slides/slide44.xml"/><Relationship Id="rId57" Type="http://schemas.openxmlformats.org/officeDocument/2006/relationships/slide" Target="slides/slide43.xml"/><Relationship Id="rId56" Type="http://schemas.openxmlformats.org/officeDocument/2006/relationships/slide" Target="slides/slide42.xml"/><Relationship Id="rId55" Type="http://schemas.openxmlformats.org/officeDocument/2006/relationships/slide" Target="slides/slide41.xml"/><Relationship Id="rId54" Type="http://schemas.openxmlformats.org/officeDocument/2006/relationships/slide" Target="slides/slide40.xml"/><Relationship Id="rId53" Type="http://schemas.openxmlformats.org/officeDocument/2006/relationships/slide" Target="slides/slide39.xml"/><Relationship Id="rId52" Type="http://schemas.openxmlformats.org/officeDocument/2006/relationships/slide" Target="slides/slide38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9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9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9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0030101010101" pitchFamily="49" charset="-122"/>
          <a:ea typeface="黑体" panose="0201060003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Pandas</a:t>
            </a:r>
            <a:r>
              <a:rPr lang="en-US" altLang="en-GB" dirty="0"/>
              <a:t> </a:t>
            </a:r>
            <a:r>
              <a:rPr lang="zh-CN" altLang="en-US" dirty="0"/>
              <a:t>数据结构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</a:t>
            </a:r>
            <a:r>
              <a:rPr lang="en-GB" altLang="zh-CN" dirty="0"/>
              <a:t>Series</a:t>
            </a:r>
            <a:r>
              <a:rPr lang="zh-CN" altLang="en-US" dirty="0"/>
              <a:t>的常用属性及方法</a:t>
            </a:r>
            <a:endParaRPr lang="zh-CN" altLang="en-US" dirty="0"/>
          </a:p>
          <a:p>
            <a:r>
              <a:rPr lang="zh-CN" altLang="en-US" dirty="0"/>
              <a:t>掌握</a:t>
            </a:r>
            <a:r>
              <a:rPr lang="en-GB" altLang="zh-CN" dirty="0"/>
              <a:t>DataFrame</a:t>
            </a:r>
            <a:r>
              <a:rPr lang="zh-CN" altLang="en-US" dirty="0"/>
              <a:t>的常用属性及方法</a:t>
            </a:r>
            <a:endParaRPr lang="zh-CN" altLang="en-US" dirty="0"/>
          </a:p>
          <a:p>
            <a:r>
              <a:rPr lang="zh-CN" altLang="en-US" dirty="0"/>
              <a:t>掌握更改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r>
              <a:rPr lang="zh-CN" altLang="en-US" dirty="0"/>
              <a:t>的方法</a:t>
            </a:r>
            <a:endParaRPr lang="zh-CN" altLang="en-US" dirty="0"/>
          </a:p>
          <a:p>
            <a:r>
              <a:rPr lang="zh-CN" altLang="en-US" dirty="0"/>
              <a:t>掌握如何导入导出数据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创建</a:t>
            </a:r>
            <a:r>
              <a:rPr lang="en-GB" altLang="zh-CN" b="1" dirty="0">
                <a:solidFill>
                  <a:srgbClr val="FF0000"/>
                </a:solidFill>
              </a:rPr>
              <a:t>Series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en-GB" altLang="zh-CN" b="1" dirty="0">
                <a:solidFill>
                  <a:srgbClr val="FF0000"/>
                </a:solidFill>
              </a:rPr>
              <a:t>DataFrame</a:t>
            </a:r>
            <a:endParaRPr lang="en-GB" altLang="zh-CN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Series </a:t>
            </a:r>
            <a:r>
              <a:rPr lang="zh-CN" altLang="en-US" b="1" dirty="0"/>
              <a:t>常用操作</a:t>
            </a:r>
            <a:endParaRPr lang="zh-CN" altLang="en-US" b="1" dirty="0"/>
          </a:p>
          <a:p>
            <a:r>
              <a:rPr lang="en-GB" altLang="zh-CN" b="1" dirty="0"/>
              <a:t>DataFrame</a:t>
            </a:r>
            <a:r>
              <a:rPr lang="zh-CN" altLang="en-US" b="1" dirty="0"/>
              <a:t>常用操作</a:t>
            </a:r>
            <a:endParaRPr lang="zh-CN" altLang="en-US" b="1" dirty="0"/>
          </a:p>
          <a:p>
            <a:r>
              <a:rPr lang="zh-CN" altLang="en-US" b="1" dirty="0"/>
              <a:t>更改</a:t>
            </a:r>
            <a:r>
              <a:rPr lang="en-GB" altLang="zh-CN" b="1" dirty="0"/>
              <a:t>Series</a:t>
            </a:r>
            <a:r>
              <a:rPr lang="zh-CN" altLang="en-US" b="1" dirty="0"/>
              <a:t>和</a:t>
            </a:r>
            <a:r>
              <a:rPr lang="en-GB" altLang="zh-CN" b="1" dirty="0"/>
              <a:t>DataFrame</a:t>
            </a:r>
            <a:endParaRPr lang="en-GB" altLang="zh-CN" b="1" dirty="0"/>
          </a:p>
          <a:p>
            <a:r>
              <a:rPr lang="zh-CN" altLang="en-US" b="1" dirty="0"/>
              <a:t>导出和导入数据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创建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创建</a:t>
            </a:r>
            <a:r>
              <a:rPr lang="en-GB" altLang="zh-CN" dirty="0"/>
              <a:t>Series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DataFrame</a:t>
            </a:r>
            <a:r>
              <a:rPr lang="zh-CN" altLang="en-US" dirty="0"/>
              <a:t>和</a:t>
            </a:r>
            <a:r>
              <a:rPr lang="en-GB" altLang="zh-CN" dirty="0"/>
              <a:t>Series</a:t>
            </a:r>
            <a:r>
              <a:rPr lang="zh-CN" altLang="en-US" dirty="0"/>
              <a:t>是</a:t>
            </a:r>
            <a:r>
              <a:rPr lang="en-GB" altLang="zh-CN" dirty="0"/>
              <a:t>Pandas</a:t>
            </a:r>
            <a:r>
              <a:rPr lang="zh-CN" altLang="en-US" dirty="0"/>
              <a:t>最基本的两种数据结构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在</a:t>
            </a:r>
            <a:r>
              <a:rPr lang="en-GB" altLang="zh-CN" dirty="0"/>
              <a:t>Pandas</a:t>
            </a:r>
            <a:r>
              <a:rPr lang="zh-CN" altLang="en-US" dirty="0"/>
              <a:t>中，</a:t>
            </a:r>
            <a:r>
              <a:rPr lang="en-GB" altLang="zh-CN" dirty="0"/>
              <a:t>Series</a:t>
            </a:r>
            <a:r>
              <a:rPr lang="zh-CN" altLang="en-US" dirty="0"/>
              <a:t>是一维容器，</a:t>
            </a:r>
            <a:r>
              <a:rPr lang="en-GB" altLang="zh-CN" dirty="0"/>
              <a:t>Series</a:t>
            </a:r>
            <a:r>
              <a:rPr lang="zh-CN" altLang="en-US" dirty="0"/>
              <a:t>表示</a:t>
            </a:r>
            <a:r>
              <a:rPr lang="en-GB" altLang="zh-CN" dirty="0"/>
              <a:t>DataFrame</a:t>
            </a:r>
            <a:r>
              <a:rPr lang="zh-CN" altLang="en-US" dirty="0"/>
              <a:t>的每一列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可以把</a:t>
            </a:r>
            <a:r>
              <a:rPr lang="en-GB" altLang="zh-CN" dirty="0"/>
              <a:t>DataFrame</a:t>
            </a:r>
            <a:r>
              <a:rPr lang="zh-CN" altLang="en-US" dirty="0"/>
              <a:t>看作由</a:t>
            </a:r>
            <a:r>
              <a:rPr lang="en-GB" altLang="zh-CN" dirty="0"/>
              <a:t>Series</a:t>
            </a:r>
            <a:r>
              <a:rPr lang="zh-CN" altLang="en-US" dirty="0"/>
              <a:t>对象组成的字典，其中</a:t>
            </a:r>
            <a:r>
              <a:rPr lang="en-GB" altLang="zh-CN" dirty="0"/>
              <a:t>key</a:t>
            </a:r>
            <a:r>
              <a:rPr lang="zh-CN" altLang="en-US" dirty="0"/>
              <a:t>是列名，值是</a:t>
            </a:r>
            <a:r>
              <a:rPr lang="en-GB" altLang="zh-CN" dirty="0"/>
              <a:t>Series</a:t>
            </a:r>
            <a:endParaRPr lang="en-GB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Python</a:t>
            </a:r>
            <a:r>
              <a:rPr lang="zh-CN" altLang="en-US" dirty="0"/>
              <a:t>中的列表非常相似，但是它的每个元素的数据类型必须相同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创建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创建</a:t>
            </a:r>
            <a:r>
              <a:rPr lang="en-GB" altLang="zh-CN" dirty="0"/>
              <a:t>Series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创建 </a:t>
            </a:r>
            <a:r>
              <a:rPr lang="en-US" altLang="zh-CN" dirty="0"/>
              <a:t>Series </a:t>
            </a:r>
            <a:r>
              <a:rPr lang="zh-CN" altLang="en-US" dirty="0"/>
              <a:t>的最简单方法是传入一个</a:t>
            </a:r>
            <a:r>
              <a:rPr lang="en-US" altLang="zh-CN" dirty="0"/>
              <a:t>Python</a:t>
            </a:r>
            <a:r>
              <a:rPr lang="zh-CN" altLang="en-US" dirty="0"/>
              <a:t>列表</a:t>
            </a:r>
            <a:endParaRPr lang="en-US" altLang="zh-CN" dirty="0"/>
          </a:p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/>
              <a:t>s = </a:t>
            </a:r>
            <a:r>
              <a:rPr lang="en-GB" altLang="zh-CN" dirty="0" err="1"/>
              <a:t>pd.Series</a:t>
            </a:r>
            <a:r>
              <a:rPr lang="en-GB" altLang="zh-CN" dirty="0"/>
              <a:t>(['banana',42])</a:t>
            </a:r>
            <a:endParaRPr lang="en-GB" altLang="zh-CN" dirty="0"/>
          </a:p>
          <a:p>
            <a:r>
              <a:rPr lang="en-GB" altLang="zh-CN" dirty="0"/>
              <a:t>print(s)	</a:t>
            </a:r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上面的结果中，左边显示的0,1是Series的索引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3615690"/>
            <a:ext cx="7534910" cy="1258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创建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创建</a:t>
            </a:r>
            <a:r>
              <a:rPr lang="en-GB" altLang="zh-CN" dirty="0"/>
              <a:t>Series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创建</a:t>
            </a:r>
            <a:r>
              <a:rPr lang="en-US" altLang="zh-CN" dirty="0"/>
              <a:t>Series</a:t>
            </a:r>
            <a:r>
              <a:rPr lang="zh-CN" altLang="en-US" dirty="0"/>
              <a:t>时，可以通过</a:t>
            </a:r>
            <a:r>
              <a:rPr lang="en-US" altLang="zh-CN" dirty="0"/>
              <a:t>index</a:t>
            </a:r>
            <a:r>
              <a:rPr lang="zh-CN" altLang="en-US" dirty="0"/>
              <a:t>参数 来指定行索引</a:t>
            </a:r>
            <a:endParaRPr lang="en-US" altLang="zh-CN" dirty="0"/>
          </a:p>
          <a:p>
            <a:r>
              <a:rPr lang="en-GB" altLang="zh-CN" dirty="0"/>
              <a:t>s = </a:t>
            </a:r>
            <a:r>
              <a:rPr lang="en-GB" altLang="zh-CN" dirty="0" err="1"/>
              <a:t>pd.Series</a:t>
            </a:r>
            <a:r>
              <a:rPr lang="en-GB" altLang="zh-CN" dirty="0"/>
              <a:t>(['Wes </a:t>
            </a:r>
            <a:r>
              <a:rPr lang="en-GB" altLang="zh-CN" dirty="0" err="1"/>
              <a:t>McKinney','Male</a:t>
            </a:r>
            <a:r>
              <a:rPr lang="en-GB" altLang="zh-CN" dirty="0"/>
              <a:t>'],index = ['</a:t>
            </a:r>
            <a:r>
              <a:rPr lang="en-GB" altLang="zh-CN" dirty="0" err="1"/>
              <a:t>Name','Gender</a:t>
            </a:r>
            <a:r>
              <a:rPr lang="en-GB" altLang="zh-CN" dirty="0"/>
              <a:t>'])</a:t>
            </a:r>
            <a:endParaRPr lang="en-GB" altLang="zh-CN" dirty="0"/>
          </a:p>
          <a:p>
            <a:r>
              <a:rPr lang="en-GB" altLang="zh-CN" dirty="0"/>
              <a:t>print(s)</a:t>
            </a:r>
            <a:endParaRPr lang="en-GB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3206750"/>
            <a:ext cx="740410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创建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创建 </a:t>
            </a:r>
            <a:r>
              <a:rPr lang="en-GB" altLang="zh-CN" dirty="0"/>
              <a:t>DataFrame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可以使用字典来创建</a:t>
            </a:r>
            <a:r>
              <a:rPr lang="en-GB" altLang="zh-CN" dirty="0"/>
              <a:t>DataFrame</a:t>
            </a:r>
            <a:endParaRPr lang="en-GB" altLang="zh-CN" dirty="0"/>
          </a:p>
          <a:p>
            <a:r>
              <a:rPr lang="en-US" altLang="zh-CN" dirty="0" err="1"/>
              <a:t>name_list</a:t>
            </a:r>
            <a:r>
              <a:rPr lang="en-US" altLang="zh-CN" dirty="0"/>
              <a:t> = </a:t>
            </a:r>
            <a:r>
              <a:rPr lang="en-US" altLang="zh-CN" dirty="0" err="1"/>
              <a:t>pd.DataFrame</a:t>
            </a:r>
            <a:r>
              <a:rPr lang="en-US" altLang="zh-CN" dirty="0"/>
              <a:t>(</a:t>
            </a:r>
            <a:endParaRPr lang="en-US" altLang="zh-CN" dirty="0"/>
          </a:p>
          <a:p>
            <a:r>
              <a:rPr lang="en-US" altLang="zh-CN" dirty="0"/>
              <a:t>    {'Name':['</a:t>
            </a:r>
            <a:r>
              <a:rPr lang="en-US" altLang="zh-CN" dirty="0" err="1"/>
              <a:t>Tome','Bob</a:t>
            </a:r>
            <a:r>
              <a:rPr lang="en-US" altLang="zh-CN" dirty="0"/>
              <a:t>'],</a:t>
            </a:r>
            <a:endParaRPr lang="en-US" altLang="zh-CN" dirty="0"/>
          </a:p>
          <a:p>
            <a:r>
              <a:rPr lang="en-US" altLang="zh-CN" dirty="0"/>
              <a:t>     'Occupation':['</a:t>
            </a:r>
            <a:r>
              <a:rPr lang="en-US" altLang="zh-CN" dirty="0" err="1"/>
              <a:t>Teacher','IT</a:t>
            </a:r>
            <a:r>
              <a:rPr lang="en-US" altLang="zh-CN" dirty="0"/>
              <a:t> Engineer'],</a:t>
            </a:r>
            <a:endParaRPr lang="en-US" altLang="zh-CN" dirty="0"/>
          </a:p>
          <a:p>
            <a:r>
              <a:rPr lang="en-US" altLang="zh-CN" dirty="0"/>
              <a:t>     'age':[28,36]})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name_list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25" y="4439920"/>
            <a:ext cx="7175500" cy="11131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创建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创建 </a:t>
            </a:r>
            <a:r>
              <a:rPr lang="en-GB" altLang="zh-CN" dirty="0"/>
              <a:t>DataFrame</a:t>
            </a:r>
            <a:endParaRPr lang="en-GB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dirty="0"/>
              <a:t>创建DataFrame的时候可以使用colums参数指定列的顺序，也可以使用index来指定行索引</a:t>
            </a:r>
            <a:endParaRPr dirty="0"/>
          </a:p>
          <a:p>
            <a:r>
              <a:rPr lang="en-GB" altLang="zh-CN" dirty="0" err="1"/>
              <a:t>name_list</a:t>
            </a:r>
            <a:r>
              <a:rPr lang="en-GB" altLang="zh-CN" dirty="0"/>
              <a:t> = </a:t>
            </a:r>
            <a:r>
              <a:rPr lang="en-GB" altLang="zh-CN" dirty="0" err="1"/>
              <a:t>pd.DataFrame</a:t>
            </a:r>
            <a:r>
              <a:rPr lang="en-GB" altLang="zh-CN" dirty="0"/>
              <a:t>(</a:t>
            </a:r>
            <a:endParaRPr lang="en-GB" altLang="zh-CN" dirty="0"/>
          </a:p>
          <a:p>
            <a:r>
              <a:rPr lang="en-GB" altLang="zh-CN" dirty="0"/>
              <a:t>data = {'Occupation':['</a:t>
            </a:r>
            <a:r>
              <a:rPr lang="en-GB" altLang="zh-CN" dirty="0" err="1"/>
              <a:t>Teacher',‘IT</a:t>
            </a:r>
            <a:r>
              <a:rPr lang="zh-CN" altLang="en-US" dirty="0"/>
              <a:t> </a:t>
            </a:r>
            <a:r>
              <a:rPr lang="en-GB" altLang="zh-CN" dirty="0"/>
              <a:t>Engineer'],'Age':[28,36]},</a:t>
            </a:r>
            <a:endParaRPr lang="en-GB" altLang="zh-CN" dirty="0"/>
          </a:p>
          <a:p>
            <a:r>
              <a:rPr lang="en-GB" altLang="zh-CN" dirty="0"/>
              <a:t>columns=['</a:t>
            </a:r>
            <a:r>
              <a:rPr lang="en-GB" altLang="zh-CN" dirty="0" err="1"/>
              <a:t>Age','Occupation</a:t>
            </a:r>
            <a:r>
              <a:rPr lang="en-GB" altLang="zh-CN" dirty="0"/>
              <a:t>’],</a:t>
            </a:r>
            <a:endParaRPr lang="en-GB" altLang="zh-CN" dirty="0"/>
          </a:p>
          <a:p>
            <a:r>
              <a:rPr lang="en-GB" altLang="zh-CN" dirty="0"/>
              <a:t>index=['</a:t>
            </a:r>
            <a:r>
              <a:rPr lang="en-GB" altLang="zh-CN" dirty="0" err="1"/>
              <a:t>Tome','Bob</a:t>
            </a:r>
            <a:r>
              <a:rPr lang="en-GB" altLang="zh-CN" dirty="0"/>
              <a:t>'])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name_list</a:t>
            </a:r>
            <a:r>
              <a:rPr lang="en-GB" altLang="zh-CN" dirty="0"/>
              <a:t>)</a:t>
            </a:r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175" y="4409440"/>
            <a:ext cx="771525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创建</a:t>
            </a:r>
            <a:r>
              <a:rPr lang="en-GB" altLang="zh-CN" b="1" dirty="0"/>
              <a:t>Series</a:t>
            </a:r>
            <a:r>
              <a:rPr lang="zh-CN" altLang="en-US" b="1" dirty="0"/>
              <a:t>和</a:t>
            </a:r>
            <a:r>
              <a:rPr lang="en-GB" altLang="zh-CN" b="1" dirty="0"/>
              <a:t>DataFrame</a:t>
            </a:r>
            <a:endParaRPr lang="en-GB" altLang="zh-CN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Series </a:t>
            </a:r>
            <a:r>
              <a:rPr lang="zh-CN" altLang="en-US" b="1" dirty="0">
                <a:solidFill>
                  <a:srgbClr val="FF0000"/>
                </a:solidFill>
              </a:rPr>
              <a:t>常用操作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DataFrame</a:t>
            </a:r>
            <a:r>
              <a:rPr lang="zh-CN" altLang="en-US" b="1" dirty="0"/>
              <a:t>常用操作</a:t>
            </a:r>
            <a:endParaRPr lang="zh-CN" altLang="en-US" b="1" dirty="0"/>
          </a:p>
          <a:p>
            <a:r>
              <a:rPr lang="zh-CN" altLang="en-US" b="1" dirty="0"/>
              <a:t>更改</a:t>
            </a:r>
            <a:r>
              <a:rPr lang="en-GB" altLang="zh-CN" b="1" dirty="0"/>
              <a:t>Series</a:t>
            </a:r>
            <a:r>
              <a:rPr lang="zh-CN" altLang="en-US" b="1" dirty="0"/>
              <a:t>和</a:t>
            </a:r>
            <a:r>
              <a:rPr lang="en-GB" altLang="zh-CN" b="1" dirty="0"/>
              <a:t>DataFrame</a:t>
            </a:r>
            <a:endParaRPr lang="en-GB" altLang="zh-CN" b="1" dirty="0"/>
          </a:p>
          <a:p>
            <a:r>
              <a:rPr lang="zh-CN" altLang="en-US" b="1" dirty="0"/>
              <a:t>导出和导入数据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2.1 Series</a:t>
            </a:r>
            <a:r>
              <a:rPr lang="zh-CN" altLang="en-US" dirty="0"/>
              <a:t>常用属性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使用 </a:t>
            </a:r>
            <a:r>
              <a:rPr lang="en-US" altLang="zh-CN" dirty="0"/>
              <a:t>DataFrame</a:t>
            </a:r>
            <a:r>
              <a:rPr lang="zh-CN" altLang="en-US" dirty="0"/>
              <a:t>的</a:t>
            </a:r>
            <a:r>
              <a:rPr lang="en-US" altLang="zh-CN" dirty="0" err="1"/>
              <a:t>loc</a:t>
            </a:r>
            <a:r>
              <a:rPr lang="en-US" altLang="zh-CN" dirty="0"/>
              <a:t> </a:t>
            </a:r>
            <a:r>
              <a:rPr lang="zh-CN" altLang="en-US" dirty="0"/>
              <a:t>属性获取数据集里的一行，就会得到一个</a:t>
            </a:r>
            <a:r>
              <a:rPr lang="en-US" altLang="zh-CN" dirty="0"/>
              <a:t>Series</a:t>
            </a:r>
            <a:r>
              <a:rPr lang="zh-CN" altLang="en-US" dirty="0"/>
              <a:t>对象</a:t>
            </a:r>
            <a:endParaRPr lang="en-US" altLang="zh-CN" dirty="0"/>
          </a:p>
          <a:p>
            <a:r>
              <a:rPr lang="en-GB" altLang="zh-CN" dirty="0"/>
              <a:t>data = </a:t>
            </a:r>
            <a:r>
              <a:rPr lang="en-GB" altLang="zh-CN" dirty="0" err="1"/>
              <a:t>pd.read_csv</a:t>
            </a:r>
            <a:r>
              <a:rPr lang="en-GB" altLang="zh-CN" dirty="0"/>
              <a:t>('data/nobel_prizes.csv',</a:t>
            </a:r>
            <a:r>
              <a:rPr lang="en-GB" altLang="zh-CN" dirty="0" err="1"/>
              <a:t>index_col</a:t>
            </a:r>
            <a:r>
              <a:rPr lang="en-GB" altLang="zh-CN" dirty="0"/>
              <a:t>='id</a:t>
            </a:r>
            <a:r>
              <a:rPr lang="en-US" altLang="en-GB" dirty="0"/>
              <a:t>'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first_row</a:t>
            </a:r>
            <a:r>
              <a:rPr lang="en-GB" altLang="zh-CN" dirty="0"/>
              <a:t> = </a:t>
            </a:r>
            <a:r>
              <a:rPr lang="en-GB" altLang="zh-CN" dirty="0" err="1"/>
              <a:t>data.loc</a:t>
            </a:r>
            <a:r>
              <a:rPr lang="en-GB" altLang="zh-CN" dirty="0"/>
              <a:t>[941]</a:t>
            </a:r>
            <a:endParaRPr lang="en-GB" altLang="zh-CN" dirty="0"/>
          </a:p>
          <a:p>
            <a:r>
              <a:rPr lang="en-GB" altLang="zh-CN" dirty="0"/>
              <a:t>type(first_row)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可以通过 </a:t>
            </a:r>
            <a:r>
              <a:rPr lang="en-GB" altLang="zh-CN" dirty="0"/>
              <a:t>index </a:t>
            </a:r>
            <a:r>
              <a:rPr lang="zh-CN" altLang="en-US" dirty="0"/>
              <a:t>和 </a:t>
            </a:r>
            <a:r>
              <a:rPr lang="en-GB" altLang="zh-CN" dirty="0"/>
              <a:t>values</a:t>
            </a:r>
            <a:r>
              <a:rPr lang="zh-CN" altLang="en-US" dirty="0"/>
              <a:t>属性获取行索引和值</a:t>
            </a:r>
            <a:endParaRPr lang="en-US" altLang="zh-CN" dirty="0"/>
          </a:p>
          <a:p>
            <a:r>
              <a:rPr lang="en-GB" altLang="zh-CN" dirty="0" err="1"/>
              <a:t>first_row.index</a:t>
            </a:r>
            <a:endParaRPr lang="en-GB" altLang="zh-CN" dirty="0"/>
          </a:p>
          <a:p>
            <a:r>
              <a:rPr lang="en-GB" altLang="zh-CN" dirty="0" err="1"/>
              <a:t>first_row.values</a:t>
            </a:r>
            <a:endParaRPr lang="en-GB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en-GB" altLang="zh-CN" dirty="0"/>
              <a:t>Series</a:t>
            </a:r>
            <a:r>
              <a:rPr lang="zh-CN" altLang="en-US" dirty="0"/>
              <a:t>的</a:t>
            </a:r>
            <a:r>
              <a:rPr lang="en-GB" altLang="zh-CN" dirty="0"/>
              <a:t>keys</a:t>
            </a:r>
            <a:r>
              <a:rPr lang="zh-CN" altLang="en-US" dirty="0"/>
              <a:t>方法，作用和</a:t>
            </a:r>
            <a:r>
              <a:rPr lang="en-GB" altLang="zh-CN" dirty="0"/>
              <a:t>index</a:t>
            </a:r>
            <a:r>
              <a:rPr lang="zh-CN" altLang="en-US" dirty="0"/>
              <a:t>属性一样</a:t>
            </a:r>
            <a:endParaRPr lang="en-US" altLang="zh-CN" dirty="0"/>
          </a:p>
          <a:p>
            <a:r>
              <a:rPr lang="en-GB" altLang="zh-CN" dirty="0" err="1">
                <a:sym typeface="+mn-ea"/>
              </a:rPr>
              <a:t>first_row</a:t>
            </a:r>
            <a:r>
              <a:rPr lang="en-GB" altLang="zh-CN" dirty="0" err="1"/>
              <a:t>.keys</a:t>
            </a:r>
            <a:r>
              <a:rPr lang="en-GB" altLang="zh-CN" dirty="0"/>
              <a:t>()</a:t>
            </a:r>
            <a:endParaRPr lang="en-GB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2.1 Series</a:t>
            </a:r>
            <a:r>
              <a:rPr lang="zh-CN" altLang="en-US" dirty="0"/>
              <a:t>常用属性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en-GB" altLang="zh-CN" dirty="0"/>
              <a:t>Series</a:t>
            </a:r>
            <a:r>
              <a:rPr lang="zh-CN" altLang="en-US" dirty="0"/>
              <a:t>的一些属性</a:t>
            </a:r>
            <a:endParaRPr lang="en-US" altLang="zh-CN" dirty="0"/>
          </a:p>
          <a:p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77926"/>
            <a:ext cx="9461500" cy="3898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Series</a:t>
            </a:r>
            <a:r>
              <a:rPr lang="zh-CN" altLang="en-US" dirty="0"/>
              <a:t>常用方法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针对数值型的</a:t>
            </a:r>
            <a:r>
              <a:rPr lang="en-US" altLang="zh-CN" dirty="0"/>
              <a:t>Series</a:t>
            </a:r>
            <a:r>
              <a:rPr lang="zh-CN" altLang="en-US" dirty="0"/>
              <a:t>，可以进行常见计算</a:t>
            </a:r>
            <a:endParaRPr lang="en-US" altLang="zh-CN" dirty="0"/>
          </a:p>
          <a:p>
            <a:r>
              <a:rPr lang="en-GB" altLang="zh-CN" dirty="0"/>
              <a:t>share = </a:t>
            </a:r>
            <a:r>
              <a:rPr lang="en-GB" altLang="zh-CN" dirty="0" err="1"/>
              <a:t>data.share</a:t>
            </a:r>
            <a:r>
              <a:rPr lang="en-GB" altLang="zh-CN" dirty="0"/>
              <a:t>  # </a:t>
            </a:r>
            <a:r>
              <a:rPr lang="zh-CN" altLang="en-US" dirty="0"/>
              <a:t>从</a:t>
            </a:r>
            <a:r>
              <a:rPr lang="en-GB" altLang="zh-CN" dirty="0"/>
              <a:t>DataFrame</a:t>
            </a:r>
            <a:r>
              <a:rPr lang="zh-CN" altLang="en-US" dirty="0"/>
              <a:t>中 获取</a:t>
            </a:r>
            <a:r>
              <a:rPr lang="en-GB" altLang="zh-CN" dirty="0"/>
              <a:t>Share</a:t>
            </a:r>
            <a:r>
              <a:rPr lang="zh-CN" altLang="en-US" dirty="0"/>
              <a:t>列（几人获奖）返回</a:t>
            </a:r>
            <a:r>
              <a:rPr lang="en-GB" altLang="zh-CN" dirty="0"/>
              <a:t>Series</a:t>
            </a:r>
            <a:endParaRPr lang="en-GB" altLang="zh-CN" dirty="0"/>
          </a:p>
          <a:p>
            <a:r>
              <a:rPr lang="en-GB" altLang="zh-CN" dirty="0" err="1"/>
              <a:t>share.mean</a:t>
            </a:r>
            <a:r>
              <a:rPr lang="en-GB" altLang="zh-CN" dirty="0"/>
              <a:t>()      #</a:t>
            </a:r>
            <a:r>
              <a:rPr lang="zh-CN" altLang="en-US" dirty="0"/>
              <a:t>计算几人获奖的平均值</a:t>
            </a:r>
            <a:endParaRPr lang="en-US" altLang="zh-CN" dirty="0"/>
          </a:p>
          <a:p>
            <a:r>
              <a:rPr lang="en-GB" altLang="zh-CN" dirty="0" err="1"/>
              <a:t>share.max</a:t>
            </a:r>
            <a:r>
              <a:rPr lang="en-GB" altLang="zh-CN" dirty="0"/>
              <a:t>() </a:t>
            </a:r>
            <a:r>
              <a:rPr lang="zh-CN" altLang="en-US" dirty="0"/>
              <a:t>       </a:t>
            </a:r>
            <a:r>
              <a:rPr lang="en-GB" altLang="zh-CN" dirty="0"/>
              <a:t># </a:t>
            </a:r>
            <a:r>
              <a:rPr lang="zh-CN" altLang="en-US" dirty="0"/>
              <a:t>计算最大值</a:t>
            </a:r>
            <a:endParaRPr lang="en-US" altLang="zh-CN" dirty="0"/>
          </a:p>
          <a:p>
            <a:r>
              <a:rPr lang="en-GB" altLang="zh-CN" dirty="0" err="1"/>
              <a:t>share.min</a:t>
            </a:r>
            <a:r>
              <a:rPr lang="en-GB" altLang="zh-CN" dirty="0"/>
              <a:t>() </a:t>
            </a:r>
            <a:r>
              <a:rPr lang="zh-CN" altLang="en-US" dirty="0"/>
              <a:t>        </a:t>
            </a:r>
            <a:r>
              <a:rPr lang="en-GB" altLang="zh-CN" dirty="0"/>
              <a:t># </a:t>
            </a:r>
            <a:r>
              <a:rPr lang="zh-CN" altLang="en-US" dirty="0"/>
              <a:t>计算最小值</a:t>
            </a:r>
            <a:endParaRPr lang="en-US" altLang="zh-CN" dirty="0"/>
          </a:p>
          <a:p>
            <a:r>
              <a:rPr lang="en-GB" altLang="zh-CN" dirty="0" err="1"/>
              <a:t>share.std</a:t>
            </a:r>
            <a:r>
              <a:rPr lang="en-GB" altLang="zh-CN" dirty="0"/>
              <a:t>() </a:t>
            </a:r>
            <a:r>
              <a:rPr lang="zh-CN" altLang="en-US" dirty="0"/>
              <a:t>         </a:t>
            </a:r>
            <a:r>
              <a:rPr lang="en-GB" altLang="zh-CN" dirty="0"/>
              <a:t># </a:t>
            </a:r>
            <a:r>
              <a:rPr lang="zh-CN" altLang="en-US" dirty="0"/>
              <a:t>计算标准差</a:t>
            </a:r>
            <a:endParaRPr lang="en-GB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Series</a:t>
            </a:r>
            <a:r>
              <a:rPr lang="zh-CN" altLang="en-US" dirty="0"/>
              <a:t>常用方法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通过</a:t>
            </a:r>
            <a:r>
              <a:rPr lang="en-GB" altLang="zh-CN" dirty="0" err="1"/>
              <a:t>value_counts</a:t>
            </a:r>
            <a:r>
              <a:rPr lang="en-US" altLang="zh-CN" dirty="0"/>
              <a:t>()</a:t>
            </a:r>
            <a:r>
              <a:rPr lang="zh-CN" altLang="en-US" dirty="0"/>
              <a:t>方法，可以返回不同值的条目数量</a:t>
            </a:r>
            <a:endParaRPr lang="en-US" altLang="zh-CN" dirty="0"/>
          </a:p>
          <a:p>
            <a:r>
              <a:rPr lang="en-GB" altLang="zh-CN" dirty="0"/>
              <a:t>movie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movie.csv</a:t>
            </a:r>
            <a:r>
              <a:rPr lang="en-GB" altLang="zh-CN" dirty="0"/>
              <a:t>')    # </a:t>
            </a:r>
            <a:r>
              <a:rPr lang="zh-CN" altLang="en-US" dirty="0"/>
              <a:t>加载电影数据</a:t>
            </a:r>
            <a:endParaRPr lang="zh-CN" altLang="en-US" dirty="0"/>
          </a:p>
          <a:p>
            <a:r>
              <a:rPr lang="en-GB" altLang="zh-CN" dirty="0"/>
              <a:t>director = movie['</a:t>
            </a:r>
            <a:r>
              <a:rPr lang="en-GB" altLang="zh-CN" dirty="0" err="1"/>
              <a:t>director_name</a:t>
            </a:r>
            <a:r>
              <a:rPr lang="en-GB" altLang="zh-CN" dirty="0"/>
              <a:t>']   # </a:t>
            </a:r>
            <a:r>
              <a:rPr lang="zh-CN" altLang="en-US" dirty="0"/>
              <a:t>从电影数据中获取导演名字 返回</a:t>
            </a:r>
            <a:r>
              <a:rPr lang="en-GB" altLang="zh-CN" dirty="0"/>
              <a:t>Series</a:t>
            </a:r>
            <a:endParaRPr lang="en-GB" altLang="zh-CN" dirty="0"/>
          </a:p>
          <a:p>
            <a:r>
              <a:rPr lang="en-GB" altLang="zh-CN" dirty="0"/>
              <a:t>actor_1_fb_likes = movie['actor_1_facebook_likes'] # </a:t>
            </a:r>
            <a:r>
              <a:rPr lang="zh-CN" altLang="en-US" dirty="0"/>
              <a:t>从电影数据中取出主演的</a:t>
            </a:r>
            <a:r>
              <a:rPr lang="en-GB" altLang="zh-CN" dirty="0" err="1"/>
              <a:t>facebook</a:t>
            </a:r>
            <a:r>
              <a:rPr lang="zh-CN" altLang="en-US" dirty="0"/>
              <a:t>点赞数</a:t>
            </a:r>
            <a:endParaRPr lang="zh-CN" altLang="en-US" dirty="0"/>
          </a:p>
          <a:p>
            <a:r>
              <a:rPr lang="en-GB" altLang="zh-CN" dirty="0" err="1"/>
              <a:t>director.head</a:t>
            </a:r>
            <a:r>
              <a:rPr lang="en-GB" altLang="zh-CN" dirty="0"/>
              <a:t>()  #</a:t>
            </a:r>
            <a:r>
              <a:rPr lang="zh-CN" altLang="en-US" dirty="0"/>
              <a:t>查看导演</a:t>
            </a:r>
            <a:r>
              <a:rPr lang="en-GB" altLang="zh-CN" dirty="0"/>
              <a:t>Series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en-GB" altLang="zh-CN" dirty="0" err="1"/>
              <a:t>director.value_counts</a:t>
            </a:r>
            <a:r>
              <a:rPr lang="en-GB" altLang="zh-CN" dirty="0"/>
              <a:t>()      # </a:t>
            </a:r>
            <a:r>
              <a:rPr lang="zh-CN" altLang="en-US" dirty="0"/>
              <a:t>统计不同导演指导的电影数量</a:t>
            </a:r>
            <a:endParaRPr lang="en-US" altLang="zh-CN" dirty="0"/>
          </a:p>
          <a:p>
            <a:r>
              <a:rPr lang="en-GB" altLang="zh-CN" dirty="0"/>
              <a:t>actor_1_fb_likes.value_counts()</a:t>
            </a:r>
            <a:r>
              <a:rPr lang="en-US" altLang="en-GB" dirty="0"/>
              <a:t>   #查看主演的facebook点赞数</a:t>
            </a:r>
            <a:endParaRPr lang="en-US" altLang="en-GB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Series</a:t>
            </a:r>
            <a:r>
              <a:rPr lang="zh-CN" altLang="en-US" dirty="0"/>
              <a:t>常用方法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通过</a:t>
            </a:r>
            <a:r>
              <a:rPr lang="en-GB" altLang="zh-CN" dirty="0"/>
              <a:t>count()</a:t>
            </a:r>
            <a:r>
              <a:rPr lang="zh-CN" altLang="en-US" dirty="0"/>
              <a:t>方法可以返回有多少非空值</a:t>
            </a:r>
            <a:endParaRPr lang="en-US" altLang="zh-CN" dirty="0"/>
          </a:p>
          <a:p>
            <a:r>
              <a:rPr lang="en-GB" altLang="zh-CN" dirty="0" err="1"/>
              <a:t>director.count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 err="1"/>
              <a:t>director.shape</a:t>
            </a:r>
            <a:endParaRPr lang="en-GB" altLang="zh-CN" dirty="0"/>
          </a:p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通过</a:t>
            </a:r>
            <a:r>
              <a:rPr lang="en-GB" altLang="zh-CN" dirty="0"/>
              <a:t>describe()</a:t>
            </a:r>
            <a:r>
              <a:rPr lang="zh-CN" altLang="en-US" dirty="0"/>
              <a:t>方法打印描述信息</a:t>
            </a:r>
            <a:endParaRPr lang="en-US" altLang="zh-CN" dirty="0"/>
          </a:p>
          <a:p>
            <a:r>
              <a:rPr lang="es-ES" altLang="zh-CN" dirty="0"/>
              <a:t>actor_1_fb_likes.describe()</a:t>
            </a:r>
            <a:endParaRPr lang="es-ES" altLang="zh-CN" dirty="0"/>
          </a:p>
          <a:p>
            <a:r>
              <a:rPr lang="en-GB" altLang="zh-CN" dirty="0" err="1"/>
              <a:t>director.describe</a:t>
            </a:r>
            <a:r>
              <a:rPr lang="en-GB" altLang="zh-CN" dirty="0"/>
              <a:t>()</a:t>
            </a:r>
            <a:endParaRPr lang="en-GB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Series</a:t>
            </a:r>
            <a:r>
              <a:rPr lang="zh-CN" altLang="en-US" dirty="0"/>
              <a:t>常用方法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en-GB" altLang="zh-CN" dirty="0"/>
              <a:t>Series</a:t>
            </a:r>
            <a:r>
              <a:rPr lang="zh-CN" altLang="en-US" dirty="0"/>
              <a:t>的一些方法</a:t>
            </a:r>
            <a:endParaRPr lang="en-US" altLang="zh-CN" dirty="0"/>
          </a:p>
          <a:p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0875" y="2401636"/>
            <a:ext cx="6905669" cy="42195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2.2 Series</a:t>
            </a:r>
            <a:r>
              <a:rPr lang="zh-CN" altLang="en-US" dirty="0"/>
              <a:t>常用方法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en-GB" altLang="zh-CN" dirty="0"/>
              <a:t>Series</a:t>
            </a:r>
            <a:r>
              <a:rPr lang="zh-CN" altLang="en-US" dirty="0"/>
              <a:t>的一些方法</a:t>
            </a:r>
            <a:endParaRPr lang="en-US" altLang="zh-CN" dirty="0"/>
          </a:p>
          <a:p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310" y="2412188"/>
            <a:ext cx="6904800" cy="42090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2.3 Series</a:t>
            </a:r>
            <a:r>
              <a:rPr lang="zh-CN" altLang="en-US" dirty="0"/>
              <a:t>的布尔索引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588770"/>
            <a:ext cx="10699115" cy="512635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从</a:t>
            </a:r>
            <a:r>
              <a:rPr lang="en-US" altLang="zh-CN" dirty="0"/>
              <a:t>Series</a:t>
            </a:r>
            <a:r>
              <a:rPr lang="zh-CN" altLang="en-US" dirty="0"/>
              <a:t>中获取满足某些条件的数据，可以使用布尔索引</a:t>
            </a:r>
            <a:endParaRPr lang="en-US" altLang="zh-CN" dirty="0"/>
          </a:p>
          <a:p>
            <a:r>
              <a:rPr lang="en-GB" altLang="zh-CN" dirty="0"/>
              <a:t>scientists = </a:t>
            </a:r>
            <a:r>
              <a:rPr lang="en-GB" altLang="zh-CN" dirty="0" err="1"/>
              <a:t>pd.read_csv</a:t>
            </a:r>
            <a:r>
              <a:rPr lang="en-GB" altLang="zh-CN" dirty="0"/>
              <a:t>(‘data/</a:t>
            </a:r>
            <a:r>
              <a:rPr lang="en-GB" altLang="zh-CN" dirty="0" err="1"/>
              <a:t>scientists.csv</a:t>
            </a:r>
            <a:r>
              <a:rPr lang="en-GB" altLang="zh-CN" dirty="0"/>
              <a:t>’) #</a:t>
            </a:r>
            <a:r>
              <a:rPr lang="zh-CN" altLang="en-GB" dirty="0"/>
              <a:t>加载数据</a:t>
            </a:r>
            <a:endParaRPr lang="zh-CN" altLang="en-GB" dirty="0"/>
          </a:p>
          <a:p>
            <a:r>
              <a:rPr lang="en-US" altLang="zh-CN" dirty="0"/>
              <a:t>ages = scientists['Age'] # </a:t>
            </a:r>
            <a:r>
              <a:rPr lang="zh-CN" altLang="en-US" dirty="0"/>
              <a:t>查看</a:t>
            </a:r>
            <a:r>
              <a:rPr lang="en-US" altLang="zh-CN" dirty="0"/>
              <a:t>Age</a:t>
            </a:r>
            <a:r>
              <a:rPr lang="zh-CN" altLang="en-US" dirty="0"/>
              <a:t>列数据</a:t>
            </a:r>
            <a:endParaRPr lang="en-US" altLang="zh-CN" dirty="0"/>
          </a:p>
          <a:p>
            <a:r>
              <a:rPr lang="en-US" altLang="zh-CN" dirty="0"/>
              <a:t>ages.mean() </a:t>
            </a:r>
            <a:r>
              <a:rPr lang="en-US" altLang="zh-CN" dirty="0">
                <a:sym typeface="+mn-ea"/>
              </a:rPr>
              <a:t># </a:t>
            </a:r>
            <a:r>
              <a:rPr lang="zh-CN" altLang="en-US" dirty="0">
                <a:sym typeface="+mn-ea"/>
              </a:rPr>
              <a:t>查看平均年龄</a:t>
            </a:r>
            <a:endParaRPr lang="en-US" altLang="zh-CN" dirty="0"/>
          </a:p>
          <a:p>
            <a:r>
              <a:rPr lang="en-GB" altLang="zh-CN" dirty="0"/>
              <a:t>ages[ages&gt;</a:t>
            </a:r>
            <a:r>
              <a:rPr lang="en-GB" altLang="zh-CN" dirty="0" err="1"/>
              <a:t>ages.mean</a:t>
            </a:r>
            <a:r>
              <a:rPr lang="en-GB" altLang="zh-CN" dirty="0"/>
              <a:t>()]</a:t>
            </a:r>
            <a:r>
              <a:rPr lang="zh-CN" altLang="en-US" dirty="0"/>
              <a:t> </a:t>
            </a:r>
            <a:r>
              <a:rPr lang="en-US" altLang="zh-CN" dirty="0"/>
              <a:t># </a:t>
            </a:r>
            <a:r>
              <a:rPr lang="zh-CN" altLang="en-US" dirty="0"/>
              <a:t>获取大于平均年龄的结果</a:t>
            </a:r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Font typeface="+mj-lt"/>
            </a:pPr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5" y="3964305"/>
            <a:ext cx="73152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2.3 Series</a:t>
            </a:r>
            <a:r>
              <a:rPr lang="zh-CN" altLang="en-US" dirty="0"/>
              <a:t>的布尔索引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588770"/>
            <a:ext cx="10699115" cy="4736465"/>
          </a:xfrm>
        </p:spPr>
        <p:txBody>
          <a:bodyPr/>
          <a:lstStyle/>
          <a:p>
            <a:pPr>
              <a:buFont typeface="+mj-lt"/>
            </a:pPr>
            <a:r>
              <a:rPr dirty="0">
                <a:sym typeface="+mn-ea"/>
              </a:rPr>
              <a:t>分析返回结果</a:t>
            </a:r>
            <a:endParaRPr dirty="0"/>
          </a:p>
          <a:p>
            <a:r>
              <a:rPr lang="en-US" altLang="zh-CN" dirty="0"/>
              <a:t>print(ages&gt;ages.mean())</a:t>
            </a:r>
            <a:r>
              <a:rPr lang="zh-CN" altLang="en-US" dirty="0"/>
              <a:t> </a:t>
            </a:r>
            <a:endParaRPr lang="en-GB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20" y="2741930"/>
            <a:ext cx="86487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2.3 Series</a:t>
            </a:r>
            <a:r>
              <a:rPr lang="zh-CN" altLang="en-US" dirty="0"/>
              <a:t>的布尔索引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474210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从上面结果可以得知，从Series中获取部分数据，可以通过标签，索引，也可以传入布尔值的列表</a:t>
            </a:r>
            <a:endParaRPr lang="zh-CN" altLang="en-US" dirty="0"/>
          </a:p>
          <a:p>
            <a:pPr>
              <a:buFont typeface="+mj-lt"/>
            </a:pPr>
            <a:r>
              <a:rPr lang="zh-CN" altLang="en-US" dirty="0"/>
              <a:t>手动创建布尔值列表</a:t>
            </a:r>
            <a:endParaRPr lang="zh-CN" altLang="en-US" dirty="0"/>
          </a:p>
          <a:p>
            <a:r>
              <a:rPr lang="en-GB" altLang="zh-CN" dirty="0" err="1"/>
              <a:t>bool_values</a:t>
            </a:r>
            <a:r>
              <a:rPr lang="en-GB" altLang="zh-CN" dirty="0"/>
              <a:t> = [</a:t>
            </a:r>
            <a:r>
              <a:rPr lang="en-GB" altLang="zh-CN" dirty="0" err="1"/>
              <a:t>False,True,True,False,False,False,False,False</a:t>
            </a:r>
            <a:r>
              <a:rPr lang="en-GB" altLang="zh-CN" dirty="0"/>
              <a:t>]</a:t>
            </a:r>
            <a:endParaRPr lang="en-GB" altLang="zh-CN" dirty="0"/>
          </a:p>
          <a:p>
            <a:r>
              <a:rPr lang="en-GB" altLang="zh-CN" dirty="0"/>
              <a:t>ages[</a:t>
            </a:r>
            <a:r>
              <a:rPr lang="en-GB" altLang="zh-CN" dirty="0" err="1"/>
              <a:t>bool_values</a:t>
            </a:r>
            <a:r>
              <a:rPr lang="en-GB" altLang="zh-CN" dirty="0"/>
              <a:t>]</a:t>
            </a:r>
            <a:endParaRPr lang="en-GB" altLang="zh-CN" dirty="0"/>
          </a:p>
          <a:p>
            <a:endParaRPr lang="en-GB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70" y="3553460"/>
            <a:ext cx="73279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2.4 Series </a:t>
            </a:r>
            <a:r>
              <a:rPr lang="zh-CN" altLang="en-US" dirty="0"/>
              <a:t>的运算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Series</a:t>
            </a:r>
            <a:r>
              <a:rPr lang="zh-CN" altLang="en-US" dirty="0"/>
              <a:t>和数值型变量计算时，变量会与</a:t>
            </a:r>
            <a:r>
              <a:rPr lang="en-US" altLang="zh-CN" dirty="0"/>
              <a:t>Series</a:t>
            </a:r>
            <a:r>
              <a:rPr lang="zh-CN" altLang="en-US" dirty="0"/>
              <a:t>中的每个元素逐一进行计算</a:t>
            </a:r>
            <a:endParaRPr lang="en-US" altLang="zh-CN" dirty="0"/>
          </a:p>
          <a:p>
            <a:r>
              <a:rPr lang="en-GB" altLang="zh-CN" dirty="0"/>
              <a:t>ages+100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>
                <a:sym typeface="+mn-ea"/>
              </a:rPr>
              <a:t>ages*2</a:t>
            </a:r>
            <a:endParaRPr lang="en-GB" altLang="zh-CN" dirty="0"/>
          </a:p>
          <a:p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" y="2798445"/>
            <a:ext cx="8420100" cy="2127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2.4 Series </a:t>
            </a:r>
            <a:r>
              <a:rPr lang="zh-CN" altLang="en-US" dirty="0"/>
              <a:t>的运算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93920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两个</a:t>
            </a:r>
            <a:r>
              <a:rPr lang="en-US" altLang="zh-CN" dirty="0"/>
              <a:t>Series</a:t>
            </a:r>
            <a:r>
              <a:rPr lang="zh-CN" altLang="en-US" dirty="0"/>
              <a:t>之间计算，如果</a:t>
            </a:r>
            <a:r>
              <a:rPr lang="en-US" altLang="zh-CN" dirty="0"/>
              <a:t>Series</a:t>
            </a:r>
            <a:r>
              <a:rPr lang="zh-CN" altLang="en-US" dirty="0"/>
              <a:t>元素个数相同</a:t>
            </a:r>
            <a:endParaRPr lang="en-US" altLang="zh-CN" dirty="0"/>
          </a:p>
          <a:p>
            <a:r>
              <a:rPr lang="en-GB" altLang="zh-CN" dirty="0" err="1"/>
              <a:t>ages+ages</a:t>
            </a:r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 err="1"/>
          </a:p>
          <a:p>
            <a:endParaRPr lang="en-GB" altLang="zh-CN" dirty="0"/>
          </a:p>
          <a:p>
            <a:r>
              <a:rPr lang="en-GB" altLang="zh-CN" dirty="0"/>
              <a:t>ages*ages</a:t>
            </a:r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715" y="2715260"/>
            <a:ext cx="8166100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2.4 Series </a:t>
            </a:r>
            <a:r>
              <a:rPr lang="zh-CN" altLang="en-US" dirty="0"/>
              <a:t>的运算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467225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元素个数不同的</a:t>
            </a:r>
            <a:r>
              <a:rPr lang="en-US" altLang="zh-CN" dirty="0"/>
              <a:t>Series</a:t>
            </a:r>
            <a:r>
              <a:rPr lang="zh-CN" altLang="en-US" dirty="0"/>
              <a:t>之间进行计算，会根据索引进行。</a:t>
            </a:r>
            <a:endParaRPr lang="en-US" altLang="zh-CN" dirty="0"/>
          </a:p>
          <a:p>
            <a:r>
              <a:rPr lang="zh-CN" altLang="en-US" dirty="0"/>
              <a:t>      索引不同的元素最终计算的结果会填充成缺失值，用</a:t>
            </a:r>
            <a:r>
              <a:rPr lang="en-US" altLang="zh-CN" dirty="0" err="1"/>
              <a:t>NaN</a:t>
            </a:r>
            <a:r>
              <a:rPr lang="zh-CN" altLang="en-US" dirty="0"/>
              <a:t>表示</a:t>
            </a:r>
            <a:endParaRPr lang="en-US" altLang="zh-CN" dirty="0"/>
          </a:p>
          <a:p>
            <a:r>
              <a:rPr lang="en-GB" altLang="zh-CN" dirty="0"/>
              <a:t>ages + </a:t>
            </a:r>
            <a:r>
              <a:rPr lang="en-GB" altLang="zh-CN" dirty="0" err="1"/>
              <a:t>pd.Series</a:t>
            </a:r>
            <a:r>
              <a:rPr lang="en-GB" altLang="zh-CN" dirty="0"/>
              <a:t>([1,100])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ages * </a:t>
            </a:r>
            <a:r>
              <a:rPr lang="en-GB" altLang="zh-CN" dirty="0" err="1"/>
              <a:t>pd.Series</a:t>
            </a:r>
            <a:r>
              <a:rPr lang="en-GB" altLang="zh-CN" dirty="0"/>
              <a:t>([1,100])</a:t>
            </a:r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25" y="3078480"/>
            <a:ext cx="75692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GB" altLang="zh-CN" dirty="0"/>
              <a:t>Series </a:t>
            </a:r>
            <a:r>
              <a:rPr lang="zh-CN" altLang="en-US" dirty="0"/>
              <a:t>常用操作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2.4 Series </a:t>
            </a:r>
            <a:r>
              <a:rPr lang="zh-CN" altLang="en-US" dirty="0"/>
              <a:t>的运算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438015"/>
          </a:xfrm>
        </p:spPr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en-US" altLang="zh-CN" dirty="0"/>
              <a:t>Series</a:t>
            </a:r>
            <a:r>
              <a:rPr lang="zh-CN" altLang="en-US" dirty="0"/>
              <a:t>之间进行计算时，数据会尽可能依据索引标签进行相互计算</a:t>
            </a:r>
            <a:endParaRPr lang="zh-CN" altLang="en-US" dirty="0"/>
          </a:p>
          <a:p>
            <a:pPr>
              <a:buFont typeface="+mj-lt"/>
            </a:pPr>
            <a:r>
              <a:rPr lang="en-US" altLang="zh-CN" dirty="0"/>
              <a:t>print(ages)</a:t>
            </a:r>
            <a:endParaRPr lang="en-US" altLang="zh-CN" dirty="0"/>
          </a:p>
          <a:p>
            <a:r>
              <a:rPr lang="en-GB" altLang="zh-CN" dirty="0" err="1"/>
              <a:t>rev_ages</a:t>
            </a:r>
            <a:r>
              <a:rPr lang="en-GB" altLang="zh-CN" dirty="0"/>
              <a:t> = </a:t>
            </a:r>
            <a:r>
              <a:rPr lang="en-GB" altLang="zh-CN" dirty="0" err="1"/>
              <a:t>ages.sort_index</a:t>
            </a:r>
            <a:r>
              <a:rPr lang="en-GB" altLang="zh-CN" dirty="0"/>
              <a:t>(ascending=False)</a:t>
            </a:r>
            <a:endParaRPr lang="en-GB" altLang="zh-CN" dirty="0"/>
          </a:p>
          <a:p>
            <a:r>
              <a:rPr lang="en-US" altLang="zh-CN" dirty="0">
                <a:sym typeface="+mn-ea"/>
              </a:rPr>
              <a:t>print(</a:t>
            </a:r>
            <a:r>
              <a:rPr lang="en-GB" altLang="zh-CN" dirty="0" err="1">
                <a:sym typeface="+mn-ea"/>
              </a:rPr>
              <a:t>rev_ages</a:t>
            </a:r>
            <a:r>
              <a:rPr lang="en-US" altLang="zh-CN" dirty="0">
                <a:sym typeface="+mn-ea"/>
              </a:rPr>
              <a:t>)</a:t>
            </a:r>
            <a:endParaRPr lang="en-GB" altLang="zh-CN" dirty="0"/>
          </a:p>
          <a:p>
            <a:r>
              <a:rPr lang="en-GB" altLang="zh-CN" dirty="0" err="1"/>
              <a:t>ages+rev_ages</a:t>
            </a:r>
            <a:r>
              <a:rPr lang="zh-CN" altLang="en-US" dirty="0"/>
              <a:t> </a:t>
            </a:r>
            <a:r>
              <a:rPr lang="en-US" altLang="zh-CN" dirty="0"/>
              <a:t>#</a:t>
            </a:r>
            <a:r>
              <a:rPr lang="zh-CN" altLang="en-US" dirty="0"/>
              <a:t>使用</a:t>
            </a:r>
            <a:r>
              <a:rPr lang="en-US" altLang="zh-CN" dirty="0"/>
              <a:t>ages</a:t>
            </a:r>
            <a:r>
              <a:rPr lang="zh-CN" altLang="en-US" dirty="0"/>
              <a:t>和</a:t>
            </a:r>
            <a:r>
              <a:rPr lang="en-US" altLang="zh-CN" dirty="0" err="1"/>
              <a:t>rev_ages</a:t>
            </a:r>
            <a:r>
              <a:rPr lang="en-US" altLang="zh-CN" dirty="0"/>
              <a:t> </a:t>
            </a:r>
            <a:r>
              <a:rPr lang="zh-CN" altLang="en-US" dirty="0"/>
              <a:t>执行某项操作时，仍然是逐个元素进行，但在执行操作前会首先对应索引标签</a:t>
            </a:r>
            <a:endParaRPr lang="zh-CN" altLang="en-US" dirty="0"/>
          </a:p>
          <a:p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345" y="3872865"/>
            <a:ext cx="871855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创建</a:t>
            </a:r>
            <a:r>
              <a:rPr lang="en-GB" altLang="zh-CN" b="1" dirty="0"/>
              <a:t>Series</a:t>
            </a:r>
            <a:r>
              <a:rPr lang="zh-CN" altLang="en-US" b="1" dirty="0"/>
              <a:t>和</a:t>
            </a:r>
            <a:r>
              <a:rPr lang="en-GB" altLang="zh-CN" b="1" dirty="0"/>
              <a:t>DataFrame</a:t>
            </a:r>
            <a:endParaRPr lang="en-GB" altLang="zh-CN" b="1" dirty="0"/>
          </a:p>
          <a:p>
            <a:r>
              <a:rPr lang="en-GB" altLang="zh-CN" b="1" dirty="0"/>
              <a:t>Series </a:t>
            </a:r>
            <a:r>
              <a:rPr lang="zh-CN" altLang="en-US" b="1" dirty="0"/>
              <a:t>常用操作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DataFrame</a:t>
            </a:r>
            <a:r>
              <a:rPr lang="zh-CN" altLang="en-US" b="1" dirty="0">
                <a:solidFill>
                  <a:srgbClr val="FF0000"/>
                </a:solidFill>
              </a:rPr>
              <a:t>常用操作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更改</a:t>
            </a:r>
            <a:r>
              <a:rPr lang="en-GB" altLang="zh-CN" b="1" dirty="0"/>
              <a:t>Series</a:t>
            </a:r>
            <a:r>
              <a:rPr lang="zh-CN" altLang="en-US" b="1" dirty="0"/>
              <a:t>和</a:t>
            </a:r>
            <a:r>
              <a:rPr lang="en-GB" altLang="zh-CN" b="1" dirty="0"/>
              <a:t>DataFrame</a:t>
            </a:r>
            <a:endParaRPr lang="en-GB" altLang="zh-CN" b="1" dirty="0"/>
          </a:p>
          <a:p>
            <a:r>
              <a:rPr lang="zh-CN" altLang="en-US" b="1" dirty="0"/>
              <a:t>导出和导入数据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DataFrame</a:t>
            </a:r>
            <a:r>
              <a:rPr lang="zh-CN" altLang="en-US" dirty="0">
                <a:solidFill>
                  <a:schemeClr val="tx1"/>
                </a:solidFill>
              </a:rPr>
              <a:t>常用操作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3.1 DataFrame</a:t>
            </a:r>
            <a:r>
              <a:rPr lang="zh-CN" altLang="en-US" dirty="0"/>
              <a:t>的常用属性和方法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DataFrame</a:t>
            </a:r>
            <a:r>
              <a:rPr lang="zh-CN" altLang="en-US" dirty="0"/>
              <a:t>是</a:t>
            </a:r>
            <a:r>
              <a:rPr lang="en-GB" altLang="zh-CN" dirty="0"/>
              <a:t>Pandas</a:t>
            </a:r>
            <a:r>
              <a:rPr lang="zh-CN" altLang="en-US" dirty="0"/>
              <a:t>中最常见的对象，</a:t>
            </a:r>
            <a:endParaRPr lang="en-US" altLang="zh-CN" dirty="0"/>
          </a:p>
          <a:p>
            <a:r>
              <a:rPr lang="zh-CN" altLang="en-US" dirty="0"/>
              <a:t>      </a:t>
            </a:r>
            <a:r>
              <a:rPr lang="en-GB" altLang="zh-CN" dirty="0"/>
              <a:t>Series</a:t>
            </a:r>
            <a:r>
              <a:rPr lang="zh-CN" altLang="en-US" dirty="0"/>
              <a:t>数据结构的许多属性和方法在</a:t>
            </a:r>
            <a:r>
              <a:rPr lang="en-GB" altLang="zh-CN" dirty="0"/>
              <a:t>DataFrame</a:t>
            </a:r>
            <a:r>
              <a:rPr lang="zh-CN" altLang="en-US" dirty="0"/>
              <a:t>中也一样适用</a:t>
            </a:r>
            <a:endParaRPr lang="en-US" altLang="zh-CN" dirty="0"/>
          </a:p>
          <a:p>
            <a:r>
              <a:rPr lang="en-GB" altLang="zh-CN" dirty="0"/>
              <a:t>movie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movie.csv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# </a:t>
            </a:r>
            <a:r>
              <a:rPr lang="zh-CN" altLang="en-US" dirty="0"/>
              <a:t>打印行数和列数</a:t>
            </a:r>
            <a:endParaRPr lang="zh-CN" altLang="en-US" dirty="0"/>
          </a:p>
          <a:p>
            <a:r>
              <a:rPr lang="en-GB" altLang="zh-CN" dirty="0" err="1"/>
              <a:t>movie.shape</a:t>
            </a:r>
            <a:r>
              <a:rPr lang="en-GB" altLang="zh-CN" dirty="0"/>
              <a:t> </a:t>
            </a:r>
            <a:endParaRPr lang="en-GB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打印数据的个数</a:t>
            </a:r>
            <a:endParaRPr lang="zh-CN" altLang="en-US" dirty="0"/>
          </a:p>
          <a:p>
            <a:r>
              <a:rPr lang="en-GB" altLang="zh-CN" dirty="0" err="1"/>
              <a:t>movie.size</a:t>
            </a:r>
            <a:endParaRPr lang="en-GB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该数据集的维度</a:t>
            </a:r>
            <a:endParaRPr lang="zh-CN" altLang="en-US" dirty="0"/>
          </a:p>
          <a:p>
            <a:r>
              <a:rPr lang="en-GB" altLang="zh-CN" dirty="0" err="1"/>
              <a:t>movie.ndim</a:t>
            </a:r>
            <a:endParaRPr lang="en-GB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DataFrame</a:t>
            </a:r>
            <a:r>
              <a:rPr lang="zh-CN" altLang="en-US" dirty="0">
                <a:solidFill>
                  <a:schemeClr val="tx1"/>
                </a:solidFill>
              </a:rPr>
              <a:t>常用操作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3.1 DataFrame</a:t>
            </a:r>
            <a:r>
              <a:rPr lang="zh-CN" altLang="en-US" dirty="0"/>
              <a:t>的常用属性和方法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# </a:t>
            </a:r>
            <a:r>
              <a:rPr lang="zh-CN" altLang="en-US" dirty="0"/>
              <a:t>该数据集的长度</a:t>
            </a:r>
            <a:endParaRPr lang="zh-CN" altLang="en-US" dirty="0"/>
          </a:p>
          <a:p>
            <a:r>
              <a:rPr lang="en-GB" altLang="zh-CN" dirty="0" err="1"/>
              <a:t>len</a:t>
            </a:r>
            <a:r>
              <a:rPr lang="en-GB" altLang="zh-CN" dirty="0"/>
              <a:t>(movie)</a:t>
            </a:r>
            <a:endParaRPr lang="en-GB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各列的值的个数</a:t>
            </a:r>
            <a:endParaRPr lang="zh-CN" altLang="en-US" dirty="0"/>
          </a:p>
          <a:p>
            <a:r>
              <a:rPr lang="en-GB" altLang="zh-CN" dirty="0" err="1"/>
              <a:t>movie.count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各列的最小值</a:t>
            </a:r>
            <a:endParaRPr lang="zh-CN" altLang="en-US" dirty="0"/>
          </a:p>
          <a:p>
            <a:r>
              <a:rPr lang="en-GB" altLang="zh-CN" dirty="0" err="1"/>
              <a:t>movie.min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</a:t>
            </a:r>
            <a:r>
              <a:rPr lang="zh-CN" altLang="en-GB" dirty="0"/>
              <a:t>查看</a:t>
            </a:r>
            <a:r>
              <a:rPr lang="zh-CN" altLang="en-US" dirty="0"/>
              <a:t>数值列统计指标</a:t>
            </a:r>
            <a:endParaRPr lang="en-GB" altLang="zh-CN" dirty="0"/>
          </a:p>
          <a:p>
            <a:r>
              <a:rPr lang="en-GB" altLang="zh-CN" dirty="0" err="1"/>
              <a:t>movie.describe</a:t>
            </a:r>
            <a:r>
              <a:rPr lang="en-GB" altLang="zh-CN" dirty="0"/>
              <a:t>()</a:t>
            </a:r>
            <a:endParaRPr lang="en-GB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DataFrame</a:t>
            </a:r>
            <a:r>
              <a:rPr lang="zh-CN" altLang="en-US" dirty="0">
                <a:solidFill>
                  <a:schemeClr val="tx1"/>
                </a:solidFill>
              </a:rPr>
              <a:t>常用操作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3.2 DataFrame</a:t>
            </a:r>
            <a:r>
              <a:rPr lang="zh-CN" altLang="en-US" dirty="0"/>
              <a:t>的布尔索引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同</a:t>
            </a:r>
            <a:r>
              <a:rPr lang="en-GB" altLang="zh-CN" dirty="0"/>
              <a:t>Series</a:t>
            </a:r>
            <a:r>
              <a:rPr lang="zh-CN" altLang="en-US" dirty="0"/>
              <a:t>一样，</a:t>
            </a:r>
            <a:r>
              <a:rPr lang="en-GB" altLang="zh-CN" dirty="0"/>
              <a:t>DataFrame</a:t>
            </a:r>
            <a:r>
              <a:rPr lang="zh-CN" altLang="en-US" dirty="0"/>
              <a:t>也可以使用布尔索引获取数据子集。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使用布尔索引获取部分数据行</a:t>
            </a:r>
            <a:endParaRPr lang="zh-CN" altLang="en-US" dirty="0"/>
          </a:p>
          <a:p>
            <a:r>
              <a:rPr lang="en-GB" altLang="zh-CN" dirty="0"/>
              <a:t>movie[movie['duration']&gt;movie['duration'].mean()]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可以传入布尔值的列表，来获取部分数据，</a:t>
            </a:r>
            <a:r>
              <a:rPr lang="en-US" altLang="zh-CN" dirty="0"/>
              <a:t>True</a:t>
            </a:r>
            <a:r>
              <a:rPr lang="zh-CN" altLang="en-US" dirty="0"/>
              <a:t>所对应的数据会被保留</a:t>
            </a:r>
            <a:endParaRPr lang="en-US" altLang="zh-CN" dirty="0"/>
          </a:p>
          <a:p>
            <a:r>
              <a:rPr lang="en-GB" altLang="zh-CN" dirty="0" err="1"/>
              <a:t>movie.head</a:t>
            </a:r>
            <a:r>
              <a:rPr lang="en-GB" altLang="zh-CN" dirty="0"/>
              <a:t>()[[</a:t>
            </a:r>
            <a:r>
              <a:rPr lang="en-GB" altLang="zh-CN" dirty="0" err="1"/>
              <a:t>True,True,False,True,False</a:t>
            </a:r>
            <a:r>
              <a:rPr lang="en-GB" altLang="zh-CN" dirty="0"/>
              <a:t>]]</a:t>
            </a:r>
            <a:endParaRPr lang="en-GB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 </a:t>
            </a:r>
            <a:r>
              <a:rPr lang="en-GB" altLang="zh-CN" dirty="0">
                <a:solidFill>
                  <a:schemeClr val="tx1"/>
                </a:solidFill>
              </a:rPr>
              <a:t>DataFrame</a:t>
            </a:r>
            <a:r>
              <a:rPr lang="zh-CN" altLang="en-US" dirty="0">
                <a:solidFill>
                  <a:schemeClr val="tx1"/>
                </a:solidFill>
              </a:rPr>
              <a:t>常用操作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3.3 DataFrame</a:t>
            </a:r>
            <a:r>
              <a:rPr lang="zh-CN" altLang="en-US" dirty="0"/>
              <a:t>的运算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当</a:t>
            </a:r>
            <a:r>
              <a:rPr lang="en-US" altLang="zh-CN" dirty="0"/>
              <a:t>DataFrame</a:t>
            </a:r>
            <a:r>
              <a:rPr lang="zh-CN" altLang="en-US" dirty="0"/>
              <a:t>和数值进行运算时，</a:t>
            </a:r>
            <a:r>
              <a:rPr lang="en-US" altLang="zh-CN" dirty="0"/>
              <a:t>DataFrame</a:t>
            </a:r>
            <a:r>
              <a:rPr lang="zh-CN" altLang="en-US" dirty="0"/>
              <a:t>中的每一个元素会分别和数值进行运算</a:t>
            </a:r>
            <a:endParaRPr lang="en-US" altLang="zh-CN" dirty="0"/>
          </a:p>
          <a:p>
            <a:r>
              <a:rPr lang="en-GB" altLang="zh-CN" dirty="0"/>
              <a:t>scientists*2</a:t>
            </a:r>
            <a:endParaRPr lang="en-GB" altLang="zh-CN" dirty="0"/>
          </a:p>
          <a:p>
            <a:r>
              <a:rPr lang="en-GB" altLang="zh-CN" dirty="0"/>
              <a:t>数据都是字符串类型的，所有字符串都被复制了一份</a:t>
            </a:r>
            <a:endParaRPr lang="en-GB" altLang="zh-CN" dirty="0"/>
          </a:p>
          <a:p>
            <a:r>
              <a:rPr lang="en-GB" altLang="zh-CN" dirty="0"/>
              <a:t>如果做其它计算会报错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两个</a:t>
            </a:r>
            <a:r>
              <a:rPr lang="en-US" altLang="zh-CN" dirty="0"/>
              <a:t>DataFrame</a:t>
            </a:r>
            <a:r>
              <a:rPr lang="zh-CN" altLang="en-US" dirty="0"/>
              <a:t>之间进行计算，会根据索引进行对应计算</a:t>
            </a:r>
            <a:endParaRPr lang="en-US" altLang="zh-CN" dirty="0"/>
          </a:p>
          <a:p>
            <a:r>
              <a:rPr lang="en-GB" altLang="zh-CN" dirty="0" err="1"/>
              <a:t>scientists+scientists</a:t>
            </a:r>
            <a:endParaRPr lang="en-GB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两个</a:t>
            </a:r>
            <a:r>
              <a:rPr lang="en-US" altLang="zh-CN" dirty="0"/>
              <a:t>DataFrame</a:t>
            </a:r>
            <a:r>
              <a:rPr lang="zh-CN" altLang="en-US" dirty="0"/>
              <a:t>数据条目数不同时，会根据索引进行计算，索引不匹配的会返回</a:t>
            </a:r>
            <a:r>
              <a:rPr lang="en-US" altLang="zh-CN" dirty="0" err="1"/>
              <a:t>NaN</a:t>
            </a:r>
            <a:endParaRPr lang="en-US" altLang="zh-CN" dirty="0"/>
          </a:p>
          <a:p>
            <a:r>
              <a:rPr lang="en-GB" altLang="zh-CN" dirty="0" err="1"/>
              <a:t>first_half</a:t>
            </a:r>
            <a:r>
              <a:rPr lang="en-GB" altLang="zh-CN" dirty="0"/>
              <a:t> = scientists[:4]</a:t>
            </a:r>
            <a:endParaRPr lang="en-GB" altLang="zh-CN" dirty="0"/>
          </a:p>
          <a:p>
            <a:r>
              <a:rPr lang="en-GB" altLang="zh-CN" dirty="0" err="1"/>
              <a:t>scientists+first_half</a:t>
            </a:r>
            <a:endParaRPr lang="en-GB" altLang="zh-CN" dirty="0"/>
          </a:p>
          <a:p>
            <a:endParaRPr lang="en-GB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创建</a:t>
            </a:r>
            <a:r>
              <a:rPr lang="en-GB" altLang="zh-CN" b="1" dirty="0"/>
              <a:t>Series</a:t>
            </a:r>
            <a:r>
              <a:rPr lang="zh-CN" altLang="en-US" b="1" dirty="0"/>
              <a:t>和</a:t>
            </a:r>
            <a:r>
              <a:rPr lang="en-GB" altLang="zh-CN" b="1" dirty="0"/>
              <a:t>DataFrame</a:t>
            </a:r>
            <a:endParaRPr lang="en-GB" altLang="zh-CN" b="1" dirty="0"/>
          </a:p>
          <a:p>
            <a:r>
              <a:rPr lang="en-GB" altLang="zh-CN" b="1" dirty="0"/>
              <a:t>Series </a:t>
            </a:r>
            <a:r>
              <a:rPr lang="zh-CN" altLang="en-US" b="1" dirty="0"/>
              <a:t>常用操作</a:t>
            </a:r>
            <a:endParaRPr lang="zh-CN" altLang="en-US" b="1" dirty="0"/>
          </a:p>
          <a:p>
            <a:r>
              <a:rPr lang="en-GB" altLang="zh-CN" b="1" dirty="0"/>
              <a:t>DataFrame</a:t>
            </a:r>
            <a:r>
              <a:rPr lang="zh-CN" altLang="en-US" b="1" dirty="0"/>
              <a:t>常用操作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更改</a:t>
            </a:r>
            <a:r>
              <a:rPr lang="en-GB" altLang="zh-CN" b="1" dirty="0">
                <a:solidFill>
                  <a:srgbClr val="FF0000"/>
                </a:solidFill>
              </a:rPr>
              <a:t>Series</a:t>
            </a:r>
            <a:r>
              <a:rPr lang="zh-CN" altLang="en-US" b="1" dirty="0">
                <a:solidFill>
                  <a:srgbClr val="FF0000"/>
                </a:solidFill>
              </a:rPr>
              <a:t>和</a:t>
            </a:r>
            <a:r>
              <a:rPr lang="en-GB" altLang="zh-CN" b="1" dirty="0">
                <a:solidFill>
                  <a:srgbClr val="FF0000"/>
                </a:solidFill>
              </a:rPr>
              <a:t>DataFrame</a:t>
            </a:r>
            <a:endParaRPr lang="en-GB" altLang="zh-CN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导出和导入数据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给行索引命名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通过</a:t>
            </a:r>
            <a:r>
              <a:rPr lang="en-GB" altLang="zh-CN" dirty="0" err="1"/>
              <a:t>set_index</a:t>
            </a:r>
            <a:r>
              <a:rPr lang="en-GB" altLang="zh-CN" dirty="0"/>
              <a:t>()</a:t>
            </a:r>
            <a:r>
              <a:rPr lang="zh-CN" altLang="en-US" dirty="0"/>
              <a:t>方法设置行索引名字</a:t>
            </a:r>
            <a:endParaRPr lang="en-US" altLang="zh-CN" dirty="0"/>
          </a:p>
          <a:p>
            <a:r>
              <a:rPr lang="zh-CN" altLang="en-US" dirty="0"/>
              <a:t>加载数据文件时，如果不指定行索引，</a:t>
            </a:r>
            <a:r>
              <a:rPr lang="en-US" altLang="zh-CN" dirty="0"/>
              <a:t>Pandas</a:t>
            </a:r>
            <a:r>
              <a:rPr lang="zh-CN" altLang="en-US" dirty="0"/>
              <a:t>会自动加上从</a:t>
            </a:r>
            <a:r>
              <a:rPr lang="en-US" altLang="zh-CN" dirty="0"/>
              <a:t>0</a:t>
            </a:r>
            <a:r>
              <a:rPr lang="zh-CN" altLang="en-US" dirty="0"/>
              <a:t>开始的索引</a:t>
            </a:r>
            <a:endParaRPr lang="en-US" altLang="zh-CN" dirty="0"/>
          </a:p>
          <a:p>
            <a:r>
              <a:rPr lang="en-GB" altLang="zh-CN" dirty="0"/>
              <a:t>movie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movie.csv</a:t>
            </a:r>
            <a:r>
              <a:rPr lang="en-GB" altLang="zh-CN" dirty="0"/>
              <a:t>’)</a:t>
            </a:r>
            <a:endParaRPr lang="en-GB" altLang="zh-CN" dirty="0"/>
          </a:p>
          <a:p>
            <a:r>
              <a:rPr lang="en-GB" altLang="zh-CN" dirty="0"/>
              <a:t>movie2 = </a:t>
            </a:r>
            <a:r>
              <a:rPr lang="en-GB" altLang="zh-CN" dirty="0" err="1"/>
              <a:t>movie.set_index</a:t>
            </a:r>
            <a:r>
              <a:rPr lang="en-GB" altLang="zh-CN" dirty="0"/>
              <a:t>('</a:t>
            </a:r>
            <a:r>
              <a:rPr lang="en-GB" altLang="zh-CN" dirty="0" err="1"/>
              <a:t>movie_title</a:t>
            </a:r>
            <a:r>
              <a:rPr lang="en-GB" altLang="zh-CN" dirty="0"/>
              <a:t>')</a:t>
            </a:r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70" y="3585210"/>
            <a:ext cx="6032500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给行索引命名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加载数据的时候，可以通过</a:t>
            </a:r>
            <a:r>
              <a:rPr lang="en-US" altLang="zh-CN" dirty="0" err="1"/>
              <a:t>index_col</a:t>
            </a:r>
            <a:r>
              <a:rPr lang="zh-CN" altLang="en-US" dirty="0"/>
              <a:t>参数，指定使用某一列数据作为行索引</a:t>
            </a:r>
            <a:endParaRPr lang="en-US" altLang="zh-CN" dirty="0"/>
          </a:p>
          <a:p>
            <a:r>
              <a:rPr lang="en-US" altLang="zh-CN" dirty="0" err="1"/>
              <a:t>pd.read_csv</a:t>
            </a:r>
            <a:r>
              <a:rPr lang="en-US" altLang="zh-CN" dirty="0"/>
              <a:t>('data/</a:t>
            </a:r>
            <a:r>
              <a:rPr lang="en-US" altLang="zh-CN" dirty="0" err="1"/>
              <a:t>movie.csv</a:t>
            </a:r>
            <a:r>
              <a:rPr lang="en-US" altLang="zh-CN" dirty="0"/>
              <a:t>', </a:t>
            </a:r>
            <a:r>
              <a:rPr lang="en-US" altLang="zh-CN" dirty="0" err="1"/>
              <a:t>index_col</a:t>
            </a:r>
            <a:r>
              <a:rPr lang="en-US" altLang="zh-CN" dirty="0"/>
              <a:t>='</a:t>
            </a:r>
            <a:r>
              <a:rPr lang="en-US" altLang="zh-CN" dirty="0" err="1"/>
              <a:t>movie_title</a:t>
            </a:r>
            <a:r>
              <a:rPr lang="en-US" altLang="zh-CN" dirty="0"/>
              <a:t>’)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320" y="2797175"/>
            <a:ext cx="6032500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给行索引命名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通过</a:t>
            </a:r>
            <a:r>
              <a:rPr lang="en-GB" altLang="zh-CN" dirty="0" err="1"/>
              <a:t>reset_index</a:t>
            </a:r>
            <a:r>
              <a:rPr lang="en-GB" altLang="zh-CN" dirty="0"/>
              <a:t>()</a:t>
            </a:r>
            <a:r>
              <a:rPr lang="zh-CN" altLang="en-US" dirty="0"/>
              <a:t>方法可以重置索引</a:t>
            </a:r>
            <a:endParaRPr lang="en-US" altLang="zh-CN" dirty="0"/>
          </a:p>
          <a:p>
            <a:r>
              <a:rPr lang="en-US" altLang="zh-CN" dirty="0"/>
              <a:t>movie2.reset_index()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410" y="2640330"/>
            <a:ext cx="6483350" cy="30924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en-GB" altLang="zh-CN" dirty="0"/>
              <a:t>DataFrame</a:t>
            </a:r>
            <a:r>
              <a:rPr lang="zh-CN" altLang="en-US" dirty="0"/>
              <a:t>修改行名和列名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通过</a:t>
            </a:r>
            <a:r>
              <a:rPr lang="en-US" altLang="zh-CN" dirty="0"/>
              <a:t>rename()</a:t>
            </a:r>
            <a:r>
              <a:rPr lang="zh-CN" altLang="en-US" dirty="0"/>
              <a:t>方法对原有的行索引名和列名进行修改</a:t>
            </a:r>
            <a:endParaRPr lang="en-US" altLang="zh-CN" dirty="0"/>
          </a:p>
          <a:p>
            <a:r>
              <a:rPr lang="en-US" altLang="zh-CN" dirty="0"/>
              <a:t>movie = </a:t>
            </a:r>
            <a:r>
              <a:rPr lang="en-US" altLang="zh-CN" dirty="0" err="1"/>
              <a:t>pd.read_csv</a:t>
            </a:r>
            <a:r>
              <a:rPr lang="en-US" altLang="zh-CN" dirty="0"/>
              <a:t>('data/</a:t>
            </a:r>
            <a:r>
              <a:rPr lang="en-US" altLang="zh-CN" dirty="0" err="1"/>
              <a:t>movie.csv</a:t>
            </a:r>
            <a:r>
              <a:rPr lang="en-US" altLang="zh-CN" dirty="0"/>
              <a:t>', </a:t>
            </a:r>
            <a:r>
              <a:rPr lang="en-US" altLang="zh-CN" dirty="0" err="1"/>
              <a:t>index_col</a:t>
            </a:r>
            <a:r>
              <a:rPr lang="en-US" altLang="zh-CN" dirty="0"/>
              <a:t>='</a:t>
            </a:r>
            <a:r>
              <a:rPr lang="en-US" altLang="zh-CN" dirty="0" err="1"/>
              <a:t>movie_title</a:t>
            </a:r>
            <a:r>
              <a:rPr lang="en-US" altLang="zh-CN" dirty="0"/>
              <a:t>’)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查看行列索引名称</a:t>
            </a:r>
            <a:endParaRPr lang="en-US" altLang="zh-CN" dirty="0"/>
          </a:p>
          <a:p>
            <a:r>
              <a:rPr lang="en-US" altLang="zh-CN" dirty="0" err="1"/>
              <a:t>movie.index</a:t>
            </a:r>
            <a:r>
              <a:rPr lang="en-US" altLang="zh-CN" dirty="0"/>
              <a:t>[:5]</a:t>
            </a:r>
            <a:endParaRPr lang="en-US" altLang="zh-CN" dirty="0"/>
          </a:p>
          <a:p>
            <a:r>
              <a:rPr lang="en-US" altLang="zh-CN" dirty="0" err="1"/>
              <a:t>movie.columns</a:t>
            </a:r>
            <a:r>
              <a:rPr lang="en-US" altLang="zh-CN" dirty="0"/>
              <a:t>[:5]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修改行列索引名称</a:t>
            </a:r>
            <a:endParaRPr lang="en-US" altLang="zh-CN" dirty="0"/>
          </a:p>
          <a:p>
            <a:r>
              <a:rPr lang="en-US" altLang="zh-CN" dirty="0" err="1"/>
              <a:t>idx_rename</a:t>
            </a:r>
            <a:r>
              <a:rPr lang="en-US" altLang="zh-CN" dirty="0"/>
              <a:t> = {'Avatar':'</a:t>
            </a:r>
            <a:r>
              <a:rPr lang="en-US" altLang="zh-CN" dirty="0" err="1"/>
              <a:t>Ratava</a:t>
            </a:r>
            <a:r>
              <a:rPr lang="en-US" altLang="zh-CN" dirty="0"/>
              <a:t>', '</a:t>
            </a:r>
            <a:r>
              <a:rPr lang="en-US" altLang="zh-CN" dirty="0" err="1"/>
              <a:t>Spectre</a:t>
            </a:r>
            <a:r>
              <a:rPr lang="en-US" altLang="zh-CN" dirty="0"/>
              <a:t>': '</a:t>
            </a:r>
            <a:r>
              <a:rPr lang="en-US" altLang="zh-CN" dirty="0" err="1"/>
              <a:t>Ertceps</a:t>
            </a:r>
            <a:r>
              <a:rPr lang="en-US" altLang="zh-CN" dirty="0"/>
              <a:t>'} </a:t>
            </a:r>
            <a:endParaRPr lang="en-US" altLang="zh-CN" dirty="0"/>
          </a:p>
          <a:p>
            <a:r>
              <a:rPr lang="en-US" altLang="zh-CN" dirty="0" err="1"/>
              <a:t>col_rename</a:t>
            </a:r>
            <a:r>
              <a:rPr lang="en-US" altLang="zh-CN" dirty="0"/>
              <a:t> = {'</a:t>
            </a:r>
            <a:r>
              <a:rPr lang="en-US" altLang="zh-CN" dirty="0" err="1"/>
              <a:t>director_name':'Director</a:t>
            </a:r>
            <a:r>
              <a:rPr lang="en-US" altLang="zh-CN" dirty="0"/>
              <a:t> Name', '</a:t>
            </a:r>
            <a:r>
              <a:rPr lang="en-US" altLang="zh-CN" dirty="0" err="1"/>
              <a:t>num_critic_for_reviews</a:t>
            </a:r>
            <a:r>
              <a:rPr lang="en-US" altLang="zh-CN" dirty="0"/>
              <a:t>': 'Critical Reviews'} </a:t>
            </a:r>
            <a:endParaRPr lang="en-US" altLang="zh-CN" dirty="0"/>
          </a:p>
          <a:p>
            <a:r>
              <a:rPr lang="en-US" altLang="zh-CN" dirty="0" err="1"/>
              <a:t>movie.rename</a:t>
            </a:r>
            <a:r>
              <a:rPr lang="en-US" altLang="zh-CN" dirty="0"/>
              <a:t>(index=</a:t>
            </a:r>
            <a:r>
              <a:rPr lang="en-US" altLang="zh-CN" dirty="0" err="1"/>
              <a:t>idx_rename</a:t>
            </a:r>
            <a:r>
              <a:rPr lang="en-US" altLang="zh-CN" dirty="0"/>
              <a:t>, columns=</a:t>
            </a:r>
            <a:r>
              <a:rPr lang="en-US" altLang="zh-CN" dirty="0" err="1"/>
              <a:t>col_rename</a:t>
            </a:r>
            <a:r>
              <a:rPr lang="en-US" altLang="zh-CN" dirty="0"/>
              <a:t>).head()</a:t>
            </a:r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en-GB" altLang="zh-CN" dirty="0"/>
              <a:t>DataFrame</a:t>
            </a:r>
            <a:r>
              <a:rPr lang="zh-CN" altLang="en-US" dirty="0"/>
              <a:t>修改行名和列名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07610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如果不使用rename()，也可以将</a:t>
            </a:r>
            <a:r>
              <a:rPr lang="en-GB" altLang="zh-CN" dirty="0"/>
              <a:t>index </a:t>
            </a:r>
            <a:r>
              <a:rPr lang="zh-CN" altLang="en-US" dirty="0"/>
              <a:t>和 </a:t>
            </a:r>
            <a:r>
              <a:rPr lang="en-GB" altLang="zh-CN" dirty="0"/>
              <a:t>columns</a:t>
            </a:r>
            <a:r>
              <a:rPr lang="zh-CN" altLang="en-US" dirty="0"/>
              <a:t>属性提取出来，修改之后，再赋值回去</a:t>
            </a:r>
            <a:endParaRPr lang="en-US" altLang="zh-CN" dirty="0"/>
          </a:p>
          <a:p>
            <a:r>
              <a:rPr lang="en-US" altLang="zh-CN" dirty="0"/>
              <a:t>index = </a:t>
            </a:r>
            <a:r>
              <a:rPr lang="en-US" altLang="zh-CN" dirty="0" err="1"/>
              <a:t>movie.index</a:t>
            </a:r>
            <a:endParaRPr lang="en-US" altLang="zh-CN" dirty="0"/>
          </a:p>
          <a:p>
            <a:r>
              <a:rPr lang="en-US" altLang="zh-CN" dirty="0"/>
              <a:t>columns = </a:t>
            </a:r>
            <a:r>
              <a:rPr lang="en-US" altLang="zh-CN" dirty="0" err="1"/>
              <a:t>movie.columns</a:t>
            </a:r>
            <a:endParaRPr lang="en-US" altLang="zh-CN" dirty="0"/>
          </a:p>
          <a:p>
            <a:r>
              <a:rPr lang="en-US" altLang="zh-CN" dirty="0" err="1"/>
              <a:t>index_list</a:t>
            </a:r>
            <a:r>
              <a:rPr lang="en-US" altLang="zh-CN" dirty="0"/>
              <a:t> = </a:t>
            </a:r>
            <a:r>
              <a:rPr lang="en-US" altLang="zh-CN" dirty="0" err="1"/>
              <a:t>index.tolist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 err="1"/>
              <a:t>column_list</a:t>
            </a:r>
            <a:r>
              <a:rPr lang="en-US" altLang="zh-CN" dirty="0"/>
              <a:t> = </a:t>
            </a:r>
            <a:r>
              <a:rPr lang="en-US" altLang="zh-CN" dirty="0" err="1"/>
              <a:t>columns.tolist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 err="1"/>
              <a:t>index_list</a:t>
            </a:r>
            <a:r>
              <a:rPr lang="en-US" altLang="zh-CN" dirty="0"/>
              <a:t>[0] = '</a:t>
            </a:r>
            <a:r>
              <a:rPr lang="en-US" altLang="zh-CN" dirty="0" err="1"/>
              <a:t>Ratava</a:t>
            </a:r>
            <a:r>
              <a:rPr lang="en-US" altLang="zh-CN" dirty="0"/>
              <a:t>'</a:t>
            </a:r>
            <a:endParaRPr lang="en-US" altLang="zh-CN" dirty="0"/>
          </a:p>
          <a:p>
            <a:r>
              <a:rPr lang="en-US" altLang="zh-CN" dirty="0" err="1"/>
              <a:t>index_list</a:t>
            </a:r>
            <a:r>
              <a:rPr lang="en-US" altLang="zh-CN" dirty="0"/>
              <a:t>[2] = '</a:t>
            </a:r>
            <a:r>
              <a:rPr lang="en-US" altLang="zh-CN" dirty="0" err="1"/>
              <a:t>Ertceps</a:t>
            </a:r>
            <a:r>
              <a:rPr lang="en-US" altLang="zh-CN" dirty="0"/>
              <a:t>'</a:t>
            </a:r>
            <a:endParaRPr lang="en-US" altLang="zh-CN" dirty="0"/>
          </a:p>
          <a:p>
            <a:r>
              <a:rPr lang="en-US" altLang="zh-CN" dirty="0" err="1"/>
              <a:t>column_list</a:t>
            </a:r>
            <a:r>
              <a:rPr lang="en-US" altLang="zh-CN" dirty="0"/>
              <a:t>[1] = 'Director Name'</a:t>
            </a:r>
            <a:endParaRPr lang="en-US" altLang="zh-CN" dirty="0"/>
          </a:p>
          <a:p>
            <a:r>
              <a:rPr lang="en-US" altLang="zh-CN" dirty="0" err="1"/>
              <a:t>column_list</a:t>
            </a:r>
            <a:r>
              <a:rPr lang="en-US" altLang="zh-CN" dirty="0"/>
              <a:t>[2] = 'Critical Reviews'</a:t>
            </a:r>
            <a:endParaRPr lang="en-US" altLang="zh-CN" dirty="0"/>
          </a:p>
          <a:p>
            <a:r>
              <a:rPr lang="en-US" altLang="zh-CN" dirty="0" err="1"/>
              <a:t>movie.index</a:t>
            </a:r>
            <a:r>
              <a:rPr lang="en-US" altLang="zh-CN" dirty="0"/>
              <a:t> = </a:t>
            </a:r>
            <a:r>
              <a:rPr lang="en-US" altLang="zh-CN" dirty="0" err="1"/>
              <a:t>index_list</a:t>
            </a:r>
            <a:endParaRPr lang="en-US" altLang="zh-CN" dirty="0"/>
          </a:p>
          <a:p>
            <a:r>
              <a:rPr lang="en-US" altLang="zh-CN" dirty="0" err="1"/>
              <a:t>movie.columns</a:t>
            </a:r>
            <a:r>
              <a:rPr lang="en-US" altLang="zh-CN" dirty="0"/>
              <a:t> = </a:t>
            </a:r>
            <a:r>
              <a:rPr lang="en-US" altLang="zh-CN" dirty="0" err="1"/>
              <a:t>column_list</a:t>
            </a:r>
            <a:endParaRPr lang="en-US" altLang="zh-CN" dirty="0" err="1"/>
          </a:p>
          <a:p>
            <a:r>
              <a:rPr lang="en-US" altLang="zh-CN" dirty="0" err="1"/>
              <a:t>movie.head()</a:t>
            </a:r>
            <a:endParaRPr lang="en-US" altLang="zh-CN" dirty="0" err="1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添加、删除、插入列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通过</a:t>
            </a:r>
            <a:r>
              <a:rPr lang="en-GB" altLang="zh-CN" dirty="0" err="1"/>
              <a:t>dataframe</a:t>
            </a:r>
            <a:r>
              <a:rPr lang="en-GB" altLang="zh-CN" dirty="0"/>
              <a:t>[</a:t>
            </a:r>
            <a:r>
              <a:rPr lang="zh-CN" altLang="en-US" dirty="0"/>
              <a:t>列名</a:t>
            </a:r>
            <a:r>
              <a:rPr lang="en-US" altLang="zh-CN" dirty="0"/>
              <a:t>]</a:t>
            </a:r>
            <a:r>
              <a:rPr lang="zh-CN" altLang="en-US" dirty="0"/>
              <a:t>添加新列</a:t>
            </a:r>
            <a:endParaRPr lang="en-US" altLang="zh-CN" dirty="0"/>
          </a:p>
          <a:p>
            <a:r>
              <a:rPr lang="en-US" altLang="zh-CN" dirty="0"/>
              <a:t>movie = </a:t>
            </a:r>
            <a:r>
              <a:rPr lang="en-US" altLang="zh-CN" dirty="0" err="1"/>
              <a:t>pd.read_csv</a:t>
            </a:r>
            <a:r>
              <a:rPr lang="en-US" altLang="zh-CN" dirty="0"/>
              <a:t>('data/</a:t>
            </a:r>
            <a:r>
              <a:rPr lang="en-US" altLang="zh-CN" dirty="0" err="1"/>
              <a:t>movie.csv</a:t>
            </a:r>
            <a:r>
              <a:rPr lang="en-US" altLang="zh-CN" dirty="0"/>
              <a:t>’)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添加新列</a:t>
            </a:r>
            <a:endParaRPr lang="en-US" altLang="zh-CN" dirty="0"/>
          </a:p>
          <a:p>
            <a:r>
              <a:rPr lang="en-US" altLang="zh-CN" dirty="0"/>
              <a:t>movie['</a:t>
            </a:r>
            <a:r>
              <a:rPr lang="en-US" altLang="zh-CN" dirty="0" err="1"/>
              <a:t>has_seen</a:t>
            </a:r>
            <a:r>
              <a:rPr lang="en-US" altLang="zh-CN" dirty="0"/>
              <a:t>'] = 0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给新列赋值</a:t>
            </a:r>
            <a:endParaRPr lang="zh-CN" altLang="en-US" dirty="0"/>
          </a:p>
          <a:p>
            <a:r>
              <a:rPr lang="en-US" altLang="zh-CN" dirty="0"/>
              <a:t>movie['</a:t>
            </a:r>
            <a:r>
              <a:rPr lang="en-US" altLang="zh-CN" dirty="0" err="1"/>
              <a:t>actor_director_facebook_likes</a:t>
            </a:r>
            <a:r>
              <a:rPr lang="en-US" altLang="zh-CN" dirty="0"/>
              <a:t>'] = (movie['actor_1_facebook_likes'] + </a:t>
            </a:r>
            <a:endParaRPr lang="en-US" altLang="zh-CN" dirty="0"/>
          </a:p>
          <a:p>
            <a:r>
              <a:rPr lang="en-US" altLang="zh-CN" dirty="0"/>
              <a:t>                                              movie['actor_2_facebook_likes'] + </a:t>
            </a:r>
            <a:endParaRPr lang="en-US" altLang="zh-CN" dirty="0"/>
          </a:p>
          <a:p>
            <a:r>
              <a:rPr lang="en-US" altLang="zh-CN" dirty="0"/>
              <a:t>                                              movie['actor_3_facebook_likes'] + </a:t>
            </a:r>
            <a:endParaRPr lang="en-US" altLang="zh-CN" dirty="0"/>
          </a:p>
          <a:p>
            <a:r>
              <a:rPr lang="en-US" altLang="zh-CN" dirty="0"/>
              <a:t>                                              movie['</a:t>
            </a:r>
            <a:r>
              <a:rPr lang="en-US" altLang="zh-CN" dirty="0" err="1"/>
              <a:t>director_facebook_likes</a:t>
            </a:r>
            <a:r>
              <a:rPr lang="en-US" altLang="zh-CN" dirty="0"/>
              <a:t>'])</a:t>
            </a:r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添加、删除、插入列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调用</a:t>
            </a:r>
            <a:r>
              <a:rPr lang="en-US" altLang="zh-CN" dirty="0"/>
              <a:t>drop</a:t>
            </a:r>
            <a:r>
              <a:rPr lang="zh-CN" altLang="en-US" dirty="0"/>
              <a:t>方法删除列</a:t>
            </a:r>
            <a:endParaRPr lang="en-US" altLang="zh-CN" dirty="0"/>
          </a:p>
          <a:p>
            <a:r>
              <a:rPr lang="en-GB" altLang="zh-CN" dirty="0"/>
              <a:t>movie = </a:t>
            </a:r>
            <a:r>
              <a:rPr lang="en-GB" altLang="zh-CN" dirty="0" err="1"/>
              <a:t>movie.drop</a:t>
            </a:r>
            <a:r>
              <a:rPr lang="en-GB" altLang="zh-CN" dirty="0"/>
              <a:t>('</a:t>
            </a:r>
            <a:r>
              <a:rPr lang="en-GB" altLang="zh-CN" dirty="0" err="1"/>
              <a:t>actor_director_facebook_likes</a:t>
            </a:r>
            <a:r>
              <a:rPr lang="en-GB" altLang="zh-CN" dirty="0"/>
              <a:t>', axis='columns')</a:t>
            </a:r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 更改</a:t>
            </a:r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添加、删除、插入列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使用</a:t>
            </a:r>
            <a:r>
              <a:rPr lang="en-GB" altLang="zh-CN" dirty="0"/>
              <a:t>insert()</a:t>
            </a:r>
            <a:r>
              <a:rPr lang="zh-CN" altLang="en-US" dirty="0"/>
              <a:t>方法插入列</a:t>
            </a:r>
            <a:endParaRPr lang="en-US" altLang="zh-CN" dirty="0"/>
          </a:p>
          <a:p>
            <a:r>
              <a:rPr lang="en-US" altLang="en-GB" dirty="0" err="1"/>
              <a:t> </a:t>
            </a:r>
            <a:r>
              <a:rPr lang="en-GB" altLang="zh-CN" dirty="0" err="1"/>
              <a:t>loc</a:t>
            </a:r>
            <a:r>
              <a:rPr lang="en-US" altLang="en-GB" dirty="0" err="1"/>
              <a:t>=</a:t>
            </a:r>
            <a:r>
              <a:rPr lang="zh-CN" altLang="en-US" dirty="0"/>
              <a:t>新插入的列在所有列中的位置（</a:t>
            </a:r>
            <a:r>
              <a:rPr lang="en-US" altLang="zh-CN" dirty="0"/>
              <a:t>0,1,2,3...) </a:t>
            </a:r>
            <a:r>
              <a:rPr lang="en-GB" altLang="zh-CN" dirty="0"/>
              <a:t>column=</a:t>
            </a:r>
            <a:r>
              <a:rPr lang="zh-CN" altLang="en-US" dirty="0"/>
              <a:t>列名 </a:t>
            </a:r>
            <a:r>
              <a:rPr lang="en-GB" altLang="zh-CN" dirty="0"/>
              <a:t>value=</a:t>
            </a:r>
            <a:r>
              <a:rPr lang="zh-CN" altLang="en-US" dirty="0"/>
              <a:t>值</a:t>
            </a:r>
            <a:endParaRPr lang="en-US" altLang="zh-CN" dirty="0"/>
          </a:p>
          <a:p>
            <a:r>
              <a:rPr lang="en-GB" altLang="zh-CN" dirty="0" err="1"/>
              <a:t>movie.insert</a:t>
            </a:r>
            <a:r>
              <a:rPr lang="en-GB" altLang="zh-CN" dirty="0"/>
              <a:t>(</a:t>
            </a:r>
            <a:r>
              <a:rPr lang="en-GB" altLang="zh-CN" dirty="0" err="1"/>
              <a:t>loc</a:t>
            </a:r>
            <a:r>
              <a:rPr lang="en-GB" altLang="zh-CN" dirty="0"/>
              <a:t>=0,column='</a:t>
            </a:r>
            <a:r>
              <a:rPr lang="en-GB" altLang="zh-CN" dirty="0" err="1"/>
              <a:t>profit',value</a:t>
            </a:r>
            <a:r>
              <a:rPr lang="en-GB" altLang="zh-CN" dirty="0"/>
              <a:t>=movie['gross'] - movie['budget'])</a:t>
            </a:r>
            <a:endParaRPr lang="en-GB" altLang="zh-CN" dirty="0"/>
          </a:p>
          <a:p>
            <a:r>
              <a:rPr lang="en-GB" altLang="zh-CN" dirty="0"/>
              <a:t>movie</a:t>
            </a:r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创建</a:t>
            </a:r>
            <a:r>
              <a:rPr lang="en-GB" altLang="zh-CN" b="1" dirty="0"/>
              <a:t>Series</a:t>
            </a:r>
            <a:r>
              <a:rPr lang="zh-CN" altLang="en-US" b="1" dirty="0"/>
              <a:t>和</a:t>
            </a:r>
            <a:r>
              <a:rPr lang="en-GB" altLang="zh-CN" b="1" dirty="0"/>
              <a:t>DataFrame</a:t>
            </a:r>
            <a:endParaRPr lang="en-GB" altLang="zh-CN" b="1" dirty="0"/>
          </a:p>
          <a:p>
            <a:r>
              <a:rPr lang="en-GB" altLang="zh-CN" b="1" dirty="0"/>
              <a:t>Series </a:t>
            </a:r>
            <a:r>
              <a:rPr lang="zh-CN" altLang="en-US" b="1" dirty="0"/>
              <a:t>常用操作</a:t>
            </a:r>
            <a:endParaRPr lang="zh-CN" altLang="en-US" b="1" dirty="0"/>
          </a:p>
          <a:p>
            <a:r>
              <a:rPr lang="en-GB" altLang="zh-CN" b="1" dirty="0"/>
              <a:t>DataFrame</a:t>
            </a:r>
            <a:r>
              <a:rPr lang="zh-CN" altLang="en-US" b="1" dirty="0"/>
              <a:t>常用操作</a:t>
            </a:r>
            <a:endParaRPr lang="zh-CN" altLang="en-US" b="1" dirty="0"/>
          </a:p>
          <a:p>
            <a:r>
              <a:rPr lang="zh-CN" altLang="en-US" b="1" dirty="0"/>
              <a:t>更改</a:t>
            </a:r>
            <a:r>
              <a:rPr lang="en-GB" altLang="zh-CN" b="1" dirty="0"/>
              <a:t>Series</a:t>
            </a:r>
            <a:r>
              <a:rPr lang="zh-CN" altLang="en-US" b="1" dirty="0"/>
              <a:t>和</a:t>
            </a:r>
            <a:r>
              <a:rPr lang="en-GB" altLang="zh-CN" b="1" dirty="0"/>
              <a:t>DataFrame</a:t>
            </a:r>
            <a:endParaRPr lang="en-GB" altLang="zh-CN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导出和导入数据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5.1 pickle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pickle</a:t>
            </a:r>
            <a:r>
              <a:rPr lang="zh-CN" altLang="en-US" dirty="0"/>
              <a:t>文件简介</a:t>
            </a:r>
            <a:endParaRPr lang="en-US" altLang="zh-CN" dirty="0"/>
          </a:p>
          <a:p>
            <a:r>
              <a:rPr lang="zh-CN" altLang="en-US" dirty="0"/>
              <a:t>如要保存的对象是计算的中间结果，或者保存的对象以后会在</a:t>
            </a:r>
            <a:r>
              <a:rPr lang="en-US" altLang="zh-CN" dirty="0"/>
              <a:t>Python</a:t>
            </a:r>
            <a:r>
              <a:rPr lang="zh-CN" altLang="en-US" dirty="0"/>
              <a:t>中复用，可把对象保存为</a:t>
            </a:r>
            <a:r>
              <a:rPr lang="en-US" altLang="zh-CN" dirty="0"/>
              <a:t>.pickle</a:t>
            </a:r>
            <a:r>
              <a:rPr lang="zh-CN" altLang="en-US" dirty="0"/>
              <a:t>文件</a:t>
            </a:r>
            <a:endParaRPr lang="zh-CN" altLang="en-US" dirty="0"/>
          </a:p>
          <a:p>
            <a:r>
              <a:rPr lang="zh-CN" altLang="en-US" dirty="0"/>
              <a:t>如果保存成</a:t>
            </a:r>
            <a:r>
              <a:rPr lang="en-US" altLang="zh-CN" dirty="0"/>
              <a:t>pickle</a:t>
            </a:r>
            <a:r>
              <a:rPr lang="zh-CN" altLang="en-US" dirty="0"/>
              <a:t>文件，只能在</a:t>
            </a:r>
            <a:r>
              <a:rPr lang="en-US" altLang="zh-CN" dirty="0"/>
              <a:t>python</a:t>
            </a:r>
            <a:r>
              <a:rPr lang="zh-CN" altLang="en-US" dirty="0"/>
              <a:t>中使用</a:t>
            </a:r>
            <a:endParaRPr lang="zh-CN" altLang="en-US" dirty="0"/>
          </a:p>
          <a:p>
            <a:r>
              <a:rPr lang="zh-CN" altLang="en-US" dirty="0"/>
              <a:t>文件的扩展名可以是</a:t>
            </a:r>
            <a:r>
              <a:rPr lang="en-US" altLang="zh-CN" dirty="0"/>
              <a:t>.p</a:t>
            </a:r>
            <a:r>
              <a:rPr lang="zh-CN" altLang="en-US" dirty="0"/>
              <a:t>，</a:t>
            </a:r>
            <a:r>
              <a:rPr lang="en-US" altLang="zh-CN" dirty="0"/>
              <a:t>.</a:t>
            </a:r>
            <a:r>
              <a:rPr lang="en-US" altLang="zh-CN" dirty="0" err="1"/>
              <a:t>pkl</a:t>
            </a:r>
            <a:r>
              <a:rPr lang="zh-CN" altLang="en-US" dirty="0"/>
              <a:t>，</a:t>
            </a:r>
            <a:r>
              <a:rPr lang="en-US" altLang="zh-CN" dirty="0"/>
              <a:t>.pickle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5.1 pickle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保存成</a:t>
            </a:r>
            <a:r>
              <a:rPr lang="en-GB" altLang="zh-CN" dirty="0"/>
              <a:t>pickle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zh-CN" altLang="en-US" dirty="0"/>
              <a:t>调用</a:t>
            </a:r>
            <a:r>
              <a:rPr lang="en-US" altLang="zh-CN" dirty="0" err="1"/>
              <a:t>to_pickle</a:t>
            </a:r>
            <a:r>
              <a:rPr lang="zh-CN" altLang="en-US" dirty="0"/>
              <a:t>方法将以二进制格式保存数据</a:t>
            </a:r>
            <a:endParaRPr lang="en-US" altLang="zh-CN" dirty="0"/>
          </a:p>
          <a:p>
            <a:r>
              <a:rPr lang="en-US" altLang="zh-CN" dirty="0"/>
              <a:t>scientists = </a:t>
            </a:r>
            <a:r>
              <a:rPr lang="en-US" altLang="zh-CN" dirty="0" err="1"/>
              <a:t>pd.read_csv</a:t>
            </a:r>
            <a:r>
              <a:rPr lang="en-US" altLang="zh-CN" dirty="0"/>
              <a:t>('data/</a:t>
            </a:r>
            <a:r>
              <a:rPr lang="en-US" altLang="zh-CN" dirty="0" err="1"/>
              <a:t>scientists.csv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/>
              <a:t>names = scientists['Name']</a:t>
            </a:r>
            <a:endParaRPr lang="en-US" altLang="zh-CN" dirty="0"/>
          </a:p>
          <a:p>
            <a:r>
              <a:rPr lang="en-US" altLang="zh-CN" dirty="0" err="1"/>
              <a:t>names.to_pickle</a:t>
            </a:r>
            <a:r>
              <a:rPr lang="en-US" altLang="zh-CN" dirty="0"/>
              <a:t>('output/</a:t>
            </a:r>
            <a:r>
              <a:rPr lang="en-US" altLang="zh-CN" dirty="0" err="1"/>
              <a:t>scientists_name.pickle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 err="1"/>
              <a:t>scientists.to_pickle</a:t>
            </a:r>
            <a:r>
              <a:rPr lang="en-US" altLang="zh-CN" dirty="0"/>
              <a:t>('output/</a:t>
            </a:r>
            <a:r>
              <a:rPr lang="en-US" altLang="zh-CN" dirty="0" err="1"/>
              <a:t>scientists_df.pickle</a:t>
            </a:r>
            <a:r>
              <a:rPr lang="en-US" altLang="zh-CN" dirty="0"/>
              <a:t>')</a:t>
            </a:r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5.1 pickle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读取</a:t>
            </a:r>
            <a:r>
              <a:rPr lang="en-GB" altLang="zh-CN" dirty="0"/>
              <a:t>pickle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zh-CN" altLang="en-US" dirty="0"/>
              <a:t>可以使用</a:t>
            </a:r>
            <a:r>
              <a:rPr lang="en-GB" altLang="zh-CN" dirty="0" err="1"/>
              <a:t>pd.read_pickle</a:t>
            </a:r>
            <a:r>
              <a:rPr lang="zh-CN" altLang="en-US" dirty="0"/>
              <a:t>函数读取</a:t>
            </a:r>
            <a:r>
              <a:rPr lang="en-US" altLang="zh-CN" dirty="0"/>
              <a:t>.</a:t>
            </a:r>
            <a:r>
              <a:rPr lang="en-GB" altLang="zh-CN" dirty="0"/>
              <a:t>pickle</a:t>
            </a:r>
            <a:r>
              <a:rPr lang="zh-CN" altLang="en-US" dirty="0"/>
              <a:t>文件中的数据</a:t>
            </a:r>
            <a:endParaRPr lang="en-US" altLang="zh-CN" dirty="0"/>
          </a:p>
          <a:p>
            <a:r>
              <a:rPr lang="en-GB" altLang="zh-CN" dirty="0" err="1"/>
              <a:t>scientists_name</a:t>
            </a:r>
            <a:r>
              <a:rPr lang="en-GB" altLang="zh-CN" dirty="0"/>
              <a:t> = </a:t>
            </a:r>
            <a:r>
              <a:rPr lang="en-GB" altLang="zh-CN" dirty="0" err="1"/>
              <a:t>pd.read_pickle</a:t>
            </a:r>
            <a:r>
              <a:rPr lang="en-GB" altLang="zh-CN" dirty="0"/>
              <a:t>('output/</a:t>
            </a:r>
            <a:r>
              <a:rPr lang="en-GB" altLang="zh-CN" dirty="0" err="1"/>
              <a:t>scientists_name.pickle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scientists_name</a:t>
            </a:r>
            <a:r>
              <a:rPr lang="en-GB" altLang="zh-CN" dirty="0"/>
              <a:t>)</a:t>
            </a:r>
            <a:endParaRPr lang="en-US" altLang="zh-C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5.2 CSV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/>
              <a:t>CSV</a:t>
            </a:r>
            <a:r>
              <a:rPr lang="zh-CN" altLang="en-US" dirty="0"/>
              <a:t>文件介绍</a:t>
            </a:r>
            <a:endParaRPr lang="en-US" altLang="zh-CN" dirty="0"/>
          </a:p>
          <a:p>
            <a:r>
              <a:rPr lang="en-US" altLang="zh-CN" dirty="0"/>
              <a:t>CSV(</a:t>
            </a:r>
            <a:r>
              <a:rPr lang="zh-CN" altLang="en-US" dirty="0"/>
              <a:t>逗号分隔值</a:t>
            </a:r>
            <a:r>
              <a:rPr lang="en-US" altLang="zh-CN" dirty="0"/>
              <a:t>)</a:t>
            </a:r>
            <a:r>
              <a:rPr lang="zh-CN" altLang="en-US" dirty="0"/>
              <a:t>是很灵活的一种数据存储格式</a:t>
            </a:r>
            <a:endParaRPr lang="zh-CN" altLang="en-US" dirty="0"/>
          </a:p>
          <a:p>
            <a:r>
              <a:rPr lang="zh-CN" altLang="en-US" dirty="0"/>
              <a:t>在</a:t>
            </a:r>
            <a:r>
              <a:rPr lang="en-US" altLang="zh-CN" dirty="0"/>
              <a:t>CSV</a:t>
            </a:r>
            <a:r>
              <a:rPr lang="zh-CN" altLang="en-US" dirty="0"/>
              <a:t>文件中，对于每一行，各列采用逗号分隔</a:t>
            </a:r>
            <a:endParaRPr lang="zh-CN" altLang="en-US" dirty="0"/>
          </a:p>
          <a:p>
            <a:r>
              <a:rPr lang="zh-CN" altLang="en-US" dirty="0"/>
              <a:t>除了逗号，还可以使用其他类型的分隔符，比如</a:t>
            </a:r>
            <a:r>
              <a:rPr lang="en-US" altLang="zh-CN" dirty="0"/>
              <a:t>TSV</a:t>
            </a:r>
            <a:r>
              <a:rPr lang="zh-CN" altLang="en-US" dirty="0"/>
              <a:t>文件，使用制表符作为分隔符</a:t>
            </a:r>
            <a:endParaRPr lang="zh-CN" altLang="en-US" dirty="0"/>
          </a:p>
          <a:p>
            <a:r>
              <a:rPr lang="en-US" altLang="zh-CN" dirty="0"/>
              <a:t>CSV</a:t>
            </a:r>
            <a:r>
              <a:rPr lang="zh-CN" altLang="en-US" dirty="0"/>
              <a:t>是数据协作和共享的首选格式</a:t>
            </a:r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5.2 CSV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保存成</a:t>
            </a:r>
            <a:r>
              <a:rPr lang="en-GB" altLang="zh-CN" dirty="0"/>
              <a:t>CSV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US" altLang="zh-CN" dirty="0" err="1"/>
              <a:t>names.to_csv</a:t>
            </a:r>
            <a:r>
              <a:rPr lang="en-US" altLang="zh-CN" dirty="0"/>
              <a:t>('output/</a:t>
            </a:r>
            <a:r>
              <a:rPr lang="en-US" altLang="zh-CN" dirty="0" err="1"/>
              <a:t>scientists_name.csv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设置分隔符为</a:t>
            </a:r>
            <a:r>
              <a:rPr lang="en-US" altLang="zh-CN" dirty="0"/>
              <a:t>\t</a:t>
            </a:r>
            <a:endParaRPr lang="en-US" altLang="zh-CN" dirty="0"/>
          </a:p>
          <a:p>
            <a:r>
              <a:rPr lang="en-US" altLang="zh-CN" dirty="0" err="1"/>
              <a:t>scientists.to_csv</a:t>
            </a:r>
            <a:r>
              <a:rPr lang="en-US" altLang="zh-CN" dirty="0"/>
              <a:t>('output/scientists_df.</a:t>
            </a:r>
            <a:r>
              <a:rPr lang="en-US" altLang="zh-CN" dirty="0" err="1"/>
              <a:t>tsv</a:t>
            </a:r>
            <a:r>
              <a:rPr lang="en-US" altLang="zh-CN" dirty="0"/>
              <a:t>',</a:t>
            </a:r>
            <a:r>
              <a:rPr lang="en-US" altLang="zh-CN" dirty="0" err="1"/>
              <a:t>sep</a:t>
            </a:r>
            <a:r>
              <a:rPr lang="en-US" altLang="zh-CN" dirty="0"/>
              <a:t>='\t’)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不在</a:t>
            </a:r>
            <a:r>
              <a:rPr lang="en-US" altLang="zh-CN" dirty="0"/>
              <a:t>csv</a:t>
            </a:r>
            <a:r>
              <a:rPr lang="zh-CN" altLang="en-US" dirty="0"/>
              <a:t>文件中写行名</a:t>
            </a:r>
            <a:endParaRPr lang="en-US" altLang="zh-CN" dirty="0"/>
          </a:p>
          <a:p>
            <a:r>
              <a:rPr lang="en-US" altLang="zh-CN" dirty="0" err="1"/>
              <a:t>scientists.to_csv</a:t>
            </a:r>
            <a:r>
              <a:rPr lang="en-US" altLang="zh-CN" dirty="0"/>
              <a:t>('output/</a:t>
            </a:r>
            <a:r>
              <a:rPr lang="en-US" altLang="zh-CN" dirty="0" err="1"/>
              <a:t>scientists_df_noindex.csv',index</a:t>
            </a:r>
            <a:r>
              <a:rPr lang="en-US" altLang="zh-CN" dirty="0"/>
              <a:t>=False)</a:t>
            </a:r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5.3 Excel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保存成</a:t>
            </a:r>
            <a:r>
              <a:rPr lang="en-GB" altLang="zh-CN" dirty="0"/>
              <a:t>Excel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GB" altLang="zh-CN" dirty="0"/>
              <a:t>Series</a:t>
            </a:r>
            <a:r>
              <a:rPr lang="zh-CN" altLang="en-US" dirty="0"/>
              <a:t>这种数据结构不支持</a:t>
            </a:r>
            <a:r>
              <a:rPr lang="en-GB" altLang="zh-CN" dirty="0" err="1"/>
              <a:t>to_excel</a:t>
            </a:r>
            <a:r>
              <a:rPr lang="zh-CN" altLang="en-US" dirty="0"/>
              <a:t>方法，想保存成</a:t>
            </a:r>
            <a:r>
              <a:rPr lang="en-GB" altLang="zh-CN" dirty="0"/>
              <a:t>Excel</a:t>
            </a:r>
            <a:r>
              <a:rPr lang="zh-CN" altLang="en-US" dirty="0"/>
              <a:t>文件，需要把</a:t>
            </a:r>
            <a:r>
              <a:rPr lang="en-GB" altLang="zh-CN" dirty="0"/>
              <a:t>Series</a:t>
            </a:r>
            <a:r>
              <a:rPr lang="zh-CN" altLang="en-US" dirty="0"/>
              <a:t>转换成</a:t>
            </a:r>
            <a:r>
              <a:rPr lang="en-GB" altLang="zh-CN" dirty="0"/>
              <a:t>DataFrame</a:t>
            </a:r>
            <a:endParaRPr lang="en-GB" altLang="zh-CN" dirty="0"/>
          </a:p>
          <a:p>
            <a:r>
              <a:rPr lang="en-US" altLang="zh-CN" dirty="0" err="1"/>
              <a:t>names_df</a:t>
            </a:r>
            <a:r>
              <a:rPr lang="en-US" altLang="zh-CN" dirty="0"/>
              <a:t> = </a:t>
            </a:r>
            <a:r>
              <a:rPr lang="en-US" altLang="zh-CN" dirty="0" err="1"/>
              <a:t>names.to_frame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/>
              <a:t>import </a:t>
            </a:r>
            <a:r>
              <a:rPr lang="en-US" altLang="zh-CN" dirty="0" err="1"/>
              <a:t>xlwt</a:t>
            </a:r>
            <a:endParaRPr lang="en-US" altLang="zh-CN" dirty="0"/>
          </a:p>
          <a:p>
            <a:r>
              <a:rPr lang="en-US" altLang="zh-CN" dirty="0" err="1"/>
              <a:t>names_df.to_excel</a:t>
            </a:r>
            <a:r>
              <a:rPr lang="en-US" altLang="zh-CN" dirty="0"/>
              <a:t>('output/</a:t>
            </a:r>
            <a:r>
              <a:rPr lang="en-US" altLang="zh-CN" dirty="0" err="1"/>
              <a:t>scientists_name_df.xls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 err="1"/>
              <a:t>names_df.to_excel</a:t>
            </a:r>
            <a:r>
              <a:rPr lang="en-US" altLang="zh-CN" dirty="0"/>
              <a:t>('output/</a:t>
            </a:r>
            <a:r>
              <a:rPr lang="en-US" altLang="zh-CN" dirty="0" err="1"/>
              <a:t>scientists_name_df.xlsx</a:t>
            </a:r>
            <a:r>
              <a:rPr lang="en-US" altLang="zh-CN" dirty="0"/>
              <a:t>’)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把</a:t>
            </a:r>
            <a:r>
              <a:rPr lang="en-GB" altLang="zh-CN" dirty="0"/>
              <a:t>DataFrame</a:t>
            </a:r>
            <a:r>
              <a:rPr lang="zh-CN" altLang="en-US" dirty="0"/>
              <a:t>保存为</a:t>
            </a:r>
            <a:r>
              <a:rPr lang="en-GB" altLang="zh-CN" dirty="0"/>
              <a:t>Excel</a:t>
            </a:r>
            <a:r>
              <a:rPr lang="zh-CN" altLang="en-US" dirty="0"/>
              <a:t>格式</a:t>
            </a:r>
            <a:endParaRPr lang="en-US" altLang="zh-CN" dirty="0"/>
          </a:p>
          <a:p>
            <a:r>
              <a:rPr lang="en-US" altLang="zh-CN" dirty="0" err="1"/>
              <a:t>scientists.to_excel</a:t>
            </a:r>
            <a:r>
              <a:rPr lang="en-US" altLang="zh-CN" dirty="0"/>
              <a:t>('output/scientists_df.</a:t>
            </a:r>
            <a:r>
              <a:rPr lang="en-US" altLang="zh-CN" dirty="0" err="1"/>
              <a:t>xlsx</a:t>
            </a:r>
            <a:r>
              <a:rPr lang="en-US" altLang="zh-CN" dirty="0"/>
              <a:t>',</a:t>
            </a:r>
            <a:r>
              <a:rPr lang="en-US" altLang="zh-CN" dirty="0" err="1"/>
              <a:t>sheet_name</a:t>
            </a:r>
            <a:r>
              <a:rPr lang="en-US" altLang="zh-CN" dirty="0"/>
              <a:t>='</a:t>
            </a:r>
            <a:r>
              <a:rPr lang="en-US" altLang="zh-CN" dirty="0" err="1"/>
              <a:t>scientists',index</a:t>
            </a:r>
            <a:r>
              <a:rPr lang="en-US" altLang="zh-CN" dirty="0"/>
              <a:t>=False)</a:t>
            </a:r>
            <a:endParaRPr lang="en-US" altLang="zh-C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5.3 Excel</a:t>
            </a:r>
            <a:r>
              <a:rPr lang="zh-CN" altLang="en-US" dirty="0"/>
              <a:t>文件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读取</a:t>
            </a:r>
            <a:r>
              <a:rPr lang="en-GB" altLang="zh-CN" dirty="0"/>
              <a:t>Excel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使用</a:t>
            </a:r>
            <a:r>
              <a:rPr lang="en-GB" altLang="zh-CN" dirty="0" err="1"/>
              <a:t>pd.read_excel</a:t>
            </a:r>
            <a:r>
              <a:rPr lang="en-GB" altLang="zh-CN" dirty="0"/>
              <a:t>() </a:t>
            </a:r>
            <a:r>
              <a:rPr lang="zh-CN" altLang="en-US" dirty="0"/>
              <a:t>读取</a:t>
            </a:r>
            <a:r>
              <a:rPr lang="en-GB" altLang="zh-CN" dirty="0"/>
              <a:t>Excel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en-GB" altLang="zh-CN" dirty="0" err="1"/>
              <a:t>pd.read_excel</a:t>
            </a:r>
            <a:r>
              <a:rPr lang="en-GB" altLang="zh-CN" dirty="0"/>
              <a:t>('output/</a:t>
            </a:r>
            <a:r>
              <a:rPr lang="en-GB" altLang="zh-CN" dirty="0" err="1"/>
              <a:t>scientists_df.xlsx</a:t>
            </a:r>
            <a:r>
              <a:rPr lang="en-GB" altLang="zh-CN" dirty="0"/>
              <a:t>’)</a:t>
            </a:r>
            <a:endParaRPr lang="en-GB" altLang="zh-CN" dirty="0"/>
          </a:p>
          <a:p>
            <a:endParaRPr lang="en-GB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注意 </a:t>
            </a:r>
            <a:r>
              <a:rPr lang="en-US" altLang="zh-CN" dirty="0"/>
              <a:t>pandas</a:t>
            </a:r>
            <a:r>
              <a:rPr lang="zh-CN" altLang="en-US" dirty="0"/>
              <a:t>读写</a:t>
            </a:r>
            <a:r>
              <a:rPr lang="en-US" altLang="zh-CN" dirty="0"/>
              <a:t>excel</a:t>
            </a:r>
            <a:r>
              <a:rPr lang="zh-CN" altLang="en-US" dirty="0"/>
              <a:t>需要额外安装如下三个包</a:t>
            </a:r>
            <a:endParaRPr lang="en-US" altLang="zh-CN" dirty="0"/>
          </a:p>
          <a:p>
            <a:r>
              <a:rPr lang="en-US" altLang="zh-CN" dirty="0"/>
              <a:t>pip install -i https://pypi.tuna.tsinghua.edu.cn/simple xlwt </a:t>
            </a:r>
            <a:endParaRPr lang="en-US" altLang="zh-CN" dirty="0"/>
          </a:p>
          <a:p>
            <a:r>
              <a:rPr lang="en-US" altLang="zh-CN" dirty="0"/>
              <a:t>pip install -i https://pypi.tuna.tsinghua.edu.cn/simple openpyxl</a:t>
            </a:r>
            <a:endParaRPr lang="en-US" altLang="zh-CN" dirty="0"/>
          </a:p>
          <a:p>
            <a:r>
              <a:rPr lang="en-US" altLang="zh-CN" dirty="0"/>
              <a:t>pip install -i https://pypi.tuna.tsinghua.edu.cn/simple xlrd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5.4 </a:t>
            </a:r>
            <a:r>
              <a:rPr lang="zh-CN" altLang="en-US" dirty="0"/>
              <a:t>其它数据格式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feather</a:t>
            </a:r>
            <a:r>
              <a:rPr lang="zh-CN" altLang="en-US" dirty="0"/>
              <a:t>文件</a:t>
            </a:r>
            <a:endParaRPr lang="zh-CN" altLang="en-US" dirty="0"/>
          </a:p>
          <a:p>
            <a:r>
              <a:rPr lang="en-GB" altLang="zh-CN" b="0" dirty="0"/>
              <a:t>feather</a:t>
            </a:r>
            <a:r>
              <a:rPr lang="zh-CN" altLang="en-US" b="0" dirty="0"/>
              <a:t>是一种文件格式，用于存储二进制对象</a:t>
            </a:r>
            <a:endParaRPr lang="zh-CN" altLang="en-US" b="0" dirty="0"/>
          </a:p>
          <a:p>
            <a:r>
              <a:rPr lang="en-GB" altLang="zh-CN" b="0" dirty="0"/>
              <a:t>feather</a:t>
            </a:r>
            <a:r>
              <a:rPr lang="zh-CN" altLang="en-US" b="0" dirty="0"/>
              <a:t>对象也可以加载到</a:t>
            </a:r>
            <a:r>
              <a:rPr lang="en-GB" altLang="zh-CN" b="0" dirty="0"/>
              <a:t>R</a:t>
            </a:r>
            <a:r>
              <a:rPr lang="zh-CN" altLang="en-US" b="0" dirty="0"/>
              <a:t>语言中使用</a:t>
            </a:r>
            <a:endParaRPr lang="zh-CN" altLang="en-US" b="0" dirty="0"/>
          </a:p>
          <a:p>
            <a:r>
              <a:rPr lang="en-GB" altLang="zh-CN" b="0" dirty="0"/>
              <a:t>feather</a:t>
            </a:r>
            <a:r>
              <a:rPr lang="zh-CN" altLang="en-US" b="0" dirty="0"/>
              <a:t>格式的主要优点是在</a:t>
            </a:r>
            <a:r>
              <a:rPr lang="en-GB" altLang="zh-CN" b="0" dirty="0"/>
              <a:t>Python</a:t>
            </a:r>
            <a:r>
              <a:rPr lang="zh-CN" altLang="en-US" b="0" dirty="0"/>
              <a:t>和</a:t>
            </a:r>
            <a:r>
              <a:rPr lang="en-GB" altLang="zh-CN" b="0" dirty="0"/>
              <a:t>R</a:t>
            </a:r>
            <a:r>
              <a:rPr lang="zh-CN" altLang="en-US" b="0" dirty="0"/>
              <a:t>语言之间的读写速度要比</a:t>
            </a:r>
            <a:r>
              <a:rPr lang="en-GB" altLang="zh-CN" b="0" dirty="0"/>
              <a:t>CSV</a:t>
            </a:r>
            <a:r>
              <a:rPr lang="zh-CN" altLang="en-US" b="0" dirty="0"/>
              <a:t>文件快</a:t>
            </a:r>
            <a:endParaRPr lang="zh-CN" altLang="en-US" b="0" dirty="0"/>
          </a:p>
          <a:p>
            <a:r>
              <a:rPr lang="en-GB" altLang="zh-CN" b="0" dirty="0"/>
              <a:t>feather</a:t>
            </a:r>
            <a:r>
              <a:rPr lang="zh-CN" altLang="en-US" b="0" dirty="0"/>
              <a:t>数据格式通常只用中间数据格式，用于</a:t>
            </a:r>
            <a:r>
              <a:rPr lang="en-GB" altLang="zh-CN" b="0" dirty="0"/>
              <a:t>Python</a:t>
            </a:r>
            <a:r>
              <a:rPr lang="zh-CN" altLang="en-US" b="0" dirty="0"/>
              <a:t>和</a:t>
            </a:r>
            <a:r>
              <a:rPr lang="en-GB" altLang="zh-CN" b="0" dirty="0"/>
              <a:t>R</a:t>
            </a:r>
            <a:r>
              <a:rPr lang="zh-CN" altLang="en-US" b="0" dirty="0"/>
              <a:t>之间传递数据</a:t>
            </a:r>
            <a:endParaRPr lang="zh-CN" altLang="en-US" b="0" dirty="0"/>
          </a:p>
          <a:p>
            <a:r>
              <a:rPr lang="zh-CN" altLang="en-US" b="0" dirty="0"/>
              <a:t>一般不用做保存最终数据</a:t>
            </a:r>
            <a:endParaRPr lang="zh-CN" altLang="en-US" b="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5.4 </a:t>
            </a:r>
            <a:r>
              <a:rPr lang="zh-CN" altLang="en-US" dirty="0"/>
              <a:t>其它数据格式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altLang="zh-CN" dirty="0"/>
              <a:t>feather</a:t>
            </a:r>
            <a:r>
              <a:rPr lang="zh-CN" altLang="en-US" dirty="0"/>
              <a:t>文件</a:t>
            </a:r>
            <a:endParaRPr lang="zh-CN" altLang="en-US" dirty="0"/>
          </a:p>
          <a:p>
            <a:r>
              <a:rPr lang="en-GB" altLang="zh-CN" b="0" dirty="0"/>
              <a:t>feather</a:t>
            </a:r>
            <a:r>
              <a:rPr lang="zh-CN" altLang="en-US" b="0" dirty="0"/>
              <a:t>是一种文件格式，用于存储二进制对象</a:t>
            </a:r>
            <a:endParaRPr lang="zh-CN" altLang="en-US" b="0" dirty="0"/>
          </a:p>
          <a:p>
            <a:r>
              <a:rPr lang="en-GB" altLang="zh-CN" b="0" dirty="0"/>
              <a:t>feather</a:t>
            </a:r>
            <a:r>
              <a:rPr lang="zh-CN" altLang="en-US" b="0" dirty="0"/>
              <a:t>对象也可以加载到</a:t>
            </a:r>
            <a:r>
              <a:rPr lang="en-GB" altLang="zh-CN" b="0" dirty="0"/>
              <a:t>R</a:t>
            </a:r>
            <a:r>
              <a:rPr lang="zh-CN" altLang="en-US" b="0" dirty="0"/>
              <a:t>语言中使用</a:t>
            </a:r>
            <a:endParaRPr lang="zh-CN" altLang="en-US" b="0" dirty="0"/>
          </a:p>
          <a:p>
            <a:r>
              <a:rPr lang="en-GB" altLang="zh-CN" b="0" dirty="0"/>
              <a:t>feather</a:t>
            </a:r>
            <a:r>
              <a:rPr lang="zh-CN" altLang="en-US" b="0" dirty="0"/>
              <a:t>格式的主要优点是在</a:t>
            </a:r>
            <a:r>
              <a:rPr lang="en-GB" altLang="zh-CN" b="0" dirty="0"/>
              <a:t>Python</a:t>
            </a:r>
            <a:r>
              <a:rPr lang="zh-CN" altLang="en-US" b="0" dirty="0"/>
              <a:t>和</a:t>
            </a:r>
            <a:r>
              <a:rPr lang="en-GB" altLang="zh-CN" b="0" dirty="0"/>
              <a:t>R</a:t>
            </a:r>
            <a:r>
              <a:rPr lang="zh-CN" altLang="en-US" b="0" dirty="0"/>
              <a:t>语言之间的读写速度要比</a:t>
            </a:r>
            <a:r>
              <a:rPr lang="en-GB" altLang="zh-CN" b="0" dirty="0"/>
              <a:t>CSV</a:t>
            </a:r>
            <a:r>
              <a:rPr lang="zh-CN" altLang="en-US" b="0" dirty="0"/>
              <a:t>文件快</a:t>
            </a:r>
            <a:endParaRPr lang="zh-CN" altLang="en-US" b="0" dirty="0"/>
          </a:p>
          <a:p>
            <a:r>
              <a:rPr lang="en-GB" altLang="zh-CN" b="0" dirty="0"/>
              <a:t>feather</a:t>
            </a:r>
            <a:r>
              <a:rPr lang="zh-CN" altLang="en-US" b="0" dirty="0"/>
              <a:t>数据格式通常只用中间数据格式，用于</a:t>
            </a:r>
            <a:r>
              <a:rPr lang="en-GB" altLang="zh-CN" b="0" dirty="0"/>
              <a:t>Python</a:t>
            </a:r>
            <a:r>
              <a:rPr lang="zh-CN" altLang="en-US" b="0" dirty="0"/>
              <a:t>和</a:t>
            </a:r>
            <a:r>
              <a:rPr lang="en-GB" altLang="zh-CN" b="0" dirty="0"/>
              <a:t>R</a:t>
            </a:r>
            <a:r>
              <a:rPr lang="zh-CN" altLang="en-US" b="0" dirty="0"/>
              <a:t>之间传递数据</a:t>
            </a:r>
            <a:endParaRPr lang="zh-CN" altLang="en-US" b="0" dirty="0"/>
          </a:p>
          <a:p>
            <a:r>
              <a:rPr lang="zh-CN" altLang="en-US" b="0" dirty="0"/>
              <a:t>一般不用做保存最终数据</a:t>
            </a:r>
            <a:endParaRPr lang="zh-CN" altLang="en-US" b="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zh-CN" altLang="en-US" dirty="0"/>
              <a:t>导出和导入数据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5.4 </a:t>
            </a:r>
            <a:r>
              <a:rPr lang="zh-CN" altLang="en-US" dirty="0"/>
              <a:t>其它数据格式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其他格式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569936"/>
            <a:ext cx="7658100" cy="34163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06" y="236790"/>
            <a:ext cx="4612004" cy="633689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510" y="751205"/>
            <a:ext cx="414655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7779</Words>
  <Application>WPS 演示</Application>
  <PresentationFormat>宽屏</PresentationFormat>
  <Paragraphs>496</Paragraphs>
  <Slides>50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50</vt:i4>
      </vt:variant>
    </vt:vector>
  </HeadingPairs>
  <TitlesOfParts>
    <vt:vector size="86" baseType="lpstr">
      <vt:lpstr>Arial</vt:lpstr>
      <vt:lpstr>方正书宋_GBK</vt:lpstr>
      <vt:lpstr>Wingdings</vt:lpstr>
      <vt:lpstr>Calibri</vt:lpstr>
      <vt:lpstr>Helvetica Neue</vt:lpstr>
      <vt:lpstr>宋体</vt:lpstr>
      <vt:lpstr>汉仪书宋二KW</vt:lpstr>
      <vt:lpstr>黑体</vt:lpstr>
      <vt:lpstr>阿里巴巴普惠体</vt:lpstr>
      <vt:lpstr>苹方-简</vt:lpstr>
      <vt:lpstr>Segoe UI</vt:lpstr>
      <vt:lpstr>微软雅黑</vt:lpstr>
      <vt:lpstr>Segoe UI Light</vt:lpstr>
      <vt:lpstr>微软雅黑 Light</vt:lpstr>
      <vt:lpstr>汉仪旗黑</vt:lpstr>
      <vt:lpstr>Alibaba PuHuiTi B</vt:lpstr>
      <vt:lpstr>Alibaba PuHuiTi R</vt:lpstr>
      <vt:lpstr>Verdana</vt:lpstr>
      <vt:lpstr>Alibaba PuHuiTi M</vt:lpstr>
      <vt:lpstr>Wingdings</vt:lpstr>
      <vt:lpstr>宋体</vt:lpstr>
      <vt:lpstr>Arial Unicode MS</vt:lpstr>
      <vt:lpstr>等线</vt:lpstr>
      <vt:lpstr>汉仪中等线KW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Pandas 数据结构</vt:lpstr>
      <vt:lpstr>PowerPoint 演示文稿</vt:lpstr>
      <vt:lpstr>PowerPoint 演示文稿</vt:lpstr>
      <vt:lpstr>1 创建Series和DataFrame</vt:lpstr>
      <vt:lpstr>1 创建Series和DataFrame</vt:lpstr>
      <vt:lpstr>1 创建Series和DataFrame</vt:lpstr>
      <vt:lpstr>1 创建Series和DataFrame</vt:lpstr>
      <vt:lpstr>1 创建Series和DataFrame</vt:lpstr>
      <vt:lpstr>PowerPoint 演示文稿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2 Series 常用操作</vt:lpstr>
      <vt:lpstr>PowerPoint 演示文稿</vt:lpstr>
      <vt:lpstr>3 DataFrame常用操作</vt:lpstr>
      <vt:lpstr>3 DataFrame常用操作</vt:lpstr>
      <vt:lpstr>3 DataFrame常用操作</vt:lpstr>
      <vt:lpstr>3 DataFrame常用操作</vt:lpstr>
      <vt:lpstr>PowerPoint 演示文稿</vt:lpstr>
      <vt:lpstr>4 更改Series和DataFrame</vt:lpstr>
      <vt:lpstr>4 更改Series和DataFrame</vt:lpstr>
      <vt:lpstr>4 更改Series和DataFrame</vt:lpstr>
      <vt:lpstr>4 更改Series和DataFrame</vt:lpstr>
      <vt:lpstr>4 更改Series和DataFrame</vt:lpstr>
      <vt:lpstr>4 更改Series和DataFrame</vt:lpstr>
      <vt:lpstr>4 更改Series和DataFrame</vt:lpstr>
      <vt:lpstr>4 更改Series和DataFrame</vt:lpstr>
      <vt:lpstr>PowerPoint 演示文稿</vt:lpstr>
      <vt:lpstr>5 导出和导入数据</vt:lpstr>
      <vt:lpstr>5 导出和导入数据</vt:lpstr>
      <vt:lpstr>5 导出和导入数据</vt:lpstr>
      <vt:lpstr>5 导出和导入数据</vt:lpstr>
      <vt:lpstr>5 导出和导入数据</vt:lpstr>
      <vt:lpstr>5 导出和导入数据</vt:lpstr>
      <vt:lpstr>5 导出和导入数据</vt:lpstr>
      <vt:lpstr>5 导出和导入数据</vt:lpstr>
      <vt:lpstr>5 导出和导入数据</vt:lpstr>
      <vt:lpstr>5 导出和导入数据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hanfeihu</cp:lastModifiedBy>
  <cp:revision>200</cp:revision>
  <dcterms:created xsi:type="dcterms:W3CDTF">2021-06-28T06:34:57Z</dcterms:created>
  <dcterms:modified xsi:type="dcterms:W3CDTF">2021-06-28T06:34:57Z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FC9C8B3A68A147DCB8B965733386F4FD</vt:lpwstr>
  </property>
  <property fmtid="{D5CDD505-2E9C-101B-9397-08002B2CF9AE}" pid="3" name="KSOProductBuildVer">
    <vt:lpwstr>2052-3.6.2.5883</vt:lpwstr>
  </property>
</Properties>
</file>