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2" r:id="rId8"/>
  </p:sldMasterIdLst>
  <p:notesMasterIdLst>
    <p:notesMasterId r:id="rId17"/>
  </p:notesMasterIdLst>
  <p:handoutMasterIdLst>
    <p:handoutMasterId r:id="rId36"/>
  </p:handoutMasterIdLst>
  <p:sldIdLst>
    <p:sldId id="462" r:id="rId9"/>
    <p:sldId id="464" r:id="rId10"/>
    <p:sldId id="463" r:id="rId11"/>
    <p:sldId id="465" r:id="rId12"/>
    <p:sldId id="470" r:id="rId13"/>
    <p:sldId id="471" r:id="rId14"/>
    <p:sldId id="473" r:id="rId15"/>
    <p:sldId id="474" r:id="rId16"/>
    <p:sldId id="491" r:id="rId18"/>
    <p:sldId id="472" r:id="rId19"/>
    <p:sldId id="475" r:id="rId20"/>
    <p:sldId id="476" r:id="rId21"/>
    <p:sldId id="477" r:id="rId22"/>
    <p:sldId id="492" r:id="rId23"/>
    <p:sldId id="478" r:id="rId24"/>
    <p:sldId id="479" r:id="rId25"/>
    <p:sldId id="480" r:id="rId26"/>
    <p:sldId id="481" r:id="rId27"/>
    <p:sldId id="482" r:id="rId28"/>
    <p:sldId id="483" r:id="rId29"/>
    <p:sldId id="484" r:id="rId30"/>
    <p:sldId id="485" r:id="rId31"/>
    <p:sldId id="486" r:id="rId32"/>
    <p:sldId id="468" r:id="rId33"/>
    <p:sldId id="488" r:id="rId34"/>
    <p:sldId id="264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49504F"/>
    <a:srgbClr val="B70006"/>
    <a:srgbClr val="FFFFE4"/>
    <a:srgbClr val="919191"/>
    <a:srgbClr val="333333"/>
    <a:srgbClr val="FFFFFF"/>
    <a:srgbClr val="B60206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6" autoAdjust="0"/>
    <p:restoredTop sz="95330" autoAdjust="0"/>
  </p:normalViewPr>
  <p:slideViewPr>
    <p:cSldViewPr snapToGrid="0">
      <p:cViewPr varScale="1">
        <p:scale>
          <a:sx n="125" d="100"/>
          <a:sy n="125" d="100"/>
        </p:scale>
        <p:origin x="19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5" Type="http://schemas.openxmlformats.org/officeDocument/2006/relationships/theme" Target="../theme/theme6.xml"/><Relationship Id="rId14" Type="http://schemas.openxmlformats.org/officeDocument/2006/relationships/image" Target="../media/image4.png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优衣库销售数据分析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掌握描述性数据分析流程</a:t>
            </a:r>
            <a:endParaRPr lang="zh-CN" altLang="en-US" dirty="0"/>
          </a:p>
          <a:p>
            <a:r>
              <a:rPr lang="zh-CN" altLang="en-US" dirty="0"/>
              <a:t>熟练使用</a:t>
            </a:r>
            <a:r>
              <a:rPr lang="en-US" altLang="zh-CN" dirty="0"/>
              <a:t>pandas</a:t>
            </a:r>
            <a:r>
              <a:rPr lang="zh-CN" altLang="en-US" dirty="0"/>
              <a:t>、</a:t>
            </a:r>
            <a:r>
              <a:rPr lang="en-US" altLang="zh-CN" dirty="0"/>
              <a:t>seaborn</a:t>
            </a:r>
            <a:r>
              <a:rPr lang="zh-CN" altLang="en-US" dirty="0"/>
              <a:t>进行数据分析和可视化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D2B26"/>
                </a:solidFill>
              </a:rPr>
              <a:t>案例介绍</a:t>
            </a:r>
            <a:endParaRPr lang="zh-CN" altLang="en-US" dirty="0">
              <a:solidFill>
                <a:srgbClr val="AD2B26"/>
              </a:solidFill>
            </a:endParaRPr>
          </a:p>
          <a:p>
            <a:r>
              <a:rPr lang="zh-CN" altLang="en-US" dirty="0"/>
              <a:t>查看数据</a:t>
            </a:r>
            <a:endParaRPr lang="zh-CN" altLang="en-US" dirty="0"/>
          </a:p>
          <a:p>
            <a:r>
              <a:rPr lang="zh-CN" altLang="en-US" dirty="0"/>
              <a:t>不同产品的销售情况</a:t>
            </a:r>
            <a:endParaRPr lang="zh-CN" altLang="en-US" dirty="0"/>
          </a:p>
          <a:p>
            <a:r>
              <a:rPr lang="zh-CN" altLang="en-US" dirty="0"/>
              <a:t>用户习惯的消费方式</a:t>
            </a:r>
            <a:endParaRPr lang="zh-CN" altLang="en-US" dirty="0"/>
          </a:p>
          <a:p>
            <a:r>
              <a:rPr lang="zh-CN" altLang="en-US" dirty="0"/>
              <a:t>用户消费习惯</a:t>
            </a:r>
            <a:endParaRPr lang="zh-CN" altLang="en-US" dirty="0"/>
          </a:p>
          <a:p>
            <a:r>
              <a:rPr lang="zh-CN" altLang="en-US" dirty="0"/>
              <a:t>销售额和成本之间的关系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 案例介绍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案例背景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数据集中包含了不同城市优衣库门店的销售记录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通过对销售数据的分析，为运营提供一些有益信息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 案例介绍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通过数据分析要解决的问题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不同产品的销售情况，顾客喜欢的购买方式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销售额和成本之间的关系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购买时间偏好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 案例介绍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1.3</a:t>
            </a:r>
            <a:r>
              <a:rPr lang="zh-CN" altLang="en-US" dirty="0"/>
              <a:t> 数据字段说明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145" y="1601683"/>
            <a:ext cx="4229100" cy="4965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案例介绍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查看数据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不同产品的销售情况</a:t>
            </a:r>
            <a:endParaRPr lang="zh-CN" altLang="en-US" dirty="0"/>
          </a:p>
          <a:p>
            <a:r>
              <a:rPr lang="zh-CN" altLang="en-US" dirty="0"/>
              <a:t>用户习惯的消费方式</a:t>
            </a:r>
            <a:endParaRPr lang="zh-CN" altLang="en-US" dirty="0"/>
          </a:p>
          <a:p>
            <a:r>
              <a:rPr lang="zh-CN" altLang="en-US" dirty="0"/>
              <a:t>用户消费习惯</a:t>
            </a:r>
            <a:endParaRPr lang="zh-CN" altLang="en-US" dirty="0"/>
          </a:p>
          <a:p>
            <a:r>
              <a:rPr lang="zh-CN" altLang="en-US" dirty="0"/>
              <a:t>销售额和成本之间的关系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 查看数据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altLang="zh-CN" dirty="0"/>
              <a:t>import pandas as </a:t>
            </a:r>
            <a:r>
              <a:rPr lang="en-GB" altLang="zh-CN" dirty="0" err="1"/>
              <a:t>pd</a:t>
            </a:r>
            <a:endParaRPr lang="en-GB" altLang="zh-CN" dirty="0"/>
          </a:p>
          <a:p>
            <a:r>
              <a:rPr lang="en-GB" altLang="zh-CN" dirty="0" err="1"/>
              <a:t>uniqlo</a:t>
            </a:r>
            <a:r>
              <a:rPr lang="en-GB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uniqlo.csv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 err="1"/>
              <a:t>uniqlo.head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 err="1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280" y="3048000"/>
            <a:ext cx="6980555" cy="1699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 查看数据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55870"/>
          </a:xfrm>
        </p:spPr>
        <p:txBody>
          <a:bodyPr/>
          <a:lstStyle/>
          <a:p>
            <a:r>
              <a:rPr lang="en-GB" altLang="zh-CN" dirty="0" err="1"/>
              <a:t>uniqlo.info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从上面结果中看出，数据没有缺失</a:t>
            </a:r>
            <a:endParaRPr lang="zh-CN" altLang="en-US" dirty="0"/>
          </a:p>
          <a:p>
            <a:pPr>
              <a:buFont typeface="Wingdings" panose="05000000000000000000" pitchFamily="2" charset="2"/>
            </a:pPr>
            <a:r>
              <a:rPr lang="en-GB" altLang="zh-CN" dirty="0" err="1"/>
              <a:t>uniqlo.describe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从结果中看出，</a:t>
            </a:r>
            <a:r>
              <a:rPr lang="en-US" altLang="zh-CN" dirty="0"/>
              <a:t>revenue </a:t>
            </a:r>
            <a:r>
              <a:rPr lang="zh-CN" altLang="en-US" dirty="0"/>
              <a:t>销售金额，有异常值，</a:t>
            </a:r>
            <a:endParaRPr lang="zh-CN" altLang="en-US" dirty="0"/>
          </a:p>
          <a:p>
            <a:pPr>
              <a:buFont typeface="Wingdings" panose="05000000000000000000" pitchFamily="2" charset="2"/>
            </a:pPr>
            <a:r>
              <a:rPr lang="en-US" altLang="zh-CN" dirty="0"/>
              <a:t>-0.66 / 12538</a:t>
            </a:r>
            <a:r>
              <a:rPr lang="zh-CN" altLang="en-US" dirty="0"/>
              <a:t>，可以进一步查看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5910" y="939800"/>
            <a:ext cx="5449570" cy="2663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75" y="3919855"/>
            <a:ext cx="6718300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 查看数据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30140"/>
          </a:xfrm>
        </p:spPr>
        <p:txBody>
          <a:bodyPr/>
          <a:lstStyle/>
          <a:p>
            <a:r>
              <a:rPr lang="en-GB" altLang="zh-CN" dirty="0" err="1"/>
              <a:t>uniqlo</a:t>
            </a:r>
            <a:r>
              <a:rPr lang="en-GB" altLang="zh-CN" dirty="0"/>
              <a:t>[</a:t>
            </a:r>
            <a:r>
              <a:rPr lang="en-GB" altLang="zh-CN" dirty="0" err="1"/>
              <a:t>uniqlo.revenue</a:t>
            </a:r>
            <a:r>
              <a:rPr lang="en-GB" altLang="zh-CN" dirty="0"/>
              <a:t>&lt;1]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进一步查看之后发现，一部分订单收入为</a:t>
            </a:r>
            <a:r>
              <a:rPr lang="en-US" altLang="zh-CN" dirty="0"/>
              <a:t>0</a:t>
            </a:r>
            <a:r>
              <a:rPr lang="zh-CN" altLang="en-US" dirty="0"/>
              <a:t>，可能为赠品，收入小于</a:t>
            </a:r>
            <a:r>
              <a:rPr lang="en-US" altLang="zh-CN" dirty="0"/>
              <a:t>0</a:t>
            </a:r>
            <a:r>
              <a:rPr lang="zh-CN" altLang="en-US" dirty="0"/>
              <a:t>的订单只有一个，可以跟业务方核对数据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查看金额较大的订单</a:t>
            </a:r>
            <a:endParaRPr lang="zh-CN" altLang="en-US" dirty="0"/>
          </a:p>
          <a:p>
            <a:r>
              <a:rPr lang="en-GB" altLang="zh-CN" dirty="0" err="1"/>
              <a:t>uniqlo</a:t>
            </a:r>
            <a:r>
              <a:rPr lang="en-GB" altLang="zh-CN" dirty="0"/>
              <a:t>[</a:t>
            </a:r>
            <a:r>
              <a:rPr lang="en-GB" altLang="zh-CN" dirty="0" err="1"/>
              <a:t>uniqlo.revenue</a:t>
            </a:r>
            <a:r>
              <a:rPr lang="en-GB" altLang="zh-CN" dirty="0"/>
              <a:t>&gt;5000]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查看后发现均为消费多件导致金额较高，数据没有问题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210" y="2164080"/>
            <a:ext cx="6219825" cy="15271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010" y="4182745"/>
            <a:ext cx="5205095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案例介绍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/>
              <a:t>查看数据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不同产品的销售情况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用户习惯的消费方式</a:t>
            </a:r>
            <a:endParaRPr lang="zh-CN" altLang="en-US" dirty="0"/>
          </a:p>
          <a:p>
            <a:r>
              <a:rPr lang="zh-CN" altLang="en-US" dirty="0"/>
              <a:t>用户消费习惯</a:t>
            </a:r>
            <a:endParaRPr lang="zh-CN" altLang="en-US" dirty="0"/>
          </a:p>
          <a:p>
            <a:r>
              <a:rPr lang="zh-CN" altLang="en-US" dirty="0"/>
              <a:t>销售额和成本之间的关系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 不同产品的销售情况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1007725" cy="4945380"/>
          </a:xfrm>
        </p:spPr>
        <p:txBody>
          <a:bodyPr/>
          <a:lstStyle/>
          <a:p>
            <a:r>
              <a:rPr lang="en-GB" altLang="zh-CN" dirty="0" err="1"/>
              <a:t>uniqlo.groupby</a:t>
            </a:r>
            <a:r>
              <a:rPr lang="en-GB" altLang="zh-CN" dirty="0"/>
              <a:t>('product')['</a:t>
            </a:r>
            <a:r>
              <a:rPr lang="en-GB" altLang="zh-CN" dirty="0" err="1"/>
              <a:t>store_id</a:t>
            </a:r>
            <a:r>
              <a:rPr lang="en-GB" altLang="zh-CN" dirty="0"/>
              <a:t>'].count().</a:t>
            </a:r>
            <a:r>
              <a:rPr lang="en-GB" altLang="zh-CN" dirty="0" err="1"/>
              <a:t>sort_values</a:t>
            </a:r>
            <a:r>
              <a:rPr lang="en-GB" altLang="zh-CN" dirty="0"/>
              <a:t>(ascending = False)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可以看出，</a:t>
            </a:r>
            <a:r>
              <a:rPr lang="en-US" altLang="zh-CN" dirty="0"/>
              <a:t>T</a:t>
            </a:r>
            <a:r>
              <a:rPr lang="zh-CN" altLang="en-US" dirty="0"/>
              <a:t>恤销售记录条数最多，其次是当季新品，袜子</a:t>
            </a:r>
            <a:r>
              <a:rPr lang="en-US" altLang="zh-CN" dirty="0"/>
              <a:t>...</a:t>
            </a:r>
            <a:endParaRPr lang="en-US" altLang="zh-CN" dirty="0"/>
          </a:p>
          <a:p>
            <a:r>
              <a:rPr lang="en-GB" altLang="zh-CN" dirty="0" err="1"/>
              <a:t>uniqlo.pivot_table</a:t>
            </a:r>
            <a:r>
              <a:rPr lang="en-GB" altLang="zh-CN" dirty="0"/>
              <a:t>(index = '</a:t>
            </a:r>
            <a:r>
              <a:rPr lang="en-GB" altLang="zh-CN" dirty="0" err="1"/>
              <a:t>product',values</a:t>
            </a:r>
            <a:r>
              <a:rPr lang="en-GB" altLang="zh-CN" dirty="0"/>
              <a:t> = 'quant',</a:t>
            </a:r>
            <a:endParaRPr lang="en-GB" altLang="zh-CN" dirty="0"/>
          </a:p>
          <a:p>
            <a:r>
              <a:rPr lang="en-GB" altLang="zh-CN" dirty="0" err="1"/>
              <a:t>aggfunc</a:t>
            </a:r>
            <a:r>
              <a:rPr lang="en-GB" altLang="zh-CN" dirty="0"/>
              <a:t> = 'sum').</a:t>
            </a:r>
            <a:r>
              <a:rPr lang="en-GB" altLang="zh-CN" dirty="0" err="1"/>
              <a:t>sort_values</a:t>
            </a:r>
            <a:r>
              <a:rPr lang="en-GB" altLang="zh-CN" dirty="0"/>
              <a:t>(by=['quant'],ascending = False)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从上面结果中看出销售件数的排行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645" y="2113915"/>
            <a:ext cx="5662930" cy="20326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505" y="3246120"/>
            <a:ext cx="4497705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 不同产品的销售情况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3776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进一步拆解，按城市拆解销量</a:t>
            </a:r>
            <a:endParaRPr lang="en-US" altLang="zh-CN" dirty="0"/>
          </a:p>
          <a:p>
            <a:r>
              <a:rPr lang="en-GB" altLang="zh-CN" dirty="0" err="1"/>
              <a:t>uniqlo.pivot_table</a:t>
            </a:r>
            <a:r>
              <a:rPr lang="en-GB" altLang="zh-CN" dirty="0"/>
              <a:t>(index = '</a:t>
            </a:r>
            <a:r>
              <a:rPr lang="en-GB" altLang="zh-CN" dirty="0" err="1"/>
              <a:t>product',columns</a:t>
            </a:r>
            <a:r>
              <a:rPr lang="en-GB" altLang="zh-CN" dirty="0"/>
              <a:t>='</a:t>
            </a:r>
            <a:r>
              <a:rPr lang="en-GB" altLang="zh-CN" dirty="0" err="1"/>
              <a:t>city',values</a:t>
            </a:r>
            <a:r>
              <a:rPr lang="en-GB" altLang="zh-CN" dirty="0"/>
              <a:t> = 'quant',</a:t>
            </a:r>
            <a:r>
              <a:rPr lang="en-GB" altLang="zh-CN" dirty="0" err="1"/>
              <a:t>aggfunc</a:t>
            </a:r>
            <a:r>
              <a:rPr lang="en-GB" altLang="zh-CN" dirty="0"/>
              <a:t>='sum').sort_values(by='上海',ascending=False)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120" y="2977515"/>
            <a:ext cx="6648450" cy="34124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 不同产品的销售情况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0217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对城市拆解后，再进一步按线上线下拆解</a:t>
            </a:r>
            <a:endParaRPr lang="en-US" altLang="zh-CN" dirty="0"/>
          </a:p>
          <a:p>
            <a:r>
              <a:rPr lang="en-GB" altLang="zh-CN" dirty="0" err="1"/>
              <a:t>uniqlo.pivot_table</a:t>
            </a:r>
            <a:r>
              <a:rPr lang="en-GB" altLang="zh-CN" dirty="0"/>
              <a:t>(index = '</a:t>
            </a:r>
            <a:r>
              <a:rPr lang="en-GB" altLang="zh-CN" dirty="0" err="1"/>
              <a:t>product',columns</a:t>
            </a:r>
            <a:r>
              <a:rPr lang="en-GB" altLang="zh-CN" dirty="0"/>
              <a:t>=['</a:t>
            </a:r>
            <a:r>
              <a:rPr lang="en-GB" altLang="zh-CN" dirty="0" err="1"/>
              <a:t>city','channel</a:t>
            </a:r>
            <a:r>
              <a:rPr lang="en-GB" altLang="zh-CN" dirty="0"/>
              <a:t>'],values = 'quant',</a:t>
            </a:r>
            <a:r>
              <a:rPr lang="en-GB" altLang="zh-CN" dirty="0" err="1"/>
              <a:t>aggfunc</a:t>
            </a:r>
            <a:r>
              <a:rPr lang="en-GB" altLang="zh-CN" dirty="0"/>
              <a:t>='sum')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035" y="2674620"/>
            <a:ext cx="694055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案例介绍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/>
              <a:t>查看数据</a:t>
            </a:r>
            <a:endParaRPr lang="zh-CN" altLang="en-US" dirty="0"/>
          </a:p>
          <a:p>
            <a:r>
              <a:rPr lang="zh-CN" altLang="en-US" dirty="0"/>
              <a:t>不同产品的销售情况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用户习惯的消费方式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用户消费习惯</a:t>
            </a:r>
            <a:endParaRPr lang="zh-CN" altLang="en-US" dirty="0"/>
          </a:p>
          <a:p>
            <a:r>
              <a:rPr lang="zh-CN" altLang="en-US" dirty="0"/>
              <a:t>销售额和成本之间的关系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 用户习惯的消费方式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66970"/>
          </a:xfrm>
        </p:spPr>
        <p:txBody>
          <a:bodyPr/>
          <a:lstStyle/>
          <a:p>
            <a:r>
              <a:rPr lang="en-GB" altLang="zh-CN" dirty="0" err="1"/>
              <a:t>uniqlo.channel.value_counts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从数据中看出，线下消费记录更多，线上较少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进一步按城市拆解</a:t>
            </a:r>
            <a:endParaRPr lang="en-US" altLang="zh-CN" dirty="0"/>
          </a:p>
          <a:p>
            <a:r>
              <a:rPr lang="en-GB" altLang="zh-CN" dirty="0"/>
              <a:t>from matplotlib import </a:t>
            </a:r>
            <a:r>
              <a:rPr lang="en-GB" altLang="zh-CN" dirty="0" err="1"/>
              <a:t>pyplot</a:t>
            </a:r>
            <a:r>
              <a:rPr lang="en-GB" altLang="zh-CN" dirty="0"/>
              <a:t> as </a:t>
            </a:r>
            <a:r>
              <a:rPr lang="en-GB" altLang="zh-CN" dirty="0" err="1"/>
              <a:t>plt</a:t>
            </a:r>
            <a:endParaRPr lang="en-GB" altLang="zh-CN" dirty="0"/>
          </a:p>
          <a:p>
            <a:r>
              <a:rPr lang="en-GB" altLang="zh-CN" dirty="0"/>
              <a:t>import seaborn as </a:t>
            </a:r>
            <a:r>
              <a:rPr lang="en-GB" altLang="zh-CN" dirty="0" err="1"/>
              <a:t>sns</a:t>
            </a:r>
            <a:endParaRPr lang="en-GB" altLang="zh-CN" dirty="0"/>
          </a:p>
          <a:p>
            <a:r>
              <a:rPr lang="en-GB" altLang="zh-CN" dirty="0" err="1"/>
              <a:t>plt.figure</a:t>
            </a:r>
            <a:r>
              <a:rPr lang="en-GB" altLang="zh-CN" dirty="0"/>
              <a:t>(</a:t>
            </a:r>
            <a:r>
              <a:rPr lang="en-GB" altLang="zh-CN" dirty="0" err="1"/>
              <a:t>figsize</a:t>
            </a:r>
            <a:r>
              <a:rPr lang="en-GB" altLang="zh-CN" dirty="0"/>
              <a:t>=(15,8))</a:t>
            </a:r>
            <a:endParaRPr lang="en-GB" altLang="zh-CN" dirty="0"/>
          </a:p>
          <a:p>
            <a:r>
              <a:rPr lang="en-GB" altLang="zh-CN" dirty="0" err="1"/>
              <a:t>sns.countplot</a:t>
            </a:r>
            <a:r>
              <a:rPr lang="en-GB" altLang="zh-CN" dirty="0"/>
              <a:t>(y='</a:t>
            </a:r>
            <a:r>
              <a:rPr lang="en-GB" altLang="zh-CN" dirty="0" err="1"/>
              <a:t>city',hue</a:t>
            </a:r>
            <a:r>
              <a:rPr lang="en-GB" altLang="zh-CN" dirty="0"/>
              <a:t>='</a:t>
            </a:r>
            <a:r>
              <a:rPr lang="en-GB" altLang="zh-CN" dirty="0" err="1"/>
              <a:t>channel',data</a:t>
            </a:r>
            <a:r>
              <a:rPr lang="en-GB" altLang="zh-CN" dirty="0"/>
              <a:t>=</a:t>
            </a:r>
            <a:r>
              <a:rPr lang="en-GB" altLang="zh-CN" dirty="0" err="1"/>
              <a:t>uniqlo</a:t>
            </a:r>
            <a:r>
              <a:rPr lang="en-GB" altLang="zh-CN" dirty="0"/>
              <a:t>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数据中发现，并不是所有的城市都有线上，有些城市线上的数据条目数比线下多，比如广州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65" y="2191385"/>
            <a:ext cx="3098800" cy="946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40" y="1853565"/>
            <a:ext cx="6756400" cy="3473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</a:t>
            </a:r>
            <a:r>
              <a:rPr lang="zh-CN" altLang="en-US" dirty="0"/>
              <a:t> 用户习惯的消费方式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3364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进一步计算线上线下销量</a:t>
            </a:r>
            <a:endParaRPr lang="en-US" altLang="zh-CN" dirty="0"/>
          </a:p>
          <a:p>
            <a:r>
              <a:rPr lang="en-GB" altLang="zh-CN" dirty="0" err="1"/>
              <a:t>uniqlo.pivot_table</a:t>
            </a:r>
            <a:r>
              <a:rPr lang="en-GB" altLang="zh-CN" dirty="0"/>
              <a:t>(index = '</a:t>
            </a:r>
            <a:r>
              <a:rPr lang="en-GB" altLang="zh-CN" dirty="0" err="1"/>
              <a:t>city',columns</a:t>
            </a:r>
            <a:r>
              <a:rPr lang="en-GB" altLang="zh-CN" dirty="0"/>
              <a:t>='</a:t>
            </a:r>
            <a:r>
              <a:rPr lang="en-GB" altLang="zh-CN" dirty="0" err="1"/>
              <a:t>channel',values</a:t>
            </a:r>
            <a:r>
              <a:rPr lang="en-GB" altLang="zh-CN" dirty="0"/>
              <a:t>='quant',</a:t>
            </a:r>
            <a:r>
              <a:rPr lang="en-GB" altLang="zh-CN" dirty="0" err="1"/>
              <a:t>aggfunc</a:t>
            </a:r>
            <a:r>
              <a:rPr lang="en-GB" altLang="zh-CN" dirty="0"/>
              <a:t>='sum')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从结果中得出广州线上销量</a:t>
            </a:r>
            <a:r>
              <a:rPr lang="en-US" altLang="zh-CN" dirty="0"/>
              <a:t>&gt;</a:t>
            </a:r>
            <a:r>
              <a:rPr lang="zh-CN" altLang="en-US" dirty="0"/>
              <a:t>线下 武汉 线上线下 比较接近 北京 南京 成都 杭州 深圳 没有线上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940" y="2994660"/>
            <a:ext cx="6731000" cy="36214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案例介绍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/>
              <a:t>查看数据</a:t>
            </a:r>
            <a:endParaRPr lang="zh-CN" altLang="en-US" dirty="0"/>
          </a:p>
          <a:p>
            <a:r>
              <a:rPr lang="zh-CN" altLang="en-US" dirty="0"/>
              <a:t>不同产品的销售情况</a:t>
            </a:r>
            <a:endParaRPr lang="zh-CN" altLang="en-US" dirty="0"/>
          </a:p>
          <a:p>
            <a:r>
              <a:rPr lang="zh-CN" altLang="en-US" dirty="0"/>
              <a:t>用户习惯的消费方式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用户消费习惯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销售额和成本之间的关系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 用户消费习惯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5.1</a:t>
            </a:r>
            <a:r>
              <a:rPr lang="zh-CN" altLang="en-US" dirty="0"/>
              <a:t> 查看整体情况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00625"/>
          </a:xfrm>
        </p:spPr>
        <p:txBody>
          <a:bodyPr/>
          <a:lstStyle/>
          <a:p>
            <a:r>
              <a:rPr lang="en-GB" altLang="zh-CN" dirty="0" err="1"/>
              <a:t>uniqlo.wkd_ind.value_counts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整体情况上看，周间数据条目数量</a:t>
            </a:r>
            <a:r>
              <a:rPr lang="en-US" altLang="zh-CN" dirty="0"/>
              <a:t>&gt;</a:t>
            </a:r>
            <a:r>
              <a:rPr lang="zh-CN" altLang="en-US" dirty="0"/>
              <a:t>周末数量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通过数据透视表，查看不同城市，周间周末销量情况</a:t>
            </a:r>
            <a:endParaRPr lang="en-US" altLang="zh-CN" dirty="0"/>
          </a:p>
          <a:p>
            <a:r>
              <a:rPr lang="en-GB" altLang="zh-CN" dirty="0" err="1"/>
              <a:t>wkd_sales</a:t>
            </a:r>
            <a:r>
              <a:rPr lang="en-GB" altLang="zh-CN" dirty="0"/>
              <a:t> = </a:t>
            </a:r>
            <a:r>
              <a:rPr lang="en-GB" altLang="zh-CN" dirty="0" err="1"/>
              <a:t>uniqlo.pivot_table</a:t>
            </a:r>
            <a:r>
              <a:rPr lang="en-GB" altLang="zh-CN" dirty="0"/>
              <a:t>(index = 'wkd_</a:t>
            </a:r>
            <a:r>
              <a:rPr lang="en-GB" altLang="zh-CN" dirty="0" err="1"/>
              <a:t>ind</a:t>
            </a:r>
            <a:r>
              <a:rPr lang="en-GB" altLang="zh-CN" dirty="0"/>
              <a:t>',columns=['city'],values = 'quant',</a:t>
            </a:r>
            <a:r>
              <a:rPr lang="en-GB" altLang="zh-CN" dirty="0" err="1"/>
              <a:t>aggfunc</a:t>
            </a:r>
            <a:r>
              <a:rPr lang="en-GB" altLang="zh-CN" dirty="0"/>
              <a:t>='sum')</a:t>
            </a:r>
            <a:endParaRPr lang="en-GB" altLang="zh-CN" dirty="0"/>
          </a:p>
          <a:p>
            <a:r>
              <a:rPr lang="en-GB" altLang="zh-CN" dirty="0" err="1"/>
              <a:t>wkd_sales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785" y="2230120"/>
            <a:ext cx="2997200" cy="927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15" y="4818380"/>
            <a:ext cx="6769100" cy="1682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 用户消费习惯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5.2</a:t>
            </a:r>
            <a:r>
              <a:rPr lang="zh-CN" altLang="en-US" dirty="0"/>
              <a:t> 添加字段，计算每天的销售额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altLang="zh-CN" dirty="0" err="1"/>
              <a:t>wkd_sales.loc</a:t>
            </a:r>
            <a:r>
              <a:rPr lang="en-GB" altLang="zh-CN" dirty="0"/>
              <a:t>['</a:t>
            </a:r>
            <a:r>
              <a:rPr lang="en-GB" altLang="zh-CN" dirty="0" err="1"/>
              <a:t>weekday_avg</a:t>
            </a:r>
            <a:r>
              <a:rPr lang="en-GB" altLang="zh-CN" dirty="0"/>
              <a:t>',:] = </a:t>
            </a:r>
            <a:r>
              <a:rPr lang="en-GB" altLang="zh-CN" dirty="0" err="1"/>
              <a:t>wkd_sales.loc</a:t>
            </a:r>
            <a:r>
              <a:rPr lang="en-GB" altLang="zh-CN" dirty="0"/>
              <a:t>['Weekday',:]/5</a:t>
            </a:r>
            <a:endParaRPr lang="en-GB" altLang="zh-CN" dirty="0"/>
          </a:p>
          <a:p>
            <a:r>
              <a:rPr lang="en-GB" altLang="zh-CN" dirty="0" err="1"/>
              <a:t>wkd_sales.loc</a:t>
            </a:r>
            <a:r>
              <a:rPr lang="en-GB" altLang="zh-CN" dirty="0"/>
              <a:t>['</a:t>
            </a:r>
            <a:r>
              <a:rPr lang="en-GB" altLang="zh-CN" dirty="0" err="1"/>
              <a:t>weekend_avg</a:t>
            </a:r>
            <a:r>
              <a:rPr lang="en-GB" altLang="zh-CN" dirty="0"/>
              <a:t>',:] = </a:t>
            </a:r>
            <a:r>
              <a:rPr lang="en-GB" altLang="zh-CN" dirty="0" err="1"/>
              <a:t>wkd_sales.loc</a:t>
            </a:r>
            <a:r>
              <a:rPr lang="en-GB" altLang="zh-CN" dirty="0"/>
              <a:t>['Weekend',:]/2</a:t>
            </a:r>
            <a:endParaRPr lang="en-GB" altLang="zh-CN" dirty="0"/>
          </a:p>
          <a:p>
            <a:r>
              <a:rPr lang="en-GB" altLang="zh-CN" dirty="0" err="1"/>
              <a:t>wkd_sales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可以看出每个城市周间周末平均消费订单数量的情况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655" y="3517265"/>
            <a:ext cx="673735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案例介绍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/>
              <a:t>查看数据</a:t>
            </a:r>
            <a:endParaRPr lang="zh-CN" altLang="en-US" dirty="0"/>
          </a:p>
          <a:p>
            <a:r>
              <a:rPr lang="zh-CN" altLang="en-US" dirty="0"/>
              <a:t>不同产品的销售情况</a:t>
            </a:r>
            <a:endParaRPr lang="zh-CN" altLang="en-US" dirty="0"/>
          </a:p>
          <a:p>
            <a:r>
              <a:rPr lang="zh-CN" altLang="en-US" dirty="0"/>
              <a:t>用户习惯的消费方式</a:t>
            </a:r>
            <a:endParaRPr lang="zh-CN" altLang="en-US" dirty="0"/>
          </a:p>
          <a:p>
            <a:r>
              <a:rPr lang="zh-CN" altLang="en-US" dirty="0"/>
              <a:t>用户消费习惯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销售额和成本之间的关系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 销售额和成本之间的关系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6.1</a:t>
            </a:r>
            <a:r>
              <a:rPr lang="zh-CN" altLang="en-US" dirty="0"/>
              <a:t> 销售额 </a:t>
            </a:r>
            <a:r>
              <a:rPr lang="en-GB" altLang="zh-CN" dirty="0"/>
              <a:t>revenue </a:t>
            </a:r>
            <a:r>
              <a:rPr lang="zh-CN" altLang="en-US" dirty="0"/>
              <a:t>和 </a:t>
            </a:r>
            <a:r>
              <a:rPr lang="en-GB" altLang="zh-CN" dirty="0" err="1"/>
              <a:t>unit_cost</a:t>
            </a:r>
            <a:r>
              <a:rPr lang="en-GB" altLang="zh-CN" dirty="0"/>
              <a:t> </a:t>
            </a:r>
            <a:r>
              <a:rPr lang="zh-CN" altLang="en-US" dirty="0"/>
              <a:t>成本之间的关系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968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直接计算皮尔逊相关系数</a:t>
            </a:r>
            <a:endParaRPr lang="en-US" altLang="zh-CN" dirty="0"/>
          </a:p>
          <a:p>
            <a:r>
              <a:rPr lang="en-GB" altLang="zh-CN" dirty="0" err="1"/>
              <a:t>uniqlo</a:t>
            </a:r>
            <a:r>
              <a:rPr lang="en-GB" altLang="zh-CN" dirty="0"/>
              <a:t>[['revenue','</a:t>
            </a:r>
            <a:r>
              <a:rPr lang="en-GB" altLang="zh-CN" dirty="0" err="1"/>
              <a:t>unit_cost</a:t>
            </a:r>
            <a:r>
              <a:rPr lang="en-GB" altLang="zh-CN" dirty="0"/>
              <a:t>']].</a:t>
            </a:r>
            <a:r>
              <a:rPr lang="en-GB" altLang="zh-CN" dirty="0" err="1"/>
              <a:t>corr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从结果中查看发现，貌似没有关系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进一步查看</a:t>
            </a:r>
            <a:r>
              <a:rPr lang="en-US" altLang="zh-CN" dirty="0" err="1"/>
              <a:t>unit_cost</a:t>
            </a:r>
            <a:endParaRPr lang="en-US" altLang="zh-CN" dirty="0"/>
          </a:p>
          <a:p>
            <a:r>
              <a:rPr lang="en-GB" altLang="zh-CN" dirty="0" err="1"/>
              <a:t>uniqlo.unit_cost.value_counts</a:t>
            </a:r>
            <a:r>
              <a:rPr lang="en-GB" altLang="zh-CN" dirty="0"/>
              <a:t>()</a:t>
            </a:r>
            <a:endParaRPr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查看发现</a:t>
            </a:r>
            <a:r>
              <a:rPr lang="en-GB" altLang="zh-CN" dirty="0" err="1"/>
              <a:t>unit_cost</a:t>
            </a:r>
            <a:r>
              <a:rPr lang="zh-CN" altLang="en-US" dirty="0"/>
              <a:t>为单位商品的成本，</a:t>
            </a:r>
            <a:endParaRPr lang="zh-CN" altLang="en-US" dirty="0"/>
          </a:p>
          <a:p>
            <a:pPr>
              <a:buFont typeface="Wingdings" panose="05000000000000000000" pitchFamily="2" charset="2"/>
            </a:pPr>
            <a:r>
              <a:rPr lang="zh-CN" altLang="en-US" dirty="0"/>
              <a:t>但是</a:t>
            </a:r>
            <a:r>
              <a:rPr lang="en-GB" altLang="zh-CN" dirty="0"/>
              <a:t>revenue</a:t>
            </a:r>
            <a:r>
              <a:rPr lang="zh-CN" altLang="en-US" dirty="0"/>
              <a:t>不一定是一件物品的收入，需要处理数据</a:t>
            </a:r>
            <a:endParaRPr lang="en-US" altLang="zh-CN" dirty="0"/>
          </a:p>
          <a:p>
            <a:r>
              <a:rPr lang="en-GB" altLang="zh-CN" dirty="0"/>
              <a:t>uniqlo2 = </a:t>
            </a:r>
            <a:r>
              <a:rPr lang="en-GB" altLang="zh-CN" dirty="0" err="1"/>
              <a:t>uniqlo</a:t>
            </a:r>
            <a:r>
              <a:rPr lang="en-GB" altLang="zh-CN" dirty="0"/>
              <a:t>[</a:t>
            </a:r>
            <a:r>
              <a:rPr lang="en-GB" altLang="zh-CN" dirty="0" err="1"/>
              <a:t>uniqlo.revenue</a:t>
            </a:r>
            <a:r>
              <a:rPr lang="en-GB" altLang="zh-CN" dirty="0"/>
              <a:t>&gt;1]</a:t>
            </a:r>
            <a:endParaRPr lang="en-GB" altLang="zh-CN" dirty="0"/>
          </a:p>
          <a:p>
            <a:r>
              <a:rPr lang="en-GB" altLang="zh-CN" dirty="0"/>
              <a:t>uniqlo2.head()</a:t>
            </a: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380" y="1590040"/>
            <a:ext cx="5851525" cy="11404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380" y="2730500"/>
            <a:ext cx="2927350" cy="15722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50" y="4956810"/>
            <a:ext cx="678815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 销售额和成本之间的关系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6.1</a:t>
            </a:r>
            <a:r>
              <a:rPr lang="zh-CN" altLang="en-US" dirty="0"/>
              <a:t> 销售额 </a:t>
            </a:r>
            <a:r>
              <a:rPr lang="en-GB" altLang="zh-CN" dirty="0"/>
              <a:t>revenue </a:t>
            </a:r>
            <a:r>
              <a:rPr lang="zh-CN" altLang="en-US" dirty="0"/>
              <a:t>和 </a:t>
            </a:r>
            <a:r>
              <a:rPr lang="en-GB" altLang="zh-CN" dirty="0" err="1"/>
              <a:t>unit_cost</a:t>
            </a:r>
            <a:r>
              <a:rPr lang="en-GB" altLang="zh-CN" dirty="0"/>
              <a:t> </a:t>
            </a:r>
            <a:r>
              <a:rPr lang="zh-CN" altLang="en-US" dirty="0"/>
              <a:t>成本之间的关系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8919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添加单件收入列，使用单件收入和单位成本计算相似度</a:t>
            </a:r>
            <a:endParaRPr lang="zh-CN" altLang="en-US" dirty="0"/>
          </a:p>
          <a:p>
            <a:r>
              <a:rPr lang="en-US" altLang="zh-CN" dirty="0"/>
              <a:t>uniqlo2.loc[:,'</a:t>
            </a:r>
            <a:r>
              <a:rPr lang="en-US" altLang="zh-CN" dirty="0" err="1"/>
              <a:t>rev_per_goods</a:t>
            </a:r>
            <a:r>
              <a:rPr lang="en-US" altLang="zh-CN" dirty="0"/>
              <a:t>'] = uniqlo2['revenue']/uniqlo2['quant']</a:t>
            </a:r>
            <a:endParaRPr lang="en-US" altLang="zh-CN" dirty="0"/>
          </a:p>
          <a:p>
            <a:r>
              <a:rPr lang="en-US" altLang="zh-CN" dirty="0"/>
              <a:t>uniqlo2[['rev_per_goods','</a:t>
            </a:r>
            <a:r>
              <a:rPr lang="en-US" altLang="zh-CN" dirty="0" err="1"/>
              <a:t>unit_cost</a:t>
            </a:r>
            <a:r>
              <a:rPr lang="en-US" altLang="zh-CN" dirty="0"/>
              <a:t>']].</a:t>
            </a:r>
            <a:r>
              <a:rPr lang="en-US" altLang="zh-CN" dirty="0" err="1"/>
              <a:t>corr</a:t>
            </a:r>
            <a:r>
              <a:rPr lang="en-US" altLang="zh-CN" dirty="0"/>
              <a:t>()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从结果中看出，单件收入和单位成本之间相关性还是比较强的，绘制热力图</a:t>
            </a:r>
            <a:endParaRPr lang="en-US" altLang="zh-CN" dirty="0"/>
          </a:p>
          <a:p>
            <a:r>
              <a:rPr lang="en-GB" altLang="zh-CN" dirty="0" err="1"/>
              <a:t>sns.heatmap</a:t>
            </a:r>
            <a:r>
              <a:rPr lang="en-GB" altLang="zh-CN" dirty="0"/>
              <a:t>(uniqlo2[['rev_per_goods','</a:t>
            </a:r>
            <a:r>
              <a:rPr lang="en-GB" altLang="zh-CN" dirty="0" err="1"/>
              <a:t>unit_cost</a:t>
            </a:r>
            <a:r>
              <a:rPr lang="en-GB" altLang="zh-CN" dirty="0"/>
              <a:t>']].</a:t>
            </a:r>
            <a:r>
              <a:rPr lang="en-GB" altLang="zh-CN" dirty="0" err="1"/>
              <a:t>corr</a:t>
            </a:r>
            <a:r>
              <a:rPr lang="en-GB" altLang="zh-CN" dirty="0"/>
              <a:t>())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" y="3079750"/>
            <a:ext cx="6838950" cy="1371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635" y="3270250"/>
            <a:ext cx="37846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数据分析的过程中，多维度拆解是很重要的分析思路，在分析产品销售情况的时候，案例中分别按城市，按线上线下进行拆解，实际上还可以从更多的维度进行拆解，比如年龄，性别等均可以拆解，拆解之后可以获得更多信息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US" altLang="zh-CN" dirty="0"/>
              <a:t>seaborn</a:t>
            </a:r>
            <a:r>
              <a:rPr lang="zh-CN" altLang="en-US" dirty="0"/>
              <a:t>进行可视化代码比较简洁，有些</a:t>
            </a:r>
            <a:r>
              <a:rPr lang="en-US" altLang="zh-CN" dirty="0" err="1"/>
              <a:t>api</a:t>
            </a:r>
            <a:r>
              <a:rPr lang="zh-CN" altLang="en-US" dirty="0"/>
              <a:t>还自带了简单的统计功能，比如</a:t>
            </a:r>
            <a:r>
              <a:rPr lang="en-US" altLang="zh-CN" dirty="0" err="1"/>
              <a:t>countplot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透视表（</a:t>
            </a:r>
            <a:r>
              <a:rPr lang="en-US" altLang="zh-CN" dirty="0" err="1"/>
              <a:t>pivot_table</a:t>
            </a:r>
            <a:r>
              <a:rPr lang="en-US" altLang="zh-CN" dirty="0"/>
              <a:t>)</a:t>
            </a:r>
            <a:r>
              <a:rPr lang="zh-CN" altLang="en-US" dirty="0"/>
              <a:t>和分组聚合</a:t>
            </a:r>
            <a:r>
              <a:rPr lang="en-US" altLang="zh-CN" dirty="0"/>
              <a:t>(</a:t>
            </a:r>
            <a:r>
              <a:rPr lang="en-US" altLang="zh-CN" dirty="0" err="1"/>
              <a:t>groupby</a:t>
            </a:r>
            <a:r>
              <a:rPr lang="en-US" altLang="zh-CN" dirty="0"/>
              <a:t> </a:t>
            </a:r>
            <a:r>
              <a:rPr lang="en-US" altLang="zh-CN" dirty="0" err="1"/>
              <a:t>aggragation</a:t>
            </a:r>
            <a:r>
              <a:rPr lang="en-US" altLang="zh-CN" dirty="0"/>
              <a:t>)</a:t>
            </a:r>
            <a:r>
              <a:rPr lang="zh-CN" altLang="en-US" dirty="0"/>
              <a:t>功能类似，都可以从不同角度来观察数据，可以互相替换，当分组字段有多个时，</a:t>
            </a:r>
            <a:r>
              <a:rPr lang="en-US" altLang="zh-CN" dirty="0" err="1"/>
              <a:t>groupby</a:t>
            </a:r>
            <a:r>
              <a:rPr lang="zh-CN" altLang="en-US" dirty="0"/>
              <a:t>和</a:t>
            </a:r>
            <a:r>
              <a:rPr lang="en-US" altLang="zh-CN" dirty="0"/>
              <a:t>unstack</a:t>
            </a:r>
            <a:r>
              <a:rPr lang="zh-CN" altLang="en-US" dirty="0"/>
              <a:t>配合使用，结果与透视表一样，举例如下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565" y="939800"/>
            <a:ext cx="9845675" cy="576834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计算不同城市线上线下销量情况</a:t>
            </a:r>
            <a:endParaRPr lang="en-US" altLang="zh-CN" dirty="0"/>
          </a:p>
          <a:p>
            <a:r>
              <a:rPr kumimoji="1" lang="en-GB" altLang="zh-CN" dirty="0" err="1"/>
              <a:t>uniqco.pivot_table</a:t>
            </a:r>
            <a:r>
              <a:rPr kumimoji="1" lang="en-GB" altLang="zh-CN" dirty="0"/>
              <a:t>(index = '</a:t>
            </a:r>
            <a:r>
              <a:rPr kumimoji="1" lang="en-GB" altLang="zh-CN" dirty="0" err="1"/>
              <a:t>city',columns</a:t>
            </a:r>
            <a:r>
              <a:rPr kumimoji="1" lang="en-GB" altLang="zh-CN" dirty="0"/>
              <a:t>='</a:t>
            </a:r>
            <a:r>
              <a:rPr kumimoji="1" lang="en-GB" altLang="zh-CN" dirty="0" err="1"/>
              <a:t>channel',values</a:t>
            </a:r>
            <a:r>
              <a:rPr kumimoji="1" lang="en-GB" altLang="zh-CN" dirty="0"/>
              <a:t>='quant',</a:t>
            </a:r>
            <a:r>
              <a:rPr kumimoji="1" lang="en-GB" altLang="zh-CN" dirty="0" err="1"/>
              <a:t>aggfunc</a:t>
            </a:r>
            <a:r>
              <a:rPr kumimoji="1" lang="en-GB" altLang="zh-CN" dirty="0"/>
              <a:t>='sum')</a:t>
            </a:r>
            <a:endParaRPr kumimoji="1" lang="en-GB" altLang="zh-CN" dirty="0"/>
          </a:p>
          <a:p>
            <a:r>
              <a:rPr kumimoji="1" lang="en-GB" altLang="zh-CN" dirty="0" err="1"/>
              <a:t>uniqco.groupby</a:t>
            </a:r>
            <a:r>
              <a:rPr kumimoji="1" lang="en-GB" altLang="zh-CN" dirty="0"/>
              <a:t>(['</a:t>
            </a:r>
            <a:r>
              <a:rPr kumimoji="1" lang="en-GB" altLang="zh-CN" dirty="0" err="1"/>
              <a:t>city','channel</a:t>
            </a:r>
            <a:r>
              <a:rPr kumimoji="1" lang="en-GB" altLang="zh-CN" dirty="0"/>
              <a:t>'])['quant'].</a:t>
            </a:r>
            <a:r>
              <a:rPr kumimoji="1" lang="en-GB" altLang="zh-CN" dirty="0" err="1"/>
              <a:t>agg</a:t>
            </a:r>
            <a:r>
              <a:rPr kumimoji="1" lang="en-GB" altLang="zh-CN" dirty="0"/>
              <a:t>('sum')</a:t>
            </a:r>
            <a:endParaRPr kumimoji="1" lang="en-GB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分组之后的结果，与透视表有差别，在上面结果基础上调用</a:t>
            </a:r>
            <a:r>
              <a:rPr lang="en-US" altLang="zh-CN" dirty="0"/>
              <a:t>unstack()</a:t>
            </a:r>
            <a:r>
              <a:rPr lang="zh-CN" altLang="en-US" dirty="0"/>
              <a:t>，就可以得到与透视表一样的结果</a:t>
            </a:r>
            <a:endParaRPr lang="zh-CN" altLang="en-US" dirty="0"/>
          </a:p>
          <a:p>
            <a:r>
              <a:rPr kumimoji="1" lang="en-GB" altLang="zh-CN" dirty="0" err="1"/>
              <a:t>uniqco.groupby</a:t>
            </a:r>
            <a:r>
              <a:rPr kumimoji="1" lang="en-GB" altLang="zh-CN" dirty="0"/>
              <a:t>(['</a:t>
            </a:r>
            <a:r>
              <a:rPr kumimoji="1" lang="en-GB" altLang="zh-CN" dirty="0" err="1"/>
              <a:t>city','channel</a:t>
            </a:r>
            <a:r>
              <a:rPr kumimoji="1" lang="en-GB" altLang="zh-CN" dirty="0"/>
              <a:t>'])['quant'].</a:t>
            </a:r>
            <a:r>
              <a:rPr kumimoji="1" lang="en-GB" altLang="zh-CN" dirty="0" err="1"/>
              <a:t>agg</a:t>
            </a:r>
            <a:r>
              <a:rPr kumimoji="1" lang="en-GB" altLang="zh-CN" dirty="0"/>
              <a:t>('sum').unstack()</a:t>
            </a:r>
            <a:endParaRPr kumimoji="1"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20" y="3131820"/>
            <a:ext cx="6299200" cy="3530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3149</Words>
  <Application>WPS 演示</Application>
  <PresentationFormat>宽屏</PresentationFormat>
  <Paragraphs>232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26</vt:i4>
      </vt:variant>
    </vt:vector>
  </HeadingPairs>
  <TitlesOfParts>
    <vt:vector size="56" baseType="lpstr">
      <vt:lpstr>Arial</vt:lpstr>
      <vt:lpstr>方正书宋_GBK</vt:lpstr>
      <vt:lpstr>Wingdings</vt:lpstr>
      <vt:lpstr>Calibri</vt:lpstr>
      <vt:lpstr>Helvetica Neue</vt:lpstr>
      <vt:lpstr>黑体</vt:lpstr>
      <vt:lpstr>宋体</vt:lpstr>
      <vt:lpstr>汉仪书宋二KW</vt:lpstr>
      <vt:lpstr>Alibaba PuHuiTi B</vt:lpstr>
      <vt:lpstr>苹方-简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汉仪旗黑</vt:lpstr>
      <vt:lpstr>宋体</vt:lpstr>
      <vt:lpstr>Arial Unicode MS</vt:lpstr>
      <vt:lpstr>等线</vt:lpstr>
      <vt:lpstr>汉仪中等线KW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优衣库销售数据分析</vt:lpstr>
      <vt:lpstr>PowerPoint 演示文稿</vt:lpstr>
      <vt:lpstr>PowerPoint 演示文稿</vt:lpstr>
      <vt:lpstr>1 案例介绍</vt:lpstr>
      <vt:lpstr>1 案例介绍</vt:lpstr>
      <vt:lpstr>1 案例介绍</vt:lpstr>
      <vt:lpstr>PowerPoint 演示文稿</vt:lpstr>
      <vt:lpstr>2 查看数据</vt:lpstr>
      <vt:lpstr>2 查看数据</vt:lpstr>
      <vt:lpstr>2 查看数据</vt:lpstr>
      <vt:lpstr>PowerPoint 演示文稿</vt:lpstr>
      <vt:lpstr>3 不同产品的销售情况</vt:lpstr>
      <vt:lpstr>3 不同产品的销售情况</vt:lpstr>
      <vt:lpstr>3 不同产品的销售情况</vt:lpstr>
      <vt:lpstr>PowerPoint 演示文稿</vt:lpstr>
      <vt:lpstr>4 用户习惯的消费方式</vt:lpstr>
      <vt:lpstr>4 用户习惯的消费方式</vt:lpstr>
      <vt:lpstr>PowerPoint 演示文稿</vt:lpstr>
      <vt:lpstr>5 用户消费习惯</vt:lpstr>
      <vt:lpstr>5 用户消费习惯</vt:lpstr>
      <vt:lpstr>PowerPoint 演示文稿</vt:lpstr>
      <vt:lpstr>6 销售额和成本之间的关系</vt:lpstr>
      <vt:lpstr>6 销售额和成本之间的关系</vt:lpstr>
      <vt:lpstr>小结</vt:lpstr>
      <vt:lpstr>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hanfeihu</cp:lastModifiedBy>
  <cp:revision>332</cp:revision>
  <dcterms:created xsi:type="dcterms:W3CDTF">2021-06-22T08:57:55Z</dcterms:created>
  <dcterms:modified xsi:type="dcterms:W3CDTF">2021-06-22T08:57:55Z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BD59DFB712ED4E57813F2C6787755DC0</vt:lpwstr>
  </property>
  <property fmtid="{D5CDD505-2E9C-101B-9397-08002B2CF9AE}" pid="3" name="KSOProductBuildVer">
    <vt:lpwstr>2052-3.6.2.5883</vt:lpwstr>
  </property>
</Properties>
</file>