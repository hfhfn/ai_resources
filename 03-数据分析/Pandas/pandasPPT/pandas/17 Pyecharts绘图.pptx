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58" r:id="rId6"/>
    <p:sldMasterId id="2147483660" r:id="rId7"/>
    <p:sldMasterId id="2147483675" r:id="rId8"/>
  </p:sldMasterIdLst>
  <p:notesMasterIdLst>
    <p:notesMasterId r:id="rId31"/>
  </p:notesMasterIdLst>
  <p:handoutMasterIdLst>
    <p:handoutMasterId r:id="rId32"/>
  </p:handoutMasterIdLst>
  <p:sldIdLst>
    <p:sldId id="462" r:id="rId9"/>
    <p:sldId id="464" r:id="rId10"/>
    <p:sldId id="463" r:id="rId11"/>
    <p:sldId id="465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89" r:id="rId21"/>
    <p:sldId id="490" r:id="rId22"/>
    <p:sldId id="479" r:id="rId23"/>
    <p:sldId id="480" r:id="rId24"/>
    <p:sldId id="481" r:id="rId25"/>
    <p:sldId id="482" r:id="rId26"/>
    <p:sldId id="483" r:id="rId27"/>
    <p:sldId id="484" r:id="rId28"/>
    <p:sldId id="487" r:id="rId29"/>
    <p:sldId id="26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B70006"/>
    <a:srgbClr val="FFFFE4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6" autoAdjust="0"/>
    <p:restoredTop sz="95330" autoAdjust="0"/>
  </p:normalViewPr>
  <p:slideViewPr>
    <p:cSldViewPr snapToGrid="0">
      <p:cViewPr varScale="1">
        <p:scale>
          <a:sx n="125" d="100"/>
          <a:sy n="125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2.png"/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7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err="1"/>
              <a:t>Pyecharts</a:t>
            </a:r>
            <a:r>
              <a:rPr kumimoji="1" lang="zh-CN" altLang="en-US" dirty="0"/>
              <a:t>绘图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GB" altLang="zh-CN" dirty="0" err="1"/>
              <a:t>pyecharts</a:t>
            </a:r>
            <a:r>
              <a:rPr lang="zh-CN" altLang="en-US" dirty="0"/>
              <a:t>绘图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 err="1">
                <a:solidFill>
                  <a:srgbClr val="FF0000"/>
                </a:solidFill>
              </a:rPr>
              <a:t>Echarts</a:t>
            </a:r>
            <a:r>
              <a:rPr lang="en-GB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和 </a:t>
            </a:r>
            <a:r>
              <a:rPr lang="en-GB" altLang="zh-CN" b="1" dirty="0" err="1">
                <a:solidFill>
                  <a:srgbClr val="FF0000"/>
                </a:solidFill>
              </a:rPr>
              <a:t>Pyecharts</a:t>
            </a:r>
            <a:r>
              <a:rPr lang="zh-CN" altLang="en-US" b="1" dirty="0">
                <a:solidFill>
                  <a:srgbClr val="FF0000"/>
                </a:solidFill>
              </a:rPr>
              <a:t>简介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lang="en-GB" altLang="zh-CN" b="1" dirty="0" err="1"/>
              <a:t>Pyecharts</a:t>
            </a:r>
            <a:r>
              <a:rPr lang="zh-CN" altLang="en-US" b="1" dirty="0"/>
              <a:t>绘图案例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dirty="0"/>
              <a:t>1 </a:t>
            </a:r>
            <a:r>
              <a:rPr lang="en-GB" altLang="zh-CN" dirty="0" err="1"/>
              <a:t>Echarts</a:t>
            </a:r>
            <a:r>
              <a:rPr lang="en-GB" altLang="zh-CN" dirty="0"/>
              <a:t> </a:t>
            </a:r>
            <a:r>
              <a:rPr lang="zh-CN" altLang="en-US" dirty="0"/>
              <a:t>和 </a:t>
            </a:r>
            <a:r>
              <a:rPr lang="en-GB" altLang="zh-CN" dirty="0" err="1"/>
              <a:t>Pyecharts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GB" altLang="zh-CN" dirty="0" err="1"/>
              <a:t>Echarts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ECharts</a:t>
            </a:r>
            <a:r>
              <a:rPr lang="en-US" altLang="zh-CN" dirty="0"/>
              <a:t> </a:t>
            </a:r>
            <a:r>
              <a:rPr lang="zh-CN" altLang="en-US" dirty="0"/>
              <a:t>是一个使用 </a:t>
            </a:r>
            <a:r>
              <a:rPr lang="en-US" altLang="zh-CN" dirty="0"/>
              <a:t>JavaScript </a:t>
            </a:r>
            <a:r>
              <a:rPr lang="zh-CN" altLang="en-US" dirty="0"/>
              <a:t>实现的开源可视化库，涵盖各行业图表，满足各种需求。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ECharts</a:t>
            </a:r>
            <a:r>
              <a:rPr lang="en-US" altLang="zh-CN" dirty="0"/>
              <a:t> </a:t>
            </a:r>
            <a:r>
              <a:rPr lang="zh-CN" altLang="en-US" dirty="0"/>
              <a:t>遵循 </a:t>
            </a:r>
            <a:r>
              <a:rPr lang="en-US" altLang="zh-CN" dirty="0"/>
              <a:t>Apache-2.0 </a:t>
            </a:r>
            <a:r>
              <a:rPr lang="zh-CN" altLang="en-US" dirty="0"/>
              <a:t>开源协议，免费商用。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ECharts</a:t>
            </a:r>
            <a:r>
              <a:rPr lang="en-US" altLang="zh-CN" dirty="0"/>
              <a:t> </a:t>
            </a:r>
            <a:r>
              <a:rPr lang="zh-CN" altLang="en-US" dirty="0"/>
              <a:t>兼容当前绝大部分浏览器（</a:t>
            </a:r>
            <a:r>
              <a:rPr lang="en-US" altLang="zh-CN" dirty="0"/>
              <a:t>IE8/9/10/11</a:t>
            </a:r>
            <a:r>
              <a:rPr lang="zh-CN" altLang="en-US" dirty="0"/>
              <a:t>，</a:t>
            </a:r>
            <a:r>
              <a:rPr lang="en-US" altLang="zh-CN" dirty="0"/>
              <a:t>Chrome</a:t>
            </a:r>
            <a:r>
              <a:rPr lang="zh-CN" altLang="en-US" dirty="0"/>
              <a:t>，</a:t>
            </a:r>
            <a:r>
              <a:rPr lang="en-US" altLang="zh-CN" dirty="0"/>
              <a:t>Firefox</a:t>
            </a:r>
            <a:r>
              <a:rPr lang="zh-CN" altLang="en-US" dirty="0"/>
              <a:t>，</a:t>
            </a:r>
            <a:r>
              <a:rPr lang="en-US" altLang="zh-CN" dirty="0"/>
              <a:t>Safari</a:t>
            </a:r>
            <a:r>
              <a:rPr lang="zh-CN" altLang="en-US" dirty="0"/>
              <a:t>等）及兼容多种设备，可随时随地任性展示。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dirty="0"/>
              <a:t>1 </a:t>
            </a:r>
            <a:r>
              <a:rPr lang="en-GB" altLang="zh-CN" dirty="0" err="1"/>
              <a:t>Echarts</a:t>
            </a:r>
            <a:r>
              <a:rPr lang="en-GB" altLang="zh-CN" dirty="0"/>
              <a:t> </a:t>
            </a:r>
            <a:r>
              <a:rPr lang="zh-CN" altLang="en-US" dirty="0"/>
              <a:t>和 </a:t>
            </a:r>
            <a:r>
              <a:rPr lang="en-GB" altLang="zh-CN" dirty="0" err="1"/>
              <a:t>Pyecharts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GB" altLang="zh-CN" dirty="0" err="1"/>
              <a:t>pyecharts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pyechart</a:t>
            </a:r>
            <a:r>
              <a:rPr lang="zh-CN" altLang="en-US" dirty="0"/>
              <a:t>是一个用数据生成</a:t>
            </a:r>
            <a:r>
              <a:rPr lang="en-GB" altLang="zh-CN" dirty="0" err="1"/>
              <a:t>Echarts</a:t>
            </a:r>
            <a:r>
              <a:rPr lang="zh-CN" altLang="en-US" dirty="0"/>
              <a:t>图表的</a:t>
            </a:r>
            <a:r>
              <a:rPr lang="en-GB" altLang="zh-CN" dirty="0"/>
              <a:t>Python</a:t>
            </a:r>
            <a:r>
              <a:rPr lang="zh-CN" altLang="en-US" dirty="0"/>
              <a:t>开源类库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 err="1"/>
              <a:t>echart</a:t>
            </a:r>
            <a:r>
              <a:rPr lang="zh-CN" altLang="en-US" dirty="0"/>
              <a:t>的绘图效果比</a:t>
            </a:r>
            <a:r>
              <a:rPr lang="en-GB" altLang="zh-CN" dirty="0"/>
              <a:t>matplotlib</a:t>
            </a:r>
            <a:r>
              <a:rPr lang="zh-CN" altLang="en-US" dirty="0"/>
              <a:t>等更加炫酷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案例中使用的</a:t>
            </a:r>
            <a:r>
              <a:rPr lang="en-GB" altLang="zh-CN" dirty="0" err="1"/>
              <a:t>pyecharts</a:t>
            </a:r>
            <a:r>
              <a:rPr lang="zh-CN" altLang="en-US" dirty="0"/>
              <a:t>版本是 </a:t>
            </a:r>
            <a:r>
              <a:rPr lang="en-US" altLang="zh-CN" dirty="0"/>
              <a:t>1.6.0 </a:t>
            </a:r>
            <a:r>
              <a:rPr lang="zh-CN" altLang="en-US" dirty="0"/>
              <a:t>，</a:t>
            </a:r>
            <a:r>
              <a:rPr lang="en-GB" altLang="zh-CN" dirty="0" err="1"/>
              <a:t>pyecharts</a:t>
            </a:r>
            <a:r>
              <a:rPr lang="en-GB" altLang="zh-CN" dirty="0"/>
              <a:t> 0.X</a:t>
            </a:r>
            <a:r>
              <a:rPr lang="zh-CN" altLang="en-US" dirty="0"/>
              <a:t>版本和 </a:t>
            </a:r>
            <a:r>
              <a:rPr lang="en-US" altLang="zh-CN" dirty="0"/>
              <a:t>1.</a:t>
            </a:r>
            <a:r>
              <a:rPr lang="en-GB" altLang="zh-CN" dirty="0"/>
              <a:t>X</a:t>
            </a:r>
            <a:r>
              <a:rPr lang="zh-CN" altLang="en-US" dirty="0"/>
              <a:t>版本 </a:t>
            </a:r>
            <a:r>
              <a:rPr lang="en-GB" altLang="zh-CN" dirty="0"/>
              <a:t>API</a:t>
            </a:r>
            <a:r>
              <a:rPr lang="zh-CN" altLang="en-US" dirty="0"/>
              <a:t>变化较大，不能向下兼容，网上查资料的时候需要注意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dirty="0">
                <a:sym typeface="+mn-ea"/>
              </a:rPr>
              <a:t>安装</a:t>
            </a:r>
            <a:r>
              <a:rPr lang="en-US" altLang="zh-CN" dirty="0">
                <a:sym typeface="+mn-ea"/>
              </a:rPr>
              <a:t>pyecharts</a:t>
            </a:r>
            <a:r>
              <a:rPr lang="zh-CN" altLang="en-US" dirty="0">
                <a:sym typeface="+mn-ea"/>
              </a:rPr>
              <a:t>库</a:t>
            </a:r>
            <a:endParaRPr lang="zh-CN" altLang="en-US" dirty="0"/>
          </a:p>
          <a:p>
            <a:pPr>
              <a:buFont typeface="Wingdings" panose="05000000000000000000" charset="0"/>
            </a:pPr>
            <a:r>
              <a:rPr lang="en-US" altLang="zh-CN" dirty="0">
                <a:sym typeface="+mn-ea"/>
              </a:rPr>
              <a:t>pip install pyecharts==1.6.0</a:t>
            </a:r>
            <a:endParaRPr lang="en-US" altLang="zh-CN" dirty="0"/>
          </a:p>
          <a:p>
            <a:pPr>
              <a:buFont typeface="Wingdings" panose="05000000000000000000" pitchFamily="2" charset="2"/>
            </a:pP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 err="1">
                <a:solidFill>
                  <a:schemeClr val="tx1"/>
                </a:solidFill>
              </a:rPr>
              <a:t>Echarts</a:t>
            </a:r>
            <a:r>
              <a:rPr lang="en-GB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和 </a:t>
            </a:r>
            <a:r>
              <a:rPr lang="en-GB" altLang="zh-CN" b="1" dirty="0" err="1">
                <a:solidFill>
                  <a:schemeClr val="tx1"/>
                </a:solidFill>
              </a:rPr>
              <a:t>Pyecharts</a:t>
            </a:r>
            <a:r>
              <a:rPr lang="zh-CN" altLang="en-US" b="1" dirty="0">
                <a:solidFill>
                  <a:schemeClr val="tx1"/>
                </a:solidFill>
              </a:rPr>
              <a:t>简介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r>
              <a:rPr lang="en-GB" altLang="zh-CN" b="1" dirty="0" err="1">
                <a:solidFill>
                  <a:srgbClr val="FF0000"/>
                </a:solidFill>
              </a:rPr>
              <a:t>Pyecharts</a:t>
            </a:r>
            <a:r>
              <a:rPr lang="zh-CN" altLang="en-US" b="1" dirty="0">
                <a:solidFill>
                  <a:srgbClr val="FF0000"/>
                </a:solidFill>
              </a:rPr>
              <a:t>绘图案例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案例数据说明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案例使用从招聘网站（拉钩、智联、前程无忧、猎聘）上爬取的一周之内数据分析在招岗位数据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分析目标：哪些公司在招聘数据分析，哪些城市数据分析的需求大，不同城市数据分析的薪资情况，数据分析对工作年限的要求，数据分析对学历的要求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案例数据说明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job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data_analysis_job.csv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最近一周 </a:t>
            </a:r>
            <a:r>
              <a:rPr lang="en-GB" altLang="zh-CN" dirty="0"/>
              <a:t>python</a:t>
            </a:r>
            <a:r>
              <a:rPr lang="zh-CN" altLang="en-US" dirty="0"/>
              <a:t>相关工作数量</a:t>
            </a:r>
            <a:endParaRPr lang="zh-CN" altLang="en-US" dirty="0"/>
          </a:p>
          <a:p>
            <a:r>
              <a:rPr lang="en-GB" altLang="zh-CN" dirty="0" err="1"/>
              <a:t>job.shape</a:t>
            </a:r>
            <a:endParaRPr lang="en-GB" altLang="zh-CN" dirty="0"/>
          </a:p>
          <a:p>
            <a:r>
              <a:rPr lang="en-GB" altLang="zh-CN" dirty="0" err="1"/>
              <a:t>job.head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查看数据字段</a:t>
            </a:r>
            <a:endParaRPr lang="en-US" altLang="zh-CN" dirty="0"/>
          </a:p>
          <a:p>
            <a:r>
              <a:rPr lang="en-GB" altLang="zh-CN" dirty="0" err="1"/>
              <a:t>job.columns</a:t>
            </a:r>
            <a:endParaRPr lang="en-GB" altLang="zh-CN" dirty="0"/>
          </a:p>
          <a:p>
            <a:r>
              <a:rPr lang="en-GB" altLang="zh-CN" dirty="0" err="1"/>
              <a:t>company_name</a:t>
            </a:r>
            <a:r>
              <a:rPr lang="en-GB" altLang="zh-CN" dirty="0"/>
              <a:t>:</a:t>
            </a:r>
            <a:r>
              <a:rPr lang="zh-CN" altLang="en-US" dirty="0"/>
              <a:t>公司名字，</a:t>
            </a:r>
            <a:r>
              <a:rPr lang="en-GB" altLang="zh-CN" dirty="0" err="1"/>
              <a:t>url</a:t>
            </a:r>
            <a:r>
              <a:rPr lang="zh-CN" altLang="en-GB" dirty="0"/>
              <a:t>，</a:t>
            </a:r>
            <a:r>
              <a:rPr lang="zh-CN" altLang="en-US" dirty="0"/>
              <a:t>工作的网址，</a:t>
            </a:r>
            <a:r>
              <a:rPr lang="en-GB" altLang="zh-CN" dirty="0" err="1"/>
              <a:t>job_name</a:t>
            </a:r>
            <a:r>
              <a:rPr lang="en-GB" altLang="zh-CN" dirty="0"/>
              <a:t> : </a:t>
            </a:r>
            <a:r>
              <a:rPr lang="zh-CN" altLang="en-US" dirty="0"/>
              <a:t>工作名字，</a:t>
            </a:r>
            <a:r>
              <a:rPr lang="en-GB" altLang="zh-CN" dirty="0"/>
              <a:t>city</a:t>
            </a:r>
            <a:r>
              <a:rPr lang="zh-CN" altLang="en-GB" dirty="0"/>
              <a:t>：</a:t>
            </a:r>
            <a:r>
              <a:rPr lang="zh-CN" altLang="en-US" dirty="0"/>
              <a:t>工作所在城市，</a:t>
            </a:r>
            <a:r>
              <a:rPr lang="en-GB" altLang="zh-CN" dirty="0"/>
              <a:t>salary</a:t>
            </a:r>
            <a:r>
              <a:rPr lang="zh-CN" altLang="en-GB" dirty="0"/>
              <a:t>：</a:t>
            </a:r>
            <a:r>
              <a:rPr lang="zh-CN" altLang="en-US" dirty="0"/>
              <a:t>工资 </a:t>
            </a:r>
            <a:r>
              <a:rPr lang="en-GB" altLang="zh-CN" dirty="0"/>
              <a:t>experience</a:t>
            </a:r>
            <a:r>
              <a:rPr lang="zh-CN" altLang="en-GB" dirty="0"/>
              <a:t>：</a:t>
            </a:r>
            <a:r>
              <a:rPr lang="zh-CN" altLang="en-US" dirty="0"/>
              <a:t>经验，</a:t>
            </a:r>
            <a:r>
              <a:rPr lang="en-GB" altLang="zh-CN" dirty="0" err="1"/>
              <a:t>company_area</a:t>
            </a:r>
            <a:r>
              <a:rPr lang="zh-CN" altLang="en-GB" dirty="0"/>
              <a:t>：</a:t>
            </a:r>
            <a:r>
              <a:rPr lang="zh-CN" altLang="en-US" dirty="0"/>
              <a:t>公司所在行业，</a:t>
            </a:r>
            <a:r>
              <a:rPr lang="en-GB" altLang="zh-CN" dirty="0" err="1"/>
              <a:t>company_size</a:t>
            </a:r>
            <a:r>
              <a:rPr lang="zh-CN" altLang="en-GB" dirty="0"/>
              <a:t>：</a:t>
            </a:r>
            <a:r>
              <a:rPr lang="zh-CN" altLang="en-US" dirty="0"/>
              <a:t>公司规模，</a:t>
            </a:r>
            <a:r>
              <a:rPr lang="en-GB" altLang="zh-CN" dirty="0"/>
              <a:t>description</a:t>
            </a:r>
            <a:r>
              <a:rPr lang="zh-CN" altLang="en-GB" dirty="0"/>
              <a:t>：</a:t>
            </a:r>
            <a:r>
              <a:rPr lang="zh-CN" altLang="en-US" dirty="0"/>
              <a:t>工作描述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哪些城市在数据分析机会多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按城市分组</a:t>
            </a:r>
            <a:endParaRPr lang="en-US" altLang="zh-CN" dirty="0"/>
          </a:p>
          <a:p>
            <a:r>
              <a:rPr lang="en-GB" altLang="zh-CN" dirty="0" err="1"/>
              <a:t>city_job_list</a:t>
            </a:r>
            <a:r>
              <a:rPr lang="en-GB" altLang="zh-CN" dirty="0"/>
              <a:t> = </a:t>
            </a:r>
            <a:r>
              <a:rPr lang="en-GB" altLang="zh-CN" dirty="0" err="1"/>
              <a:t>job.groupby</a:t>
            </a:r>
            <a:r>
              <a:rPr lang="en-GB" altLang="zh-CN" dirty="0"/>
              <a:t>('city')['</a:t>
            </a:r>
            <a:r>
              <a:rPr lang="en-GB" altLang="zh-CN" dirty="0" err="1"/>
              <a:t>url</a:t>
            </a:r>
            <a:r>
              <a:rPr lang="en-GB" altLang="zh-CN" dirty="0"/>
              <a:t>'].count().</a:t>
            </a:r>
            <a:r>
              <a:rPr lang="en-GB" altLang="zh-CN" dirty="0" err="1"/>
              <a:t>sort_values</a:t>
            </a:r>
            <a:r>
              <a:rPr lang="en-GB" altLang="zh-CN" dirty="0"/>
              <a:t>(ascending = False)</a:t>
            </a:r>
            <a:endParaRPr lang="en-GB" altLang="zh-CN" dirty="0"/>
          </a:p>
          <a:p>
            <a:r>
              <a:rPr lang="en-GB" altLang="zh-CN" dirty="0"/>
              <a:t>city_job_top20 = </a:t>
            </a:r>
            <a:r>
              <a:rPr lang="en-GB" altLang="zh-CN" dirty="0" err="1"/>
              <a:t>city_job_list.head</a:t>
            </a:r>
            <a:r>
              <a:rPr lang="en-GB" altLang="zh-CN" dirty="0"/>
              <a:t>(20)</a:t>
            </a:r>
            <a:endParaRPr lang="en-GB" altLang="zh-CN" dirty="0"/>
          </a:p>
          <a:p>
            <a:r>
              <a:rPr lang="en-GB" altLang="zh-CN" dirty="0"/>
              <a:t>city_job_top20</a:t>
            </a:r>
            <a:endParaRPr lang="zh-CN" altLang="en-US" dirty="0"/>
          </a:p>
          <a:p>
            <a:pPr>
              <a:buFont typeface="Wingdings" panose="05000000000000000000" charset="0"/>
            </a:pP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哪些城市在数据分析机会多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558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pyechart</a:t>
            </a:r>
            <a:r>
              <a:rPr lang="en-GB" altLang="zh-CN" dirty="0"/>
              <a:t> </a:t>
            </a:r>
            <a:r>
              <a:rPr lang="zh-CN" altLang="en-US" dirty="0"/>
              <a:t>绘制柱状图</a:t>
            </a:r>
            <a:endParaRPr lang="en-US" altLang="zh-CN" dirty="0"/>
          </a:p>
          <a:p>
            <a:r>
              <a:rPr lang="en-GB" altLang="zh-CN" dirty="0"/>
              <a:t>from </a:t>
            </a:r>
            <a:r>
              <a:rPr lang="en-GB" altLang="zh-CN" dirty="0" err="1"/>
              <a:t>pyecharts</a:t>
            </a:r>
            <a:r>
              <a:rPr lang="en-GB" altLang="zh-CN" dirty="0"/>
              <a:t> import options as opts</a:t>
            </a:r>
            <a:endParaRPr lang="en-GB" altLang="zh-CN" dirty="0"/>
          </a:p>
          <a:p>
            <a:r>
              <a:rPr lang="en-GB" altLang="zh-CN" dirty="0"/>
              <a:t>from </a:t>
            </a:r>
            <a:r>
              <a:rPr lang="en-GB" altLang="zh-CN" dirty="0" err="1"/>
              <a:t>pyecharts.charts</a:t>
            </a:r>
            <a:r>
              <a:rPr lang="en-GB" altLang="zh-CN" dirty="0"/>
              <a:t> import Bar</a:t>
            </a:r>
            <a:endParaRPr lang="en-GB" altLang="zh-CN" dirty="0"/>
          </a:p>
          <a:p>
            <a:r>
              <a:rPr lang="en-GB" altLang="zh-CN" dirty="0"/>
              <a:t>c = (</a:t>
            </a:r>
            <a:r>
              <a:rPr lang="zh-CN" altLang="en-US" dirty="0"/>
              <a:t> </a:t>
            </a:r>
            <a:r>
              <a:rPr lang="en-GB" altLang="zh-CN" dirty="0"/>
              <a:t>Bar() #</a:t>
            </a:r>
            <a:r>
              <a:rPr lang="zh-CN" altLang="en-US" dirty="0"/>
              <a:t>创建柱状图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</a:t>
            </a:r>
            <a:r>
              <a:rPr lang="en-GB" altLang="zh-CN" dirty="0" err="1"/>
              <a:t>add_xaxis</a:t>
            </a:r>
            <a:r>
              <a:rPr lang="en-GB" altLang="zh-CN" dirty="0"/>
              <a:t>(city_job_top20.index.tolist()) #</a:t>
            </a:r>
            <a:r>
              <a:rPr lang="zh-CN" altLang="en-US" dirty="0"/>
              <a:t>添加</a:t>
            </a:r>
            <a:r>
              <a:rPr lang="en-GB" altLang="zh-CN" dirty="0"/>
              <a:t>x</a:t>
            </a:r>
            <a:r>
              <a:rPr lang="zh-CN" altLang="en-US" dirty="0"/>
              <a:t>轴数据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</a:t>
            </a:r>
            <a:r>
              <a:rPr lang="en-GB" altLang="zh-CN" dirty="0" err="1"/>
              <a:t>add_yaxis</a:t>
            </a:r>
            <a:r>
              <a:rPr lang="en-GB" altLang="zh-CN" dirty="0"/>
              <a:t>('</a:t>
            </a:r>
            <a:r>
              <a:rPr lang="zh-CN" altLang="en-US" dirty="0"/>
              <a:t>数据分析就业岗位数量</a:t>
            </a:r>
            <a:r>
              <a:rPr lang="en-US" altLang="zh-CN" dirty="0"/>
              <a:t>', </a:t>
            </a:r>
            <a:r>
              <a:rPr lang="en-GB" altLang="zh-CN" dirty="0"/>
              <a:t>city_job_top20.values.tolist())#</a:t>
            </a:r>
            <a:r>
              <a:rPr lang="zh-CN" altLang="en-US" dirty="0"/>
              <a:t>添加</a:t>
            </a:r>
            <a:r>
              <a:rPr lang="en-GB" altLang="zh-CN" dirty="0"/>
              <a:t>y</a:t>
            </a:r>
            <a:r>
              <a:rPr lang="zh-CN" altLang="en-US" dirty="0"/>
              <a:t>轴数据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</a:t>
            </a:r>
            <a:r>
              <a:rPr lang="en-GB" altLang="zh-CN" dirty="0" err="1"/>
              <a:t>set_global_opts</a:t>
            </a:r>
            <a:r>
              <a:rPr lang="en-GB" altLang="zh-CN" dirty="0"/>
              <a:t>( #</a:t>
            </a:r>
            <a:r>
              <a:rPr lang="zh-CN" altLang="en-US" dirty="0"/>
              <a:t>设置全局参数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GB" altLang="zh-CN" dirty="0" err="1"/>
              <a:t>title_opts</a:t>
            </a:r>
            <a:r>
              <a:rPr lang="en-GB" altLang="zh-CN" dirty="0"/>
              <a:t>=</a:t>
            </a:r>
            <a:r>
              <a:rPr lang="en-GB" altLang="zh-CN" dirty="0" err="1"/>
              <a:t>opts.TitleOpts</a:t>
            </a:r>
            <a:r>
              <a:rPr lang="en-GB" altLang="zh-CN" dirty="0"/>
              <a:t>(title='</a:t>
            </a:r>
            <a:r>
              <a:rPr lang="zh-CN" altLang="en-US" dirty="0"/>
              <a:t>一周内数据分析就业岗位数量</a:t>
            </a:r>
            <a:r>
              <a:rPr lang="en-US" altLang="zh-CN" dirty="0"/>
              <a:t>'), #</a:t>
            </a:r>
            <a:r>
              <a:rPr lang="zh-CN" altLang="en-US" dirty="0"/>
              <a:t>设置标题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GB" altLang="zh-CN" dirty="0" err="1"/>
              <a:t>datazoom_opts</a:t>
            </a:r>
            <a:r>
              <a:rPr lang="en-GB" altLang="zh-CN" dirty="0"/>
              <a:t>=</a:t>
            </a:r>
            <a:r>
              <a:rPr lang="en-GB" altLang="zh-CN" dirty="0" err="1"/>
              <a:t>opts.DataZoomOpts</a:t>
            </a:r>
            <a:r>
              <a:rPr lang="en-GB" altLang="zh-CN" dirty="0"/>
              <a:t>(),#</a:t>
            </a:r>
            <a:r>
              <a:rPr lang="zh-CN" altLang="en-US" dirty="0"/>
              <a:t>添加缩放条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)</a:t>
            </a:r>
            <a:endParaRPr lang="en-US" altLang="zh-CN" dirty="0"/>
          </a:p>
          <a:p>
            <a:r>
              <a:rPr lang="en-GB" altLang="zh-CN" dirty="0" err="1"/>
              <a:t>c.render_notebook</a:t>
            </a:r>
            <a:r>
              <a:rPr lang="en-GB" altLang="zh-CN" dirty="0"/>
              <a:t>() # </a:t>
            </a:r>
            <a:r>
              <a:rPr lang="zh-CN" altLang="en-US" dirty="0"/>
              <a:t>在</a:t>
            </a:r>
            <a:r>
              <a:rPr lang="en-GB" altLang="zh-CN" dirty="0" err="1"/>
              <a:t>juypter</a:t>
            </a:r>
            <a:r>
              <a:rPr lang="en-GB" altLang="zh-CN" dirty="0"/>
              <a:t> notebook</a:t>
            </a:r>
            <a:r>
              <a:rPr lang="zh-CN" altLang="en-US" dirty="0"/>
              <a:t>中显示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790" y="854075"/>
            <a:ext cx="5617210" cy="2573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哪些公司在招聘</a:t>
            </a:r>
            <a:r>
              <a:rPr lang="en-GB" altLang="zh-CN" dirty="0"/>
              <a:t>Python</a:t>
            </a:r>
            <a:r>
              <a:rPr lang="zh-CN" altLang="en-US" dirty="0"/>
              <a:t>程序员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根据公司名字对数据进行分组</a:t>
            </a:r>
            <a:endParaRPr lang="en-US" altLang="zh-CN" dirty="0"/>
          </a:p>
          <a:p>
            <a:r>
              <a:rPr lang="en-GB" altLang="zh-CN" dirty="0" err="1"/>
              <a:t>company_list</a:t>
            </a:r>
            <a:r>
              <a:rPr lang="en-GB" altLang="zh-CN" dirty="0"/>
              <a:t> = </a:t>
            </a:r>
            <a:r>
              <a:rPr lang="en-GB" altLang="zh-CN" dirty="0" err="1"/>
              <a:t>job.groupby</a:t>
            </a:r>
            <a:r>
              <a:rPr lang="en-GB" altLang="zh-CN" dirty="0"/>
              <a:t>('</a:t>
            </a:r>
            <a:r>
              <a:rPr lang="en-GB" altLang="zh-CN" dirty="0" err="1"/>
              <a:t>company_name</a:t>
            </a:r>
            <a:r>
              <a:rPr lang="en-GB" altLang="zh-CN" dirty="0"/>
              <a:t>')['</a:t>
            </a:r>
            <a:r>
              <a:rPr lang="en-GB" altLang="zh-CN" dirty="0" err="1"/>
              <a:t>url</a:t>
            </a:r>
            <a:r>
              <a:rPr lang="en-GB" altLang="zh-CN" dirty="0"/>
              <a:t>'].count().</a:t>
            </a:r>
            <a:r>
              <a:rPr lang="en-GB" altLang="zh-CN" dirty="0" err="1"/>
              <a:t>sort_values</a:t>
            </a:r>
            <a:r>
              <a:rPr lang="en-GB" altLang="zh-CN" dirty="0"/>
              <a:t>(ascending = False)</a:t>
            </a:r>
            <a:endParaRPr lang="en-GB" altLang="zh-CN" dirty="0"/>
          </a:p>
          <a:p>
            <a:r>
              <a:rPr lang="en-GB" altLang="zh-CN" dirty="0" err="1"/>
              <a:t>company_list</a:t>
            </a:r>
            <a:r>
              <a:rPr lang="en-GB" altLang="zh-CN" dirty="0"/>
              <a:t> = </a:t>
            </a:r>
            <a:r>
              <a:rPr lang="en-GB" altLang="zh-CN" dirty="0" err="1"/>
              <a:t>company_list.head</a:t>
            </a:r>
            <a:r>
              <a:rPr lang="en-GB" altLang="zh-CN" dirty="0"/>
              <a:t>(100)</a:t>
            </a:r>
            <a:endParaRPr lang="en-GB" altLang="zh-CN" dirty="0"/>
          </a:p>
          <a:p>
            <a:r>
              <a:rPr lang="en-GB" altLang="zh-CN" dirty="0" err="1"/>
              <a:t>company_list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哪些公司在招聘</a:t>
            </a:r>
            <a:r>
              <a:rPr lang="en-GB" altLang="zh-CN" dirty="0"/>
              <a:t>Python</a:t>
            </a:r>
            <a:r>
              <a:rPr lang="zh-CN" altLang="en-US" dirty="0"/>
              <a:t>程序员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pyecharts</a:t>
            </a:r>
            <a:r>
              <a:rPr lang="zh-CN" altLang="en-US" dirty="0"/>
              <a:t>绘制词云图</a:t>
            </a:r>
            <a:endParaRPr lang="en-US" altLang="zh-CN" dirty="0"/>
          </a:p>
          <a:p>
            <a:r>
              <a:rPr lang="en-GB" altLang="zh-CN" dirty="0"/>
              <a:t>from </a:t>
            </a:r>
            <a:r>
              <a:rPr lang="en-GB" altLang="zh-CN" dirty="0" err="1"/>
              <a:t>pyecharts.charts</a:t>
            </a:r>
            <a:r>
              <a:rPr lang="en-GB" altLang="zh-CN" dirty="0"/>
              <a:t> import </a:t>
            </a:r>
            <a:r>
              <a:rPr lang="en-GB" altLang="zh-CN" dirty="0" err="1"/>
              <a:t>WordCloud</a:t>
            </a:r>
            <a:endParaRPr lang="en-GB" altLang="zh-CN" dirty="0"/>
          </a:p>
          <a:p>
            <a:r>
              <a:rPr lang="en-GB" altLang="zh-CN" dirty="0"/>
              <a:t>c = (</a:t>
            </a:r>
            <a:r>
              <a:rPr lang="zh-CN" altLang="en-US" dirty="0"/>
              <a:t> </a:t>
            </a:r>
            <a:r>
              <a:rPr lang="en-GB" altLang="zh-CN" dirty="0" err="1"/>
              <a:t>WordCloud</a:t>
            </a:r>
            <a:r>
              <a:rPr lang="en-GB" altLang="zh-CN" dirty="0"/>
              <a:t>()#</a:t>
            </a:r>
            <a:r>
              <a:rPr lang="zh-CN" altLang="en-US" dirty="0"/>
              <a:t>创建词云图对象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</a:t>
            </a:r>
            <a:r>
              <a:rPr lang="en-GB" altLang="zh-CN" dirty="0"/>
              <a:t>add(</a:t>
            </a:r>
            <a:r>
              <a:rPr lang="en-GB" altLang="zh-CN" dirty="0" err="1"/>
              <a:t>series_name</a:t>
            </a:r>
            <a:r>
              <a:rPr lang="en-GB" altLang="zh-CN" dirty="0"/>
              <a:t>='</a:t>
            </a:r>
            <a:r>
              <a:rPr lang="zh-CN" altLang="en-US" dirty="0"/>
              <a:t>哪些公司在招聘数据分析程序员</a:t>
            </a:r>
            <a:r>
              <a:rPr lang="en-US" altLang="zh-CN" dirty="0"/>
              <a:t>', #</a:t>
            </a:r>
            <a:r>
              <a:rPr lang="zh-CN" altLang="en-US" dirty="0"/>
              <a:t>添加标题</a:t>
            </a:r>
            <a:endParaRPr lang="zh-CN" altLang="en-US" dirty="0"/>
          </a:p>
          <a:p>
            <a:r>
              <a:rPr lang="zh-CN" altLang="en-US" dirty="0"/>
              <a:t>         </a:t>
            </a:r>
            <a:r>
              <a:rPr lang="en-GB" altLang="zh-CN" dirty="0" err="1"/>
              <a:t>data_pair</a:t>
            </a:r>
            <a:r>
              <a:rPr lang="en-GB" altLang="zh-CN" dirty="0"/>
              <a:t>=list(zip(</a:t>
            </a:r>
            <a:r>
              <a:rPr lang="en-GB" altLang="zh-CN" dirty="0" err="1"/>
              <a:t>company_list.index.tolist</a:t>
            </a:r>
            <a:r>
              <a:rPr lang="en-GB" altLang="zh-CN" dirty="0"/>
              <a:t>(),</a:t>
            </a:r>
            <a:r>
              <a:rPr lang="en-GB" altLang="zh-CN" dirty="0" err="1"/>
              <a:t>company_list.values.tolist</a:t>
            </a:r>
            <a:r>
              <a:rPr lang="en-GB" altLang="zh-CN" dirty="0"/>
              <a:t>())), </a:t>
            </a:r>
            <a:endParaRPr lang="en-GB" altLang="zh-CN" dirty="0"/>
          </a:p>
          <a:p>
            <a:r>
              <a:rPr lang="en-GB" altLang="zh-CN" dirty="0"/>
              <a:t>         </a:t>
            </a:r>
            <a:r>
              <a:rPr lang="en-GB" altLang="zh-CN" dirty="0" err="1"/>
              <a:t>word_size_range</a:t>
            </a:r>
            <a:r>
              <a:rPr lang="en-GB" altLang="zh-CN" dirty="0"/>
              <a:t>=[6, 40])#</a:t>
            </a:r>
            <a:r>
              <a:rPr lang="zh-CN" altLang="en-US" dirty="0"/>
              <a:t>指定文字大小，注意如果字体太大可能显示不全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</a:t>
            </a:r>
            <a:r>
              <a:rPr lang="en-GB" altLang="zh-CN" dirty="0" err="1"/>
              <a:t>set_global_opts</a:t>
            </a:r>
            <a:r>
              <a:rPr lang="en-GB" altLang="zh-CN" dirty="0"/>
              <a:t>(#</a:t>
            </a:r>
            <a:r>
              <a:rPr lang="zh-CN" altLang="en-US" dirty="0"/>
              <a:t>设置全局参数 标题，字号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GB" altLang="zh-CN" dirty="0" err="1"/>
              <a:t>title_opts</a:t>
            </a:r>
            <a:r>
              <a:rPr lang="en-GB" altLang="zh-CN" dirty="0"/>
              <a:t>=</a:t>
            </a:r>
            <a:r>
              <a:rPr lang="en-GB" altLang="zh-CN" dirty="0" err="1"/>
              <a:t>opts.TitleOpts</a:t>
            </a:r>
            <a:r>
              <a:rPr lang="en-GB" altLang="zh-CN" dirty="0"/>
              <a:t>(title='</a:t>
            </a:r>
            <a:r>
              <a:rPr lang="zh-CN" altLang="en-US" dirty="0"/>
              <a:t>哪些公司在招聘数据分析程序员</a:t>
            </a:r>
            <a:r>
              <a:rPr lang="en-US" altLang="zh-CN" dirty="0"/>
              <a:t>', </a:t>
            </a:r>
            <a:endParaRPr lang="en-US" altLang="zh-CN" dirty="0"/>
          </a:p>
          <a:p>
            <a:r>
              <a:rPr lang="en-US" altLang="zh-CN" dirty="0"/>
              <a:t>                                  </a:t>
            </a:r>
            <a:r>
              <a:rPr lang="en-GB" altLang="zh-CN" dirty="0" err="1"/>
              <a:t>title_textstyle_opts</a:t>
            </a:r>
            <a:r>
              <a:rPr lang="en-GB" altLang="zh-CN" dirty="0"/>
              <a:t>=</a:t>
            </a:r>
            <a:r>
              <a:rPr lang="en-GB" altLang="zh-CN" dirty="0" err="1"/>
              <a:t>opts.TextStyleOpts</a:t>
            </a:r>
            <a:r>
              <a:rPr lang="en-GB" altLang="zh-CN" dirty="0"/>
              <a:t>(</a:t>
            </a:r>
            <a:r>
              <a:rPr lang="en-GB" altLang="zh-CN" dirty="0" err="1"/>
              <a:t>font_size</a:t>
            </a:r>
            <a:r>
              <a:rPr lang="en-GB" altLang="zh-CN" dirty="0"/>
              <a:t>=23))</a:t>
            </a:r>
            <a:endParaRPr lang="en-GB" altLang="zh-CN" dirty="0"/>
          </a:p>
          <a:p>
            <a:r>
              <a:rPr lang="en-GB" altLang="zh-CN" dirty="0"/>
              <a:t>    )</a:t>
            </a:r>
            <a:endParaRPr lang="en-GB" altLang="zh-CN" dirty="0"/>
          </a:p>
          <a:p>
            <a:r>
              <a:rPr lang="en-GB" altLang="zh-CN" dirty="0"/>
              <a:t>)</a:t>
            </a:r>
            <a:endParaRPr lang="zh-CN" altLang="en-US" dirty="0"/>
          </a:p>
          <a:p>
            <a:r>
              <a:rPr lang="en-GB" altLang="zh-CN" dirty="0" err="1"/>
              <a:t>c.render_notebook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890" y="322580"/>
            <a:ext cx="4958080" cy="25990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工作经验需求分析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工作经验数据清洗</a:t>
            </a:r>
            <a:endParaRPr lang="en-US" altLang="zh-CN" dirty="0"/>
          </a:p>
          <a:p>
            <a:r>
              <a:rPr lang="en-GB" altLang="zh-CN" dirty="0"/>
              <a:t>job['experience'].</a:t>
            </a:r>
            <a:r>
              <a:rPr lang="en-GB" altLang="zh-CN" dirty="0" err="1"/>
              <a:t>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从上面结果中看出，工作经验的描述不尽相同，需要处理成统一格式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" y="2959735"/>
            <a:ext cx="8879840" cy="3758565"/>
          </a:xfrm>
          <a:prstGeom prst="rect">
            <a:avLst/>
          </a:prstGeom>
        </p:spPr>
      </p:pic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29165" y="2961005"/>
          <a:ext cx="110871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2" imgW="971550" imgH="952500" progId="Package">
                  <p:embed/>
                </p:oleObj>
              </mc:Choice>
              <mc:Fallback>
                <p:oleObj name="" showAsIcon="1" r:id="rId2" imgW="971550" imgH="952500" progId="Package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29165" y="2961005"/>
                        <a:ext cx="1108710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工作经验需求分析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圆环图展示结果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205" y="2064385"/>
            <a:ext cx="6404610" cy="4535170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2655" y="2320290"/>
          <a:ext cx="9715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2" imgW="971550" imgH="952500" progId="Package">
                  <p:embed/>
                </p:oleObj>
              </mc:Choice>
              <mc:Fallback>
                <p:oleObj name="" showAsIcon="1" r:id="rId2" imgW="971550" imgH="952500" progId="Package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2655" y="2320290"/>
                        <a:ext cx="9715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880" y="840105"/>
            <a:ext cx="4571365" cy="2913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710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数据清洗，提取起薪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原始数据中 大多数薪资都以</a:t>
            </a:r>
            <a:r>
              <a:rPr lang="en-US" altLang="zh-CN" dirty="0"/>
              <a:t>'6000-18000' </a:t>
            </a:r>
            <a:r>
              <a:rPr lang="zh-CN" altLang="en-US" dirty="0"/>
              <a:t>形式显示，需要对数据进行处理，提取出起薪，可以使用正则表达式，配合</a:t>
            </a:r>
            <a:r>
              <a:rPr lang="en-US" altLang="zh-CN" dirty="0"/>
              <a:t>apply</a:t>
            </a:r>
            <a:r>
              <a:rPr lang="zh-CN" altLang="en-US" dirty="0"/>
              <a:t>自定义函数，将工作起薪提取出来</a:t>
            </a:r>
            <a:endParaRPr lang="en-US" altLang="zh-CN" dirty="0"/>
          </a:p>
          <a:p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3004820"/>
            <a:ext cx="8423910" cy="3327400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81820" y="3048635"/>
          <a:ext cx="9715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" imgW="971550" imgH="952500" progId="Package">
                  <p:embed/>
                </p:oleObj>
              </mc:Choice>
              <mc:Fallback>
                <p:oleObj name="" showAsIcon="1" r:id="rId2" imgW="971550" imgH="952500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81820" y="3048635"/>
                        <a:ext cx="9715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提取起薪数据之前，首先处理缺失值，将缺失数据去掉并提取起薪</a:t>
            </a:r>
            <a:endParaRPr lang="zh-CN" altLang="en-US" dirty="0"/>
          </a:p>
          <a:p>
            <a:r>
              <a:rPr lang="en-GB" altLang="zh-CN" dirty="0" err="1"/>
              <a:t>job.dropna</a:t>
            </a:r>
            <a:r>
              <a:rPr lang="en-GB" altLang="zh-CN" dirty="0"/>
              <a:t>(subset = ['salary'],</a:t>
            </a:r>
            <a:r>
              <a:rPr lang="en-GB" altLang="zh-CN" dirty="0" err="1"/>
              <a:t>inplace</a:t>
            </a:r>
            <a:r>
              <a:rPr lang="en-GB" altLang="zh-CN" dirty="0"/>
              <a:t> = True)</a:t>
            </a:r>
            <a:endParaRPr lang="en-GB" altLang="zh-CN" dirty="0"/>
          </a:p>
          <a:p>
            <a:r>
              <a:rPr lang="en-GB" altLang="zh-CN" dirty="0"/>
              <a:t>job['</a:t>
            </a:r>
            <a:r>
              <a:rPr lang="en-GB" altLang="zh-CN" dirty="0" err="1"/>
              <a:t>salary_down</a:t>
            </a:r>
            <a:r>
              <a:rPr lang="en-GB" altLang="zh-CN" dirty="0"/>
              <a:t>'] = </a:t>
            </a:r>
            <a:r>
              <a:rPr lang="en-GB" altLang="zh-CN" dirty="0" err="1"/>
              <a:t>job.salary.apply</a:t>
            </a:r>
            <a:r>
              <a:rPr lang="en-GB" altLang="zh-CN" dirty="0"/>
              <a:t>(</a:t>
            </a:r>
            <a:r>
              <a:rPr lang="en-GB" altLang="zh-CN" dirty="0" err="1"/>
              <a:t>get_salary_down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job['</a:t>
            </a:r>
            <a:r>
              <a:rPr lang="en-GB" altLang="zh-CN" dirty="0" err="1"/>
              <a:t>salary_down</a:t>
            </a:r>
            <a:r>
              <a:rPr lang="en-GB" altLang="zh-CN" dirty="0"/>
              <a:t>'].</a:t>
            </a:r>
            <a:r>
              <a:rPr lang="en-GB" altLang="zh-CN" dirty="0" err="1"/>
              <a:t>value_counts</a:t>
            </a:r>
            <a:r>
              <a:rPr lang="en-GB" altLang="zh-CN" dirty="0"/>
              <a:t>().</a:t>
            </a:r>
            <a:r>
              <a:rPr lang="en-GB" altLang="zh-CN" dirty="0" err="1"/>
              <a:t>sort_index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10" y="3535045"/>
            <a:ext cx="333375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数据异常值处理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从处理的起薪中发现，有一些异常数据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b="0" dirty="0"/>
              <a:t>特别低的：小于</a:t>
            </a:r>
            <a:r>
              <a:rPr lang="en-US" altLang="zh-CN" b="0" dirty="0"/>
              <a:t>3000</a:t>
            </a:r>
            <a:endParaRPr lang="en-US" altLang="zh-CN" b="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b="0" dirty="0"/>
              <a:t>特别高的：大于</a:t>
            </a:r>
            <a:r>
              <a:rPr lang="en-US" altLang="zh-CN" b="0" dirty="0"/>
              <a:t>80000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异常值处理：直接删除</a:t>
            </a:r>
            <a:endParaRPr lang="en-US" altLang="zh-CN" dirty="0"/>
          </a:p>
          <a:p>
            <a:r>
              <a:rPr lang="en-GB" altLang="zh-CN" dirty="0" err="1"/>
              <a:t>job_salary</a:t>
            </a:r>
            <a:r>
              <a:rPr lang="en-GB" altLang="zh-CN" dirty="0"/>
              <a:t> = job[job['</a:t>
            </a:r>
            <a:r>
              <a:rPr lang="en-GB" altLang="zh-CN" dirty="0" err="1"/>
              <a:t>salary_down</a:t>
            </a:r>
            <a:r>
              <a:rPr lang="en-GB" altLang="zh-CN" dirty="0"/>
              <a:t>']&gt;3000]</a:t>
            </a:r>
            <a:endParaRPr lang="en-GB" altLang="zh-CN" dirty="0"/>
          </a:p>
          <a:p>
            <a:r>
              <a:rPr lang="en-GB" altLang="zh-CN" dirty="0" err="1"/>
              <a:t>job_salary</a:t>
            </a:r>
            <a:r>
              <a:rPr lang="en-GB" altLang="zh-CN" dirty="0"/>
              <a:t> = </a:t>
            </a:r>
            <a:r>
              <a:rPr lang="en-GB" altLang="zh-CN" dirty="0" err="1"/>
              <a:t>job_salary</a:t>
            </a:r>
            <a:r>
              <a:rPr lang="en-GB" altLang="zh-CN" dirty="0"/>
              <a:t>[</a:t>
            </a:r>
            <a:r>
              <a:rPr lang="en-GB" altLang="zh-CN" dirty="0" err="1"/>
              <a:t>job_salary</a:t>
            </a:r>
            <a:r>
              <a:rPr lang="en-GB" altLang="zh-CN" dirty="0"/>
              <a:t>['</a:t>
            </a:r>
            <a:r>
              <a:rPr lang="en-GB" altLang="zh-CN" dirty="0" err="1"/>
              <a:t>salary_down</a:t>
            </a:r>
            <a:r>
              <a:rPr lang="en-GB" altLang="zh-CN" dirty="0"/>
              <a:t>']&lt;80000]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01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绘制气泡图数据准备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将所有城市的平均薪资和就业岗位数合并到一起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重置索引</a:t>
            </a:r>
            <a:r>
              <a:rPr lang="en-US" altLang="zh-CN" dirty="0"/>
              <a:t>,city</a:t>
            </a:r>
            <a:r>
              <a:rPr lang="zh-CN" altLang="en-US" dirty="0"/>
              <a:t>行索引变为一列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3216910"/>
            <a:ext cx="8699500" cy="2794000"/>
          </a:xfrm>
          <a:prstGeom prst="rect">
            <a:avLst/>
          </a:prstGeom>
        </p:spPr>
      </p:pic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693275" y="2886710"/>
          <a:ext cx="9715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2" imgW="971550" imgH="952500" progId="Package">
                  <p:embed/>
                </p:oleObj>
              </mc:Choice>
              <mc:Fallback>
                <p:oleObj name="" showAsIcon="1" r:id="rId2" imgW="971550" imgH="952500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93275" y="2886710"/>
                        <a:ext cx="9715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处理数据</a:t>
            </a:r>
            <a:endParaRPr lang="en-US" altLang="zh-CN" dirty="0"/>
          </a:p>
          <a:p>
            <a:r>
              <a:rPr lang="en-GB" altLang="zh-CN" dirty="0" err="1"/>
              <a:t>salary_data</a:t>
            </a:r>
            <a:r>
              <a:rPr lang="en-GB" altLang="zh-CN" dirty="0"/>
              <a:t> = </a:t>
            </a:r>
            <a:r>
              <a:rPr lang="en-GB" altLang="zh-CN" dirty="0" err="1"/>
              <a:t>prepare_data</a:t>
            </a:r>
            <a:r>
              <a:rPr lang="en-GB" altLang="zh-CN" dirty="0"/>
              <a:t>(job</a:t>
            </a:r>
            <a:r>
              <a:rPr lang="en-US" altLang="en-GB" dirty="0"/>
              <a:t>_salary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salary_data.columns</a:t>
            </a:r>
            <a:r>
              <a:rPr lang="en-GB" altLang="zh-CN" dirty="0"/>
              <a:t> = ['city',</a:t>
            </a:r>
            <a:r>
              <a:rPr lang="en-GB" altLang="zh-CN" dirty="0">
                <a:sym typeface="+mn-ea"/>
              </a:rPr>
              <a:t>'salary_down'</a:t>
            </a:r>
            <a:r>
              <a:rPr lang="en-US" altLang="en-GB" dirty="0">
                <a:sym typeface="+mn-ea"/>
              </a:rPr>
              <a:t>,</a:t>
            </a:r>
            <a:r>
              <a:rPr lang="en-GB" altLang="zh-CN" dirty="0">
                <a:sym typeface="+mn-ea"/>
              </a:rPr>
              <a:t>'</a:t>
            </a:r>
            <a:r>
              <a:rPr lang="en-GB" altLang="zh-CN" dirty="0" err="1">
                <a:sym typeface="+mn-ea"/>
              </a:rPr>
              <a:t>job_count</a:t>
            </a:r>
            <a:r>
              <a:rPr lang="en-GB" altLang="zh-CN" dirty="0">
                <a:sym typeface="+mn-ea"/>
              </a:rPr>
              <a:t>'</a:t>
            </a:r>
            <a:r>
              <a:rPr lang="en-GB" altLang="zh-CN" dirty="0"/>
              <a:t>]</a:t>
            </a:r>
            <a:endParaRPr lang="en-GB" altLang="zh-CN" dirty="0"/>
          </a:p>
          <a:p>
            <a:r>
              <a:rPr lang="en-GB" altLang="zh-CN" dirty="0" err="1"/>
              <a:t>salary_data.head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7580" y="3578225"/>
            <a:ext cx="2565400" cy="1644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en-GB" altLang="zh-CN" dirty="0" err="1"/>
              <a:t>Pyecharts</a:t>
            </a:r>
            <a:r>
              <a:rPr lang="zh-CN" altLang="en-US" dirty="0"/>
              <a:t>绘图案例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岗位数量与平均起薪分布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气泡图展示数据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9740" y="2238375"/>
          <a:ext cx="9715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952500" progId="Package">
                  <p:embed/>
                </p:oleObj>
              </mc:Choice>
              <mc:Fallback>
                <p:oleObj name="" showAsIcon="1" r:id="rId1" imgW="971550" imgH="9525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9740" y="2238375"/>
                        <a:ext cx="9715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470" y="2117090"/>
            <a:ext cx="4037965" cy="3850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290" y="2021205"/>
            <a:ext cx="6598285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 err="1"/>
              <a:t>echarts</a:t>
            </a:r>
            <a:r>
              <a:rPr lang="zh-CN" altLang="en-US" dirty="0"/>
              <a:t>是基于</a:t>
            </a:r>
            <a:r>
              <a:rPr lang="en-GB" altLang="zh-CN" dirty="0" err="1"/>
              <a:t>js</a:t>
            </a:r>
            <a:r>
              <a:rPr lang="zh-CN" altLang="en-US" dirty="0"/>
              <a:t>的开源可视化库，</a:t>
            </a:r>
            <a:r>
              <a:rPr lang="en-GB" altLang="zh-CN" dirty="0" err="1"/>
              <a:t>pyecharts</a:t>
            </a:r>
            <a:r>
              <a:rPr lang="zh-CN" altLang="en-US" dirty="0"/>
              <a:t>是</a:t>
            </a:r>
            <a:r>
              <a:rPr lang="en-GB" altLang="zh-CN" dirty="0" err="1"/>
              <a:t>echarts</a:t>
            </a:r>
            <a:r>
              <a:rPr lang="zh-CN" altLang="en-US" dirty="0"/>
              <a:t>的</a:t>
            </a:r>
            <a:r>
              <a:rPr lang="en-GB" altLang="zh-CN" dirty="0"/>
              <a:t>python</a:t>
            </a:r>
            <a:r>
              <a:rPr lang="zh-CN" altLang="en-US" dirty="0"/>
              <a:t>封装，利用</a:t>
            </a:r>
            <a:r>
              <a:rPr lang="en-GB" altLang="zh-CN" dirty="0" err="1"/>
              <a:t>pyecharts</a:t>
            </a:r>
            <a:r>
              <a:rPr lang="zh-CN" altLang="en-US" dirty="0"/>
              <a:t>可以绘制具备交互性的炫酷图形</a:t>
            </a:r>
            <a:endParaRPr lang="zh-CN" altLang="en-US" dirty="0"/>
          </a:p>
          <a:p>
            <a:r>
              <a:rPr lang="en-GB" altLang="zh-CN" dirty="0" err="1"/>
              <a:t>pyecharts</a:t>
            </a:r>
            <a:r>
              <a:rPr lang="en-GB" altLang="zh-CN" dirty="0"/>
              <a:t> 1.*</a:t>
            </a:r>
            <a:r>
              <a:rPr lang="zh-CN" altLang="en-US" dirty="0"/>
              <a:t>版本的绘图</a:t>
            </a:r>
            <a:r>
              <a:rPr lang="en-GB" altLang="zh-CN" dirty="0" err="1"/>
              <a:t>api</a:t>
            </a:r>
            <a:r>
              <a:rPr lang="zh-CN" altLang="en-US" dirty="0"/>
              <a:t>还是具有一定规律的</a:t>
            </a:r>
            <a:endParaRPr lang="zh-CN" altLang="en-US" dirty="0"/>
          </a:p>
          <a:p>
            <a:r>
              <a:rPr lang="en-GB" altLang="zh-CN" dirty="0"/>
              <a:t>Pie(), Bar() .... </a:t>
            </a:r>
            <a:r>
              <a:rPr lang="zh-CN" altLang="en-US" dirty="0"/>
              <a:t>创建绘图对象</a:t>
            </a:r>
            <a:endParaRPr lang="zh-CN" altLang="en-US" dirty="0"/>
          </a:p>
          <a:p>
            <a:r>
              <a:rPr lang="en-US" altLang="zh-CN" dirty="0"/>
              <a:t>.</a:t>
            </a:r>
            <a:r>
              <a:rPr lang="en-GB" altLang="zh-CN" dirty="0"/>
              <a:t>add() /</a:t>
            </a:r>
            <a:r>
              <a:rPr lang="en-GB" altLang="zh-CN" dirty="0" err="1"/>
              <a:t>add_xaxis,add_yaxis</a:t>
            </a:r>
            <a:r>
              <a:rPr lang="zh-CN" altLang="en-US" dirty="0"/>
              <a:t>添加数据</a:t>
            </a:r>
            <a:endParaRPr lang="zh-CN" altLang="en-US" dirty="0"/>
          </a:p>
          <a:p>
            <a:r>
              <a:rPr lang="en-US" altLang="zh-CN" dirty="0"/>
              <a:t>.</a:t>
            </a:r>
            <a:r>
              <a:rPr lang="en-GB" altLang="zh-CN" dirty="0" err="1"/>
              <a:t>set_global_opts</a:t>
            </a:r>
            <a:r>
              <a:rPr lang="en-GB" altLang="zh-CN" dirty="0"/>
              <a:t>() </a:t>
            </a:r>
            <a:r>
              <a:rPr lang="zh-CN" altLang="en-US" dirty="0"/>
              <a:t>设置全局参数</a:t>
            </a:r>
            <a:endParaRPr lang="zh-CN" altLang="en-US" dirty="0"/>
          </a:p>
          <a:p>
            <a:r>
              <a:rPr lang="en-GB" altLang="zh-CN" dirty="0" err="1"/>
              <a:t>render_notebook</a:t>
            </a:r>
            <a:r>
              <a:rPr lang="en-GB" altLang="zh-CN" dirty="0"/>
              <a:t>()</a:t>
            </a:r>
            <a:r>
              <a:rPr lang="zh-CN" altLang="en-US" dirty="0"/>
              <a:t>在</a:t>
            </a:r>
            <a:r>
              <a:rPr lang="en-GB" altLang="zh-CN" dirty="0"/>
              <a:t>notebook</a:t>
            </a:r>
            <a:r>
              <a:rPr lang="zh-CN" altLang="en-US" dirty="0"/>
              <a:t>中绘制、</a:t>
            </a:r>
            <a:r>
              <a:rPr lang="en-GB" altLang="zh-CN" dirty="0"/>
              <a:t>render()</a:t>
            </a:r>
            <a:r>
              <a:rPr lang="zh-CN" altLang="en-US" dirty="0"/>
              <a:t>生成文件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590,&quot;width&quot;:4040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3342</Words>
  <Application>WPS 演示</Application>
  <PresentationFormat>宽屏</PresentationFormat>
  <Paragraphs>195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58" baseType="lpstr">
      <vt:lpstr>Arial</vt:lpstr>
      <vt:lpstr>方正书宋_GBK</vt:lpstr>
      <vt:lpstr>Wingdings</vt:lpstr>
      <vt:lpstr>Calibri</vt:lpstr>
      <vt:lpstr>Helvetica Neue</vt:lpstr>
      <vt:lpstr>黑体</vt:lpstr>
      <vt:lpstr>宋体</vt:lpstr>
      <vt:lpstr>汉仪书宋二KW</vt:lpstr>
      <vt:lpstr>Alibaba PuHuiTi B</vt:lpstr>
      <vt:lpstr>苹方-简</vt:lpstr>
      <vt:lpstr>Alibaba PuHuiTi R</vt:lpstr>
      <vt:lpstr>Segoe UI</vt:lpstr>
      <vt:lpstr>微软雅黑</vt:lpstr>
      <vt:lpstr>Verdana</vt:lpstr>
      <vt:lpstr>阿里巴巴普惠体</vt:lpstr>
      <vt:lpstr>Segoe UI Light</vt:lpstr>
      <vt:lpstr>微软雅黑 Light</vt:lpstr>
      <vt:lpstr>Alibaba PuHuiTi M</vt:lpstr>
      <vt:lpstr>Wingdings</vt:lpstr>
      <vt:lpstr>汉仪旗黑</vt:lpstr>
      <vt:lpstr>宋体</vt:lpstr>
      <vt:lpstr>Arial Unicode MS</vt:lpstr>
      <vt:lpstr>等线</vt:lpstr>
      <vt:lpstr>汉仪中等线KW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Package</vt:lpstr>
      <vt:lpstr>Package</vt:lpstr>
      <vt:lpstr>Package</vt:lpstr>
      <vt:lpstr>Package</vt:lpstr>
      <vt:lpstr>Package</vt:lpstr>
      <vt:lpstr>Pyecharts绘图</vt:lpstr>
      <vt:lpstr>PowerPoint 演示文稿</vt:lpstr>
      <vt:lpstr>PowerPoint 演示文稿</vt:lpstr>
      <vt:lpstr>1 Echarts 和 Pyecharts简介</vt:lpstr>
      <vt:lpstr>1 Echarts 和 Pyecharts简介</vt:lpstr>
      <vt:lpstr>PowerPoint 演示文稿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2 Pyecharts绘图案例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334</cp:revision>
  <dcterms:created xsi:type="dcterms:W3CDTF">2021-06-21T11:29:28Z</dcterms:created>
  <dcterms:modified xsi:type="dcterms:W3CDTF">2021-06-21T11:29:28Z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F72E57825A874B13B0F869A525C140DD</vt:lpwstr>
  </property>
  <property fmtid="{D5CDD505-2E9C-101B-9397-08002B2CF9AE}" pid="3" name="KSOProductBuildVer">
    <vt:lpwstr>2052-3.6.2.5883</vt:lpwstr>
  </property>
</Properties>
</file>