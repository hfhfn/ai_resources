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3" r:id="rId4"/>
    <p:sldMasterId id="2147483655" r:id="rId5"/>
    <p:sldMasterId id="2147483667" r:id="rId6"/>
    <p:sldMasterId id="2147483669" r:id="rId7"/>
    <p:sldMasterId id="2147483671" r:id="rId8"/>
    <p:sldMasterId id="2147483673" r:id="rId9"/>
    <p:sldMasterId id="2147483675" r:id="rId10"/>
    <p:sldMasterId id="2147483677" r:id="rId11"/>
    <p:sldMasterId id="2147483679" r:id="rId12"/>
    <p:sldMasterId id="2147483693" r:id="rId13"/>
  </p:sldMasterIdLst>
  <p:notesMasterIdLst>
    <p:notesMasterId r:id="rId15"/>
  </p:notesMasterIdLst>
  <p:sldIdLst>
    <p:sldId id="260" r:id="rId14"/>
    <p:sldId id="424" r:id="rId16"/>
    <p:sldId id="268" r:id="rId17"/>
    <p:sldId id="265" r:id="rId18"/>
    <p:sldId id="444" r:id="rId19"/>
    <p:sldId id="427" r:id="rId20"/>
    <p:sldId id="428" r:id="rId21"/>
    <p:sldId id="429" r:id="rId22"/>
    <p:sldId id="430" r:id="rId23"/>
    <p:sldId id="440" r:id="rId24"/>
    <p:sldId id="431" r:id="rId25"/>
    <p:sldId id="441" r:id="rId26"/>
    <p:sldId id="442" r:id="rId27"/>
    <p:sldId id="443" r:id="rId28"/>
    <p:sldId id="471" r:id="rId29"/>
    <p:sldId id="472" r:id="rId30"/>
    <p:sldId id="445" r:id="rId31"/>
    <p:sldId id="446" r:id="rId32"/>
    <p:sldId id="447" r:id="rId33"/>
    <p:sldId id="449" r:id="rId34"/>
    <p:sldId id="450" r:id="rId35"/>
    <p:sldId id="451" r:id="rId36"/>
    <p:sldId id="493" r:id="rId37"/>
    <p:sldId id="452" r:id="rId38"/>
    <p:sldId id="453" r:id="rId39"/>
    <p:sldId id="454" r:id="rId40"/>
    <p:sldId id="455" r:id="rId41"/>
    <p:sldId id="456" r:id="rId42"/>
    <p:sldId id="457" r:id="rId43"/>
    <p:sldId id="458" r:id="rId44"/>
    <p:sldId id="494" r:id="rId45"/>
    <p:sldId id="495" r:id="rId46"/>
    <p:sldId id="423" r:id="rId47"/>
    <p:sldId id="490" r:id="rId48"/>
    <p:sldId id="459" r:id="rId49"/>
    <p:sldId id="264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C00000"/>
    <a:srgbClr val="0000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6355" autoAdjust="0"/>
  </p:normalViewPr>
  <p:slideViewPr>
    <p:cSldViewPr snapToGrid="0">
      <p:cViewPr varScale="1">
        <p:scale>
          <a:sx n="137" d="100"/>
          <a:sy n="137" d="100"/>
        </p:scale>
        <p:origin x="20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36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5.xml"/><Relationship Id="rId48" Type="http://schemas.openxmlformats.org/officeDocument/2006/relationships/slide" Target="slides/slide34.xml"/><Relationship Id="rId47" Type="http://schemas.openxmlformats.org/officeDocument/2006/relationships/slide" Target="slides/slide33.xml"/><Relationship Id="rId46" Type="http://schemas.openxmlformats.org/officeDocument/2006/relationships/slide" Target="slides/slide32.xml"/><Relationship Id="rId45" Type="http://schemas.openxmlformats.org/officeDocument/2006/relationships/slide" Target="slides/slide31.xml"/><Relationship Id="rId44" Type="http://schemas.openxmlformats.org/officeDocument/2006/relationships/slide" Target="slides/slide30.xml"/><Relationship Id="rId43" Type="http://schemas.openxmlformats.org/officeDocument/2006/relationships/slide" Target="slides/slide29.xml"/><Relationship Id="rId42" Type="http://schemas.openxmlformats.org/officeDocument/2006/relationships/slide" Target="slides/slide28.xml"/><Relationship Id="rId41" Type="http://schemas.openxmlformats.org/officeDocument/2006/relationships/slide" Target="slides/slide27.xml"/><Relationship Id="rId40" Type="http://schemas.openxmlformats.org/officeDocument/2006/relationships/slide" Target="slides/slide2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5.xml"/><Relationship Id="rId38" Type="http://schemas.openxmlformats.org/officeDocument/2006/relationships/slide" Target="slides/slide24.xml"/><Relationship Id="rId37" Type="http://schemas.openxmlformats.org/officeDocument/2006/relationships/slide" Target="slides/slide23.xml"/><Relationship Id="rId36" Type="http://schemas.openxmlformats.org/officeDocument/2006/relationships/slide" Target="slides/slide22.xml"/><Relationship Id="rId35" Type="http://schemas.openxmlformats.org/officeDocument/2006/relationships/slide" Target="slides/slide21.xml"/><Relationship Id="rId34" Type="http://schemas.openxmlformats.org/officeDocument/2006/relationships/slide" Target="slides/slide20.xml"/><Relationship Id="rId33" Type="http://schemas.openxmlformats.org/officeDocument/2006/relationships/slide" Target="slides/slide19.xml"/><Relationship Id="rId32" Type="http://schemas.openxmlformats.org/officeDocument/2006/relationships/slide" Target="slides/slide18.xml"/><Relationship Id="rId31" Type="http://schemas.openxmlformats.org/officeDocument/2006/relationships/slide" Target="slides/slide17.xml"/><Relationship Id="rId30" Type="http://schemas.openxmlformats.org/officeDocument/2006/relationships/slide" Target="slides/slide1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0" Type="http://schemas.openxmlformats.org/officeDocument/2006/relationships/slide" Target="slides/slide6.xml"/><Relationship Id="rId2" Type="http://schemas.openxmlformats.org/officeDocument/2006/relationships/theme" Target="theme/theme1.xml"/><Relationship Id="rId19" Type="http://schemas.openxmlformats.org/officeDocument/2006/relationships/slide" Target="slides/slide5.xml"/><Relationship Id="rId18" Type="http://schemas.openxmlformats.org/officeDocument/2006/relationships/slide" Target="slides/slide4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2"/>
          <p:cNvSpPr>
            <a:spLocks noGrp="1"/>
          </p:cNvSpPr>
          <p:nvPr>
            <p:ph type="title" hasCustomPrompt="1"/>
          </p:nvPr>
        </p:nvSpPr>
        <p:spPr>
          <a:xfrm>
            <a:off x="2889584" y="3023414"/>
            <a:ext cx="6412832" cy="811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请输入课程标题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218190" y="1830980"/>
            <a:ext cx="6291263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8701" y="1940037"/>
            <a:ext cx="5630484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171575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218190" y="1830980"/>
            <a:ext cx="6291263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emf"/><Relationship Id="rId8" Type="http://schemas.openxmlformats.org/officeDocument/2006/relationships/image" Target="../media/image7.emf"/><Relationship Id="rId7" Type="http://schemas.openxmlformats.org/officeDocument/2006/relationships/image" Target="../media/image6.emf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Relationship Id="rId3" Type="http://schemas.openxmlformats.org/officeDocument/2006/relationships/image" Target="../media/image2.emf"/><Relationship Id="rId20" Type="http://schemas.openxmlformats.org/officeDocument/2006/relationships/theme" Target="../theme/theme1.xml"/><Relationship Id="rId2" Type="http://schemas.openxmlformats.org/officeDocument/2006/relationships/image" Target="../media/image1.emf"/><Relationship Id="rId19" Type="http://schemas.openxmlformats.org/officeDocument/2006/relationships/image" Target="../media/image18.emf"/><Relationship Id="rId18" Type="http://schemas.openxmlformats.org/officeDocument/2006/relationships/image" Target="../media/image17.emf"/><Relationship Id="rId17" Type="http://schemas.openxmlformats.org/officeDocument/2006/relationships/image" Target="../media/image16.emf"/><Relationship Id="rId16" Type="http://schemas.openxmlformats.org/officeDocument/2006/relationships/image" Target="../media/image15.emf"/><Relationship Id="rId15" Type="http://schemas.openxmlformats.org/officeDocument/2006/relationships/image" Target="../media/image14.emf"/><Relationship Id="rId14" Type="http://schemas.openxmlformats.org/officeDocument/2006/relationships/image" Target="../media/image13.emf"/><Relationship Id="rId13" Type="http://schemas.openxmlformats.org/officeDocument/2006/relationships/image" Target="../media/image12.emf"/><Relationship Id="rId12" Type="http://schemas.openxmlformats.org/officeDocument/2006/relationships/image" Target="../media/image11.emf"/><Relationship Id="rId11" Type="http://schemas.openxmlformats.org/officeDocument/2006/relationships/image" Target="../media/image10.emf"/><Relationship Id="rId10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3" Type="http://schemas.openxmlformats.org/officeDocument/2006/relationships/theme" Target="../theme/theme4.xml"/><Relationship Id="rId12" Type="http://schemas.openxmlformats.org/officeDocument/2006/relationships/image" Target="../media/image19.png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8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1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1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5" Type="http://schemas.openxmlformats.org/officeDocument/2006/relationships/theme" Target="../theme/theme11.xml"/><Relationship Id="rId14" Type="http://schemas.openxmlformats.org/officeDocument/2006/relationships/image" Target="../media/image24.png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452" y="855134"/>
            <a:ext cx="4169833" cy="4586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518" y="1420285"/>
            <a:ext cx="2933700" cy="327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椭圆 3"/>
          <p:cNvSpPr/>
          <p:nvPr userDrawn="1"/>
        </p:nvSpPr>
        <p:spPr bwMode="auto">
          <a:xfrm>
            <a:off x="8509000" y="1845733"/>
            <a:ext cx="618067" cy="61806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5" name="椭圆 4"/>
          <p:cNvSpPr/>
          <p:nvPr userDrawn="1"/>
        </p:nvSpPr>
        <p:spPr bwMode="auto">
          <a:xfrm>
            <a:off x="3268134" y="2332567"/>
            <a:ext cx="245533" cy="245533"/>
          </a:xfrm>
          <a:prstGeom prst="ellipse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6" name="椭圆 10"/>
          <p:cNvSpPr>
            <a:spLocks noChangeArrowheads="1"/>
          </p:cNvSpPr>
          <p:nvPr userDrawn="1"/>
        </p:nvSpPr>
        <p:spPr bwMode="auto">
          <a:xfrm>
            <a:off x="6987118" y="5249334"/>
            <a:ext cx="292100" cy="2921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4353985" y="2586567"/>
            <a:ext cx="171449" cy="17356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1032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452" y="2108201"/>
            <a:ext cx="2899833" cy="793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5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218" y="1947334"/>
            <a:ext cx="283633" cy="387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34" name="组合 43"/>
          <p:cNvGrpSpPr/>
          <p:nvPr userDrawn="1"/>
        </p:nvGrpSpPr>
        <p:grpSpPr bwMode="auto">
          <a:xfrm>
            <a:off x="8134351" y="2334685"/>
            <a:ext cx="173567" cy="171449"/>
            <a:chOff x="6101548" y="1750326"/>
            <a:chExt cx="129654" cy="129654"/>
          </a:xfrm>
        </p:grpSpPr>
        <p:sp>
          <p:nvSpPr>
            <p:cNvPr id="13" name="椭圆 12"/>
            <p:cNvSpPr/>
            <p:nvPr/>
          </p:nvSpPr>
          <p:spPr bwMode="auto">
            <a:xfrm>
              <a:off x="6101548" y="1750326"/>
              <a:ext cx="129654" cy="12965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6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5394" y="1772988"/>
              <a:ext cx="84329" cy="84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35" name="Picture 7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201" y="5325534"/>
            <a:ext cx="156633" cy="18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36" name="组合 41"/>
          <p:cNvGrpSpPr/>
          <p:nvPr userDrawn="1"/>
        </p:nvGrpSpPr>
        <p:grpSpPr bwMode="auto">
          <a:xfrm>
            <a:off x="4053418" y="728134"/>
            <a:ext cx="300567" cy="300567"/>
            <a:chOff x="3039900" y="545911"/>
            <a:chExt cx="225188" cy="225188"/>
          </a:xfrm>
        </p:grpSpPr>
        <p:sp>
          <p:nvSpPr>
            <p:cNvPr id="17" name="椭圆 16"/>
            <p:cNvSpPr/>
            <p:nvPr/>
          </p:nvSpPr>
          <p:spPr bwMode="auto">
            <a:xfrm>
              <a:off x="3039900" y="545911"/>
              <a:ext cx="225188" cy="22518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2" name="Picture 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775" y="600432"/>
              <a:ext cx="143438" cy="1100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37" name="组合 37"/>
          <p:cNvGrpSpPr/>
          <p:nvPr userDrawn="1"/>
        </p:nvGrpSpPr>
        <p:grpSpPr bwMode="auto">
          <a:xfrm>
            <a:off x="3448052" y="4030133"/>
            <a:ext cx="247649" cy="247651"/>
            <a:chOff x="2586251" y="3022980"/>
            <a:chExt cx="88710" cy="88710"/>
          </a:xfrm>
          <a:solidFill>
            <a:srgbClr val="C00000"/>
          </a:solidFill>
        </p:grpSpPr>
        <p:sp>
          <p:nvSpPr>
            <p:cNvPr id="20" name="椭圆 9"/>
            <p:cNvSpPr>
              <a:spLocks noChangeArrowheads="1"/>
            </p:cNvSpPr>
            <p:nvPr/>
          </p:nvSpPr>
          <p:spPr bwMode="auto">
            <a:xfrm>
              <a:off x="2586251" y="3022980"/>
              <a:ext cx="88710" cy="88710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4" name="Picture 10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2611596" y="3041493"/>
              <a:ext cx="45720" cy="51684"/>
            </a:xfrm>
            <a:prstGeom prst="rect">
              <a:avLst/>
            </a:prstGeom>
            <a:grpFill/>
            <a:ln>
              <a:noFill/>
            </a:ln>
            <a:effectLst/>
          </p:spPr>
        </p:pic>
      </p:grpSp>
      <p:pic>
        <p:nvPicPr>
          <p:cNvPr id="1038" name="Picture 1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085" y="2633134"/>
            <a:ext cx="95249" cy="103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椭圆 22"/>
          <p:cNvSpPr/>
          <p:nvPr userDrawn="1"/>
        </p:nvSpPr>
        <p:spPr bwMode="auto">
          <a:xfrm>
            <a:off x="9484785" y="3507318"/>
            <a:ext cx="334433" cy="332316"/>
          </a:xfrm>
          <a:prstGeom prst="ellipse">
            <a:avLst/>
          </a:prstGeom>
          <a:solidFill>
            <a:schemeClr val="tx1">
              <a:lumMod val="75000"/>
              <a:lumOff val="25000"/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1040" name="Picture 15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7333" y="3587752"/>
            <a:ext cx="177800" cy="171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41" name="组合 46"/>
          <p:cNvGrpSpPr/>
          <p:nvPr userDrawn="1"/>
        </p:nvGrpSpPr>
        <p:grpSpPr bwMode="auto">
          <a:xfrm>
            <a:off x="3103034" y="4514851"/>
            <a:ext cx="345017" cy="345016"/>
            <a:chOff x="1798978" y="3519004"/>
            <a:chExt cx="259307" cy="259307"/>
          </a:xfrm>
        </p:grpSpPr>
        <p:sp>
          <p:nvSpPr>
            <p:cNvPr id="26" name="椭圆 25"/>
            <p:cNvSpPr/>
            <p:nvPr/>
          </p:nvSpPr>
          <p:spPr bwMode="auto">
            <a:xfrm>
              <a:off x="1798978" y="3519004"/>
              <a:ext cx="259307" cy="2593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2" name="Picture 2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039" y="3616294"/>
              <a:ext cx="173184" cy="859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2" name="组合 38"/>
          <p:cNvGrpSpPr/>
          <p:nvPr userDrawn="1"/>
        </p:nvGrpSpPr>
        <p:grpSpPr bwMode="auto">
          <a:xfrm>
            <a:off x="1301752" y="1394885"/>
            <a:ext cx="400049" cy="400049"/>
            <a:chOff x="748396" y="764271"/>
            <a:chExt cx="300782" cy="300782"/>
          </a:xfrm>
        </p:grpSpPr>
        <p:sp>
          <p:nvSpPr>
            <p:cNvPr id="29" name="椭圆 28"/>
            <p:cNvSpPr/>
            <p:nvPr/>
          </p:nvSpPr>
          <p:spPr bwMode="auto">
            <a:xfrm>
              <a:off x="748396" y="764271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0" name="Picture 4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06" y="856341"/>
              <a:ext cx="203362" cy="1166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3" name="组合 42"/>
          <p:cNvGrpSpPr/>
          <p:nvPr userDrawn="1"/>
        </p:nvGrpSpPr>
        <p:grpSpPr bwMode="auto">
          <a:xfrm>
            <a:off x="2351618" y="5854700"/>
            <a:ext cx="400049" cy="400051"/>
            <a:chOff x="1365228" y="4292790"/>
            <a:chExt cx="300782" cy="300782"/>
          </a:xfrm>
        </p:grpSpPr>
        <p:sp>
          <p:nvSpPr>
            <p:cNvPr id="32" name="椭圆 31"/>
            <p:cNvSpPr/>
            <p:nvPr/>
          </p:nvSpPr>
          <p:spPr bwMode="auto">
            <a:xfrm>
              <a:off x="1365228" y="4292790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8" name="Picture 5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7391" y="4364115"/>
              <a:ext cx="196455" cy="1581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4" name="组合 1"/>
          <p:cNvGrpSpPr/>
          <p:nvPr userDrawn="1"/>
        </p:nvGrpSpPr>
        <p:grpSpPr bwMode="auto">
          <a:xfrm>
            <a:off x="1559985" y="3492500"/>
            <a:ext cx="400049" cy="400051"/>
            <a:chOff x="1169908" y="2618983"/>
            <a:chExt cx="300782" cy="300782"/>
          </a:xfrm>
        </p:grpSpPr>
        <p:sp>
          <p:nvSpPr>
            <p:cNvPr id="35" name="椭圆 34"/>
            <p:cNvSpPr/>
            <p:nvPr/>
          </p:nvSpPr>
          <p:spPr bwMode="auto">
            <a:xfrm>
              <a:off x="1169908" y="2618983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6" name="Picture 6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4531" y="2690308"/>
              <a:ext cx="211536" cy="181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5" name="组合 49"/>
          <p:cNvGrpSpPr/>
          <p:nvPr userDrawn="1"/>
        </p:nvGrpSpPr>
        <p:grpSpPr bwMode="auto">
          <a:xfrm>
            <a:off x="10375901" y="5395385"/>
            <a:ext cx="427567" cy="427567"/>
            <a:chOff x="7874758" y="4418464"/>
            <a:chExt cx="320722" cy="320722"/>
          </a:xfrm>
        </p:grpSpPr>
        <p:sp>
          <p:nvSpPr>
            <p:cNvPr id="38" name="椭圆 37"/>
            <p:cNvSpPr/>
            <p:nvPr/>
          </p:nvSpPr>
          <p:spPr bwMode="auto">
            <a:xfrm>
              <a:off x="7874758" y="4418464"/>
              <a:ext cx="320722" cy="32072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4" name="Picture 7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6542" y="4486356"/>
              <a:ext cx="237154" cy="184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46" name="Picture 9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234" y="2364318"/>
            <a:ext cx="169333" cy="18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47" name="组合 45"/>
          <p:cNvGrpSpPr/>
          <p:nvPr userDrawn="1"/>
        </p:nvGrpSpPr>
        <p:grpSpPr bwMode="auto">
          <a:xfrm>
            <a:off x="8818034" y="4578351"/>
            <a:ext cx="345017" cy="345016"/>
            <a:chOff x="8470946" y="4206098"/>
            <a:chExt cx="259071" cy="259071"/>
          </a:xfrm>
        </p:grpSpPr>
        <p:sp>
          <p:nvSpPr>
            <p:cNvPr id="42" name="椭圆 41"/>
            <p:cNvSpPr/>
            <p:nvPr/>
          </p:nvSpPr>
          <p:spPr bwMode="auto">
            <a:xfrm>
              <a:off x="8470946" y="4206098"/>
              <a:ext cx="259071" cy="259071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2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2" name="Picture 10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0841" y="4263524"/>
              <a:ext cx="145353" cy="144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8" name="组合 44"/>
          <p:cNvGrpSpPr/>
          <p:nvPr userDrawn="1"/>
        </p:nvGrpSpPr>
        <p:grpSpPr bwMode="auto">
          <a:xfrm>
            <a:off x="9745134" y="1217084"/>
            <a:ext cx="429684" cy="429683"/>
            <a:chOff x="7308304" y="912172"/>
            <a:chExt cx="323068" cy="323068"/>
          </a:xfrm>
        </p:grpSpPr>
        <p:sp>
          <p:nvSpPr>
            <p:cNvPr id="45" name="椭圆 44"/>
            <p:cNvSpPr/>
            <p:nvPr/>
          </p:nvSpPr>
          <p:spPr bwMode="auto">
            <a:xfrm>
              <a:off x="7308304" y="912172"/>
              <a:ext cx="323068" cy="32306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31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0" name="Picture 11"/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8238" y="989568"/>
              <a:ext cx="203200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3075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MH_Others_1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611967" y="2556933"/>
            <a:ext cx="859367" cy="3524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91440" tIns="45720" rIns="91440" bIns="4572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90204" pitchFamily="34" charset="0"/>
              <a:buNone/>
            </a:pPr>
            <a:r>
              <a:rPr lang="en-US" altLang="zh-CN" sz="48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Contents</a:t>
            </a:r>
            <a:endParaRPr lang="en-US" altLang="zh-CN" sz="48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MH_Others_2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2264834" y="1221318"/>
            <a:ext cx="1248833" cy="1246716"/>
          </a:xfrm>
          <a:prstGeom prst="ellipse">
            <a:avLst/>
          </a:prstGeom>
          <a:solidFill>
            <a:srgbClr val="404040"/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91440" tIns="45720" rIns="91440" bIns="180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9335"/>
              </a:lnSpc>
              <a:spcBef>
                <a:spcPct val="0"/>
              </a:spcBef>
              <a:buNone/>
              <a:defRPr/>
            </a:pPr>
            <a:r>
              <a:rPr lang="zh-CN" altLang="en-US" sz="5400" b="1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</a:t>
            </a:r>
            <a:endParaRPr lang="zh-CN" altLang="en-US" sz="5400" b="1" dirty="0">
              <a:solidFill>
                <a:srgbClr val="FFFFF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MH_Others_3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1775520" y="2346261"/>
            <a:ext cx="979155" cy="979155"/>
          </a:xfrm>
          <a:prstGeom prst="ellipse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90204" pitchFamily="34" charset="0"/>
              <a:buNone/>
              <a:defRPr/>
            </a:pPr>
            <a:r>
              <a:rPr lang="zh-CN" altLang="en-US" sz="5400" b="1" dirty="0">
                <a:ln w="3175">
                  <a:solidFill>
                    <a:srgbClr val="FFFFFF"/>
                  </a:solidFill>
                </a:ln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录</a:t>
            </a:r>
            <a:endParaRPr lang="zh-CN" altLang="en-US" sz="5400" b="1" dirty="0">
              <a:ln w="3175">
                <a:solidFill>
                  <a:srgbClr val="FFFFFF"/>
                </a:solidFill>
              </a:ln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3075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464051" y="1845734"/>
            <a:ext cx="0" cy="326390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/>
        </p:nvSpPr>
        <p:spPr>
          <a:xfrm>
            <a:off x="4415367" y="1797052"/>
            <a:ext cx="97367" cy="9524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2" name="椭圆 11"/>
          <p:cNvSpPr/>
          <p:nvPr userDrawn="1"/>
        </p:nvSpPr>
        <p:spPr>
          <a:xfrm>
            <a:off x="4415367" y="5109633"/>
            <a:ext cx="97367" cy="9525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4" name="标题占位符 1"/>
          <p:cNvSpPr txBox="1">
            <a:spLocks noChangeArrowheads="1"/>
          </p:cNvSpPr>
          <p:nvPr userDrawn="1"/>
        </p:nvSpPr>
        <p:spPr bwMode="auto">
          <a:xfrm>
            <a:off x="1390651" y="2565401"/>
            <a:ext cx="2294467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265" b="1" kern="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TW" altLang="zh-CN" sz="4265" b="1" kern="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占位符 1"/>
          <p:cNvSpPr txBox="1">
            <a:spLocks noChangeArrowheads="1"/>
          </p:cNvSpPr>
          <p:nvPr userDrawn="1"/>
        </p:nvSpPr>
        <p:spPr bwMode="auto">
          <a:xfrm>
            <a:off x="1678518" y="3431118"/>
            <a:ext cx="2821516" cy="68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>
              <a:defRPr/>
            </a:pPr>
            <a:r>
              <a:rPr lang="en-US" altLang="zh-CN" sz="32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endParaRPr lang="zh-TW" altLang="zh-CN" sz="32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8"/>
          <p:cNvGrpSpPr/>
          <p:nvPr userDrawn="1"/>
        </p:nvGrpSpPr>
        <p:grpSpPr bwMode="auto">
          <a:xfrm>
            <a:off x="658285" y="292101"/>
            <a:ext cx="122767" cy="419100"/>
            <a:chOff x="457200" y="427038"/>
            <a:chExt cx="127000" cy="431800"/>
          </a:xfrm>
        </p:grpSpPr>
        <p:sp>
          <p:nvSpPr>
            <p:cNvPr id="8" name="圆角矩形 1"/>
            <p:cNvSpPr>
              <a:spLocks noChangeArrowheads="1"/>
            </p:cNvSpPr>
            <p:nvPr/>
          </p:nvSpPr>
          <p:spPr bwMode="auto">
            <a:xfrm>
              <a:off x="457200" y="427038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  <p:sp>
          <p:nvSpPr>
            <p:cNvPr id="9" name="圆角矩形 23"/>
            <p:cNvSpPr>
              <a:spLocks noChangeArrowheads="1"/>
            </p:cNvSpPr>
            <p:nvPr/>
          </p:nvSpPr>
          <p:spPr bwMode="auto">
            <a:xfrm>
              <a:off x="457200" y="579695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Segoe UI" panose="020B0502040204020203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圆角矩形 24"/>
            <p:cNvSpPr>
              <a:spLocks noChangeArrowheads="1"/>
            </p:cNvSpPr>
            <p:nvPr/>
          </p:nvSpPr>
          <p:spPr bwMode="auto">
            <a:xfrm>
              <a:off x="457200" y="732351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</p:grpSp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52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2053" name="图片 1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9"/>
          <p:cNvGrpSpPr/>
          <p:nvPr userDrawn="1"/>
        </p:nvGrpSpPr>
        <p:grpSpPr bwMode="auto">
          <a:xfrm>
            <a:off x="2592918" y="2423584"/>
            <a:ext cx="6864349" cy="1049867"/>
            <a:chOff x="1944836" y="1767215"/>
            <a:chExt cx="5147444" cy="787423"/>
          </a:xfrm>
        </p:grpSpPr>
        <p:pic>
          <p:nvPicPr>
            <p:cNvPr id="4099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1020" y="1767215"/>
              <a:ext cx="1907084" cy="787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9" name="直接连接符 8"/>
            <p:cNvCxnSpPr/>
            <p:nvPr/>
          </p:nvCxnSpPr>
          <p:spPr>
            <a:xfrm>
              <a:off x="1944836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436781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数据组合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熟练使用</a:t>
            </a:r>
            <a:r>
              <a:rPr lang="en-US" altLang="zh-CN" dirty="0"/>
              <a:t>Pandas</a:t>
            </a:r>
            <a:r>
              <a:rPr lang="zh-CN" altLang="en-US" dirty="0"/>
              <a:t>连接数据</a:t>
            </a:r>
            <a:endParaRPr lang="zh-CN" altLang="en-US" dirty="0"/>
          </a:p>
          <a:p>
            <a:r>
              <a:rPr lang="zh-CN" altLang="en-US" dirty="0"/>
              <a:t>熟练使用</a:t>
            </a:r>
            <a:r>
              <a:rPr lang="en-US" altLang="zh-CN" dirty="0"/>
              <a:t>Pandas</a:t>
            </a:r>
            <a:r>
              <a:rPr lang="zh-CN" altLang="en-US" dirty="0"/>
              <a:t>合并数据集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简介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连接数据</a:t>
            </a:r>
            <a:endParaRPr lang="zh-CN" altLang="en-US" b="1" dirty="0"/>
          </a:p>
          <a:p>
            <a:r>
              <a:rPr lang="zh-CN" altLang="en-US" b="1" dirty="0"/>
              <a:t>合并多个数据集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chemeClr val="tx1"/>
                </a:solidFill>
              </a:rPr>
              <a:t>简介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数据清理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在动手进行数据分析工作之前，需要进行数据清理工作</a:t>
            </a:r>
            <a:r>
              <a:rPr lang="en-US" altLang="zh-CN" dirty="0"/>
              <a:t>,</a:t>
            </a:r>
            <a:r>
              <a:rPr lang="zh-CN" altLang="en-US" dirty="0"/>
              <a:t>数据清理的主要目标是</a:t>
            </a:r>
            <a:r>
              <a:rPr lang="en-US" altLang="zh-CN" dirty="0"/>
              <a:t>:</a:t>
            </a:r>
            <a:endParaRPr lang="en-US" altLang="zh-CN" dirty="0"/>
          </a:p>
          <a:p>
            <a:r>
              <a:rPr lang="zh-CN" altLang="en-US" dirty="0"/>
              <a:t>每个观测值成一行</a:t>
            </a:r>
            <a:endParaRPr lang="zh-CN" altLang="en-US" dirty="0"/>
          </a:p>
          <a:p>
            <a:r>
              <a:rPr lang="zh-CN" altLang="en-US" dirty="0"/>
              <a:t>每个变量成一列</a:t>
            </a:r>
            <a:endParaRPr lang="zh-CN" altLang="en-US" dirty="0"/>
          </a:p>
          <a:p>
            <a:r>
              <a:rPr lang="zh-CN" altLang="en-US" dirty="0"/>
              <a:t>每种观测单元构成一张表格</a:t>
            </a:r>
            <a:endParaRPr lang="en-US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数据整理好之后，可能需要多张表格组合到一起才能进行某些问题的分析</a:t>
            </a:r>
            <a:endParaRPr lang="zh-CN" altLang="en-US" dirty="0"/>
          </a:p>
          <a:p>
            <a:r>
              <a:rPr lang="zh-CN" altLang="en-US" b="0" dirty="0"/>
              <a:t>一张表保存公司名称，另一张表保存股票价格</a:t>
            </a:r>
            <a:endParaRPr lang="zh-CN" altLang="en-US" b="0" dirty="0"/>
          </a:p>
          <a:p>
            <a:r>
              <a:rPr lang="zh-CN" altLang="en-US" b="0" dirty="0"/>
              <a:t>单个数据集也可能会分割成多个，比如时间序列数据，每个日期可能在一个单独的文件中</a:t>
            </a:r>
            <a:endParaRPr lang="zh-CN" altLang="en-US" b="0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/>
              <a:t>简介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连接数据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合并多个数据集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连接数据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 连接介绍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组合数据的一种方法是使用“连接”（</a:t>
            </a:r>
            <a:r>
              <a:rPr lang="en-US" altLang="zh-CN" dirty="0"/>
              <a:t>concatenation)</a:t>
            </a:r>
            <a:endParaRPr lang="en-US" altLang="zh-CN" dirty="0"/>
          </a:p>
          <a:p>
            <a:r>
              <a:rPr lang="zh-CN" altLang="en-US" b="0" dirty="0"/>
              <a:t>连接是指把某行或某列追加到数据中</a:t>
            </a:r>
            <a:endParaRPr lang="zh-CN" altLang="en-US" b="0" dirty="0"/>
          </a:p>
          <a:p>
            <a:r>
              <a:rPr lang="zh-CN" altLang="en-US" b="0" dirty="0"/>
              <a:t>数据被分成了多份可以使用连接把数据拼接起来</a:t>
            </a:r>
            <a:endParaRPr lang="zh-CN" altLang="en-US" b="0" dirty="0"/>
          </a:p>
          <a:p>
            <a:r>
              <a:rPr lang="zh-CN" altLang="en-US" b="0" dirty="0"/>
              <a:t>把计算的结果追加到现有数据集，可以使用连接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连接数据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添加行</a:t>
            </a:r>
            <a:r>
              <a:rPr lang="en-US" altLang="zh-CN" dirty="0"/>
              <a:t>-</a:t>
            </a:r>
            <a:r>
              <a:rPr lang="en-GB" altLang="zh-CN" dirty="0"/>
              <a:t>DataFrame</a:t>
            </a:r>
            <a:r>
              <a:rPr lang="zh-CN" altLang="en-US" dirty="0"/>
              <a:t>连接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加载多份数据，并连接起来</a:t>
            </a:r>
            <a:endParaRPr lang="en-US" altLang="zh-CN" dirty="0"/>
          </a:p>
          <a:p>
            <a:r>
              <a:rPr lang="en-GB" altLang="zh-CN" dirty="0"/>
              <a:t>import pandas as </a:t>
            </a:r>
            <a:r>
              <a:rPr lang="en-GB" altLang="zh-CN" dirty="0" err="1"/>
              <a:t>pd</a:t>
            </a:r>
            <a:endParaRPr lang="en-GB" altLang="zh-CN" dirty="0"/>
          </a:p>
          <a:p>
            <a:r>
              <a:rPr lang="en-GB" altLang="zh-CN" dirty="0"/>
              <a:t>df1 = </a:t>
            </a:r>
            <a:r>
              <a:rPr lang="en-GB" altLang="zh-CN" dirty="0" err="1"/>
              <a:t>pd.read_csv</a:t>
            </a:r>
            <a:r>
              <a:rPr lang="en-GB" altLang="zh-CN" dirty="0"/>
              <a:t>('data/concat_1.csv')</a:t>
            </a:r>
            <a:endParaRPr lang="en-GB" altLang="zh-CN" dirty="0"/>
          </a:p>
          <a:p>
            <a:r>
              <a:rPr lang="en-GB" altLang="zh-CN" dirty="0"/>
              <a:t>df2 = </a:t>
            </a:r>
            <a:r>
              <a:rPr lang="en-GB" altLang="zh-CN" dirty="0" err="1"/>
              <a:t>pd.read_csv</a:t>
            </a:r>
            <a:r>
              <a:rPr lang="en-GB" altLang="zh-CN" dirty="0"/>
              <a:t>('data/concat_2.csv')</a:t>
            </a:r>
            <a:endParaRPr lang="en-GB" altLang="zh-CN" dirty="0"/>
          </a:p>
          <a:p>
            <a:r>
              <a:rPr lang="en-GB" altLang="zh-CN" dirty="0"/>
              <a:t>df3 = </a:t>
            </a:r>
            <a:r>
              <a:rPr lang="en-GB" altLang="zh-CN" dirty="0" err="1"/>
              <a:t>pd.read_csv</a:t>
            </a:r>
            <a:r>
              <a:rPr lang="en-GB" altLang="zh-CN" dirty="0"/>
              <a:t>('data/concat_3.csv</a:t>
            </a:r>
            <a:r>
              <a:rPr lang="en-GB" altLang="zh-CN" dirty="0">
                <a:sym typeface="+mn-ea"/>
              </a:rPr>
              <a:t>'</a:t>
            </a:r>
            <a:r>
              <a:rPr lang="en-GB" altLang="zh-CN" dirty="0"/>
              <a:t>)</a:t>
            </a:r>
            <a:endParaRPr lang="en-GB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可以使用</a:t>
            </a:r>
            <a:r>
              <a:rPr lang="en-US" altLang="zh-CN" dirty="0" err="1"/>
              <a:t>concat</a:t>
            </a:r>
            <a:r>
              <a:rPr lang="zh-CN" altLang="en-US" dirty="0"/>
              <a:t>函数将上面</a:t>
            </a:r>
            <a:r>
              <a:rPr lang="en-US" altLang="zh-CN" dirty="0"/>
              <a:t>3</a:t>
            </a:r>
            <a:r>
              <a:rPr lang="zh-CN" altLang="en-US" dirty="0"/>
              <a:t>个</a:t>
            </a:r>
            <a:r>
              <a:rPr lang="en-US" altLang="zh-CN" dirty="0"/>
              <a:t>DataFrame</a:t>
            </a:r>
            <a:r>
              <a:rPr lang="zh-CN" altLang="en-US" dirty="0"/>
              <a:t>连接起来</a:t>
            </a:r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 需将</a:t>
            </a:r>
            <a:r>
              <a:rPr lang="en-US" altLang="zh-CN" dirty="0"/>
              <a:t>3</a:t>
            </a:r>
            <a:r>
              <a:rPr lang="zh-CN" altLang="en-US" dirty="0"/>
              <a:t>个</a:t>
            </a:r>
            <a:r>
              <a:rPr lang="en-US" altLang="zh-CN" dirty="0"/>
              <a:t>DataFrame</a:t>
            </a:r>
            <a:r>
              <a:rPr lang="zh-CN" altLang="en-US" dirty="0"/>
              <a:t>放到同一个列表中</a:t>
            </a:r>
            <a:endParaRPr lang="en-US" altLang="zh-CN" dirty="0"/>
          </a:p>
          <a:p>
            <a:r>
              <a:rPr lang="en-GB" altLang="zh-CN" dirty="0" err="1"/>
              <a:t>row_concat</a:t>
            </a:r>
            <a:r>
              <a:rPr lang="en-GB" altLang="zh-CN" dirty="0"/>
              <a:t> = </a:t>
            </a:r>
            <a:r>
              <a:rPr lang="en-GB" altLang="zh-CN" dirty="0" err="1"/>
              <a:t>pd.concat</a:t>
            </a:r>
            <a:r>
              <a:rPr lang="en-GB" altLang="zh-CN" dirty="0"/>
              <a:t>([df1,df2,df3])</a:t>
            </a:r>
            <a:endParaRPr lang="en-GB" altLang="zh-CN" b="0" dirty="0"/>
          </a:p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通过 </a:t>
            </a:r>
            <a:r>
              <a:rPr lang="en-US" altLang="zh-CN" dirty="0" err="1"/>
              <a:t>iloc</a:t>
            </a:r>
            <a:r>
              <a:rPr lang="en-US" altLang="zh-CN" dirty="0"/>
              <a:t> ,</a:t>
            </a:r>
            <a:r>
              <a:rPr lang="en-US" altLang="zh-CN" dirty="0" err="1"/>
              <a:t>loc</a:t>
            </a:r>
            <a:r>
              <a:rPr lang="zh-CN" altLang="en-US" dirty="0"/>
              <a:t>等方法取出连接后的数据的子集</a:t>
            </a:r>
            <a:endParaRPr lang="en-US" altLang="zh-CN" dirty="0"/>
          </a:p>
          <a:p>
            <a:r>
              <a:rPr lang="en-GB" altLang="zh-CN" dirty="0" err="1"/>
              <a:t>row_concat.iloc</a:t>
            </a:r>
            <a:r>
              <a:rPr lang="en-GB" altLang="zh-CN" dirty="0"/>
              <a:t>[3,]</a:t>
            </a:r>
            <a:endParaRPr lang="en-GB" altLang="zh-CN" dirty="0"/>
          </a:p>
          <a:p>
            <a:r>
              <a:rPr lang="en-GB" altLang="zh-CN" dirty="0" err="1"/>
              <a:t>row_concat.loc</a:t>
            </a:r>
            <a:r>
              <a:rPr lang="en-GB" altLang="zh-CN" dirty="0"/>
              <a:t>[3,]</a:t>
            </a:r>
            <a:endParaRPr lang="zh-CN" altLang="en-US" b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419350"/>
            <a:ext cx="1905000" cy="2387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5513705"/>
            <a:ext cx="2736850" cy="10414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285" y="5412105"/>
            <a:ext cx="182245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连接数据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添加行</a:t>
            </a:r>
            <a:r>
              <a:rPr lang="en-US" altLang="zh-CN" dirty="0"/>
              <a:t>-</a:t>
            </a:r>
            <a:r>
              <a:rPr lang="en-GB" altLang="zh-CN" dirty="0"/>
              <a:t>DataFrame</a:t>
            </a:r>
            <a:r>
              <a:rPr lang="zh-CN" altLang="en-US" dirty="0"/>
              <a:t>和</a:t>
            </a:r>
            <a:r>
              <a:rPr lang="en-GB" altLang="zh-CN" dirty="0"/>
              <a:t>Series</a:t>
            </a:r>
            <a:r>
              <a:rPr lang="zh-CN" altLang="en-GB" dirty="0"/>
              <a:t>连接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2633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使用</a:t>
            </a:r>
            <a:r>
              <a:rPr lang="en-GB" altLang="zh-CN" dirty="0" err="1"/>
              <a:t>concat</a:t>
            </a:r>
            <a:r>
              <a:rPr lang="zh-CN" altLang="en-US" dirty="0"/>
              <a:t>连接</a:t>
            </a:r>
            <a:r>
              <a:rPr lang="en-GB" altLang="zh-CN" dirty="0"/>
              <a:t>DataFrame</a:t>
            </a:r>
            <a:r>
              <a:rPr lang="zh-CN" altLang="en-US" dirty="0"/>
              <a:t>和</a:t>
            </a:r>
            <a:r>
              <a:rPr lang="en-GB" altLang="zh-CN" dirty="0"/>
              <a:t>Series</a:t>
            </a:r>
            <a:endParaRPr lang="en-GB" altLang="zh-CN" dirty="0"/>
          </a:p>
          <a:p>
            <a:r>
              <a:rPr lang="en-GB" altLang="zh-CN" dirty="0" err="1"/>
              <a:t>new_series</a:t>
            </a:r>
            <a:r>
              <a:rPr lang="en-GB" altLang="zh-CN" dirty="0"/>
              <a:t> = </a:t>
            </a:r>
            <a:r>
              <a:rPr lang="en-GB" altLang="zh-CN" dirty="0" err="1"/>
              <a:t>pd.Series</a:t>
            </a:r>
            <a:r>
              <a:rPr lang="en-GB" altLang="zh-CN" dirty="0"/>
              <a:t>(['n1','n2','n3','n4'])</a:t>
            </a:r>
            <a:endParaRPr lang="en-GB" altLang="zh-CN" dirty="0"/>
          </a:p>
          <a:p>
            <a:r>
              <a:rPr lang="en-GB" altLang="zh-CN" dirty="0"/>
              <a:t>print(</a:t>
            </a:r>
            <a:r>
              <a:rPr lang="en-GB" altLang="zh-CN" dirty="0" err="1"/>
              <a:t>new_series</a:t>
            </a:r>
            <a:r>
              <a:rPr lang="en-GB" altLang="zh-CN" dirty="0"/>
              <a:t>)</a:t>
            </a:r>
            <a:endParaRPr lang="en-GB" altLang="zh-CN" dirty="0"/>
          </a:p>
          <a:p>
            <a:r>
              <a:rPr lang="en-GB" altLang="zh-CN" dirty="0" err="1"/>
              <a:t>pd.concat</a:t>
            </a:r>
            <a:r>
              <a:rPr lang="en-GB" altLang="zh-CN" dirty="0"/>
              <a:t>([df1,new_series])</a:t>
            </a:r>
            <a:endParaRPr lang="en-GB" altLang="zh-CN" dirty="0"/>
          </a:p>
          <a:p>
            <a:r>
              <a:rPr lang="zh-CN" altLang="en-US" dirty="0"/>
              <a:t>由于</a:t>
            </a:r>
            <a:r>
              <a:rPr lang="en-GB" altLang="zh-CN" dirty="0"/>
              <a:t>Series</a:t>
            </a:r>
            <a:r>
              <a:rPr lang="zh-CN" altLang="en-US" dirty="0"/>
              <a:t>是一列数据，</a:t>
            </a:r>
            <a:r>
              <a:rPr lang="en-GB" altLang="zh-CN" dirty="0" err="1"/>
              <a:t>concat</a:t>
            </a:r>
            <a:r>
              <a:rPr lang="zh-CN" altLang="en-US" dirty="0"/>
              <a:t>方法默认是添加行，但是</a:t>
            </a:r>
            <a:r>
              <a:rPr lang="en-GB" altLang="zh-CN" dirty="0"/>
              <a:t>Series</a:t>
            </a:r>
            <a:r>
              <a:rPr lang="zh-CN" altLang="en-US" dirty="0"/>
              <a:t>数据没有列索引，</a:t>
            </a:r>
            <a:endParaRPr lang="en-US" altLang="zh-CN" dirty="0"/>
          </a:p>
          <a:p>
            <a:r>
              <a:rPr lang="zh-CN" altLang="en-US" dirty="0"/>
              <a:t>所以添加了一个新列，缺失的数据用</a:t>
            </a:r>
            <a:r>
              <a:rPr lang="en-GB" altLang="zh-CN" dirty="0" err="1"/>
              <a:t>NaN</a:t>
            </a:r>
            <a:r>
              <a:rPr lang="zh-CN" altLang="en-US" dirty="0"/>
              <a:t>填充</a:t>
            </a:r>
            <a:endParaRPr lang="en-US" altLang="zh-CN" dirty="0"/>
          </a:p>
          <a:p>
            <a:r>
              <a:rPr lang="en-GB" altLang="zh-CN" dirty="0" err="1"/>
              <a:t>NaN</a:t>
            </a:r>
            <a:r>
              <a:rPr lang="zh-CN" altLang="en-US" dirty="0"/>
              <a:t>是</a:t>
            </a:r>
            <a:r>
              <a:rPr lang="en-GB" altLang="zh-CN" dirty="0"/>
              <a:t>Python</a:t>
            </a:r>
            <a:r>
              <a:rPr lang="zh-CN" altLang="en-US" dirty="0"/>
              <a:t>用于表示“缺失值”的方法</a:t>
            </a:r>
            <a:endParaRPr lang="en-US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如果想将</a:t>
            </a:r>
            <a:r>
              <a:rPr lang="en-US" altLang="zh-CN" dirty="0"/>
              <a:t>['</a:t>
            </a:r>
            <a:r>
              <a:rPr lang="en-GB" altLang="zh-CN" dirty="0"/>
              <a:t>n1','n2','n3','n4']</a:t>
            </a:r>
            <a:r>
              <a:rPr lang="zh-CN" altLang="en-US" dirty="0"/>
              <a:t>作为行连接到</a:t>
            </a:r>
            <a:r>
              <a:rPr lang="en-GB" altLang="zh-CN" dirty="0"/>
              <a:t>df1</a:t>
            </a:r>
            <a:r>
              <a:rPr lang="zh-CN" altLang="en-US" dirty="0"/>
              <a:t>后，可以创建</a:t>
            </a:r>
            <a:r>
              <a:rPr lang="en-GB" altLang="zh-CN" dirty="0"/>
              <a:t>DataFrame</a:t>
            </a:r>
            <a:r>
              <a:rPr lang="zh-CN" altLang="en-US" dirty="0"/>
              <a:t>并指定列名</a:t>
            </a:r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注意</a:t>
            </a:r>
            <a:r>
              <a:rPr lang="en-US" altLang="zh-CN" dirty="0"/>
              <a:t>[['</a:t>
            </a:r>
            <a:r>
              <a:rPr lang="en-GB" altLang="zh-CN" dirty="0"/>
              <a:t>n1','n2','n3','n4']] </a:t>
            </a:r>
            <a:r>
              <a:rPr lang="zh-CN" altLang="en-US" dirty="0"/>
              <a:t>是两个中括号</a:t>
            </a:r>
            <a:endParaRPr lang="zh-CN" altLang="en-US" dirty="0"/>
          </a:p>
          <a:p>
            <a:r>
              <a:rPr lang="en-GB" altLang="zh-CN" dirty="0" err="1"/>
              <a:t>new_row_df</a:t>
            </a:r>
            <a:r>
              <a:rPr lang="en-GB" altLang="zh-CN" dirty="0"/>
              <a:t> = </a:t>
            </a:r>
            <a:r>
              <a:rPr lang="en-GB" altLang="zh-CN" dirty="0" err="1"/>
              <a:t>pd.DataFrame</a:t>
            </a:r>
            <a:r>
              <a:rPr lang="en-GB" altLang="zh-CN" dirty="0"/>
              <a:t>([['n1','n2','n3','n4']],columns=['A','B','C','D'])</a:t>
            </a:r>
            <a:endParaRPr lang="en-GB" altLang="zh-CN" dirty="0"/>
          </a:p>
          <a:p>
            <a:r>
              <a:rPr lang="en-GB" altLang="zh-CN" dirty="0" err="1"/>
              <a:t>pd.concat</a:t>
            </a:r>
            <a:r>
              <a:rPr lang="en-GB" altLang="zh-CN" dirty="0"/>
              <a:t>([df1,new_row_df])</a:t>
            </a:r>
            <a:endParaRPr lang="zh-CN" altLang="en-US" b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8820" y="1006475"/>
            <a:ext cx="2330450" cy="24447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5003800"/>
            <a:ext cx="1530350" cy="1663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连接数据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添加行</a:t>
            </a:r>
            <a:r>
              <a:rPr lang="en-US" altLang="zh-CN" dirty="0"/>
              <a:t>-append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74599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dirty="0" err="1"/>
              <a:t>concat</a:t>
            </a:r>
            <a:r>
              <a:rPr lang="zh-CN" altLang="en-US" dirty="0"/>
              <a:t>可以连接多个对象，如果只需要向现有</a:t>
            </a:r>
            <a:r>
              <a:rPr lang="en-US" altLang="zh-CN" dirty="0"/>
              <a:t>DataFrame</a:t>
            </a:r>
            <a:r>
              <a:rPr lang="zh-CN" altLang="en-US" dirty="0"/>
              <a:t>追加一个对象，可以通过</a:t>
            </a:r>
            <a:r>
              <a:rPr lang="en-US" altLang="zh-CN" dirty="0"/>
              <a:t>append</a:t>
            </a:r>
            <a:r>
              <a:rPr lang="zh-CN" altLang="en-US" dirty="0"/>
              <a:t>函数来实现</a:t>
            </a:r>
            <a:endParaRPr lang="en-US" altLang="zh-CN" dirty="0"/>
          </a:p>
          <a:p>
            <a:r>
              <a:rPr lang="en-GB" altLang="zh-CN" dirty="0"/>
              <a:t>df1.append(df2)</a:t>
            </a:r>
            <a:endParaRPr lang="en-GB" altLang="zh-CN" dirty="0"/>
          </a:p>
          <a:p>
            <a:r>
              <a:rPr lang="en-GB" altLang="zh-CN" dirty="0"/>
              <a:t>df1.append(</a:t>
            </a:r>
            <a:r>
              <a:rPr lang="en-GB" altLang="zh-CN" dirty="0" err="1"/>
              <a:t>new_row_df</a:t>
            </a:r>
            <a:r>
              <a:rPr lang="en-GB" altLang="zh-CN" dirty="0"/>
              <a:t>)</a:t>
            </a:r>
            <a:endParaRPr lang="en-GB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使用</a:t>
            </a:r>
            <a:r>
              <a:rPr lang="en-GB" altLang="zh-CN" dirty="0"/>
              <a:t>Python</a:t>
            </a:r>
            <a:r>
              <a:rPr lang="zh-CN" altLang="en-US" dirty="0"/>
              <a:t>字典添加数据行</a:t>
            </a:r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 </a:t>
            </a:r>
            <a:r>
              <a:rPr lang="en-GB" altLang="zh-CN" dirty="0"/>
              <a:t>DataFrame</a:t>
            </a:r>
            <a:r>
              <a:rPr lang="zh-CN" altLang="en-US" dirty="0"/>
              <a:t>中</a:t>
            </a:r>
            <a:r>
              <a:rPr lang="en-GB" altLang="zh-CN" dirty="0"/>
              <a:t>append</a:t>
            </a:r>
            <a:r>
              <a:rPr lang="zh-CN" altLang="en-US" dirty="0"/>
              <a:t>一个字典的时候，必须传入</a:t>
            </a:r>
            <a:r>
              <a:rPr lang="en-GB" altLang="zh-CN" dirty="0" err="1"/>
              <a:t>ignore_index</a:t>
            </a:r>
            <a:r>
              <a:rPr lang="en-GB" altLang="zh-CN" dirty="0"/>
              <a:t> = True</a:t>
            </a:r>
            <a:endParaRPr lang="zh-CN" altLang="en-US" dirty="0"/>
          </a:p>
          <a:p>
            <a:r>
              <a:rPr lang="en-GB" altLang="zh-CN" dirty="0" err="1"/>
              <a:t>data_dict</a:t>
            </a:r>
            <a:r>
              <a:rPr lang="en-GB" altLang="zh-CN" dirty="0"/>
              <a:t> = {'A':'n1','B':'n2','C':'n3','D':'n4'}</a:t>
            </a:r>
            <a:endParaRPr lang="en-GB" altLang="zh-CN" dirty="0"/>
          </a:p>
          <a:p>
            <a:r>
              <a:rPr lang="en-GB" altLang="zh-CN" dirty="0"/>
              <a:t>df1.append(</a:t>
            </a:r>
            <a:r>
              <a:rPr lang="en-GB" altLang="zh-CN" dirty="0" err="1"/>
              <a:t>data_dict,ignore_index</a:t>
            </a:r>
            <a:r>
              <a:rPr lang="en-GB" altLang="zh-CN" dirty="0"/>
              <a:t>=True)</a:t>
            </a:r>
            <a:endParaRPr lang="zh-CN" altLang="en-US" b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2340" y="2220595"/>
            <a:ext cx="1581150" cy="22987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725" y="2220595"/>
            <a:ext cx="1568450" cy="1651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65" y="4707890"/>
            <a:ext cx="1466850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连接数据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2.5 </a:t>
            </a:r>
            <a:r>
              <a:rPr lang="zh-CN" altLang="en-US" dirty="0"/>
              <a:t>添加行</a:t>
            </a:r>
            <a:r>
              <a:rPr lang="en-US" altLang="zh-CN" dirty="0"/>
              <a:t>-</a:t>
            </a:r>
            <a:r>
              <a:rPr lang="zh-CN" altLang="en-US" dirty="0"/>
              <a:t>重置索引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如果是两个或者多个</a:t>
            </a:r>
            <a:r>
              <a:rPr lang="en-GB" altLang="zh-CN" dirty="0"/>
              <a:t>DataFrame</a:t>
            </a:r>
            <a:r>
              <a:rPr lang="zh-CN" altLang="en-US" dirty="0"/>
              <a:t>连接，可以通过</a:t>
            </a:r>
            <a:r>
              <a:rPr lang="en-GB" altLang="zh-CN" dirty="0" err="1"/>
              <a:t>ignore_index</a:t>
            </a:r>
            <a:r>
              <a:rPr lang="en-GB" altLang="zh-CN" dirty="0"/>
              <a:t> = True</a:t>
            </a:r>
            <a:r>
              <a:rPr lang="zh-CN" altLang="en-US" dirty="0"/>
              <a:t>参数，忽略后面</a:t>
            </a:r>
            <a:r>
              <a:rPr lang="en-GB" altLang="zh-CN" dirty="0"/>
              <a:t>DataFrame</a:t>
            </a:r>
            <a:r>
              <a:rPr lang="zh-CN" altLang="en-US" dirty="0"/>
              <a:t>的索引</a:t>
            </a:r>
            <a:endParaRPr lang="en-US" altLang="zh-CN" dirty="0"/>
          </a:p>
          <a:p>
            <a:r>
              <a:rPr lang="en-GB" altLang="zh-CN" dirty="0" err="1"/>
              <a:t>row_concat_ignore_index</a:t>
            </a:r>
            <a:r>
              <a:rPr lang="en-GB" altLang="zh-CN" dirty="0"/>
              <a:t> = </a:t>
            </a:r>
            <a:r>
              <a:rPr lang="en-GB" altLang="zh-CN" dirty="0" err="1"/>
              <a:t>pd.concat</a:t>
            </a:r>
            <a:r>
              <a:rPr lang="en-GB" altLang="zh-CN" dirty="0"/>
              <a:t>([df1,df2,df3],</a:t>
            </a:r>
            <a:r>
              <a:rPr lang="en-GB" altLang="zh-CN" dirty="0" err="1"/>
              <a:t>ignore_index</a:t>
            </a:r>
            <a:r>
              <a:rPr lang="en-GB" altLang="zh-CN" dirty="0"/>
              <a:t>=True)</a:t>
            </a:r>
            <a:endParaRPr lang="en-GB" altLang="zh-CN" dirty="0"/>
          </a:p>
          <a:p>
            <a:r>
              <a:rPr lang="en-GB" altLang="zh-CN" dirty="0"/>
              <a:t>print(</a:t>
            </a:r>
            <a:r>
              <a:rPr lang="en-GB" altLang="zh-CN" dirty="0" err="1"/>
              <a:t>row_concat_ignore_index</a:t>
            </a:r>
            <a:r>
              <a:rPr lang="en-GB" altLang="zh-CN" dirty="0"/>
              <a:t>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460" y="3062605"/>
            <a:ext cx="1835150" cy="2336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连接数据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2.6</a:t>
            </a:r>
            <a:r>
              <a:rPr lang="zh-CN" altLang="en-US" dirty="0"/>
              <a:t> 添加列</a:t>
            </a:r>
            <a:r>
              <a:rPr lang="en-US" altLang="zh-CN" dirty="0"/>
              <a:t>-</a:t>
            </a:r>
            <a:r>
              <a:rPr lang="en-US" altLang="zh-CN" dirty="0" err="1"/>
              <a:t>concat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使用</a:t>
            </a:r>
            <a:r>
              <a:rPr lang="en-US" altLang="zh-CN" dirty="0" err="1"/>
              <a:t>concat</a:t>
            </a:r>
            <a:r>
              <a:rPr lang="zh-CN" altLang="en-US" dirty="0"/>
              <a:t>函数添加列，与添加行的方法类似</a:t>
            </a:r>
            <a:endParaRPr lang="en-US" altLang="zh-CN" dirty="0"/>
          </a:p>
          <a:p>
            <a:r>
              <a:rPr lang="en-US" altLang="zh-CN" b="0" dirty="0"/>
              <a:t>#</a:t>
            </a:r>
            <a:r>
              <a:rPr lang="zh-CN" altLang="en-US" b="0" dirty="0"/>
              <a:t> </a:t>
            </a:r>
            <a:r>
              <a:rPr lang="zh-CN" altLang="en-US" dirty="0"/>
              <a:t>需要多传一个</a:t>
            </a:r>
            <a:r>
              <a:rPr lang="en-GB" altLang="zh-CN" dirty="0"/>
              <a:t>axis</a:t>
            </a:r>
            <a:r>
              <a:rPr lang="zh-CN" altLang="en-US" dirty="0"/>
              <a:t>参数 </a:t>
            </a:r>
            <a:r>
              <a:rPr lang="en-GB" altLang="zh-CN" dirty="0"/>
              <a:t>axis</a:t>
            </a:r>
            <a:r>
              <a:rPr lang="zh-CN" altLang="en-US" dirty="0"/>
              <a:t>的默认值是</a:t>
            </a:r>
            <a:r>
              <a:rPr lang="en-GB" altLang="zh-CN" dirty="0"/>
              <a:t>index </a:t>
            </a:r>
            <a:r>
              <a:rPr lang="zh-CN" altLang="en-US" dirty="0"/>
              <a:t>按行添加，传入参数 </a:t>
            </a:r>
            <a:r>
              <a:rPr lang="en-GB" altLang="zh-CN" dirty="0"/>
              <a:t>axis = </a:t>
            </a:r>
            <a:r>
              <a:rPr lang="en-GB" altLang="zh-CN" dirty="0">
                <a:sym typeface="+mn-ea"/>
              </a:rPr>
              <a:t>'</a:t>
            </a:r>
            <a:r>
              <a:rPr lang="en-US" altLang="en-GB" dirty="0">
                <a:sym typeface="+mn-ea"/>
              </a:rPr>
              <a:t>columns</a:t>
            </a:r>
            <a:r>
              <a:rPr lang="en-GB" altLang="zh-CN" dirty="0">
                <a:sym typeface="+mn-ea"/>
              </a:rPr>
              <a:t>’</a:t>
            </a:r>
            <a:r>
              <a:rPr lang="en-GB" altLang="zh-CN" dirty="0"/>
              <a:t> </a:t>
            </a:r>
            <a:r>
              <a:rPr lang="zh-CN" altLang="en-US" dirty="0"/>
              <a:t>即可按列添加</a:t>
            </a:r>
            <a:endParaRPr lang="en-US" altLang="zh-CN" dirty="0"/>
          </a:p>
          <a:p>
            <a:r>
              <a:rPr lang="en-GB" altLang="zh-CN" dirty="0" err="1"/>
              <a:t>col_concat</a:t>
            </a:r>
            <a:r>
              <a:rPr lang="en-GB" altLang="zh-CN" dirty="0"/>
              <a:t> = </a:t>
            </a:r>
            <a:r>
              <a:rPr lang="en-GB" altLang="zh-CN" dirty="0" err="1"/>
              <a:t>pd.concat</a:t>
            </a:r>
            <a:r>
              <a:rPr lang="en-GB" altLang="zh-CN" dirty="0"/>
              <a:t>([df1,df2,df3],axis=1)</a:t>
            </a:r>
            <a:endParaRPr lang="en-GB" altLang="zh-CN" dirty="0"/>
          </a:p>
          <a:p>
            <a:r>
              <a:rPr lang="en-GB" altLang="zh-CN" dirty="0"/>
              <a:t>print(</a:t>
            </a:r>
            <a:r>
              <a:rPr lang="en-GB" altLang="zh-CN" dirty="0" err="1"/>
              <a:t>col_concat</a:t>
            </a:r>
            <a:r>
              <a:rPr lang="en-GB" altLang="zh-CN" dirty="0"/>
              <a:t>)</a:t>
            </a:r>
            <a:endParaRPr lang="en-GB" altLang="zh-CN" dirty="0"/>
          </a:p>
          <a:p>
            <a:r>
              <a:rPr lang="en-US" altLang="zh-CN" b="0" dirty="0"/>
              <a:t>#</a:t>
            </a:r>
            <a:r>
              <a:rPr lang="zh-CN" altLang="en-US" dirty="0"/>
              <a:t>通过列名获取子集</a:t>
            </a:r>
            <a:endParaRPr lang="zh-CN" altLang="en-US" dirty="0"/>
          </a:p>
          <a:p>
            <a:r>
              <a:rPr lang="en-GB" altLang="zh-CN" dirty="0"/>
              <a:t>print(</a:t>
            </a:r>
            <a:r>
              <a:rPr lang="en-GB" altLang="zh-CN" dirty="0" err="1"/>
              <a:t>col_concat</a:t>
            </a:r>
            <a:r>
              <a:rPr lang="en-GB" altLang="zh-CN" dirty="0"/>
              <a:t>['A’])</a:t>
            </a:r>
            <a:endParaRPr lang="en-GB" altLang="zh-CN" dirty="0"/>
          </a:p>
          <a:p>
            <a:endParaRPr lang="en-GB" altLang="zh-CN" b="0" dirty="0"/>
          </a:p>
          <a:p>
            <a:endParaRPr lang="zh-CN" altLang="en-US" b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5210" y="3030220"/>
            <a:ext cx="4375150" cy="1092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15" y="4324985"/>
            <a:ext cx="1600200" cy="1092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连接数据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2.7</a:t>
            </a:r>
            <a:r>
              <a:rPr lang="zh-CN" altLang="en-US" dirty="0"/>
              <a:t> 添加列</a:t>
            </a:r>
            <a:r>
              <a:rPr lang="en-US" altLang="zh-CN" dirty="0"/>
              <a:t>-</a:t>
            </a:r>
            <a:r>
              <a:rPr lang="zh-CN" altLang="en-US" dirty="0"/>
              <a:t>通过</a:t>
            </a:r>
            <a:r>
              <a:rPr lang="en-US" altLang="zh-CN" dirty="0" err="1"/>
              <a:t>dataframe</a:t>
            </a:r>
            <a:r>
              <a:rPr lang="en-US" altLang="zh-CN" dirty="0"/>
              <a:t>['</a:t>
            </a:r>
            <a:r>
              <a:rPr lang="zh-CN" altLang="en-US" dirty="0"/>
              <a:t>列名</a:t>
            </a:r>
            <a:r>
              <a:rPr lang="en-US" altLang="zh-CN" dirty="0"/>
              <a:t>'] = ['</a:t>
            </a:r>
            <a:r>
              <a:rPr lang="zh-CN" altLang="en-US" dirty="0"/>
              <a:t>值</a:t>
            </a:r>
            <a:r>
              <a:rPr lang="en-US" altLang="zh-CN" dirty="0"/>
              <a:t>']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向</a:t>
            </a:r>
            <a:r>
              <a:rPr lang="en-GB" altLang="zh-CN" dirty="0"/>
              <a:t>DataFrame</a:t>
            </a:r>
            <a:r>
              <a:rPr lang="zh-CN" altLang="en-US" dirty="0"/>
              <a:t>添加一列，不需要调用函数，通过</a:t>
            </a:r>
            <a:r>
              <a:rPr lang="en-GB" altLang="zh-CN" dirty="0" err="1"/>
              <a:t>dataframe</a:t>
            </a:r>
            <a:r>
              <a:rPr lang="en-GB" altLang="zh-CN" dirty="0"/>
              <a:t>['</a:t>
            </a:r>
            <a:r>
              <a:rPr lang="zh-CN" altLang="en-US" dirty="0"/>
              <a:t>列名</a:t>
            </a:r>
            <a:r>
              <a:rPr lang="en-US" altLang="zh-CN" dirty="0"/>
              <a:t>'] = ['</a:t>
            </a:r>
            <a:r>
              <a:rPr lang="zh-CN" altLang="en-US" dirty="0"/>
              <a:t>值</a:t>
            </a:r>
            <a:r>
              <a:rPr lang="en-US" altLang="zh-CN" dirty="0"/>
              <a:t>'] </a:t>
            </a:r>
            <a:r>
              <a:rPr lang="zh-CN" altLang="en-US" dirty="0"/>
              <a:t>即可</a:t>
            </a:r>
            <a:endParaRPr lang="zh-CN" altLang="en-US" dirty="0"/>
          </a:p>
          <a:p>
            <a:r>
              <a:rPr lang="en-GB" altLang="zh-CN" dirty="0" err="1"/>
              <a:t>col_concat</a:t>
            </a:r>
            <a:r>
              <a:rPr lang="en-GB" altLang="zh-CN" dirty="0"/>
              <a:t>['</a:t>
            </a:r>
            <a:r>
              <a:rPr lang="en-GB" altLang="zh-CN" dirty="0" err="1"/>
              <a:t>new_col</a:t>
            </a:r>
            <a:r>
              <a:rPr lang="en-GB" altLang="zh-CN" dirty="0"/>
              <a:t>'] = ['n1','n2','n3','n4']</a:t>
            </a:r>
            <a:endParaRPr lang="en-GB" altLang="zh-CN" dirty="0"/>
          </a:p>
          <a:p>
            <a:r>
              <a:rPr lang="en-GB" altLang="zh-CN" dirty="0"/>
              <a:t>print(</a:t>
            </a:r>
            <a:r>
              <a:rPr lang="en-GB" altLang="zh-CN" dirty="0" err="1"/>
              <a:t>col_concat</a:t>
            </a:r>
            <a:r>
              <a:rPr lang="en-GB" altLang="zh-CN" dirty="0"/>
              <a:t>)</a:t>
            </a:r>
            <a:endParaRPr lang="en-GB" altLang="zh-CN" b="0" dirty="0"/>
          </a:p>
          <a:p>
            <a:endParaRPr lang="zh-CN" altLang="en-US" b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885" y="3229610"/>
            <a:ext cx="4673600" cy="10731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连接数据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2.8</a:t>
            </a:r>
            <a:r>
              <a:rPr lang="zh-CN" altLang="en-US" dirty="0"/>
              <a:t> 添加列</a:t>
            </a:r>
            <a:r>
              <a:rPr lang="en-US" altLang="zh-CN" dirty="0"/>
              <a:t>-</a:t>
            </a:r>
            <a:r>
              <a:rPr lang="zh-CN" altLang="en-US" dirty="0"/>
              <a:t>通过</a:t>
            </a:r>
            <a:r>
              <a:rPr lang="en-GB" altLang="zh-CN" dirty="0" err="1"/>
              <a:t>dataframe</a:t>
            </a:r>
            <a:r>
              <a:rPr lang="en-GB" altLang="zh-CN" dirty="0"/>
              <a:t>['</a:t>
            </a:r>
            <a:r>
              <a:rPr lang="zh-CN" altLang="en-US" dirty="0"/>
              <a:t>列名</a:t>
            </a:r>
            <a:r>
              <a:rPr lang="en-US" altLang="zh-CN" dirty="0"/>
              <a:t>'] = </a:t>
            </a:r>
            <a:r>
              <a:rPr lang="en-GB" altLang="zh-CN" dirty="0"/>
              <a:t>Series</a:t>
            </a:r>
            <a:r>
              <a:rPr lang="zh-CN" altLang="en-US" dirty="0"/>
              <a:t>对象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通过</a:t>
            </a:r>
            <a:r>
              <a:rPr lang="en-GB" altLang="zh-CN" dirty="0" err="1"/>
              <a:t>dataframe</a:t>
            </a:r>
            <a:r>
              <a:rPr lang="en-GB" altLang="zh-CN" dirty="0"/>
              <a:t>['</a:t>
            </a:r>
            <a:r>
              <a:rPr lang="zh-CN" altLang="en-US" dirty="0"/>
              <a:t>列名</a:t>
            </a:r>
            <a:r>
              <a:rPr lang="en-US" altLang="zh-CN" dirty="0"/>
              <a:t>'] = </a:t>
            </a:r>
            <a:r>
              <a:rPr lang="en-GB" altLang="zh-CN" dirty="0"/>
              <a:t>Series</a:t>
            </a:r>
            <a:r>
              <a:rPr lang="zh-CN" altLang="en-US" dirty="0"/>
              <a:t>对象 这种方式添加一列</a:t>
            </a:r>
            <a:endParaRPr lang="en-US" altLang="zh-CN" dirty="0"/>
          </a:p>
          <a:p>
            <a:r>
              <a:rPr lang="en-US" altLang="zh-CN" dirty="0"/>
              <a:t>col_concat['new_col_series'] = pd.Series(['n1','n2','n3','n4'])</a:t>
            </a:r>
            <a:endParaRPr lang="en-US" altLang="zh-CN" dirty="0"/>
          </a:p>
          <a:p>
            <a:r>
              <a:rPr lang="en-US" altLang="zh-CN" dirty="0"/>
              <a:t>col_concat</a:t>
            </a:r>
            <a:endParaRPr lang="zh-CN" altLang="en-US" b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305" y="3161665"/>
            <a:ext cx="5429250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连接数据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2.9</a:t>
            </a:r>
            <a:r>
              <a:rPr lang="zh-CN" altLang="en-US" dirty="0"/>
              <a:t> 添加列</a:t>
            </a:r>
            <a:r>
              <a:rPr lang="en-US" altLang="zh-CN" dirty="0"/>
              <a:t>-</a:t>
            </a:r>
            <a:r>
              <a:rPr lang="zh-CN" altLang="en-US" dirty="0"/>
              <a:t>重置索引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按列合并数据之后，可以重置列索引，获得有序索引</a:t>
            </a:r>
            <a:endParaRPr lang="en-US" altLang="zh-CN" dirty="0"/>
          </a:p>
          <a:p>
            <a:r>
              <a:rPr lang="en-GB" altLang="zh-CN" dirty="0" err="1"/>
              <a:t>pd.concat</a:t>
            </a:r>
            <a:r>
              <a:rPr lang="en-GB" altLang="zh-CN" dirty="0"/>
              <a:t>([df1,df2,df3],axis = 'columns',</a:t>
            </a:r>
            <a:r>
              <a:rPr lang="en-GB" altLang="zh-CN" dirty="0" err="1"/>
              <a:t>ignore_index</a:t>
            </a:r>
            <a:r>
              <a:rPr lang="en-GB" altLang="zh-CN" dirty="0"/>
              <a:t>=True)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965" y="2747010"/>
            <a:ext cx="3943350" cy="1511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连接数据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2.10 concat</a:t>
            </a:r>
            <a:r>
              <a:rPr dirty="0"/>
              <a:t>连接具有不同行列索引的数据</a:t>
            </a:r>
            <a:endParaRPr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88569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将上面例子中的数据集做调整</a:t>
            </a:r>
            <a:r>
              <a:rPr lang="en-US" altLang="zh-CN" dirty="0"/>
              <a:t>,</a:t>
            </a:r>
            <a:r>
              <a:rPr lang="zh-CN" altLang="en-US" dirty="0"/>
              <a:t>修改列名</a:t>
            </a:r>
            <a:endParaRPr lang="zh-CN" altLang="en-US" dirty="0"/>
          </a:p>
          <a:p>
            <a:pPr>
              <a:buFont typeface="+mj-lt"/>
            </a:pPr>
            <a:r>
              <a:rPr lang="en-US" altLang="zh-CN" dirty="0"/>
              <a:t>df1.columns = [</a:t>
            </a:r>
            <a:r>
              <a:rPr lang="en-US" altLang="zh-CN" dirty="0">
                <a:sym typeface="+mn-ea"/>
              </a:rPr>
              <a:t>'A','B','C','D'</a:t>
            </a:r>
            <a:r>
              <a:rPr lang="en-US" altLang="zh-CN" dirty="0"/>
              <a:t>]</a:t>
            </a:r>
            <a:endParaRPr lang="en-US" altLang="zh-CN" dirty="0"/>
          </a:p>
          <a:p>
            <a:pPr>
              <a:buFont typeface="+mj-lt"/>
            </a:pPr>
            <a:r>
              <a:rPr lang="en-US" altLang="zh-CN" dirty="0">
                <a:sym typeface="+mn-ea"/>
              </a:rPr>
              <a:t>df2.columns = ['E','F','G','H']</a:t>
            </a:r>
            <a:endParaRPr lang="en-US" altLang="zh-CN" dirty="0"/>
          </a:p>
          <a:p>
            <a:pPr>
              <a:buFont typeface="+mj-lt"/>
            </a:pPr>
            <a:r>
              <a:rPr lang="en-US" altLang="zh-CN" dirty="0">
                <a:sym typeface="+mn-ea"/>
              </a:rPr>
              <a:t>df3.columns = ['A','C','F','H']</a:t>
            </a:r>
            <a:endParaRPr lang="en-US" altLang="zh-CN" dirty="0"/>
          </a:p>
          <a:p>
            <a:pPr>
              <a:buFont typeface="+mj-lt"/>
            </a:pPr>
            <a:r>
              <a:rPr lang="en-US" altLang="zh-CN" dirty="0"/>
              <a:t>print(df1)</a:t>
            </a:r>
            <a:endParaRPr lang="en-US" altLang="zh-CN" dirty="0"/>
          </a:p>
          <a:p>
            <a:pPr>
              <a:buFont typeface="+mj-lt"/>
            </a:pPr>
            <a:r>
              <a:rPr lang="en-US" altLang="zh-CN" dirty="0"/>
              <a:t>print(df2)</a:t>
            </a:r>
            <a:endParaRPr lang="en-US" altLang="zh-CN" dirty="0"/>
          </a:p>
          <a:p>
            <a:pPr>
              <a:buFont typeface="+mj-lt"/>
            </a:pPr>
            <a:r>
              <a:rPr lang="en-US" altLang="zh-CN" dirty="0"/>
              <a:t>print(df3)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635" y="3613150"/>
            <a:ext cx="1885950" cy="2692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连接数据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2.10 concat</a:t>
            </a:r>
            <a:r>
              <a:rPr dirty="0"/>
              <a:t>连接具有不同行列索引的数据</a:t>
            </a:r>
            <a:endParaRPr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26025"/>
          </a:xfrm>
        </p:spPr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使用</a:t>
            </a:r>
            <a:r>
              <a:rPr lang="en-US" altLang="zh-CN" dirty="0"/>
              <a:t>concat</a:t>
            </a:r>
            <a:r>
              <a:rPr lang="zh-CN" altLang="en-US" dirty="0"/>
              <a:t>直接连接</a:t>
            </a:r>
            <a:r>
              <a:rPr lang="en-US" altLang="zh-CN" dirty="0"/>
              <a:t>,</a:t>
            </a:r>
            <a:r>
              <a:rPr lang="zh-CN" altLang="en-US" dirty="0"/>
              <a:t>数据会堆叠在一起</a:t>
            </a:r>
            <a:r>
              <a:rPr lang="en-US" altLang="zh-CN" dirty="0"/>
              <a:t>,</a:t>
            </a:r>
            <a:r>
              <a:rPr lang="zh-CN" altLang="en-US" dirty="0"/>
              <a:t>列名相同的数据会合并到一列</a:t>
            </a:r>
            <a:r>
              <a:rPr lang="en-US" altLang="zh-CN" dirty="0"/>
              <a:t>,</a:t>
            </a:r>
            <a:r>
              <a:rPr lang="zh-CN" altLang="en-US" dirty="0"/>
              <a:t>合并后不存在的数据会用</a:t>
            </a:r>
            <a:r>
              <a:rPr lang="en-US" altLang="zh-CN" dirty="0"/>
              <a:t>NaN</a:t>
            </a:r>
            <a:r>
              <a:rPr lang="zh-CN" altLang="en-US" dirty="0"/>
              <a:t>填充</a:t>
            </a:r>
            <a:endParaRPr lang="zh-CN" altLang="en-US" dirty="0"/>
          </a:p>
          <a:p>
            <a:pPr>
              <a:buFont typeface="+mj-lt"/>
            </a:pPr>
            <a:r>
              <a:rPr lang="en-US" altLang="zh-CN" dirty="0"/>
              <a:t>row_concat = pd.concat([df1,df2,df3])</a:t>
            </a:r>
            <a:endParaRPr lang="en-US" altLang="zh-CN" dirty="0"/>
          </a:p>
          <a:p>
            <a:pPr>
              <a:buFont typeface="+mj-lt"/>
            </a:pPr>
            <a:r>
              <a:rPr lang="en-US" altLang="zh-CN" dirty="0"/>
              <a:t>print(row_concat)</a:t>
            </a:r>
            <a:endParaRPr lang="en-US" altLang="zh-CN" dirty="0"/>
          </a:p>
          <a:p>
            <a:pPr>
              <a:buFont typeface="+mj-lt"/>
            </a:pPr>
            <a:r>
              <a:rPr lang="en-US" altLang="zh-CN" dirty="0"/>
              <a:t>print(</a:t>
            </a:r>
            <a:r>
              <a:rPr lang="en-US" altLang="zh-CN" dirty="0">
                <a:sym typeface="+mn-ea"/>
              </a:rPr>
              <a:t>pd.concat([df1,df3]))</a:t>
            </a:r>
            <a:endParaRPr lang="en-US" altLang="zh-CN" dirty="0"/>
          </a:p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如果在连接的时候只想保留所有数据集中都有的数据</a:t>
            </a:r>
            <a:r>
              <a:rPr lang="en-US" altLang="zh-CN" dirty="0"/>
              <a:t>,</a:t>
            </a:r>
            <a:r>
              <a:rPr lang="zh-CN" altLang="en-US" dirty="0"/>
              <a:t>可以使用</a:t>
            </a:r>
            <a:r>
              <a:rPr lang="en-US" altLang="zh-CN" dirty="0"/>
              <a:t>join</a:t>
            </a:r>
            <a:r>
              <a:rPr lang="zh-CN" altLang="en-US" dirty="0"/>
              <a:t>参数</a:t>
            </a:r>
            <a:r>
              <a:rPr lang="en-US" altLang="zh-CN" dirty="0"/>
              <a:t>,</a:t>
            </a:r>
            <a:r>
              <a:rPr lang="zh-CN" altLang="en-US" dirty="0"/>
              <a:t>默认是</a:t>
            </a:r>
            <a:r>
              <a:rPr lang="en-US" altLang="zh-CN" dirty="0">
                <a:sym typeface="+mn-ea"/>
              </a:rPr>
              <a:t>'outer'</a:t>
            </a:r>
            <a:r>
              <a:rPr lang="zh-CN" altLang="en-US" dirty="0">
                <a:sym typeface="+mn-ea"/>
              </a:rPr>
              <a:t>保留所有数据</a:t>
            </a:r>
            <a:r>
              <a:rPr lang="en-US" altLang="zh-CN" dirty="0">
                <a:sym typeface="+mn-ea"/>
              </a:rPr>
              <a:t>,</a:t>
            </a:r>
            <a:endParaRPr lang="en-US" altLang="zh-CN" dirty="0">
              <a:sym typeface="+mn-ea"/>
            </a:endParaRPr>
          </a:p>
          <a:p>
            <a:pPr>
              <a:buFont typeface="+mj-lt"/>
            </a:pPr>
            <a:r>
              <a:rPr lang="zh-CN" altLang="en-US" dirty="0">
                <a:sym typeface="+mn-ea"/>
              </a:rPr>
              <a:t>如果设置为</a:t>
            </a:r>
            <a:r>
              <a:rPr lang="en-US" altLang="zh-CN" dirty="0">
                <a:sym typeface="+mn-ea"/>
              </a:rPr>
              <a:t>'inner'</a:t>
            </a:r>
            <a:r>
              <a:rPr lang="zh-CN" altLang="en-US" dirty="0">
                <a:sym typeface="+mn-ea"/>
              </a:rPr>
              <a:t>只保留数据中的共有部分</a:t>
            </a:r>
            <a:endParaRPr lang="zh-CN" altLang="en-US" dirty="0">
              <a:sym typeface="+mn-ea"/>
            </a:endParaRPr>
          </a:p>
          <a:p>
            <a:pPr>
              <a:buFont typeface="+mj-lt"/>
            </a:pPr>
            <a:r>
              <a:rPr lang="en-US" altLang="zh-CN" dirty="0">
                <a:sym typeface="+mn-ea"/>
              </a:rPr>
              <a:t>print(pd.concat([df1,df2,df3], join='inner'))</a:t>
            </a:r>
            <a:endParaRPr lang="en-US" altLang="zh-CN" dirty="0">
              <a:sym typeface="+mn-ea"/>
            </a:endParaRPr>
          </a:p>
          <a:p>
            <a:pPr>
              <a:buFont typeface="+mj-lt"/>
            </a:pPr>
            <a:r>
              <a:rPr lang="en-US" altLang="zh-CN" dirty="0">
                <a:sym typeface="+mn-ea"/>
              </a:rPr>
              <a:t>print(pd.concat([df1,df3], join='inner'))</a:t>
            </a:r>
            <a:endParaRPr lang="en-US" altLang="zh-CN" dirty="0">
              <a:sym typeface="+mn-ea"/>
            </a:endParaRPr>
          </a:p>
          <a:p>
            <a:pPr>
              <a:buFont typeface="+mj-lt"/>
            </a:pPr>
            <a:endParaRPr lang="en-US" altLang="zh-CN" dirty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8150" y="4300855"/>
            <a:ext cx="3378200" cy="704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" y="5005705"/>
            <a:ext cx="1460500" cy="16764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073275"/>
            <a:ext cx="3058795" cy="13798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1610" y="2100580"/>
            <a:ext cx="2533650" cy="13246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/>
              <a:t>简介</a:t>
            </a:r>
            <a:endParaRPr lang="zh-CN" altLang="en-US" b="1" dirty="0"/>
          </a:p>
          <a:p>
            <a:r>
              <a:rPr lang="zh-CN" altLang="en-US" b="1" dirty="0"/>
              <a:t>连接数据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合并多个数据集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合并多个数据集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在使用</a:t>
            </a:r>
            <a:r>
              <a:rPr lang="en-US" altLang="zh-CN" dirty="0" err="1"/>
              <a:t>concat</a:t>
            </a:r>
            <a:r>
              <a:rPr lang="zh-CN" altLang="en-US" dirty="0"/>
              <a:t>连接数据时，涉及到了参数</a:t>
            </a:r>
            <a:r>
              <a:rPr lang="en-US" altLang="zh-CN" dirty="0"/>
              <a:t>join</a:t>
            </a:r>
            <a:r>
              <a:rPr lang="zh-CN" altLang="en-US" dirty="0"/>
              <a:t>（</a:t>
            </a:r>
            <a:r>
              <a:rPr lang="en-US" altLang="zh-CN" dirty="0"/>
              <a:t>join = '</a:t>
            </a:r>
            <a:r>
              <a:rPr lang="en-US" altLang="zh-CN" dirty="0" err="1"/>
              <a:t>inner',join</a:t>
            </a:r>
            <a:r>
              <a:rPr lang="en-US" altLang="zh-CN" dirty="0"/>
              <a:t> = 'outer'</a:t>
            </a:r>
            <a:r>
              <a:rPr lang="zh-CN" altLang="en-US" dirty="0"/>
              <a:t>）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数据库中可以依据共有数据把两个或者多个数据表组合起来，即</a:t>
            </a:r>
            <a:r>
              <a:rPr lang="en-US" altLang="zh-CN" dirty="0"/>
              <a:t>join</a:t>
            </a:r>
            <a:r>
              <a:rPr lang="zh-CN" altLang="en-US" dirty="0"/>
              <a:t>操作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DataFrame </a:t>
            </a:r>
            <a:r>
              <a:rPr lang="zh-CN" altLang="en-US" dirty="0"/>
              <a:t>也可以实现类似数据库的</a:t>
            </a:r>
            <a:r>
              <a:rPr lang="en-US" altLang="zh-CN" dirty="0"/>
              <a:t>join</a:t>
            </a:r>
            <a:r>
              <a:rPr lang="zh-CN" altLang="en-US" dirty="0"/>
              <a:t>操作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Pandas</a:t>
            </a:r>
            <a:r>
              <a:rPr lang="zh-CN" altLang="en-US" dirty="0"/>
              <a:t>可以通过</a:t>
            </a:r>
            <a:r>
              <a:rPr lang="en-US" altLang="zh-CN" dirty="0" err="1"/>
              <a:t>pd.join</a:t>
            </a:r>
            <a:r>
              <a:rPr lang="zh-CN" altLang="en-US" dirty="0"/>
              <a:t>命令组合数据，也可以通过</a:t>
            </a:r>
            <a:r>
              <a:rPr lang="en-US" altLang="zh-CN" dirty="0" err="1"/>
              <a:t>pd.merge</a:t>
            </a:r>
            <a:r>
              <a:rPr lang="zh-CN" altLang="en-US" dirty="0"/>
              <a:t>命令组合数据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b="0" dirty="0"/>
              <a:t>merge</a:t>
            </a:r>
            <a:r>
              <a:rPr lang="zh-CN" altLang="en-US" b="0" dirty="0"/>
              <a:t>更灵活，如果想依据行索引来合并</a:t>
            </a:r>
            <a:r>
              <a:rPr lang="en-US" altLang="zh-CN" b="0" dirty="0"/>
              <a:t>DataFrame</a:t>
            </a:r>
            <a:r>
              <a:rPr lang="zh-CN" altLang="en-US" b="0" dirty="0"/>
              <a:t>可以考虑使用</a:t>
            </a:r>
            <a:r>
              <a:rPr lang="en-US" altLang="zh-CN" b="0" dirty="0"/>
              <a:t>join</a:t>
            </a:r>
            <a:r>
              <a:rPr lang="zh-CN" altLang="en-US" b="0" dirty="0"/>
              <a:t>函数</a:t>
            </a:r>
            <a:endParaRPr lang="zh-CN" altLang="en-US" b="0" dirty="0"/>
          </a:p>
          <a:p>
            <a:pPr marL="342900" indent="-342900">
              <a:buFont typeface="+mj-lt"/>
              <a:buAutoNum type="arabicPeriod"/>
            </a:pP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合并多个数据集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加载数据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4761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从数据库加载数据</a:t>
            </a:r>
            <a:endParaRPr lang="en-US" altLang="zh-CN" dirty="0"/>
          </a:p>
          <a:p>
            <a:r>
              <a:rPr lang="en-GB" altLang="zh-CN" dirty="0"/>
              <a:t>from </a:t>
            </a:r>
            <a:r>
              <a:rPr lang="en-GB" altLang="zh-CN" dirty="0" err="1"/>
              <a:t>sqlalchemy</a:t>
            </a:r>
            <a:r>
              <a:rPr lang="en-GB" altLang="zh-CN" dirty="0"/>
              <a:t> import </a:t>
            </a:r>
            <a:r>
              <a:rPr lang="en-GB" altLang="zh-CN" dirty="0" err="1"/>
              <a:t>create_engine</a:t>
            </a:r>
            <a:endParaRPr lang="en-GB" altLang="zh-CN" dirty="0"/>
          </a:p>
          <a:p>
            <a:r>
              <a:rPr lang="en-GB" altLang="zh-CN" dirty="0"/>
              <a:t>#</a:t>
            </a:r>
            <a:r>
              <a:rPr lang="zh-CN" altLang="en-US" dirty="0"/>
              <a:t>需要安装</a:t>
            </a:r>
            <a:r>
              <a:rPr lang="en-GB" altLang="zh-CN" dirty="0" err="1"/>
              <a:t>sqlalchemy</a:t>
            </a:r>
            <a:r>
              <a:rPr lang="en-GB" altLang="zh-CN" dirty="0"/>
              <a:t>  pip install </a:t>
            </a:r>
            <a:r>
              <a:rPr lang="en-GB" altLang="zh-CN" dirty="0" err="1"/>
              <a:t>sqlalchemy</a:t>
            </a:r>
            <a:endParaRPr lang="en-GB" altLang="zh-CN" dirty="0"/>
          </a:p>
          <a:p>
            <a:r>
              <a:rPr lang="en-GB" altLang="zh-CN" dirty="0"/>
              <a:t>engine = </a:t>
            </a:r>
            <a:r>
              <a:rPr lang="en-GB" altLang="zh-CN" dirty="0" err="1"/>
              <a:t>create_engine</a:t>
            </a:r>
            <a:r>
              <a:rPr lang="en-GB" altLang="zh-CN" dirty="0"/>
              <a:t>('</a:t>
            </a:r>
            <a:r>
              <a:rPr lang="en-GB" altLang="zh-CN" dirty="0" err="1"/>
              <a:t>sqlite</a:t>
            </a:r>
            <a:r>
              <a:rPr lang="en-GB" altLang="zh-CN" dirty="0"/>
              <a:t>:///data/</a:t>
            </a:r>
            <a:r>
              <a:rPr lang="en-GB" altLang="zh-CN" dirty="0" err="1"/>
              <a:t>chinook.db</a:t>
            </a:r>
            <a:r>
              <a:rPr lang="en-GB" altLang="zh-CN" dirty="0"/>
              <a:t>')</a:t>
            </a:r>
            <a:endParaRPr lang="en-GB" altLang="zh-CN" dirty="0"/>
          </a:p>
          <a:p>
            <a:r>
              <a:rPr lang="en-GB" altLang="zh-CN" dirty="0"/>
              <a:t>#</a:t>
            </a:r>
            <a:r>
              <a:rPr lang="zh-CN" altLang="en-US" dirty="0"/>
              <a:t>连接数据库</a:t>
            </a:r>
            <a:endParaRPr lang="zh-CN" altLang="en-US" dirty="0"/>
          </a:p>
          <a:p>
            <a:r>
              <a:rPr lang="en-GB" altLang="zh-CN" dirty="0"/>
              <a:t>tracks = </a:t>
            </a:r>
            <a:r>
              <a:rPr lang="en-GB" altLang="zh-CN" dirty="0" err="1"/>
              <a:t>pd.read_sql_table</a:t>
            </a:r>
            <a:r>
              <a:rPr lang="en-GB" altLang="zh-CN" dirty="0"/>
              <a:t>('tracks', engine)</a:t>
            </a:r>
            <a:endParaRPr lang="en-GB" altLang="zh-CN" dirty="0"/>
          </a:p>
          <a:p>
            <a:r>
              <a:rPr lang="en-GB" altLang="zh-CN" dirty="0" err="1"/>
              <a:t>tracks.head</a:t>
            </a:r>
            <a:r>
              <a:rPr lang="en-GB" altLang="zh-CN" dirty="0"/>
              <a:t>()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4598035"/>
            <a:ext cx="10464800" cy="21209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合并多个数据集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加载数据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10785"/>
          </a:xfrm>
        </p:spPr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en-GB" altLang="zh-CN" dirty="0" err="1"/>
              <a:t>read_sql_table</a:t>
            </a:r>
            <a:r>
              <a:rPr lang="zh-CN" altLang="en-US" dirty="0"/>
              <a:t>函数</a:t>
            </a:r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从数据库中读取表，第一个参数是表名，第二个参数是数据库连接对象</a:t>
            </a:r>
            <a:endParaRPr lang="en-US" altLang="zh-CN" dirty="0"/>
          </a:p>
          <a:p>
            <a:r>
              <a:rPr lang="en-US" altLang="zh-CN" dirty="0"/>
              <a:t>genres = </a:t>
            </a:r>
            <a:r>
              <a:rPr lang="en-US" altLang="zh-CN" dirty="0" err="1"/>
              <a:t>pd.read_sql_table</a:t>
            </a:r>
            <a:r>
              <a:rPr lang="en-US" altLang="zh-CN" dirty="0"/>
              <a:t>('genres', engine)</a:t>
            </a:r>
            <a:endParaRPr lang="en-US" altLang="zh-CN" dirty="0"/>
          </a:p>
          <a:p>
            <a:r>
              <a:rPr lang="en-US" altLang="zh-CN" dirty="0"/>
              <a:t>print(genres)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2370" y="3130550"/>
            <a:ext cx="2578100" cy="34436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合并多个数据集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一对一合并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最简单的合并只涉及两个</a:t>
            </a:r>
            <a:r>
              <a:rPr lang="en-US" altLang="zh-CN" dirty="0"/>
              <a:t>DataFrame——</a:t>
            </a:r>
            <a:r>
              <a:rPr lang="zh-CN" altLang="en-US" dirty="0"/>
              <a:t>把一列与另一列连接，且要连接的列不含任何重复值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先从</a:t>
            </a:r>
            <a:r>
              <a:rPr lang="en-GB" altLang="zh-CN" dirty="0"/>
              <a:t>tracks</a:t>
            </a:r>
            <a:r>
              <a:rPr lang="zh-CN" altLang="en-US" dirty="0"/>
              <a:t>中提取部分数据，使其不含重复的</a:t>
            </a:r>
            <a:r>
              <a:rPr lang="en-US" altLang="zh-CN" dirty="0"/>
              <a:t>'</a:t>
            </a:r>
            <a:r>
              <a:rPr lang="en-GB" altLang="zh-CN" dirty="0" err="1"/>
              <a:t>GenreId</a:t>
            </a:r>
            <a:r>
              <a:rPr lang="en-GB" altLang="zh-CN" dirty="0"/>
              <a:t>’</a:t>
            </a:r>
            <a:r>
              <a:rPr lang="zh-CN" altLang="en-US" dirty="0"/>
              <a:t>值</a:t>
            </a:r>
            <a:endParaRPr lang="en-US" altLang="zh-CN" dirty="0"/>
          </a:p>
          <a:p>
            <a:r>
              <a:rPr lang="en-GB" altLang="zh-CN" dirty="0" err="1"/>
              <a:t>tracks_subset</a:t>
            </a:r>
            <a:r>
              <a:rPr lang="en-GB" altLang="zh-CN" dirty="0"/>
              <a:t> = </a:t>
            </a:r>
            <a:r>
              <a:rPr lang="en-GB" altLang="zh-CN" dirty="0" err="1"/>
              <a:t>tracks.loc</a:t>
            </a:r>
            <a:r>
              <a:rPr lang="en-GB" altLang="zh-CN" dirty="0"/>
              <a:t>[[0,62,76,98,110,193,204,281,322,359],]</a:t>
            </a:r>
            <a:endParaRPr lang="en-GB" altLang="zh-CN" dirty="0"/>
          </a:p>
          <a:p>
            <a:r>
              <a:rPr lang="en-GB" altLang="zh-CN" dirty="0" err="1"/>
              <a:t>tracks_subset</a:t>
            </a:r>
            <a:endParaRPr lang="en-GB" altLang="zh-CN" dirty="0"/>
          </a:p>
          <a:p>
            <a:pPr marL="342900" indent="-342900" latinLnBrk="0">
              <a:buFont typeface="+mj-lt"/>
              <a:buAutoNum type="arabicPeriod" startAt="2"/>
            </a:pPr>
            <a:r>
              <a:rPr lang="zh-CN" altLang="en-US" dirty="0"/>
              <a:t>通过</a:t>
            </a:r>
            <a:r>
              <a:rPr lang="en-US" altLang="zh-CN" dirty="0"/>
              <a:t>'</a:t>
            </a:r>
            <a:r>
              <a:rPr lang="en-GB" altLang="zh-CN" dirty="0" err="1"/>
              <a:t>GenreId</a:t>
            </a:r>
            <a:r>
              <a:rPr lang="en-GB" altLang="zh-CN" dirty="0"/>
              <a:t>'</a:t>
            </a:r>
            <a:r>
              <a:rPr lang="zh-CN" altLang="en-US" dirty="0"/>
              <a:t>列合并数据，</a:t>
            </a:r>
            <a:r>
              <a:rPr lang="en-GB" altLang="zh-CN" dirty="0"/>
              <a:t>how</a:t>
            </a:r>
            <a:r>
              <a:rPr lang="zh-CN" altLang="en-US" dirty="0"/>
              <a:t>参数指定连接方式</a:t>
            </a:r>
            <a:endParaRPr lang="zh-CN" altLang="en-US" dirty="0"/>
          </a:p>
          <a:p>
            <a:pPr latinLnBrk="0"/>
            <a:r>
              <a:rPr lang="en-GB" altLang="zh-CN" dirty="0"/>
              <a:t>how = ’left‘ </a:t>
            </a:r>
            <a:r>
              <a:rPr lang="zh-CN" altLang="en-US" dirty="0"/>
              <a:t>对应</a:t>
            </a:r>
            <a:r>
              <a:rPr lang="en-GB" altLang="zh-CN" dirty="0"/>
              <a:t>SQL</a:t>
            </a:r>
            <a:r>
              <a:rPr lang="zh-CN" altLang="en-US" dirty="0"/>
              <a:t>中的 </a:t>
            </a:r>
            <a:r>
              <a:rPr lang="en-GB" altLang="zh-CN" b="1" dirty="0"/>
              <a:t>left outer</a:t>
            </a:r>
            <a:r>
              <a:rPr lang="en-GB" altLang="zh-CN" dirty="0"/>
              <a:t> </a:t>
            </a:r>
            <a:r>
              <a:rPr lang="zh-CN" altLang="en-US" dirty="0"/>
              <a:t>保留左侧表中的所有</a:t>
            </a:r>
            <a:r>
              <a:rPr lang="en-GB" altLang="zh-CN" dirty="0"/>
              <a:t>key</a:t>
            </a:r>
            <a:endParaRPr lang="en-GB" altLang="zh-CN" dirty="0"/>
          </a:p>
          <a:p>
            <a:pPr latinLnBrk="0"/>
            <a:r>
              <a:rPr lang="en-GB" altLang="zh-CN" dirty="0"/>
              <a:t>how = ’right‘ </a:t>
            </a:r>
            <a:r>
              <a:rPr lang="zh-CN" altLang="en-US" dirty="0"/>
              <a:t>对应</a:t>
            </a:r>
            <a:r>
              <a:rPr lang="en-GB" altLang="zh-CN" dirty="0"/>
              <a:t>SQL</a:t>
            </a:r>
            <a:r>
              <a:rPr lang="zh-CN" altLang="en-US" dirty="0"/>
              <a:t>中的 </a:t>
            </a:r>
            <a:r>
              <a:rPr lang="en-GB" altLang="zh-CN" b="1" dirty="0"/>
              <a:t>right outer</a:t>
            </a:r>
            <a:r>
              <a:rPr lang="en-GB" altLang="zh-CN" dirty="0"/>
              <a:t> </a:t>
            </a:r>
            <a:r>
              <a:rPr lang="zh-CN" altLang="en-US" dirty="0"/>
              <a:t>保留右侧表中的所有</a:t>
            </a:r>
            <a:r>
              <a:rPr lang="en-GB" altLang="zh-CN" dirty="0"/>
              <a:t>key</a:t>
            </a:r>
            <a:endParaRPr lang="en-GB" altLang="zh-CN" dirty="0"/>
          </a:p>
          <a:p>
            <a:pPr latinLnBrk="0"/>
            <a:r>
              <a:rPr lang="en-GB" altLang="zh-CN" dirty="0"/>
              <a:t>how = 'outer' </a:t>
            </a:r>
            <a:r>
              <a:rPr lang="zh-CN" altLang="en-US" dirty="0"/>
              <a:t>对应</a:t>
            </a:r>
            <a:r>
              <a:rPr lang="en-GB" altLang="zh-CN" dirty="0"/>
              <a:t>SQL</a:t>
            </a:r>
            <a:r>
              <a:rPr lang="zh-CN" altLang="en-US" dirty="0"/>
              <a:t>中的 </a:t>
            </a:r>
            <a:r>
              <a:rPr lang="en-GB" altLang="zh-CN" b="1" dirty="0"/>
              <a:t>full outer</a:t>
            </a:r>
            <a:r>
              <a:rPr lang="en-GB" altLang="zh-CN" dirty="0"/>
              <a:t> </a:t>
            </a:r>
            <a:r>
              <a:rPr lang="zh-CN" altLang="en-US" dirty="0"/>
              <a:t>保留左右两侧侧表中的所有</a:t>
            </a:r>
            <a:r>
              <a:rPr lang="en-GB" altLang="zh-CN" dirty="0"/>
              <a:t>key</a:t>
            </a:r>
            <a:endParaRPr lang="en-GB" altLang="zh-CN" dirty="0"/>
          </a:p>
          <a:p>
            <a:pPr latinLnBrk="0"/>
            <a:r>
              <a:rPr lang="en-GB" altLang="zh-CN" dirty="0"/>
              <a:t>how = 'inner' </a:t>
            </a:r>
            <a:r>
              <a:rPr lang="zh-CN" altLang="en-US" dirty="0"/>
              <a:t>对应</a:t>
            </a:r>
            <a:r>
              <a:rPr lang="en-GB" altLang="zh-CN" dirty="0"/>
              <a:t>SQL</a:t>
            </a:r>
            <a:r>
              <a:rPr lang="zh-CN" altLang="en-US" dirty="0"/>
              <a:t>中的 </a:t>
            </a:r>
            <a:r>
              <a:rPr lang="en-GB" altLang="zh-CN" b="1" dirty="0"/>
              <a:t>inner</a:t>
            </a:r>
            <a:r>
              <a:rPr lang="en-GB" altLang="zh-CN" dirty="0"/>
              <a:t> </a:t>
            </a:r>
            <a:r>
              <a:rPr lang="zh-CN" altLang="en-US" dirty="0"/>
              <a:t>只保留左右两侧都有的</a:t>
            </a:r>
            <a:r>
              <a:rPr lang="en-GB" altLang="zh-CN" dirty="0"/>
              <a:t>key</a:t>
            </a:r>
            <a:endParaRPr lang="en-GB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合并多个数据集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一对一合并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47615"/>
          </a:xfrm>
        </p:spPr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en-US" altLang="zh-CN" dirty="0"/>
              <a:t>left</a:t>
            </a:r>
            <a:endParaRPr lang="en-US" altLang="zh-CN" dirty="0"/>
          </a:p>
          <a:p>
            <a:r>
              <a:rPr lang="en-US" altLang="zh-CN" dirty="0" err="1"/>
              <a:t>genre_track</a:t>
            </a:r>
            <a:r>
              <a:rPr lang="en-US" altLang="zh-CN" dirty="0"/>
              <a:t> = </a:t>
            </a:r>
            <a:r>
              <a:rPr lang="en-US" altLang="zh-CN" dirty="0" err="1"/>
              <a:t>genres.merge</a:t>
            </a:r>
            <a:r>
              <a:rPr lang="en-US" altLang="zh-CN" dirty="0"/>
              <a:t>(</a:t>
            </a:r>
            <a:r>
              <a:rPr lang="en-US" altLang="zh-CN" dirty="0" err="1"/>
              <a:t>tracks_subset</a:t>
            </a:r>
            <a:r>
              <a:rPr lang="en-US" altLang="zh-CN" dirty="0"/>
              <a:t>[['</a:t>
            </a:r>
            <a:r>
              <a:rPr lang="en-US" altLang="zh-CN" dirty="0" err="1"/>
              <a:t>TrackId</a:t>
            </a:r>
            <a:r>
              <a:rPr lang="en-US" altLang="zh-CN" dirty="0"/>
              <a:t>','</a:t>
            </a:r>
            <a:r>
              <a:rPr lang="en-US" altLang="zh-CN" dirty="0" err="1"/>
              <a:t>GenreId</a:t>
            </a:r>
            <a:r>
              <a:rPr lang="en-US" altLang="zh-CN" dirty="0"/>
              <a:t>', 'Milliseconds']], on='</a:t>
            </a:r>
            <a:r>
              <a:rPr lang="en-US" altLang="zh-CN" dirty="0" err="1"/>
              <a:t>GenreId</a:t>
            </a:r>
            <a:r>
              <a:rPr lang="en-US" altLang="zh-CN" dirty="0"/>
              <a:t>', how='left')                           </a:t>
            </a:r>
            <a:endParaRPr lang="en-US" altLang="zh-CN" dirty="0"/>
          </a:p>
          <a:p>
            <a:r>
              <a:rPr lang="en-US" altLang="zh-CN" dirty="0"/>
              <a:t>print(</a:t>
            </a:r>
            <a:r>
              <a:rPr lang="en-US" altLang="zh-CN" dirty="0" err="1"/>
              <a:t>genre_track</a:t>
            </a:r>
            <a:r>
              <a:rPr lang="en-US" altLang="zh-CN" dirty="0"/>
              <a:t>)</a:t>
            </a:r>
            <a:endParaRPr lang="en-US" altLang="zh-CN" dirty="0"/>
          </a:p>
          <a:p>
            <a:pPr>
              <a:buFont typeface="+mj-lt"/>
            </a:pP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794000"/>
            <a:ext cx="4260850" cy="37395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合并多个数据集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一对一合并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4"/>
            </a:pPr>
            <a:r>
              <a:rPr lang="en-US" altLang="zh-CN" dirty="0"/>
              <a:t>right</a:t>
            </a:r>
            <a:endParaRPr lang="en-US" altLang="zh-CN" dirty="0"/>
          </a:p>
          <a:p>
            <a:r>
              <a:rPr lang="en-US" altLang="zh-CN" dirty="0" err="1"/>
              <a:t>genre_track</a:t>
            </a:r>
            <a:r>
              <a:rPr lang="en-US" altLang="zh-CN" dirty="0"/>
              <a:t> = </a:t>
            </a:r>
            <a:r>
              <a:rPr lang="en-US" altLang="zh-CN" dirty="0" err="1"/>
              <a:t>genres.merge</a:t>
            </a:r>
            <a:r>
              <a:rPr lang="en-US" altLang="zh-CN" dirty="0"/>
              <a:t>(</a:t>
            </a:r>
            <a:r>
              <a:rPr lang="en-US" altLang="zh-CN" dirty="0" err="1"/>
              <a:t>tracks_subset</a:t>
            </a:r>
            <a:r>
              <a:rPr lang="en-US" altLang="zh-CN" dirty="0"/>
              <a:t>[['</a:t>
            </a:r>
            <a:r>
              <a:rPr lang="en-US" altLang="zh-CN" dirty="0" err="1"/>
              <a:t>TrackId</a:t>
            </a:r>
            <a:r>
              <a:rPr lang="en-US" altLang="zh-CN" dirty="0"/>
              <a:t>','</a:t>
            </a:r>
            <a:r>
              <a:rPr lang="en-US" altLang="zh-CN" dirty="0" err="1"/>
              <a:t>GenreId</a:t>
            </a:r>
            <a:r>
              <a:rPr lang="en-US" altLang="zh-CN" dirty="0"/>
              <a:t>', 'Milliseconds']], on='</a:t>
            </a:r>
            <a:r>
              <a:rPr lang="en-US" altLang="zh-CN" dirty="0" err="1"/>
              <a:t>GenreId</a:t>
            </a:r>
            <a:r>
              <a:rPr lang="en-US" altLang="zh-CN" dirty="0"/>
              <a:t>', how='right')                           </a:t>
            </a:r>
            <a:endParaRPr lang="en-US" altLang="zh-CN" dirty="0"/>
          </a:p>
          <a:p>
            <a:r>
              <a:rPr lang="en-US" altLang="zh-CN" dirty="0"/>
              <a:t>print(</a:t>
            </a:r>
            <a:r>
              <a:rPr lang="en-US" altLang="zh-CN" dirty="0" err="1"/>
              <a:t>genre_track</a:t>
            </a:r>
            <a:r>
              <a:rPr lang="en-US" altLang="zh-CN" dirty="0"/>
              <a:t>)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430" y="3432175"/>
            <a:ext cx="4064000" cy="2082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合并多个数据集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dirty="0"/>
              <a:t>一</a:t>
            </a:r>
            <a:r>
              <a:rPr lang="zh-CN" altLang="en-US" dirty="0"/>
              <a:t>对一合并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3301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使用</a:t>
            </a:r>
            <a:r>
              <a:rPr lang="en-GB" altLang="zh-CN" dirty="0"/>
              <a:t>tracks</a:t>
            </a:r>
            <a:r>
              <a:rPr lang="zh-CN" altLang="en-US" dirty="0"/>
              <a:t>的全部数据</a:t>
            </a:r>
            <a:endParaRPr lang="en-US" altLang="zh-CN" dirty="0"/>
          </a:p>
          <a:p>
            <a:r>
              <a:rPr lang="en-US" altLang="zh-CN" dirty="0" err="1"/>
              <a:t>genre_track</a:t>
            </a:r>
            <a:r>
              <a:rPr lang="en-US" altLang="zh-CN" dirty="0"/>
              <a:t> = </a:t>
            </a:r>
            <a:r>
              <a:rPr lang="en-US" altLang="zh-CN" dirty="0" err="1"/>
              <a:t>genres.merge</a:t>
            </a:r>
            <a:r>
              <a:rPr lang="en-US" altLang="zh-CN" dirty="0"/>
              <a:t>(tracks[['</a:t>
            </a:r>
            <a:r>
              <a:rPr lang="en-US" altLang="zh-CN" dirty="0" err="1"/>
              <a:t>TrackId</a:t>
            </a:r>
            <a:r>
              <a:rPr lang="en-US" altLang="zh-CN" dirty="0"/>
              <a:t>','</a:t>
            </a:r>
            <a:r>
              <a:rPr lang="en-US" altLang="zh-CN" dirty="0" err="1"/>
              <a:t>GenreId</a:t>
            </a:r>
            <a:r>
              <a:rPr lang="en-US" altLang="zh-CN" dirty="0"/>
              <a:t>', 'Milliseconds']], on='</a:t>
            </a:r>
            <a:r>
              <a:rPr lang="en-US" altLang="zh-CN" dirty="0" err="1"/>
              <a:t>GenreId</a:t>
            </a:r>
            <a:r>
              <a:rPr lang="en-US" altLang="zh-CN" dirty="0"/>
              <a:t>', how='left')                           </a:t>
            </a:r>
            <a:endParaRPr lang="en-US" altLang="zh-CN" dirty="0"/>
          </a:p>
          <a:p>
            <a:r>
              <a:rPr lang="en-US" altLang="zh-CN" dirty="0"/>
              <a:t>print(</a:t>
            </a:r>
            <a:r>
              <a:rPr lang="en-US" altLang="zh-CN" dirty="0" err="1"/>
              <a:t>genre_track</a:t>
            </a:r>
            <a:r>
              <a:rPr lang="en-US" altLang="zh-CN" dirty="0"/>
              <a:t>)</a:t>
            </a:r>
            <a:endParaRPr lang="en-US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转换时间单位</a:t>
            </a:r>
            <a:endParaRPr lang="en-US" altLang="zh-CN" dirty="0"/>
          </a:p>
          <a:p>
            <a:r>
              <a:rPr lang="zh-CN" altLang="en-US" dirty="0"/>
              <a:t>如上面结果所示，</a:t>
            </a:r>
            <a:r>
              <a:rPr lang="en-US" altLang="zh-CN" dirty="0"/>
              <a:t>Name</a:t>
            </a:r>
            <a:r>
              <a:rPr lang="zh-CN" altLang="en-US" dirty="0"/>
              <a:t>的值在合并后的数据中被复制了 </a:t>
            </a:r>
            <a:endParaRPr lang="zh-CN" altLang="en-US" dirty="0"/>
          </a:p>
          <a:p>
            <a:r>
              <a:rPr lang="zh-CN" altLang="en-US" dirty="0"/>
              <a:t>计算每种类型音乐的平均时长</a:t>
            </a:r>
            <a:endParaRPr lang="zh-CN" altLang="en-US" dirty="0"/>
          </a:p>
          <a:p>
            <a:r>
              <a:rPr lang="en-US" altLang="zh-CN" b="0" dirty="0" err="1"/>
              <a:t>to_timedelta</a:t>
            </a:r>
            <a:r>
              <a:rPr lang="en-US" altLang="zh-CN" b="0" dirty="0"/>
              <a:t> </a:t>
            </a:r>
            <a:r>
              <a:rPr lang="zh-CN" altLang="en-US" b="0" dirty="0"/>
              <a:t>将</a:t>
            </a:r>
            <a:r>
              <a:rPr lang="en-US" altLang="zh-CN" b="0" dirty="0"/>
              <a:t>Milliseconds</a:t>
            </a:r>
            <a:r>
              <a:rPr lang="zh-CN" altLang="en-US" b="0" dirty="0"/>
              <a:t>列转变为</a:t>
            </a:r>
            <a:r>
              <a:rPr lang="en-US" altLang="zh-CN" b="0" dirty="0" err="1"/>
              <a:t>timedelta</a:t>
            </a:r>
            <a:r>
              <a:rPr lang="zh-CN" altLang="en-US" b="0" dirty="0"/>
              <a:t>数据类型</a:t>
            </a:r>
            <a:endParaRPr lang="zh-CN" altLang="en-US" b="0" dirty="0"/>
          </a:p>
          <a:p>
            <a:r>
              <a:rPr lang="zh-CN" altLang="en-US" b="0" dirty="0"/>
              <a:t>参数</a:t>
            </a:r>
            <a:r>
              <a:rPr lang="en-US" altLang="zh-CN" b="0" dirty="0"/>
              <a:t> unit='</a:t>
            </a:r>
            <a:r>
              <a:rPr lang="en-US" altLang="zh-CN" b="0" dirty="0" err="1"/>
              <a:t>ms</a:t>
            </a:r>
            <a:r>
              <a:rPr lang="en-US" altLang="zh-CN" b="0" dirty="0"/>
              <a:t>' </a:t>
            </a:r>
            <a:r>
              <a:rPr lang="zh-CN" altLang="en-US" b="0" dirty="0"/>
              <a:t>时间单位</a:t>
            </a:r>
            <a:endParaRPr lang="zh-CN" altLang="en-US" b="0" dirty="0"/>
          </a:p>
          <a:p>
            <a:r>
              <a:rPr lang="en-US" altLang="zh-CN" b="0" dirty="0" err="1"/>
              <a:t>dt.floor</a:t>
            </a:r>
            <a:r>
              <a:rPr lang="en-US" altLang="zh-CN" b="0" dirty="0"/>
              <a:t>('s') </a:t>
            </a:r>
            <a:r>
              <a:rPr lang="en-US" altLang="zh-CN" b="0" dirty="0" err="1"/>
              <a:t>dt.floor</a:t>
            </a:r>
            <a:r>
              <a:rPr lang="en-US" altLang="zh-CN" b="0" dirty="0"/>
              <a:t>() </a:t>
            </a:r>
            <a:r>
              <a:rPr lang="zh-CN" altLang="en-US" b="0" dirty="0"/>
              <a:t>时间类型数据，按指定单位截断数据</a:t>
            </a:r>
            <a:endParaRPr lang="zh-CN" altLang="en-US" b="0" dirty="0"/>
          </a:p>
          <a:p>
            <a:r>
              <a:rPr lang="en-US" altLang="zh-CN" dirty="0" err="1"/>
              <a:t>genre_time</a:t>
            </a:r>
            <a:r>
              <a:rPr lang="en-US" altLang="zh-CN" dirty="0"/>
              <a:t> = </a:t>
            </a:r>
            <a:r>
              <a:rPr lang="en-US" altLang="zh-CN" dirty="0" err="1"/>
              <a:t>genre_track.groupby</a:t>
            </a:r>
            <a:r>
              <a:rPr lang="en-US" altLang="zh-CN" dirty="0"/>
              <a:t>('Name')['Milliseconds'].mean()</a:t>
            </a:r>
            <a:endParaRPr lang="en-US" altLang="zh-CN" dirty="0"/>
          </a:p>
          <a:p>
            <a:r>
              <a:rPr lang="en-US" altLang="zh-CN" dirty="0" err="1"/>
              <a:t>pd.to_timedelta</a:t>
            </a:r>
            <a:r>
              <a:rPr lang="en-US" altLang="zh-CN" dirty="0"/>
              <a:t>(</a:t>
            </a:r>
            <a:r>
              <a:rPr lang="en-US" altLang="zh-CN" dirty="0" err="1"/>
              <a:t>genre_time</a:t>
            </a:r>
            <a:r>
              <a:rPr lang="en-US" altLang="zh-CN" dirty="0"/>
              <a:t>, unit='</a:t>
            </a:r>
            <a:r>
              <a:rPr lang="en-US" altLang="zh-CN" dirty="0" err="1"/>
              <a:t>ms</a:t>
            </a:r>
            <a:r>
              <a:rPr lang="en-US" altLang="zh-CN" dirty="0"/>
              <a:t>').</a:t>
            </a:r>
            <a:r>
              <a:rPr lang="en-US" altLang="zh-CN" dirty="0" err="1"/>
              <a:t>dt.floor</a:t>
            </a:r>
            <a:r>
              <a:rPr lang="en-US" altLang="zh-CN" dirty="0"/>
              <a:t>('s').</a:t>
            </a:r>
            <a:r>
              <a:rPr lang="en-US" altLang="zh-CN" dirty="0" err="1"/>
              <a:t>sort_values</a:t>
            </a:r>
            <a:r>
              <a:rPr lang="en-US" altLang="zh-CN" dirty="0"/>
              <a:t>()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5540" y="2505710"/>
            <a:ext cx="4362450" cy="25209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700" y="5050790"/>
            <a:ext cx="2889250" cy="16383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合并多个数据集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3.4 </a:t>
            </a:r>
            <a:r>
              <a:rPr lang="zh-CN" altLang="en-US" dirty="0"/>
              <a:t>多对一合并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Font typeface="+mj-lt"/>
            </a:pPr>
            <a:r>
              <a:rPr lang="en-US" altLang="zh-CN" dirty="0"/>
              <a:t>1. </a:t>
            </a:r>
            <a:r>
              <a:rPr lang="zh-CN" altLang="en-US" dirty="0"/>
              <a:t>计算每名用户的平均消费</a:t>
            </a:r>
            <a:endParaRPr lang="en-US" altLang="zh-CN" dirty="0"/>
          </a:p>
          <a:p>
            <a:r>
              <a:rPr lang="zh-CN" altLang="en-US" dirty="0"/>
              <a:t>从三张表中获取数据，用户表获取用户</a:t>
            </a:r>
            <a:r>
              <a:rPr lang="en-US" altLang="zh-CN" dirty="0"/>
              <a:t>id</a:t>
            </a:r>
            <a:r>
              <a:rPr lang="zh-CN" altLang="en-US" dirty="0"/>
              <a:t>，姓名</a:t>
            </a:r>
            <a:endParaRPr lang="zh-CN" altLang="en-US" dirty="0"/>
          </a:p>
          <a:p>
            <a:r>
              <a:rPr lang="zh-CN" altLang="en-US" dirty="0"/>
              <a:t>发票表，获取发表</a:t>
            </a:r>
            <a:r>
              <a:rPr lang="en-US" altLang="zh-CN" dirty="0"/>
              <a:t>id</a:t>
            </a:r>
            <a:r>
              <a:rPr lang="zh-CN" altLang="en-US" dirty="0"/>
              <a:t>，用户</a:t>
            </a:r>
            <a:r>
              <a:rPr lang="en-US" altLang="zh-CN" dirty="0"/>
              <a:t>id</a:t>
            </a:r>
            <a:endParaRPr lang="en-US" altLang="zh-CN" dirty="0"/>
          </a:p>
          <a:p>
            <a:r>
              <a:rPr lang="zh-CN" altLang="en-US" dirty="0"/>
              <a:t>发票详情表，获取发票</a:t>
            </a:r>
            <a:r>
              <a:rPr lang="en-US" altLang="zh-CN" dirty="0"/>
              <a:t>id,</a:t>
            </a:r>
            <a:r>
              <a:rPr lang="zh-CN" altLang="en-US" dirty="0"/>
              <a:t>单价，数量</a:t>
            </a:r>
            <a:endParaRPr lang="zh-CN" altLang="en-US" dirty="0"/>
          </a:p>
          <a:p>
            <a:r>
              <a:rPr lang="en-US" altLang="zh-CN" dirty="0" err="1"/>
              <a:t>cust</a:t>
            </a:r>
            <a:r>
              <a:rPr lang="en-US" altLang="zh-CN" dirty="0"/>
              <a:t> = </a:t>
            </a:r>
            <a:r>
              <a:rPr lang="en-US" altLang="zh-CN" dirty="0" err="1"/>
              <a:t>pd.read_sql_table</a:t>
            </a:r>
            <a:r>
              <a:rPr lang="en-US" altLang="zh-CN" dirty="0"/>
              <a:t>('customers',</a:t>
            </a:r>
            <a:r>
              <a:rPr lang="en-US" altLang="zh-CN" dirty="0" err="1"/>
              <a:t>engine,columns</a:t>
            </a:r>
            <a:r>
              <a:rPr lang="en-US" altLang="zh-CN" dirty="0"/>
              <a:t>=['</a:t>
            </a:r>
            <a:r>
              <a:rPr lang="en-US" altLang="zh-CN" dirty="0" err="1"/>
              <a:t>CustomerId</a:t>
            </a:r>
            <a:r>
              <a:rPr lang="en-US" altLang="zh-CN" dirty="0"/>
              <a:t>', 'FirstName', '</a:t>
            </a:r>
            <a:r>
              <a:rPr lang="en-US" altLang="zh-CN" dirty="0" err="1"/>
              <a:t>LastName</a:t>
            </a:r>
            <a:r>
              <a:rPr lang="en-US" altLang="zh-CN" dirty="0"/>
              <a:t>'])</a:t>
            </a:r>
            <a:endParaRPr lang="en-US" altLang="zh-CN" dirty="0"/>
          </a:p>
          <a:p>
            <a:r>
              <a:rPr lang="en-US" altLang="zh-CN" dirty="0"/>
              <a:t>invoice = </a:t>
            </a:r>
            <a:r>
              <a:rPr lang="en-US" altLang="zh-CN" dirty="0" err="1"/>
              <a:t>pd.read_sql_table</a:t>
            </a:r>
            <a:r>
              <a:rPr lang="en-US" altLang="zh-CN" dirty="0"/>
              <a:t>('invoices',</a:t>
            </a:r>
            <a:r>
              <a:rPr lang="en-US" altLang="zh-CN" dirty="0" err="1"/>
              <a:t>engine,columns</a:t>
            </a:r>
            <a:r>
              <a:rPr lang="en-US" altLang="zh-CN" dirty="0"/>
              <a:t>=['</a:t>
            </a:r>
            <a:r>
              <a:rPr lang="en-US" altLang="zh-CN" dirty="0" err="1"/>
              <a:t>InvoiceId</a:t>
            </a:r>
            <a:r>
              <a:rPr lang="en-US" altLang="zh-CN" dirty="0"/>
              <a:t>','</a:t>
            </a:r>
            <a:r>
              <a:rPr lang="en-US" altLang="zh-CN" dirty="0" err="1"/>
              <a:t>CustomerId</a:t>
            </a:r>
            <a:r>
              <a:rPr lang="en-US" altLang="zh-CN" dirty="0"/>
              <a:t>'])</a:t>
            </a:r>
            <a:endParaRPr lang="en-US" altLang="zh-CN" dirty="0"/>
          </a:p>
          <a:p>
            <a:r>
              <a:rPr lang="en-US" altLang="zh-CN" dirty="0"/>
              <a:t>ii = </a:t>
            </a:r>
            <a:r>
              <a:rPr lang="en-US" altLang="zh-CN" dirty="0" err="1"/>
              <a:t>pd.read_sql_table</a:t>
            </a:r>
            <a:r>
              <a:rPr lang="en-US" altLang="zh-CN" dirty="0"/>
              <a:t>('invoice_items',</a:t>
            </a:r>
            <a:r>
              <a:rPr lang="en-US" altLang="zh-CN" dirty="0" err="1"/>
              <a:t>engine,columns</a:t>
            </a:r>
            <a:r>
              <a:rPr lang="en-US" altLang="zh-CN" dirty="0"/>
              <a:t>=['</a:t>
            </a:r>
            <a:r>
              <a:rPr lang="en-US" altLang="zh-CN" dirty="0" err="1"/>
              <a:t>InvoiceId</a:t>
            </a:r>
            <a:r>
              <a:rPr lang="en-US" altLang="zh-CN" dirty="0"/>
              <a:t>', '</a:t>
            </a:r>
            <a:r>
              <a:rPr lang="en-US" altLang="zh-CN" dirty="0" err="1"/>
              <a:t>UnitPrice</a:t>
            </a:r>
            <a:r>
              <a:rPr lang="en-US" altLang="zh-CN" dirty="0"/>
              <a:t>', 'Quantity'])</a:t>
            </a:r>
            <a:endParaRPr lang="en-U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合并多个数据集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3.4 </a:t>
            </a:r>
            <a:r>
              <a:rPr lang="zh-CN" altLang="en-US" dirty="0"/>
              <a:t>多对一合并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计算每名用户的平均消费</a:t>
            </a:r>
            <a:endParaRPr lang="en-US" altLang="zh-CN" dirty="0"/>
          </a:p>
          <a:p>
            <a:r>
              <a:rPr lang="zh-CN" altLang="en-US" dirty="0"/>
              <a:t>根据用户</a:t>
            </a:r>
            <a:r>
              <a:rPr lang="en-GB" altLang="zh-CN" dirty="0"/>
              <a:t>Id('</a:t>
            </a:r>
            <a:r>
              <a:rPr lang="en-GB" altLang="zh-CN" dirty="0" err="1"/>
              <a:t>CustomerId</a:t>
            </a:r>
            <a:r>
              <a:rPr lang="en-GB" altLang="zh-CN" dirty="0"/>
              <a:t>')</a:t>
            </a:r>
            <a:r>
              <a:rPr lang="zh-CN" altLang="en-US" dirty="0"/>
              <a:t>合并用户表和发票表，根据发票</a:t>
            </a:r>
            <a:r>
              <a:rPr lang="en-GB" altLang="zh-CN" dirty="0"/>
              <a:t>Id ('</a:t>
            </a:r>
            <a:r>
              <a:rPr lang="en-GB" altLang="zh-CN" dirty="0" err="1"/>
              <a:t>InvoiceId</a:t>
            </a:r>
            <a:r>
              <a:rPr lang="en-GB" altLang="zh-CN" dirty="0"/>
              <a:t>')</a:t>
            </a:r>
            <a:r>
              <a:rPr lang="zh-CN" altLang="en-US" dirty="0"/>
              <a:t>合并发票和发票详情表</a:t>
            </a:r>
            <a:endParaRPr lang="en-US" altLang="zh-CN" dirty="0"/>
          </a:p>
          <a:p>
            <a:r>
              <a:rPr lang="en-GB" altLang="zh-CN" dirty="0" err="1"/>
              <a:t>cust_inv</a:t>
            </a:r>
            <a:r>
              <a:rPr lang="en-GB" altLang="zh-CN" dirty="0"/>
              <a:t> = </a:t>
            </a:r>
            <a:r>
              <a:rPr lang="en-GB" altLang="zh-CN" dirty="0" err="1"/>
              <a:t>cust.merge</a:t>
            </a:r>
            <a:r>
              <a:rPr lang="en-GB" altLang="zh-CN" dirty="0"/>
              <a:t>(invoice, on='</a:t>
            </a:r>
            <a:r>
              <a:rPr lang="en-GB" altLang="zh-CN" dirty="0" err="1"/>
              <a:t>CustomerId</a:t>
            </a:r>
            <a:r>
              <a:rPr lang="en-GB" altLang="zh-CN" dirty="0"/>
              <a:t>').merge(ii, on='</a:t>
            </a:r>
            <a:r>
              <a:rPr lang="en-GB" altLang="zh-CN" dirty="0" err="1"/>
              <a:t>InvoiceId</a:t>
            </a:r>
            <a:r>
              <a:rPr lang="en-GB" altLang="zh-CN" dirty="0"/>
              <a:t>')</a:t>
            </a:r>
            <a:endParaRPr lang="en-GB" altLang="zh-CN" dirty="0"/>
          </a:p>
          <a:p>
            <a:r>
              <a:rPr lang="en-GB" altLang="zh-CN" dirty="0"/>
              <a:t>print(</a:t>
            </a:r>
            <a:r>
              <a:rPr lang="en-GB" altLang="zh-CN" dirty="0" err="1"/>
              <a:t>cust_inv.head</a:t>
            </a:r>
            <a:r>
              <a:rPr lang="en-GB" altLang="zh-CN" dirty="0"/>
              <a:t>())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185" y="3497580"/>
            <a:ext cx="5099050" cy="1244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合并多个数据集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3.4 </a:t>
            </a:r>
            <a:r>
              <a:rPr lang="zh-CN" altLang="en-US" dirty="0"/>
              <a:t>多对一合并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计算每名用户</a:t>
            </a:r>
            <a:r>
              <a:rPr lang="zh-CN" altLang="en-US" dirty="0">
                <a:sym typeface="+mn-ea"/>
              </a:rPr>
              <a:t>每笔</a:t>
            </a:r>
            <a:r>
              <a:rPr lang="zh-CN" altLang="en-US" dirty="0"/>
              <a:t>的总消费</a:t>
            </a:r>
            <a:endParaRPr lang="en-US" altLang="zh-CN" dirty="0"/>
          </a:p>
          <a:p>
            <a:r>
              <a:rPr lang="zh-CN" altLang="en-US" dirty="0"/>
              <a:t>计算用户每笔消费的总金额</a:t>
            </a:r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 </a:t>
            </a:r>
            <a:r>
              <a:rPr lang="en-GB" altLang="zh-CN" dirty="0"/>
              <a:t>DataFrame</a:t>
            </a:r>
            <a:r>
              <a:rPr lang="zh-CN" altLang="en-US" dirty="0"/>
              <a:t>的</a:t>
            </a:r>
            <a:r>
              <a:rPr lang="en-GB" altLang="zh-CN" dirty="0"/>
              <a:t>assign</a:t>
            </a:r>
            <a:r>
              <a:rPr lang="zh-CN" altLang="en-US" dirty="0"/>
              <a:t>方法 创建新列</a:t>
            </a:r>
            <a:endParaRPr lang="en-US" altLang="zh-CN" dirty="0"/>
          </a:p>
          <a:p>
            <a:r>
              <a:rPr lang="en-GB" altLang="zh-CN" dirty="0"/>
              <a:t>total = </a:t>
            </a:r>
            <a:r>
              <a:rPr lang="en-GB" altLang="zh-CN" dirty="0" err="1"/>
              <a:t>cust_inv</a:t>
            </a:r>
            <a:r>
              <a:rPr lang="en-GB" altLang="zh-CN" dirty="0"/>
              <a:t>['Quantity'] * </a:t>
            </a:r>
            <a:r>
              <a:rPr lang="en-GB" altLang="zh-CN" dirty="0" err="1"/>
              <a:t>cust_inv</a:t>
            </a:r>
            <a:r>
              <a:rPr lang="en-GB" altLang="zh-CN" dirty="0"/>
              <a:t>['</a:t>
            </a:r>
            <a:r>
              <a:rPr lang="en-GB" altLang="zh-CN" dirty="0" err="1"/>
              <a:t>UnitPrice</a:t>
            </a:r>
            <a:r>
              <a:rPr lang="en-GB" altLang="zh-CN" dirty="0"/>
              <a:t>']</a:t>
            </a:r>
            <a:endParaRPr lang="en-GB" altLang="zh-CN" dirty="0"/>
          </a:p>
          <a:p>
            <a:r>
              <a:rPr lang="en-GB" altLang="zh-CN" dirty="0" err="1"/>
              <a:t>cust_inv</a:t>
            </a:r>
            <a:r>
              <a:rPr lang="en-GB" altLang="zh-CN" dirty="0"/>
              <a:t> = </a:t>
            </a:r>
            <a:r>
              <a:rPr lang="en-GB" altLang="zh-CN" dirty="0" err="1"/>
              <a:t>cust_inv.assign</a:t>
            </a:r>
            <a:r>
              <a:rPr lang="en-GB" altLang="zh-CN" dirty="0"/>
              <a:t>(Total = total)</a:t>
            </a:r>
            <a:endParaRPr lang="en-GB" altLang="zh-CN" dirty="0"/>
          </a:p>
          <a:p>
            <a:r>
              <a:rPr lang="en-GB" altLang="zh-CN" dirty="0"/>
              <a:t>print(</a:t>
            </a:r>
            <a:r>
              <a:rPr lang="en-GB" altLang="zh-CN" dirty="0" err="1"/>
              <a:t>cust_inv.head</a:t>
            </a:r>
            <a:r>
              <a:rPr lang="en-GB" altLang="zh-CN" dirty="0"/>
              <a:t>())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990" y="4365625"/>
            <a:ext cx="5626100" cy="12763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合并多个数据集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3.4 </a:t>
            </a:r>
            <a:r>
              <a:rPr lang="zh-CN" altLang="en-US" dirty="0"/>
              <a:t>多对一合并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计算每名用户的平均消费</a:t>
            </a:r>
            <a:endParaRPr lang="en-US" altLang="zh-CN" dirty="0"/>
          </a:p>
          <a:p>
            <a:r>
              <a:rPr lang="zh-CN" altLang="en-US" dirty="0"/>
              <a:t>按照用户</a:t>
            </a:r>
            <a:r>
              <a:rPr lang="en-US" altLang="zh-CN" dirty="0"/>
              <a:t>Id</a:t>
            </a:r>
            <a:r>
              <a:rPr lang="zh-CN" altLang="en-US" dirty="0"/>
              <a:t>，姓名分组，分组后对总金额求平均，并排序</a:t>
            </a:r>
            <a:endParaRPr lang="zh-CN" altLang="en-US" dirty="0"/>
          </a:p>
          <a:p>
            <a:r>
              <a:rPr lang="en-US" altLang="zh-CN" dirty="0"/>
              <a:t>cols = ['</a:t>
            </a:r>
            <a:r>
              <a:rPr lang="en-US" altLang="zh-CN" dirty="0" err="1"/>
              <a:t>CustomerId</a:t>
            </a:r>
            <a:r>
              <a:rPr lang="en-US" altLang="zh-CN" dirty="0"/>
              <a:t>', 'FirstName', '</a:t>
            </a:r>
            <a:r>
              <a:rPr lang="en-US" altLang="zh-CN" dirty="0" err="1"/>
              <a:t>LastName</a:t>
            </a:r>
            <a:r>
              <a:rPr lang="en-US" altLang="zh-CN" dirty="0"/>
              <a:t>']</a:t>
            </a:r>
            <a:endParaRPr lang="en-US" altLang="zh-CN" dirty="0"/>
          </a:p>
          <a:p>
            <a:r>
              <a:rPr lang="en-US" altLang="zh-CN" dirty="0" err="1"/>
              <a:t>cust_inv.groupby</a:t>
            </a:r>
            <a:r>
              <a:rPr lang="en-US" altLang="zh-CN" dirty="0"/>
              <a:t>(cols)['Total'].mean().</a:t>
            </a:r>
            <a:r>
              <a:rPr lang="en-US" altLang="zh-CN" dirty="0" err="1"/>
              <a:t>sort_values</a:t>
            </a:r>
            <a:r>
              <a:rPr lang="en-US" altLang="zh-CN" dirty="0"/>
              <a:t>(ascending=False).head()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472180"/>
            <a:ext cx="3943350" cy="13271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合并多个数据集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3.5</a:t>
            </a:r>
            <a:r>
              <a:rPr lang="zh-CN" altLang="en-US" dirty="0"/>
              <a:t> </a:t>
            </a:r>
            <a:r>
              <a:rPr lang="en-GB" altLang="zh-CN" dirty="0"/>
              <a:t>join</a:t>
            </a:r>
            <a:r>
              <a:rPr lang="zh-CN" altLang="en-US" dirty="0"/>
              <a:t>合并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使用</a:t>
            </a:r>
            <a:r>
              <a:rPr lang="en-GB" altLang="zh-CN" dirty="0"/>
              <a:t>join</a:t>
            </a:r>
            <a:r>
              <a:rPr lang="zh-CN" altLang="en-US" dirty="0"/>
              <a:t>合并，可以是依据两个</a:t>
            </a:r>
            <a:r>
              <a:rPr lang="en-GB" altLang="zh-CN" dirty="0"/>
              <a:t>DataFrame</a:t>
            </a:r>
            <a:r>
              <a:rPr lang="zh-CN" altLang="en-US" dirty="0"/>
              <a:t>的行索引，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或者一个</a:t>
            </a:r>
            <a:r>
              <a:rPr lang="en-GB" altLang="zh-CN" dirty="0"/>
              <a:t>DataFrame</a:t>
            </a:r>
            <a:r>
              <a:rPr lang="zh-CN" altLang="en-US" dirty="0"/>
              <a:t>的行索引另一个</a:t>
            </a:r>
            <a:r>
              <a:rPr lang="en-GB" altLang="zh-CN" dirty="0"/>
              <a:t>DataFrame</a:t>
            </a:r>
            <a:r>
              <a:rPr lang="zh-CN" altLang="en-US" dirty="0"/>
              <a:t>的列索引进行数据合并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加载数据</a:t>
            </a:r>
            <a:endParaRPr lang="en-US" altLang="zh-CN" dirty="0"/>
          </a:p>
          <a:p>
            <a:r>
              <a:rPr lang="en-GB" altLang="zh-CN" dirty="0"/>
              <a:t>stocks_2016 = </a:t>
            </a:r>
            <a:r>
              <a:rPr lang="en-GB" altLang="zh-CN" dirty="0" err="1"/>
              <a:t>pd.read_csv</a:t>
            </a:r>
            <a:r>
              <a:rPr lang="en-GB" altLang="zh-CN" dirty="0"/>
              <a:t>('data/stocks_2016.csv')</a:t>
            </a:r>
            <a:endParaRPr lang="en-GB" altLang="zh-CN" dirty="0"/>
          </a:p>
          <a:p>
            <a:r>
              <a:rPr lang="en-GB" altLang="zh-CN" dirty="0"/>
              <a:t>stocks_2017 = </a:t>
            </a:r>
            <a:r>
              <a:rPr lang="en-GB" altLang="zh-CN" dirty="0" err="1"/>
              <a:t>pd.read_csv</a:t>
            </a:r>
            <a:r>
              <a:rPr lang="en-GB" altLang="zh-CN" dirty="0"/>
              <a:t>('data/stocks_2017.csv')</a:t>
            </a:r>
            <a:endParaRPr lang="en-GB" altLang="zh-CN" dirty="0"/>
          </a:p>
          <a:p>
            <a:r>
              <a:rPr lang="en-GB" altLang="zh-CN" dirty="0"/>
              <a:t>stocks_2018 = </a:t>
            </a:r>
            <a:r>
              <a:rPr lang="en-GB" altLang="zh-CN" dirty="0" err="1"/>
              <a:t>pd.read_csv</a:t>
            </a:r>
            <a:r>
              <a:rPr lang="en-GB" altLang="zh-CN" dirty="0"/>
              <a:t>('data/stocks_2018.csv')</a:t>
            </a:r>
            <a:endParaRPr lang="zh-CN" altLang="en-US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合并多个数据集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3.5</a:t>
            </a:r>
            <a:r>
              <a:rPr lang="zh-CN" altLang="en-US" dirty="0"/>
              <a:t> </a:t>
            </a:r>
            <a:r>
              <a:rPr lang="en-GB" altLang="zh-CN" dirty="0"/>
              <a:t>join</a:t>
            </a:r>
            <a:r>
              <a:rPr lang="zh-CN" altLang="en-US" dirty="0"/>
              <a:t>合并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依据两个</a:t>
            </a:r>
            <a:r>
              <a:rPr lang="en-GB" altLang="zh-CN" dirty="0"/>
              <a:t>DataFrame</a:t>
            </a:r>
            <a:r>
              <a:rPr lang="zh-CN" altLang="en-US" dirty="0"/>
              <a:t>的行索引</a:t>
            </a:r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 如果合并的两个数据有相同的列名，需要通过</a:t>
            </a:r>
            <a:r>
              <a:rPr lang="en-US" altLang="zh-CN" dirty="0" err="1"/>
              <a:t>lsuffix</a:t>
            </a:r>
            <a:r>
              <a:rPr lang="zh-CN" altLang="en-US" dirty="0"/>
              <a:t>，和</a:t>
            </a:r>
            <a:r>
              <a:rPr lang="en-US" altLang="zh-CN" dirty="0" err="1"/>
              <a:t>rsuffix</a:t>
            </a:r>
            <a:r>
              <a:rPr lang="zh-CN" altLang="en-US" dirty="0"/>
              <a:t>，指定合并后的列名的后缀</a:t>
            </a:r>
            <a:endParaRPr lang="en-US" altLang="zh-CN" dirty="0"/>
          </a:p>
          <a:p>
            <a:r>
              <a:rPr lang="en-GB" altLang="zh-CN" dirty="0"/>
              <a:t>stocks_2016.join(stocks_2017, </a:t>
            </a:r>
            <a:r>
              <a:rPr lang="en-GB" altLang="zh-CN" dirty="0" err="1"/>
              <a:t>lsuffix</a:t>
            </a:r>
            <a:r>
              <a:rPr lang="en-GB" altLang="zh-CN" dirty="0"/>
              <a:t>='_2016', </a:t>
            </a:r>
            <a:r>
              <a:rPr lang="en-GB" altLang="zh-CN" dirty="0" err="1"/>
              <a:t>rsuffix</a:t>
            </a:r>
            <a:r>
              <a:rPr lang="en-GB" altLang="zh-CN" dirty="0"/>
              <a:t>='_2017', how='outer’)</a:t>
            </a:r>
            <a:endParaRPr lang="en-GB" altLang="zh-CN" dirty="0"/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10" y="3183890"/>
            <a:ext cx="7112000" cy="19177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合并多个数据集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3.5</a:t>
            </a:r>
            <a:r>
              <a:rPr lang="zh-CN" altLang="en-US" dirty="0"/>
              <a:t> </a:t>
            </a:r>
            <a:r>
              <a:rPr lang="en-GB" altLang="zh-CN" dirty="0"/>
              <a:t>join</a:t>
            </a:r>
            <a:r>
              <a:rPr lang="zh-CN" altLang="en-US" dirty="0"/>
              <a:t>合并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将两个</a:t>
            </a:r>
            <a:r>
              <a:rPr lang="en-US" altLang="zh-CN" dirty="0"/>
              <a:t>DataFrame</a:t>
            </a:r>
            <a:r>
              <a:rPr lang="zh-CN" altLang="en-US" dirty="0"/>
              <a:t>的</a:t>
            </a:r>
            <a:r>
              <a:rPr lang="en-US" altLang="zh-CN" dirty="0"/>
              <a:t>Symbol</a:t>
            </a:r>
            <a:r>
              <a:rPr lang="zh-CN" altLang="en-US" dirty="0"/>
              <a:t>设置为行索引，再次</a:t>
            </a:r>
            <a:r>
              <a:rPr lang="en-US" altLang="zh-CN" dirty="0"/>
              <a:t>join</a:t>
            </a:r>
            <a:r>
              <a:rPr lang="zh-CN" altLang="en-US" dirty="0"/>
              <a:t>数据</a:t>
            </a:r>
            <a:endParaRPr lang="zh-CN" altLang="en-US" dirty="0"/>
          </a:p>
          <a:p>
            <a:r>
              <a:rPr lang="en-GB" altLang="zh-CN" dirty="0"/>
              <a:t>stocks_2016.set_index('Symbol').join(stocks_2018.set_index('Symbol'),</a:t>
            </a:r>
            <a:r>
              <a:rPr lang="en-GB" altLang="zh-CN" dirty="0" err="1"/>
              <a:t>lsuffix</a:t>
            </a:r>
            <a:r>
              <a:rPr lang="en-GB" altLang="zh-CN" dirty="0"/>
              <a:t>='_2016', </a:t>
            </a:r>
            <a:r>
              <a:rPr lang="en-GB" altLang="zh-CN" dirty="0" err="1"/>
              <a:t>rsuffix</a:t>
            </a:r>
            <a:r>
              <a:rPr lang="en-GB" altLang="zh-CN" dirty="0"/>
              <a:t>='_2018’)</a:t>
            </a:r>
            <a:endParaRPr lang="en-GB" altLang="zh-CN" dirty="0"/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680" y="2798445"/>
            <a:ext cx="548640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合并多个数据集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3.5</a:t>
            </a:r>
            <a:r>
              <a:rPr lang="zh-CN" altLang="en-US" dirty="0"/>
              <a:t> </a:t>
            </a:r>
            <a:r>
              <a:rPr lang="en-GB" altLang="zh-CN" dirty="0"/>
              <a:t>join</a:t>
            </a:r>
            <a:r>
              <a:rPr lang="zh-CN" altLang="en-US" dirty="0"/>
              <a:t>合并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4"/>
            </a:pPr>
            <a:r>
              <a:rPr lang="zh-CN" altLang="en-US" dirty="0"/>
              <a:t>将一个</a:t>
            </a:r>
            <a:r>
              <a:rPr lang="en-GB" altLang="zh-CN" dirty="0"/>
              <a:t>DataFrame</a:t>
            </a:r>
            <a:r>
              <a:rPr lang="zh-CN" altLang="en-US" dirty="0"/>
              <a:t>的</a:t>
            </a:r>
            <a:r>
              <a:rPr lang="en-GB" altLang="zh-CN" dirty="0"/>
              <a:t>Symbol</a:t>
            </a:r>
            <a:r>
              <a:rPr lang="zh-CN" altLang="en-US" dirty="0"/>
              <a:t>列设置为行索引，与另一个</a:t>
            </a:r>
            <a:r>
              <a:rPr lang="en-GB" altLang="zh-CN" dirty="0"/>
              <a:t>DataFrame</a:t>
            </a:r>
            <a:r>
              <a:rPr lang="zh-CN" altLang="en-US" dirty="0"/>
              <a:t>的</a:t>
            </a:r>
            <a:r>
              <a:rPr lang="en-GB" altLang="zh-CN" dirty="0"/>
              <a:t>Symbol</a:t>
            </a:r>
            <a:r>
              <a:rPr lang="zh-CN" altLang="en-US" dirty="0"/>
              <a:t>列进行</a:t>
            </a:r>
            <a:r>
              <a:rPr lang="en-GB" altLang="zh-CN" dirty="0"/>
              <a:t>join</a:t>
            </a:r>
            <a:endParaRPr lang="en-GB" altLang="zh-CN" dirty="0"/>
          </a:p>
          <a:p>
            <a:r>
              <a:rPr lang="en-GB" altLang="zh-CN" dirty="0"/>
              <a:t>stocks_2016.join(stocks_2018.set_index('Symbol'),</a:t>
            </a:r>
            <a:r>
              <a:rPr lang="en-GB" altLang="zh-CN" dirty="0" err="1"/>
              <a:t>lsuffix</a:t>
            </a:r>
            <a:r>
              <a:rPr lang="en-GB" altLang="zh-CN" dirty="0"/>
              <a:t>='_2016', </a:t>
            </a:r>
            <a:r>
              <a:rPr lang="en-GB" altLang="zh-CN" dirty="0" err="1"/>
              <a:t>rsuffix</a:t>
            </a:r>
            <a:r>
              <a:rPr lang="en-GB" altLang="zh-CN" dirty="0"/>
              <a:t>='_2018',on='Symbol')</a:t>
            </a:r>
            <a:endParaRPr lang="en-GB" altLang="zh-CN" dirty="0"/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380" y="2744470"/>
            <a:ext cx="5727700" cy="1206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err="1"/>
              <a:t>concat</a:t>
            </a:r>
            <a:r>
              <a:rPr lang="zh-CN" altLang="en-US" dirty="0"/>
              <a:t>：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Pandas</a:t>
            </a:r>
            <a:r>
              <a:rPr lang="zh-CN" altLang="en-US" dirty="0"/>
              <a:t>函数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可以垂直和水平地连接两个或多个</a:t>
            </a:r>
            <a:r>
              <a:rPr lang="en-US" altLang="zh-CN" dirty="0"/>
              <a:t>pandas</a:t>
            </a:r>
            <a:r>
              <a:rPr lang="zh-CN" altLang="en-US" dirty="0"/>
              <a:t>对象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只用索引对齐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默认是外连接（也可以设为内连接）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Font typeface="+mj-lt"/>
              <a:buAutoNum type="arabicPeriod" startAt="2"/>
            </a:pPr>
            <a:r>
              <a:rPr lang="en-US" altLang="zh-CN" dirty="0"/>
              <a:t>merge</a:t>
            </a:r>
            <a:r>
              <a:rPr lang="zh-CN" altLang="en-US" dirty="0"/>
              <a:t>：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DataFrame</a:t>
            </a:r>
            <a:r>
              <a:rPr lang="zh-CN" altLang="en-US" dirty="0"/>
              <a:t>方法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只能水平连接两个</a:t>
            </a:r>
            <a:r>
              <a:rPr lang="en-US" altLang="zh-CN" dirty="0"/>
              <a:t>DataFrame</a:t>
            </a:r>
            <a:r>
              <a:rPr lang="zh-CN" altLang="en-US" dirty="0"/>
              <a:t>对象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对齐是靠被调用的</a:t>
            </a:r>
            <a:r>
              <a:rPr lang="en-US" altLang="zh-CN" dirty="0"/>
              <a:t>DataFrame</a:t>
            </a:r>
            <a:r>
              <a:rPr lang="zh-CN" altLang="en-US" dirty="0"/>
              <a:t>的列或行索引和另一个</a:t>
            </a:r>
            <a:r>
              <a:rPr lang="en-US" altLang="zh-CN" dirty="0"/>
              <a:t>DataFrame</a:t>
            </a:r>
            <a:r>
              <a:rPr lang="zh-CN" altLang="en-US" dirty="0"/>
              <a:t>的列或行索引</a:t>
            </a:r>
            <a:r>
              <a:rPr lang="en-US" altLang="zh-CN" dirty="0"/>
              <a:t>(</a:t>
            </a:r>
            <a:r>
              <a:rPr lang="zh-CN" altLang="en-US" dirty="0"/>
              <a:t>值相等连接</a:t>
            </a:r>
            <a:r>
              <a:rPr lang="en-US" altLang="zh-CN" dirty="0"/>
              <a:t>)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默认是内连接（也可以设为左连接、外连接、右连接）</a:t>
            </a: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Font typeface="+mj-lt"/>
              <a:buAutoNum type="arabicPeriod" startAt="3"/>
            </a:pPr>
            <a:r>
              <a:rPr lang="en-US" altLang="zh-CN" dirty="0"/>
              <a:t>join</a:t>
            </a:r>
            <a:r>
              <a:rPr lang="zh-CN" altLang="en-US" dirty="0"/>
              <a:t>：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DataFrame</a:t>
            </a:r>
            <a:r>
              <a:rPr lang="zh-CN" altLang="en-US" dirty="0"/>
              <a:t>方法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只能水平连接两个或多个</a:t>
            </a:r>
            <a:r>
              <a:rPr lang="en-US" altLang="zh-CN" dirty="0"/>
              <a:t>pandas</a:t>
            </a:r>
            <a:r>
              <a:rPr lang="zh-CN" altLang="en-US" dirty="0"/>
              <a:t>对象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对齐是靠被调用的</a:t>
            </a:r>
            <a:r>
              <a:rPr lang="en-US" altLang="zh-CN" dirty="0"/>
              <a:t>DataFrame</a:t>
            </a:r>
            <a:r>
              <a:rPr lang="zh-CN" altLang="en-US" dirty="0"/>
              <a:t>的列或行索引和另一个对象的行索引（不能是列）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默认是左连接（也可以设为内连接、外连接和右连接）</a:t>
            </a: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2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3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heme/theme1.xml><?xml version="1.0" encoding="utf-8"?>
<a:theme xmlns:a="http://schemas.openxmlformats.org/drawingml/2006/main" name="1_课程标题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目录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目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6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6250</Words>
  <Application>WPS 演示</Application>
  <PresentationFormat>宽屏</PresentationFormat>
  <Paragraphs>337</Paragraphs>
  <Slides>36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12</vt:i4>
      </vt:variant>
      <vt:variant>
        <vt:lpstr>幻灯片标题</vt:lpstr>
      </vt:variant>
      <vt:variant>
        <vt:i4>36</vt:i4>
      </vt:variant>
    </vt:vector>
  </HeadingPairs>
  <TitlesOfParts>
    <vt:vector size="71" baseType="lpstr">
      <vt:lpstr>Arial</vt:lpstr>
      <vt:lpstr>方正书宋_GBK</vt:lpstr>
      <vt:lpstr>Wingdings</vt:lpstr>
      <vt:lpstr>Calibri</vt:lpstr>
      <vt:lpstr>Helvetica Neue</vt:lpstr>
      <vt:lpstr>宋体</vt:lpstr>
      <vt:lpstr>汉仪书宋二KW</vt:lpstr>
      <vt:lpstr>黑体</vt:lpstr>
      <vt:lpstr>阿里巴巴普惠体</vt:lpstr>
      <vt:lpstr>苹方-简</vt:lpstr>
      <vt:lpstr>Segoe UI</vt:lpstr>
      <vt:lpstr>微软雅黑</vt:lpstr>
      <vt:lpstr>Segoe UI Light</vt:lpstr>
      <vt:lpstr>微软雅黑 Light</vt:lpstr>
      <vt:lpstr>汉仪旗黑</vt:lpstr>
      <vt:lpstr>Alibaba PuHuiTi B</vt:lpstr>
      <vt:lpstr>Alibaba PuHuiTi R</vt:lpstr>
      <vt:lpstr>Verdana</vt:lpstr>
      <vt:lpstr>Alibaba PuHuiTi M</vt:lpstr>
      <vt:lpstr>宋体</vt:lpstr>
      <vt:lpstr>Arial Unicode MS</vt:lpstr>
      <vt:lpstr>等线</vt:lpstr>
      <vt:lpstr>汉仪中等线KW</vt:lpstr>
      <vt:lpstr>1_课程标题页</vt:lpstr>
      <vt:lpstr>2_目录设计方案</vt:lpstr>
      <vt:lpstr>3_目标设计方案</vt:lpstr>
      <vt:lpstr>4_正文设计方案</vt:lpstr>
      <vt:lpstr>5_结束页设计方案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6_结束页设计方案</vt:lpstr>
      <vt:lpstr>数据组合</vt:lpstr>
      <vt:lpstr>PowerPoint 演示文稿</vt:lpstr>
      <vt:lpstr>PowerPoint 演示文稿</vt:lpstr>
      <vt:lpstr>1 简介</vt:lpstr>
      <vt:lpstr>PowerPoint 演示文稿</vt:lpstr>
      <vt:lpstr>2 连接数据</vt:lpstr>
      <vt:lpstr>2 连接数据</vt:lpstr>
      <vt:lpstr>2 连接数据</vt:lpstr>
      <vt:lpstr>2 连接数据</vt:lpstr>
      <vt:lpstr>2 连接数据</vt:lpstr>
      <vt:lpstr>2 连接数据</vt:lpstr>
      <vt:lpstr>2 连接数据</vt:lpstr>
      <vt:lpstr>2 连接数据</vt:lpstr>
      <vt:lpstr>2 连接数据</vt:lpstr>
      <vt:lpstr>2 连接数据</vt:lpstr>
      <vt:lpstr>2 连接数据</vt:lpstr>
      <vt:lpstr>PowerPoint 演示文稿</vt:lpstr>
      <vt:lpstr>3 合并多个数据集</vt:lpstr>
      <vt:lpstr>3 合并多个数据集</vt:lpstr>
      <vt:lpstr>3 合并多个数据集</vt:lpstr>
      <vt:lpstr>3 合并多个数据集</vt:lpstr>
      <vt:lpstr>3 合并多个数据集</vt:lpstr>
      <vt:lpstr>3 合并多个数据集</vt:lpstr>
      <vt:lpstr>3 合并多个数据集</vt:lpstr>
      <vt:lpstr>3 合并多个数据集</vt:lpstr>
      <vt:lpstr>3 合并多个数据集</vt:lpstr>
      <vt:lpstr>3 合并多个数据集</vt:lpstr>
      <vt:lpstr>3 合并多个数据集</vt:lpstr>
      <vt:lpstr>3 合并多个数据集</vt:lpstr>
      <vt:lpstr>3 合并多个数据集</vt:lpstr>
      <vt:lpstr>3 合并多个数据集</vt:lpstr>
      <vt:lpstr>3 合并多个数据集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hanfeihu</cp:lastModifiedBy>
  <cp:revision>215</cp:revision>
  <dcterms:created xsi:type="dcterms:W3CDTF">2021-06-29T15:06:01Z</dcterms:created>
  <dcterms:modified xsi:type="dcterms:W3CDTF">2021-06-29T15:06:01Z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6D00F4704D1944A1A969643C3A662045</vt:lpwstr>
  </property>
  <property fmtid="{D5CDD505-2E9C-101B-9397-08002B2CF9AE}" pid="3" name="KSOProductBuildVer">
    <vt:lpwstr>2052-3.7.0.5929</vt:lpwstr>
  </property>
</Properties>
</file>