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66" r:id="rId6"/>
    <p:sldMasterId id="2147483668" r:id="rId7"/>
    <p:sldMasterId id="2147483670" r:id="rId8"/>
    <p:sldMasterId id="2147483672" r:id="rId9"/>
    <p:sldMasterId id="2147483674" r:id="rId10"/>
    <p:sldMasterId id="2147483676" r:id="rId11"/>
    <p:sldMasterId id="2147483678" r:id="rId12"/>
    <p:sldMasterId id="2147483692" r:id="rId13"/>
  </p:sldMasterIdLst>
  <p:notesMasterIdLst>
    <p:notesMasterId r:id="rId15"/>
  </p:notesMasterIdLst>
  <p:sldIdLst>
    <p:sldId id="260" r:id="rId14"/>
    <p:sldId id="424" r:id="rId16"/>
    <p:sldId id="268" r:id="rId17"/>
    <p:sldId id="265" r:id="rId18"/>
    <p:sldId id="427" r:id="rId19"/>
    <p:sldId id="449" r:id="rId20"/>
    <p:sldId id="448" r:id="rId21"/>
    <p:sldId id="429" r:id="rId22"/>
    <p:sldId id="430" r:id="rId23"/>
    <p:sldId id="431" r:id="rId24"/>
    <p:sldId id="438" r:id="rId25"/>
    <p:sldId id="432" r:id="rId26"/>
    <p:sldId id="450" r:id="rId27"/>
    <p:sldId id="451" r:id="rId28"/>
    <p:sldId id="452" r:id="rId29"/>
    <p:sldId id="453" r:id="rId30"/>
    <p:sldId id="439" r:id="rId31"/>
    <p:sldId id="434" r:id="rId32"/>
    <p:sldId id="433" r:id="rId33"/>
    <p:sldId id="456" r:id="rId34"/>
    <p:sldId id="435" r:id="rId35"/>
    <p:sldId id="440" r:id="rId36"/>
    <p:sldId id="436" r:id="rId37"/>
    <p:sldId id="437" r:id="rId38"/>
    <p:sldId id="264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C00000"/>
    <a:srgbClr val="0000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6379" autoAdjust="0"/>
  </p:normalViewPr>
  <p:slideViewPr>
    <p:cSldViewPr snapToGrid="0">
      <p:cViewPr varScale="1">
        <p:scale>
          <a:sx n="137" d="100"/>
          <a:sy n="137" d="100"/>
        </p:scale>
        <p:origin x="20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5.xml"/><Relationship Id="rId38" Type="http://schemas.openxmlformats.org/officeDocument/2006/relationships/slide" Target="slides/slide24.xml"/><Relationship Id="rId37" Type="http://schemas.openxmlformats.org/officeDocument/2006/relationships/slide" Target="slides/slide23.xml"/><Relationship Id="rId36" Type="http://schemas.openxmlformats.org/officeDocument/2006/relationships/slide" Target="slides/slide22.xml"/><Relationship Id="rId35" Type="http://schemas.openxmlformats.org/officeDocument/2006/relationships/slide" Target="slides/slide21.xml"/><Relationship Id="rId34" Type="http://schemas.openxmlformats.org/officeDocument/2006/relationships/slide" Target="slides/slide20.xml"/><Relationship Id="rId33" Type="http://schemas.openxmlformats.org/officeDocument/2006/relationships/slide" Target="slides/slide19.xml"/><Relationship Id="rId32" Type="http://schemas.openxmlformats.org/officeDocument/2006/relationships/slide" Target="slides/slide18.xml"/><Relationship Id="rId31" Type="http://schemas.openxmlformats.org/officeDocument/2006/relationships/slide" Target="slides/slide17.xml"/><Relationship Id="rId30" Type="http://schemas.openxmlformats.org/officeDocument/2006/relationships/slide" Target="slides/slide1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5.xml"/><Relationship Id="rId28" Type="http://schemas.openxmlformats.org/officeDocument/2006/relationships/slide" Target="slides/slide14.xml"/><Relationship Id="rId27" Type="http://schemas.openxmlformats.org/officeDocument/2006/relationships/slide" Target="slides/slide13.xml"/><Relationship Id="rId26" Type="http://schemas.openxmlformats.org/officeDocument/2006/relationships/slide" Target="slides/slide12.xml"/><Relationship Id="rId25" Type="http://schemas.openxmlformats.org/officeDocument/2006/relationships/slide" Target="slides/slide11.xml"/><Relationship Id="rId24" Type="http://schemas.openxmlformats.org/officeDocument/2006/relationships/slide" Target="slides/slide10.xml"/><Relationship Id="rId23" Type="http://schemas.openxmlformats.org/officeDocument/2006/relationships/slide" Target="slides/slide9.xml"/><Relationship Id="rId22" Type="http://schemas.openxmlformats.org/officeDocument/2006/relationships/slide" Target="slides/slide8.xml"/><Relationship Id="rId21" Type="http://schemas.openxmlformats.org/officeDocument/2006/relationships/slide" Target="slides/slide7.xml"/><Relationship Id="rId20" Type="http://schemas.openxmlformats.org/officeDocument/2006/relationships/slide" Target="slides/slide6.xml"/><Relationship Id="rId2" Type="http://schemas.openxmlformats.org/officeDocument/2006/relationships/theme" Target="theme/theme1.xml"/><Relationship Id="rId19" Type="http://schemas.openxmlformats.org/officeDocument/2006/relationships/slide" Target="slides/slide5.xml"/><Relationship Id="rId18" Type="http://schemas.openxmlformats.org/officeDocument/2006/relationships/slide" Target="slides/slide4.xml"/><Relationship Id="rId17" Type="http://schemas.openxmlformats.org/officeDocument/2006/relationships/slide" Target="slides/slide3.xml"/><Relationship Id="rId16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2"/>
          <p:cNvSpPr>
            <a:spLocks noGrp="1"/>
          </p:cNvSpPr>
          <p:nvPr>
            <p:ph type="title" hasCustomPrompt="1"/>
          </p:nvPr>
        </p:nvSpPr>
        <p:spPr>
          <a:xfrm>
            <a:off x="2889584" y="3023414"/>
            <a:ext cx="6412832" cy="811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请输入课程标题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218190" y="1830980"/>
            <a:ext cx="6291263" cy="319603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标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048701" y="1940037"/>
            <a:ext cx="5630484" cy="319603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895350" indent="-285750">
              <a:lnSpc>
                <a:spcPct val="150000"/>
              </a:lnSpc>
              <a:buSzPct val="85000"/>
              <a:buFont typeface="Wingdings" panose="05000000000000000000" pitchFamily="2" charset="2"/>
              <a:buChar char="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SzPct val="85000"/>
              <a:buFont typeface="Wingdings" panose="05000000000000000000" pitchFamily="2" charset="2"/>
              <a:buChar char="u"/>
              <a:defRPr sz="1200" b="0">
                <a:solidFill>
                  <a:srgbClr val="404040"/>
                </a:solidFill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>
              <a:lnSpc>
                <a:spcPct val="150000"/>
              </a:lnSpc>
              <a:buFont typeface="+mj-ea"/>
              <a:buAutoNum type="circleNumDbPlai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Font typeface="+mj-lt"/>
              <a:buAutoNum type="alphaLcPeriod"/>
              <a:defRPr sz="12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171575"/>
            <a:ext cx="9845675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172521"/>
            <a:ext cx="9845675" cy="421957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895350" indent="-285750">
              <a:lnSpc>
                <a:spcPct val="150000"/>
              </a:lnSpc>
              <a:buSzPct val="85000"/>
              <a:buFont typeface="Wingdings" panose="05000000000000000000" pitchFamily="2" charset="2"/>
              <a:buChar char="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SzPct val="85000"/>
              <a:buFont typeface="Wingdings" panose="05000000000000000000" pitchFamily="2" charset="2"/>
              <a:buChar char="u"/>
              <a:defRPr sz="1200" b="0">
                <a:solidFill>
                  <a:srgbClr val="404040"/>
                </a:solidFill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172521"/>
            <a:ext cx="9845675" cy="421957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>
              <a:lnSpc>
                <a:spcPct val="150000"/>
              </a:lnSpc>
              <a:buFont typeface="+mj-ea"/>
              <a:buAutoNum type="circleNumDbPlai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Font typeface="+mj-lt"/>
              <a:buAutoNum type="alphaLcPeriod"/>
              <a:defRPr sz="12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 rot="2700000">
            <a:off x="1856318" y="2330451"/>
            <a:ext cx="2059516" cy="2059516"/>
          </a:xfrm>
          <a:prstGeom prst="rect">
            <a:avLst/>
          </a:pr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7" name="矩形 6"/>
          <p:cNvSpPr/>
          <p:nvPr userDrawn="1"/>
        </p:nvSpPr>
        <p:spPr>
          <a:xfrm rot="2700000">
            <a:off x="1568451" y="2319867"/>
            <a:ext cx="2059517" cy="2059516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045559" y="1903912"/>
            <a:ext cx="5760538" cy="3196039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 rot="2700000">
            <a:off x="1856318" y="2330451"/>
            <a:ext cx="2059516" cy="2059516"/>
          </a:xfrm>
          <a:prstGeom prst="rect">
            <a:avLst/>
          </a:prstGeom>
          <a:noFill/>
          <a:ln w="63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7" name="矩形 6"/>
          <p:cNvSpPr/>
          <p:nvPr userDrawn="1"/>
        </p:nvSpPr>
        <p:spPr>
          <a:xfrm rot="2700000">
            <a:off x="1568451" y="2319867"/>
            <a:ext cx="2059517" cy="2059516"/>
          </a:xfrm>
          <a:prstGeom prst="rect">
            <a:avLst/>
          </a:prstGeom>
          <a:solidFill>
            <a:srgbClr val="404040"/>
          </a:solidFill>
          <a:ln w="63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045559" y="1903912"/>
            <a:ext cx="5760538" cy="3196039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218190" y="1830980"/>
            <a:ext cx="6291263" cy="319603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emf"/><Relationship Id="rId8" Type="http://schemas.openxmlformats.org/officeDocument/2006/relationships/image" Target="../media/image7.emf"/><Relationship Id="rId7" Type="http://schemas.openxmlformats.org/officeDocument/2006/relationships/image" Target="../media/image6.emf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png"/><Relationship Id="rId3" Type="http://schemas.openxmlformats.org/officeDocument/2006/relationships/image" Target="../media/image2.emf"/><Relationship Id="rId20" Type="http://schemas.openxmlformats.org/officeDocument/2006/relationships/theme" Target="../theme/theme1.xml"/><Relationship Id="rId2" Type="http://schemas.openxmlformats.org/officeDocument/2006/relationships/image" Target="../media/image1.emf"/><Relationship Id="rId19" Type="http://schemas.openxmlformats.org/officeDocument/2006/relationships/image" Target="../media/image18.emf"/><Relationship Id="rId18" Type="http://schemas.openxmlformats.org/officeDocument/2006/relationships/image" Target="../media/image17.emf"/><Relationship Id="rId17" Type="http://schemas.openxmlformats.org/officeDocument/2006/relationships/image" Target="../media/image16.emf"/><Relationship Id="rId16" Type="http://schemas.openxmlformats.org/officeDocument/2006/relationships/image" Target="../media/image15.emf"/><Relationship Id="rId15" Type="http://schemas.openxmlformats.org/officeDocument/2006/relationships/image" Target="../media/image14.emf"/><Relationship Id="rId14" Type="http://schemas.openxmlformats.org/officeDocument/2006/relationships/image" Target="../media/image13.emf"/><Relationship Id="rId13" Type="http://schemas.openxmlformats.org/officeDocument/2006/relationships/image" Target="../media/image12.emf"/><Relationship Id="rId12" Type="http://schemas.openxmlformats.org/officeDocument/2006/relationships/image" Target="../media/image11.emf"/><Relationship Id="rId11" Type="http://schemas.openxmlformats.org/officeDocument/2006/relationships/image" Target="../media/image10.emf"/><Relationship Id="rId10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3" Type="http://schemas.openxmlformats.org/officeDocument/2006/relationships/theme" Target="../theme/theme4.xml"/><Relationship Id="rId12" Type="http://schemas.openxmlformats.org/officeDocument/2006/relationships/image" Target="../media/image19.png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7.xml"/></Relationships>
</file>

<file path=ppt/slideMasters/_rels/slideMaster8.xml.rels><?xml version="1.0" encoding="UTF-8" standalone="yes"?>
<Relationships xmlns="http://schemas.openxmlformats.org/package/2006/relationships"><Relationship Id="rId4" Type="http://schemas.openxmlformats.org/officeDocument/2006/relationships/theme" Target="../theme/theme8.xml"/><Relationship Id="rId3" Type="http://schemas.openxmlformats.org/officeDocument/2006/relationships/image" Target="../media/image1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0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5" Type="http://schemas.openxmlformats.org/officeDocument/2006/relationships/theme" Target="../theme/theme11.xml"/><Relationship Id="rId14" Type="http://schemas.openxmlformats.org/officeDocument/2006/relationships/image" Target="../media/image24.png"/><Relationship Id="rId1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1452" y="855134"/>
            <a:ext cx="4169833" cy="4586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4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518" y="1420285"/>
            <a:ext cx="2933700" cy="3272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椭圆 3"/>
          <p:cNvSpPr/>
          <p:nvPr userDrawn="1"/>
        </p:nvSpPr>
        <p:spPr bwMode="auto">
          <a:xfrm>
            <a:off x="8509000" y="1845733"/>
            <a:ext cx="618067" cy="61806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5" name="椭圆 4"/>
          <p:cNvSpPr/>
          <p:nvPr userDrawn="1"/>
        </p:nvSpPr>
        <p:spPr bwMode="auto">
          <a:xfrm>
            <a:off x="3268134" y="2332567"/>
            <a:ext cx="245533" cy="245533"/>
          </a:xfrm>
          <a:prstGeom prst="ellipse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6" name="椭圆 10"/>
          <p:cNvSpPr>
            <a:spLocks noChangeArrowheads="1"/>
          </p:cNvSpPr>
          <p:nvPr userDrawn="1"/>
        </p:nvSpPr>
        <p:spPr bwMode="auto">
          <a:xfrm>
            <a:off x="6987118" y="5249334"/>
            <a:ext cx="292100" cy="2921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7" name="椭圆 6"/>
          <p:cNvSpPr/>
          <p:nvPr userDrawn="1"/>
        </p:nvSpPr>
        <p:spPr bwMode="auto">
          <a:xfrm>
            <a:off x="4353985" y="2586567"/>
            <a:ext cx="171449" cy="17356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1032" name="图片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452" y="2108201"/>
            <a:ext cx="2899833" cy="793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5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218" y="1947334"/>
            <a:ext cx="283633" cy="387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34" name="组合 43"/>
          <p:cNvGrpSpPr/>
          <p:nvPr userDrawn="1"/>
        </p:nvGrpSpPr>
        <p:grpSpPr bwMode="auto">
          <a:xfrm>
            <a:off x="8134351" y="2334685"/>
            <a:ext cx="173567" cy="171449"/>
            <a:chOff x="6101548" y="1750326"/>
            <a:chExt cx="129654" cy="129654"/>
          </a:xfrm>
        </p:grpSpPr>
        <p:sp>
          <p:nvSpPr>
            <p:cNvPr id="13" name="椭圆 12"/>
            <p:cNvSpPr/>
            <p:nvPr/>
          </p:nvSpPr>
          <p:spPr bwMode="auto">
            <a:xfrm>
              <a:off x="6101548" y="1750326"/>
              <a:ext cx="129654" cy="129654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6" name="Picture 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5394" y="1772988"/>
              <a:ext cx="84329" cy="84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035" name="Picture 7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1201" y="5325534"/>
            <a:ext cx="156633" cy="182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36" name="组合 41"/>
          <p:cNvGrpSpPr/>
          <p:nvPr userDrawn="1"/>
        </p:nvGrpSpPr>
        <p:grpSpPr bwMode="auto">
          <a:xfrm>
            <a:off x="4053418" y="728134"/>
            <a:ext cx="300567" cy="300567"/>
            <a:chOff x="3039900" y="545911"/>
            <a:chExt cx="225188" cy="225188"/>
          </a:xfrm>
        </p:grpSpPr>
        <p:sp>
          <p:nvSpPr>
            <p:cNvPr id="17" name="椭圆 16"/>
            <p:cNvSpPr/>
            <p:nvPr/>
          </p:nvSpPr>
          <p:spPr bwMode="auto">
            <a:xfrm>
              <a:off x="3039900" y="545911"/>
              <a:ext cx="225188" cy="225188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2" name="Picture 8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775" y="600432"/>
              <a:ext cx="143438" cy="1100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37" name="组合 37"/>
          <p:cNvGrpSpPr/>
          <p:nvPr userDrawn="1"/>
        </p:nvGrpSpPr>
        <p:grpSpPr bwMode="auto">
          <a:xfrm>
            <a:off x="3448052" y="4030133"/>
            <a:ext cx="247649" cy="247651"/>
            <a:chOff x="2586251" y="3022980"/>
            <a:chExt cx="88710" cy="88710"/>
          </a:xfrm>
          <a:solidFill>
            <a:srgbClr val="C00000"/>
          </a:solidFill>
        </p:grpSpPr>
        <p:sp>
          <p:nvSpPr>
            <p:cNvPr id="20" name="椭圆 9"/>
            <p:cNvSpPr>
              <a:spLocks noChangeArrowheads="1"/>
            </p:cNvSpPr>
            <p:nvPr/>
          </p:nvSpPr>
          <p:spPr bwMode="auto">
            <a:xfrm>
              <a:off x="2586251" y="3022980"/>
              <a:ext cx="88710" cy="88710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4" name="Picture 10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2611596" y="3041493"/>
              <a:ext cx="45720" cy="51684"/>
            </a:xfrm>
            <a:prstGeom prst="rect">
              <a:avLst/>
            </a:prstGeom>
            <a:grpFill/>
            <a:ln>
              <a:noFill/>
            </a:ln>
            <a:effectLst/>
          </p:spPr>
        </p:pic>
      </p:grpSp>
      <p:pic>
        <p:nvPicPr>
          <p:cNvPr id="1038" name="Picture 1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085" y="2633134"/>
            <a:ext cx="95249" cy="103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椭圆 22"/>
          <p:cNvSpPr/>
          <p:nvPr userDrawn="1"/>
        </p:nvSpPr>
        <p:spPr bwMode="auto">
          <a:xfrm>
            <a:off x="9484785" y="3507318"/>
            <a:ext cx="334433" cy="332316"/>
          </a:xfrm>
          <a:prstGeom prst="ellipse">
            <a:avLst/>
          </a:prstGeom>
          <a:solidFill>
            <a:schemeClr val="tx1">
              <a:lumMod val="75000"/>
              <a:lumOff val="25000"/>
              <a:alpha val="8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1040" name="Picture 15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7333" y="3587752"/>
            <a:ext cx="177800" cy="171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41" name="组合 46"/>
          <p:cNvGrpSpPr/>
          <p:nvPr userDrawn="1"/>
        </p:nvGrpSpPr>
        <p:grpSpPr bwMode="auto">
          <a:xfrm>
            <a:off x="3103034" y="4514851"/>
            <a:ext cx="345017" cy="345016"/>
            <a:chOff x="1798978" y="3519004"/>
            <a:chExt cx="259307" cy="259307"/>
          </a:xfrm>
        </p:grpSpPr>
        <p:sp>
          <p:nvSpPr>
            <p:cNvPr id="26" name="椭圆 25"/>
            <p:cNvSpPr/>
            <p:nvPr/>
          </p:nvSpPr>
          <p:spPr bwMode="auto">
            <a:xfrm>
              <a:off x="1798978" y="3519004"/>
              <a:ext cx="259307" cy="259307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3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2" name="Picture 2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039" y="3616294"/>
              <a:ext cx="173184" cy="859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2" name="组合 38"/>
          <p:cNvGrpSpPr/>
          <p:nvPr userDrawn="1"/>
        </p:nvGrpSpPr>
        <p:grpSpPr bwMode="auto">
          <a:xfrm>
            <a:off x="1301752" y="1394885"/>
            <a:ext cx="400049" cy="400049"/>
            <a:chOff x="748396" y="764271"/>
            <a:chExt cx="300782" cy="300782"/>
          </a:xfrm>
        </p:grpSpPr>
        <p:sp>
          <p:nvSpPr>
            <p:cNvPr id="29" name="椭圆 28"/>
            <p:cNvSpPr/>
            <p:nvPr/>
          </p:nvSpPr>
          <p:spPr bwMode="auto">
            <a:xfrm>
              <a:off x="748396" y="764271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4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0" name="Picture 4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106" y="856341"/>
              <a:ext cx="203362" cy="1166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3" name="组合 42"/>
          <p:cNvGrpSpPr/>
          <p:nvPr userDrawn="1"/>
        </p:nvGrpSpPr>
        <p:grpSpPr bwMode="auto">
          <a:xfrm>
            <a:off x="2351618" y="5854700"/>
            <a:ext cx="400049" cy="400051"/>
            <a:chOff x="1365228" y="4292790"/>
            <a:chExt cx="300782" cy="300782"/>
          </a:xfrm>
        </p:grpSpPr>
        <p:sp>
          <p:nvSpPr>
            <p:cNvPr id="32" name="椭圆 31"/>
            <p:cNvSpPr/>
            <p:nvPr/>
          </p:nvSpPr>
          <p:spPr bwMode="auto">
            <a:xfrm>
              <a:off x="1365228" y="4292790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8" name="Picture 5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7391" y="4364115"/>
              <a:ext cx="196455" cy="1581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4" name="组合 1"/>
          <p:cNvGrpSpPr/>
          <p:nvPr userDrawn="1"/>
        </p:nvGrpSpPr>
        <p:grpSpPr bwMode="auto">
          <a:xfrm>
            <a:off x="1559985" y="3492500"/>
            <a:ext cx="400049" cy="400051"/>
            <a:chOff x="1169908" y="2618983"/>
            <a:chExt cx="300782" cy="300782"/>
          </a:xfrm>
        </p:grpSpPr>
        <p:sp>
          <p:nvSpPr>
            <p:cNvPr id="35" name="椭圆 34"/>
            <p:cNvSpPr/>
            <p:nvPr/>
          </p:nvSpPr>
          <p:spPr bwMode="auto">
            <a:xfrm>
              <a:off x="1169908" y="2618983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6" name="Picture 6"/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4531" y="2690308"/>
              <a:ext cx="211536" cy="181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5" name="组合 49"/>
          <p:cNvGrpSpPr/>
          <p:nvPr userDrawn="1"/>
        </p:nvGrpSpPr>
        <p:grpSpPr bwMode="auto">
          <a:xfrm>
            <a:off x="10375901" y="5395385"/>
            <a:ext cx="427567" cy="427567"/>
            <a:chOff x="7874758" y="4418464"/>
            <a:chExt cx="320722" cy="320722"/>
          </a:xfrm>
        </p:grpSpPr>
        <p:sp>
          <p:nvSpPr>
            <p:cNvPr id="38" name="椭圆 37"/>
            <p:cNvSpPr/>
            <p:nvPr/>
          </p:nvSpPr>
          <p:spPr bwMode="auto">
            <a:xfrm>
              <a:off x="7874758" y="4418464"/>
              <a:ext cx="320722" cy="32072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4" name="Picture 7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16542" y="4486356"/>
              <a:ext cx="237154" cy="1849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046" name="Picture 9"/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234" y="2364318"/>
            <a:ext cx="169333" cy="182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47" name="组合 45"/>
          <p:cNvGrpSpPr/>
          <p:nvPr userDrawn="1"/>
        </p:nvGrpSpPr>
        <p:grpSpPr bwMode="auto">
          <a:xfrm>
            <a:off x="8818034" y="4578351"/>
            <a:ext cx="345017" cy="345016"/>
            <a:chOff x="8470946" y="4206098"/>
            <a:chExt cx="259071" cy="259071"/>
          </a:xfrm>
        </p:grpSpPr>
        <p:sp>
          <p:nvSpPr>
            <p:cNvPr id="42" name="椭圆 41"/>
            <p:cNvSpPr/>
            <p:nvPr/>
          </p:nvSpPr>
          <p:spPr bwMode="auto">
            <a:xfrm>
              <a:off x="8470946" y="4206098"/>
              <a:ext cx="259071" cy="259071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23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2" name="Picture 10"/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30841" y="4263524"/>
              <a:ext cx="145353" cy="144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8" name="组合 44"/>
          <p:cNvGrpSpPr/>
          <p:nvPr userDrawn="1"/>
        </p:nvGrpSpPr>
        <p:grpSpPr bwMode="auto">
          <a:xfrm>
            <a:off x="9745134" y="1217084"/>
            <a:ext cx="429684" cy="429683"/>
            <a:chOff x="7308304" y="912172"/>
            <a:chExt cx="323068" cy="323068"/>
          </a:xfrm>
        </p:grpSpPr>
        <p:sp>
          <p:nvSpPr>
            <p:cNvPr id="45" name="椭圆 44"/>
            <p:cNvSpPr/>
            <p:nvPr/>
          </p:nvSpPr>
          <p:spPr bwMode="auto">
            <a:xfrm>
              <a:off x="7308304" y="912172"/>
              <a:ext cx="323068" cy="323068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31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0" name="Picture 11"/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8238" y="989568"/>
              <a:ext cx="203200" cy="168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33117"/>
            <a:ext cx="1301749" cy="1248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3075" name="圆角矩形 3"/>
          <p:cNvSpPr/>
          <p:nvPr userDrawn="1"/>
        </p:nvSpPr>
        <p:spPr bwMode="auto">
          <a:xfrm>
            <a:off x="9834034" y="-25399"/>
            <a:ext cx="1708151" cy="836084"/>
          </a:xfrm>
          <a:custGeom>
            <a:avLst/>
            <a:gdLst>
              <a:gd name="T0" fmla="*/ 22386923 w 1180531"/>
              <a:gd name="T1" fmla="*/ 0 h 577560"/>
              <a:gd name="T2" fmla="*/ 22386923 w 1180531"/>
              <a:gd name="T3" fmla="*/ 8917360 h 577560"/>
              <a:gd name="T4" fmla="*/ 20196321 w 1180531"/>
              <a:gd name="T5" fmla="*/ 11146814 h 577560"/>
              <a:gd name="T6" fmla="*/ 2190580 w 1180531"/>
              <a:gd name="T7" fmla="*/ 11146814 h 577560"/>
              <a:gd name="T8" fmla="*/ 0 w 1180531"/>
              <a:gd name="T9" fmla="*/ 8917360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3076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67733"/>
            <a:ext cx="1686984" cy="69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33117"/>
            <a:ext cx="10818284" cy="1248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MH_Others_1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2611967" y="2556933"/>
            <a:ext cx="859367" cy="3524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91440" tIns="45720" rIns="91440" bIns="4572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48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Contents</a:t>
            </a:r>
            <a:endParaRPr lang="en-US" altLang="zh-CN" sz="48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MH_Others_2"/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2264834" y="1221318"/>
            <a:ext cx="1248833" cy="1246716"/>
          </a:xfrm>
          <a:prstGeom prst="ellipse">
            <a:avLst/>
          </a:prstGeom>
          <a:solidFill>
            <a:srgbClr val="404040"/>
          </a:solidFill>
          <a:ln w="0">
            <a:solidFill>
              <a:srgbClr val="FFFFFF">
                <a:alpha val="49000"/>
              </a:srgbClr>
            </a:solidFill>
          </a:ln>
        </p:spPr>
        <p:txBody>
          <a:bodyPr lIns="91440" tIns="45720" rIns="91440" bIns="18000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9335"/>
              </a:lnSpc>
              <a:spcBef>
                <a:spcPct val="0"/>
              </a:spcBef>
              <a:buNone/>
              <a:defRPr/>
            </a:pPr>
            <a:r>
              <a:rPr lang="zh-CN" altLang="en-US" sz="5400" b="1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目</a:t>
            </a:r>
            <a:endParaRPr lang="zh-CN" altLang="en-US" sz="5400" b="1" dirty="0">
              <a:solidFill>
                <a:srgbClr val="FFFFFF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MH_Others_3"/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1775520" y="2346261"/>
            <a:ext cx="979155" cy="979155"/>
          </a:xfrm>
          <a:prstGeom prst="ellipse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5400" b="1" dirty="0">
                <a:ln w="3175">
                  <a:solidFill>
                    <a:srgbClr val="FFFFFF"/>
                  </a:solidFill>
                </a:ln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录</a:t>
            </a:r>
            <a:endParaRPr lang="zh-CN" altLang="en-US" sz="5400" b="1" dirty="0">
              <a:ln w="3175">
                <a:solidFill>
                  <a:srgbClr val="FFFFFF"/>
                </a:solidFill>
              </a:ln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33117"/>
            <a:ext cx="1301749" cy="1248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3075" name="圆角矩形 3"/>
          <p:cNvSpPr/>
          <p:nvPr userDrawn="1"/>
        </p:nvSpPr>
        <p:spPr bwMode="auto">
          <a:xfrm>
            <a:off x="9834034" y="-25399"/>
            <a:ext cx="1708151" cy="836084"/>
          </a:xfrm>
          <a:custGeom>
            <a:avLst/>
            <a:gdLst>
              <a:gd name="T0" fmla="*/ 22386923 w 1180531"/>
              <a:gd name="T1" fmla="*/ 0 h 577560"/>
              <a:gd name="T2" fmla="*/ 22386923 w 1180531"/>
              <a:gd name="T3" fmla="*/ 8917360 h 577560"/>
              <a:gd name="T4" fmla="*/ 20196321 w 1180531"/>
              <a:gd name="T5" fmla="*/ 11146814 h 577560"/>
              <a:gd name="T6" fmla="*/ 2190580 w 1180531"/>
              <a:gd name="T7" fmla="*/ 11146814 h 577560"/>
              <a:gd name="T8" fmla="*/ 0 w 1180531"/>
              <a:gd name="T9" fmla="*/ 8917360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3076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67733"/>
            <a:ext cx="1686984" cy="69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33117"/>
            <a:ext cx="10818284" cy="1248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464051" y="1845734"/>
            <a:ext cx="0" cy="326390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 userDrawn="1"/>
        </p:nvSpPr>
        <p:spPr>
          <a:xfrm>
            <a:off x="4415367" y="1797052"/>
            <a:ext cx="97367" cy="9524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12" name="椭圆 11"/>
          <p:cNvSpPr/>
          <p:nvPr userDrawn="1"/>
        </p:nvSpPr>
        <p:spPr>
          <a:xfrm>
            <a:off x="4415367" y="5109633"/>
            <a:ext cx="97367" cy="9525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14" name="标题占位符 1"/>
          <p:cNvSpPr txBox="1">
            <a:spLocks noChangeArrowheads="1"/>
          </p:cNvSpPr>
          <p:nvPr userDrawn="1"/>
        </p:nvSpPr>
        <p:spPr bwMode="auto">
          <a:xfrm>
            <a:off x="1390651" y="2565401"/>
            <a:ext cx="2294467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265" b="1" kern="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lang="zh-TW" altLang="zh-CN" sz="4265" b="1" kern="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占位符 1"/>
          <p:cNvSpPr txBox="1">
            <a:spLocks noChangeArrowheads="1"/>
          </p:cNvSpPr>
          <p:nvPr userDrawn="1"/>
        </p:nvSpPr>
        <p:spPr bwMode="auto">
          <a:xfrm>
            <a:off x="1678518" y="3431118"/>
            <a:ext cx="2821516" cy="68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>
              <a:defRPr/>
            </a:pPr>
            <a:r>
              <a:rPr lang="en-US" altLang="zh-CN" sz="32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  <a:endParaRPr lang="zh-TW" altLang="zh-CN" sz="32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18"/>
          <p:cNvGrpSpPr/>
          <p:nvPr userDrawn="1"/>
        </p:nvGrpSpPr>
        <p:grpSpPr bwMode="auto">
          <a:xfrm>
            <a:off x="658285" y="292101"/>
            <a:ext cx="122767" cy="419100"/>
            <a:chOff x="457200" y="427038"/>
            <a:chExt cx="127000" cy="431800"/>
          </a:xfrm>
        </p:grpSpPr>
        <p:sp>
          <p:nvSpPr>
            <p:cNvPr id="8" name="圆角矩形 1"/>
            <p:cNvSpPr>
              <a:spLocks noChangeArrowheads="1"/>
            </p:cNvSpPr>
            <p:nvPr/>
          </p:nvSpPr>
          <p:spPr bwMode="auto">
            <a:xfrm>
              <a:off x="457200" y="427038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/>
            </a:p>
          </p:txBody>
        </p:sp>
        <p:sp>
          <p:nvSpPr>
            <p:cNvPr id="9" name="圆角矩形 23"/>
            <p:cNvSpPr>
              <a:spLocks noChangeArrowheads="1"/>
            </p:cNvSpPr>
            <p:nvPr/>
          </p:nvSpPr>
          <p:spPr bwMode="auto">
            <a:xfrm>
              <a:off x="457200" y="579695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Segoe UI" panose="020B0502040204020203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" name="圆角矩形 24"/>
            <p:cNvSpPr>
              <a:spLocks noChangeArrowheads="1"/>
            </p:cNvSpPr>
            <p:nvPr/>
          </p:nvSpPr>
          <p:spPr bwMode="auto">
            <a:xfrm>
              <a:off x="457200" y="732351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/>
            </a:p>
          </p:txBody>
        </p:sp>
      </p:grpSp>
      <p:sp>
        <p:nvSpPr>
          <p:cNvPr id="11" name="矩形 10"/>
          <p:cNvSpPr/>
          <p:nvPr userDrawn="1"/>
        </p:nvSpPr>
        <p:spPr bwMode="auto">
          <a:xfrm>
            <a:off x="10890251" y="6733117"/>
            <a:ext cx="1301749" cy="1248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52" name="圆角矩形 3"/>
          <p:cNvSpPr/>
          <p:nvPr userDrawn="1"/>
        </p:nvSpPr>
        <p:spPr bwMode="auto">
          <a:xfrm>
            <a:off x="9834034" y="-25399"/>
            <a:ext cx="1708151" cy="836084"/>
          </a:xfrm>
          <a:custGeom>
            <a:avLst/>
            <a:gdLst>
              <a:gd name="T0" fmla="*/ 22386923 w 1180531"/>
              <a:gd name="T1" fmla="*/ 0 h 577560"/>
              <a:gd name="T2" fmla="*/ 22386923 w 1180531"/>
              <a:gd name="T3" fmla="*/ 8917360 h 577560"/>
              <a:gd name="T4" fmla="*/ 20196321 w 1180531"/>
              <a:gd name="T5" fmla="*/ 11146814 h 577560"/>
              <a:gd name="T6" fmla="*/ 2190580 w 1180531"/>
              <a:gd name="T7" fmla="*/ 11146814 h 577560"/>
              <a:gd name="T8" fmla="*/ 0 w 1180531"/>
              <a:gd name="T9" fmla="*/ 8917360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2053" name="图片 1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67733"/>
            <a:ext cx="1686984" cy="69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33117"/>
            <a:ext cx="10818284" cy="1248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9"/>
          <p:cNvGrpSpPr/>
          <p:nvPr userDrawn="1"/>
        </p:nvGrpSpPr>
        <p:grpSpPr bwMode="auto">
          <a:xfrm>
            <a:off x="2592918" y="2423584"/>
            <a:ext cx="6864349" cy="1049867"/>
            <a:chOff x="1944836" y="1767215"/>
            <a:chExt cx="5147444" cy="787423"/>
          </a:xfrm>
        </p:grpSpPr>
        <p:pic>
          <p:nvPicPr>
            <p:cNvPr id="4099" name="图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1020" y="1767215"/>
              <a:ext cx="1907084" cy="787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9" name="直接连接符 8"/>
            <p:cNvCxnSpPr/>
            <p:nvPr/>
          </p:nvCxnSpPr>
          <p:spPr>
            <a:xfrm>
              <a:off x="1944836" y="2211728"/>
              <a:ext cx="165549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5436781" y="2211728"/>
              <a:ext cx="165549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整理数据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掌握</a:t>
            </a:r>
            <a:r>
              <a:rPr lang="en-GB" altLang="zh-CN" dirty="0"/>
              <a:t>melt</a:t>
            </a:r>
            <a:r>
              <a:rPr lang="zh-CN" altLang="en-US" dirty="0"/>
              <a:t>函数整理数据的方法</a:t>
            </a:r>
            <a:endParaRPr lang="zh-CN" altLang="en-US" dirty="0"/>
          </a:p>
          <a:p>
            <a:r>
              <a:rPr lang="zh-CN" altLang="en-US" dirty="0"/>
              <a:t>掌握</a:t>
            </a:r>
            <a:r>
              <a:rPr lang="en-GB" altLang="zh-CN" dirty="0"/>
              <a:t>stack</a:t>
            </a:r>
            <a:r>
              <a:rPr lang="zh-CN" altLang="en-GB" dirty="0"/>
              <a:t>、</a:t>
            </a:r>
            <a:r>
              <a:rPr lang="en-GB" altLang="zh-CN" dirty="0"/>
              <a:t>unstack</a:t>
            </a:r>
            <a:r>
              <a:rPr lang="zh-CN" altLang="en-US" dirty="0"/>
              <a:t>的用法</a:t>
            </a:r>
            <a:endParaRPr lang="zh-CN" altLang="en-US" dirty="0"/>
          </a:p>
          <a:p>
            <a:r>
              <a:rPr lang="zh-CN" altLang="en-US" dirty="0"/>
              <a:t>掌握</a:t>
            </a:r>
            <a:r>
              <a:rPr lang="en-GB" altLang="zh-CN" dirty="0" err="1"/>
              <a:t>wide_to_long</a:t>
            </a:r>
            <a:r>
              <a:rPr lang="zh-CN" altLang="en-US" dirty="0"/>
              <a:t>函数的用法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b="1" dirty="0">
                <a:solidFill>
                  <a:srgbClr val="FF0000"/>
                </a:solidFill>
              </a:rPr>
              <a:t>melt</a:t>
            </a:r>
            <a:r>
              <a:rPr lang="zh-CN" altLang="en-US" b="1" dirty="0">
                <a:solidFill>
                  <a:srgbClr val="FF0000"/>
                </a:solidFill>
              </a:rPr>
              <a:t>整理数据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en-GB" altLang="zh-CN" b="1" dirty="0"/>
              <a:t>stack</a:t>
            </a:r>
            <a:r>
              <a:rPr lang="zh-CN" altLang="en-US" b="1" dirty="0"/>
              <a:t>整理数据</a:t>
            </a:r>
            <a:endParaRPr lang="zh-CN" altLang="en-US" b="1" dirty="0"/>
          </a:p>
          <a:p>
            <a:r>
              <a:rPr lang="en-GB" altLang="zh-CN" b="1" dirty="0" err="1"/>
              <a:t>wide_to_long</a:t>
            </a:r>
            <a:r>
              <a:rPr lang="zh-CN" altLang="en-US" b="1" dirty="0"/>
              <a:t>整理数据</a:t>
            </a:r>
            <a:endParaRPr lang="zh-CN" altLang="en-US" b="1" dirty="0"/>
          </a:p>
          <a:p>
            <a:r>
              <a:rPr lang="en-GB" altLang="zh-CN" b="1" dirty="0"/>
              <a:t>unstack </a:t>
            </a:r>
            <a:r>
              <a:rPr lang="zh-CN" altLang="en-US" b="1" dirty="0"/>
              <a:t>处理数据</a:t>
            </a:r>
            <a:endParaRPr lang="zh-CN" altLang="en-US" b="1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GB" altLang="zh-CN" dirty="0"/>
              <a:t>melt</a:t>
            </a:r>
            <a:r>
              <a:rPr lang="zh-CN" altLang="en-US" dirty="0"/>
              <a:t>整理数据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1.1</a:t>
            </a:r>
            <a:r>
              <a:rPr lang="zh-CN" altLang="en-US" dirty="0"/>
              <a:t> </a:t>
            </a:r>
            <a:r>
              <a:rPr lang="en-GB" altLang="zh-CN" dirty="0"/>
              <a:t>melt</a:t>
            </a:r>
            <a:r>
              <a:rPr lang="zh-CN" altLang="en-US" dirty="0"/>
              <a:t>函数介绍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pandas</a:t>
            </a:r>
            <a:r>
              <a:rPr lang="zh-CN" altLang="en-US" dirty="0"/>
              <a:t>的</a:t>
            </a:r>
            <a:r>
              <a:rPr lang="en-US" altLang="zh-CN" dirty="0"/>
              <a:t>melt</a:t>
            </a:r>
            <a:r>
              <a:rPr lang="zh-CN" altLang="en-US" dirty="0"/>
              <a:t>函数可以把宽数据集，转换为长数据集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en-GB" altLang="zh-CN" dirty="0"/>
              <a:t>melt</a:t>
            </a:r>
            <a:r>
              <a:rPr lang="zh-CN" altLang="en-US" dirty="0"/>
              <a:t>即是类函数也是实例函数，也就是说既可以用</a:t>
            </a:r>
            <a:r>
              <a:rPr lang="en-GB" altLang="zh-CN" dirty="0" err="1"/>
              <a:t>pd.melt</a:t>
            </a:r>
            <a:r>
              <a:rPr lang="en-GB" altLang="zh-CN" dirty="0"/>
              <a:t>(), </a:t>
            </a:r>
            <a:r>
              <a:rPr lang="zh-CN" altLang="en-US" dirty="0"/>
              <a:t>也可使用</a:t>
            </a:r>
            <a:r>
              <a:rPr lang="en-GB" altLang="zh-CN" dirty="0" err="1"/>
              <a:t>dataframe.melt</a:t>
            </a:r>
            <a:r>
              <a:rPr lang="en-GB" altLang="zh-CN" dirty="0"/>
              <a:t>()</a:t>
            </a:r>
            <a:endParaRPr lang="en-GB" altLang="zh-CN" dirty="0"/>
          </a:p>
          <a:p>
            <a:pPr marL="342900" indent="-342900">
              <a:buFont typeface="+mj-lt"/>
              <a:buAutoNum type="arabicPeriod"/>
            </a:pP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3092786"/>
            <a:ext cx="11887200" cy="3416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GB" altLang="zh-CN" dirty="0"/>
              <a:t>melt</a:t>
            </a:r>
            <a:r>
              <a:rPr lang="zh-CN" altLang="en-US" dirty="0"/>
              <a:t>整理数据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1.2</a:t>
            </a:r>
            <a:r>
              <a:rPr lang="zh-CN" altLang="en-US" dirty="0"/>
              <a:t> </a:t>
            </a:r>
            <a:r>
              <a:rPr lang="en-GB" altLang="zh-CN" dirty="0"/>
              <a:t>melt</a:t>
            </a:r>
            <a:r>
              <a:rPr lang="zh-CN" altLang="en-US" dirty="0"/>
              <a:t>函数使用</a:t>
            </a:r>
            <a:r>
              <a:rPr lang="en-US" altLang="zh-CN" dirty="0"/>
              <a:t>1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988560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加载美国收入与宗教信仰数据，这种数据称为“宽”数据</a:t>
            </a:r>
            <a:endParaRPr lang="en-US" altLang="zh-CN" dirty="0"/>
          </a:p>
          <a:p>
            <a:r>
              <a:rPr lang="en-GB" altLang="zh-CN" dirty="0"/>
              <a:t>import pandas as </a:t>
            </a:r>
            <a:r>
              <a:rPr lang="en-GB" altLang="zh-CN" dirty="0" err="1"/>
              <a:t>pd</a:t>
            </a:r>
            <a:endParaRPr lang="en-GB" altLang="zh-CN" dirty="0"/>
          </a:p>
          <a:p>
            <a:r>
              <a:rPr lang="en-GB" altLang="zh-CN" dirty="0"/>
              <a:t>pew = </a:t>
            </a:r>
            <a:r>
              <a:rPr lang="en-GB" altLang="zh-CN" dirty="0" err="1"/>
              <a:t>pd.read_csv</a:t>
            </a:r>
            <a:r>
              <a:rPr lang="en-GB" altLang="zh-CN" dirty="0"/>
              <a:t>('data/</a:t>
            </a:r>
            <a:r>
              <a:rPr lang="en-GB" altLang="zh-CN" dirty="0" err="1"/>
              <a:t>pew.csv</a:t>
            </a:r>
            <a:r>
              <a:rPr lang="en-GB" altLang="zh-CN" dirty="0"/>
              <a:t>')</a:t>
            </a:r>
            <a:endParaRPr lang="en-GB" altLang="zh-CN" dirty="0"/>
          </a:p>
          <a:p>
            <a:r>
              <a:rPr lang="en-GB" altLang="zh-CN" dirty="0" err="1"/>
              <a:t>pew.head</a:t>
            </a:r>
            <a:r>
              <a:rPr lang="en-GB" altLang="zh-CN" dirty="0"/>
              <a:t>()</a:t>
            </a:r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对于展示数据而言，这种</a:t>
            </a:r>
            <a:r>
              <a:rPr lang="en-US" altLang="zh-CN" dirty="0"/>
              <a:t>"</a:t>
            </a:r>
            <a:r>
              <a:rPr lang="zh-CN" altLang="en-US" dirty="0"/>
              <a:t>宽</a:t>
            </a:r>
            <a:r>
              <a:rPr lang="en-US" altLang="zh-CN" dirty="0"/>
              <a:t>"</a:t>
            </a:r>
            <a:r>
              <a:rPr lang="zh-CN" altLang="en-US" dirty="0"/>
              <a:t>数据没有任何问题，如第一行数据，展示了</a:t>
            </a:r>
            <a:r>
              <a:rPr lang="en-US" altLang="zh-CN" dirty="0"/>
              <a:t>Agnostic</a:t>
            </a:r>
            <a:r>
              <a:rPr lang="zh-CN" altLang="en-US" dirty="0"/>
              <a:t>（不可知论（者））所有的收入分布情况</a:t>
            </a:r>
            <a:endParaRPr lang="zh-CN" altLang="en-US" dirty="0"/>
          </a:p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从数据分析的角度，有时候我们需要把数据由</a:t>
            </a:r>
            <a:r>
              <a:rPr lang="en-US" altLang="zh-CN" dirty="0"/>
              <a:t>"</a:t>
            </a:r>
            <a:r>
              <a:rPr lang="zh-CN" altLang="en-US" dirty="0"/>
              <a:t>宽</a:t>
            </a:r>
            <a:r>
              <a:rPr lang="en-US" altLang="zh-CN" dirty="0"/>
              <a:t>"</a:t>
            </a:r>
            <a:r>
              <a:rPr lang="zh-CN" altLang="en-US" dirty="0"/>
              <a:t>数据，转换成”长”数据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4980" y="2828290"/>
            <a:ext cx="6667500" cy="2527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GB" altLang="zh-CN" dirty="0"/>
              <a:t>melt</a:t>
            </a:r>
            <a:r>
              <a:rPr lang="zh-CN" altLang="en-US" dirty="0"/>
              <a:t>整理数据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1.2</a:t>
            </a:r>
            <a:r>
              <a:rPr lang="zh-CN" altLang="en-US" dirty="0"/>
              <a:t> </a:t>
            </a:r>
            <a:r>
              <a:rPr lang="en-GB" altLang="zh-CN" dirty="0"/>
              <a:t>melt</a:t>
            </a:r>
            <a:r>
              <a:rPr lang="zh-CN" altLang="en-US" dirty="0"/>
              <a:t>函数使用</a:t>
            </a:r>
            <a:r>
              <a:rPr lang="en-US" altLang="zh-CN" dirty="0"/>
              <a:t>1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4"/>
            </a:pPr>
            <a:r>
              <a:rPr lang="zh-CN" altLang="en-US" dirty="0">
                <a:sym typeface="+mn-ea"/>
              </a:rPr>
              <a:t>使用</a:t>
            </a:r>
            <a:r>
              <a:rPr lang="en-US" altLang="zh-CN" dirty="0">
                <a:sym typeface="+mn-ea"/>
              </a:rPr>
              <a:t>melt</a:t>
            </a:r>
            <a:r>
              <a:rPr lang="zh-CN" altLang="en-US" dirty="0">
                <a:sym typeface="+mn-ea"/>
              </a:rPr>
              <a:t>对上面的</a:t>
            </a:r>
            <a:r>
              <a:rPr lang="en-US" altLang="zh-CN" dirty="0">
                <a:sym typeface="+mn-ea"/>
              </a:rPr>
              <a:t>pew</a:t>
            </a:r>
            <a:r>
              <a:rPr lang="zh-CN" altLang="en-US" dirty="0">
                <a:sym typeface="+mn-ea"/>
              </a:rPr>
              <a:t>数据集进行处理</a:t>
            </a:r>
            <a:endParaRPr lang="zh-CN" altLang="en-US" dirty="0"/>
          </a:p>
          <a:p>
            <a:r>
              <a:rPr lang="en-GB" altLang="zh-CN" dirty="0" err="1">
                <a:sym typeface="+mn-ea"/>
              </a:rPr>
              <a:t>pew_long</a:t>
            </a:r>
            <a:r>
              <a:rPr lang="en-GB" altLang="zh-CN" dirty="0">
                <a:sym typeface="+mn-ea"/>
              </a:rPr>
              <a:t> = </a:t>
            </a:r>
            <a:r>
              <a:rPr lang="en-GB" altLang="zh-CN" dirty="0" err="1">
                <a:sym typeface="+mn-ea"/>
              </a:rPr>
              <a:t>pd.melt</a:t>
            </a:r>
            <a:r>
              <a:rPr lang="en-GB" altLang="zh-CN" dirty="0">
                <a:sym typeface="+mn-ea"/>
              </a:rPr>
              <a:t>(</a:t>
            </a:r>
            <a:r>
              <a:rPr lang="en-GB" altLang="zh-CN" dirty="0" err="1">
                <a:sym typeface="+mn-ea"/>
              </a:rPr>
              <a:t>pew,id_vars</a:t>
            </a:r>
            <a:r>
              <a:rPr lang="en-GB" altLang="zh-CN" dirty="0">
                <a:sym typeface="+mn-ea"/>
              </a:rPr>
              <a:t>=</a:t>
            </a:r>
            <a:r>
              <a:rPr dirty="0">
                <a:sym typeface="+mn-ea"/>
              </a:rPr>
              <a:t>'religion'</a:t>
            </a:r>
            <a:r>
              <a:rPr lang="en-GB" altLang="zh-CN" dirty="0">
                <a:sym typeface="+mn-ea"/>
              </a:rPr>
              <a:t>)</a:t>
            </a:r>
            <a:endParaRPr lang="en-GB" altLang="zh-CN" dirty="0"/>
          </a:p>
          <a:p>
            <a:r>
              <a:rPr lang="en-GB" altLang="zh-CN" dirty="0" err="1">
                <a:sym typeface="+mn-ea"/>
              </a:rPr>
              <a:t>pew_long</a:t>
            </a:r>
            <a:r>
              <a:rPr lang="en-US" altLang="en-GB" dirty="0" err="1">
                <a:sym typeface="+mn-ea"/>
              </a:rPr>
              <a:t>.head()</a:t>
            </a:r>
            <a:endParaRPr lang="en-US" altLang="en-GB" dirty="0" err="1">
              <a:sym typeface="+mn-ea"/>
            </a:endParaRPr>
          </a:p>
          <a:p>
            <a:endParaRPr lang="en-US" altLang="en-GB" dirty="0" err="1">
              <a:sym typeface="+mn-ea"/>
            </a:endParaRPr>
          </a:p>
          <a:p>
            <a:endParaRPr lang="en-US" altLang="en-GB" dirty="0" err="1">
              <a:sym typeface="+mn-ea"/>
            </a:endParaRPr>
          </a:p>
          <a:p>
            <a:endParaRPr lang="en-US" altLang="en-GB" dirty="0" err="1">
              <a:sym typeface="+mn-ea"/>
            </a:endParaRPr>
          </a:p>
          <a:p>
            <a:endParaRPr lang="en-US" altLang="en-GB" dirty="0" err="1">
              <a:sym typeface="+mn-ea"/>
            </a:endParaRPr>
          </a:p>
          <a:p>
            <a:endParaRPr lang="en-US" altLang="en-GB" dirty="0" err="1">
              <a:sym typeface="+mn-ea"/>
            </a:endParaRPr>
          </a:p>
          <a:p>
            <a:endParaRPr lang="en-US" altLang="en-GB" dirty="0" err="1">
              <a:sym typeface="+mn-ea"/>
            </a:endParaRPr>
          </a:p>
          <a:p>
            <a:r>
              <a:rPr lang="en-US" altLang="en-GB" dirty="0" err="1">
                <a:sym typeface="+mn-ea"/>
              </a:rPr>
              <a:t>pew_long.shape</a:t>
            </a:r>
            <a:endParaRPr lang="en-US" altLang="en-GB" dirty="0" err="1">
              <a:sym typeface="+mn-ea"/>
            </a:endParaRPr>
          </a:p>
          <a:p>
            <a:endParaRPr lang="en-GB" altLang="zh-CN" dirty="0"/>
          </a:p>
          <a:p>
            <a:endParaRPr lang="en-GB" altLang="zh-CN" dirty="0"/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355" y="3164840"/>
            <a:ext cx="3683000" cy="1949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GB" altLang="zh-CN" dirty="0"/>
              <a:t>melt</a:t>
            </a:r>
            <a:r>
              <a:rPr lang="zh-CN" altLang="en-US" dirty="0"/>
              <a:t>整理数据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1.2</a:t>
            </a:r>
            <a:r>
              <a:rPr lang="zh-CN" altLang="en-US" dirty="0"/>
              <a:t> </a:t>
            </a:r>
            <a:r>
              <a:rPr lang="en-GB" altLang="zh-CN" dirty="0"/>
              <a:t>melt</a:t>
            </a:r>
            <a:r>
              <a:rPr lang="zh-CN" altLang="en-US" dirty="0"/>
              <a:t>函数使用</a:t>
            </a:r>
            <a:r>
              <a:rPr lang="en-US" altLang="zh-CN" dirty="0"/>
              <a:t>1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5"/>
            </a:pPr>
            <a:r>
              <a:rPr lang="zh-CN" altLang="en-US" dirty="0"/>
              <a:t>可以更改</a:t>
            </a:r>
            <a:r>
              <a:rPr lang="en-US" altLang="zh-CN" dirty="0"/>
              <a:t>melt</a:t>
            </a:r>
            <a:r>
              <a:rPr lang="zh-CN" altLang="en-US" dirty="0"/>
              <a:t>之后的数据的列名</a:t>
            </a:r>
            <a:endParaRPr lang="zh-CN" altLang="en-US" dirty="0"/>
          </a:p>
          <a:p>
            <a:r>
              <a:rPr lang="en-GB" altLang="zh-CN" dirty="0" err="1"/>
              <a:t>pew_long</a:t>
            </a:r>
            <a:r>
              <a:rPr lang="en-GB" altLang="zh-CN" dirty="0"/>
              <a:t> = </a:t>
            </a:r>
            <a:r>
              <a:rPr lang="en-GB" altLang="zh-CN" dirty="0" err="1"/>
              <a:t>pd.melt</a:t>
            </a:r>
            <a:r>
              <a:rPr lang="en-GB" altLang="zh-CN" dirty="0"/>
              <a:t>(</a:t>
            </a:r>
            <a:r>
              <a:rPr lang="en-GB" altLang="zh-CN" dirty="0" err="1"/>
              <a:t>pew,id_vars</a:t>
            </a:r>
            <a:r>
              <a:rPr lang="en-GB" altLang="zh-CN" dirty="0"/>
              <a:t>='religion',</a:t>
            </a:r>
            <a:r>
              <a:rPr lang="en-GB" altLang="zh-CN" dirty="0" err="1"/>
              <a:t>var_name</a:t>
            </a:r>
            <a:r>
              <a:rPr lang="en-GB" altLang="zh-CN" dirty="0"/>
              <a:t>='income',</a:t>
            </a:r>
            <a:r>
              <a:rPr lang="en-GB" altLang="zh-CN" dirty="0" err="1"/>
              <a:t>value_name</a:t>
            </a:r>
            <a:r>
              <a:rPr lang="en-GB" altLang="zh-CN" dirty="0"/>
              <a:t>='count')</a:t>
            </a:r>
            <a:endParaRPr lang="en-GB" altLang="zh-CN" dirty="0"/>
          </a:p>
          <a:p>
            <a:r>
              <a:rPr lang="en-GB" altLang="zh-CN" dirty="0" err="1">
                <a:sym typeface="+mn-ea"/>
              </a:rPr>
              <a:t>pew_long</a:t>
            </a:r>
            <a:r>
              <a:rPr lang="en-US" altLang="en-GB" dirty="0" err="1">
                <a:sym typeface="+mn-ea"/>
              </a:rPr>
              <a:t>.head()</a:t>
            </a:r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055" y="3148965"/>
            <a:ext cx="7308850" cy="2444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GB" altLang="zh-CN" dirty="0"/>
              <a:t>melt</a:t>
            </a:r>
            <a:r>
              <a:rPr lang="zh-CN" altLang="en-US" dirty="0"/>
              <a:t>整理数据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1.3</a:t>
            </a:r>
            <a:r>
              <a:rPr lang="zh-CN" altLang="en-US" dirty="0"/>
              <a:t> </a:t>
            </a:r>
            <a:r>
              <a:rPr lang="en-GB" altLang="zh-CN" dirty="0"/>
              <a:t>melt</a:t>
            </a:r>
            <a:r>
              <a:rPr lang="zh-CN" altLang="en-US" dirty="0"/>
              <a:t>函数使用</a:t>
            </a:r>
            <a:r>
              <a:rPr lang="en-US" altLang="zh-CN" dirty="0"/>
              <a:t>2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在使用</a:t>
            </a:r>
            <a:r>
              <a:rPr lang="en-US" altLang="zh-CN" dirty="0"/>
              <a:t>melt</a:t>
            </a:r>
            <a:r>
              <a:rPr lang="zh-CN" altLang="en-US" dirty="0"/>
              <a:t>函数转换数据的时候，也可以固定多数列，只转换少数列</a:t>
            </a:r>
            <a:endParaRPr lang="en-US" altLang="zh-CN" dirty="0"/>
          </a:p>
          <a:p>
            <a:r>
              <a:rPr lang="en-GB" altLang="zh-CN" dirty="0" err="1"/>
              <a:t>bill_board</a:t>
            </a:r>
            <a:r>
              <a:rPr lang="en-GB" altLang="zh-CN" dirty="0"/>
              <a:t> = </a:t>
            </a:r>
            <a:r>
              <a:rPr lang="en-GB" altLang="zh-CN" dirty="0" err="1"/>
              <a:t>pd.read_csv</a:t>
            </a:r>
            <a:r>
              <a:rPr lang="en-GB" altLang="zh-CN" dirty="0"/>
              <a:t>('data/</a:t>
            </a:r>
            <a:r>
              <a:rPr lang="en-GB" altLang="zh-CN" dirty="0" err="1"/>
              <a:t>billboard.csv</a:t>
            </a:r>
            <a:r>
              <a:rPr lang="en-GB" altLang="zh-CN" dirty="0"/>
              <a:t>')</a:t>
            </a:r>
            <a:endParaRPr lang="en-GB" altLang="zh-CN" dirty="0"/>
          </a:p>
          <a:p>
            <a:r>
              <a:rPr lang="en-US" altLang="en-GB" dirty="0"/>
              <a:t>bill_board</a:t>
            </a:r>
            <a:endParaRPr lang="zh-CN" altLang="en-US" dirty="0"/>
          </a:p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使用</a:t>
            </a:r>
            <a:r>
              <a:rPr lang="en-US" altLang="zh-CN" dirty="0"/>
              <a:t>melt </a:t>
            </a:r>
            <a:r>
              <a:rPr lang="zh-CN" altLang="en-US" dirty="0"/>
              <a:t>对上面数据的</a:t>
            </a:r>
            <a:r>
              <a:rPr lang="en-US" altLang="zh-CN" dirty="0"/>
              <a:t>week</a:t>
            </a:r>
            <a:r>
              <a:rPr lang="zh-CN" altLang="en-US" dirty="0"/>
              <a:t>进行处理，转换成长数据</a:t>
            </a:r>
            <a:endParaRPr lang="en-US" altLang="zh-CN" dirty="0"/>
          </a:p>
          <a:p>
            <a:r>
              <a:rPr lang="en-GB" altLang="zh-CN" dirty="0" err="1"/>
              <a:t>bill_borad_long</a:t>
            </a:r>
            <a:r>
              <a:rPr lang="en-GB" altLang="zh-CN" dirty="0"/>
              <a:t> = </a:t>
            </a:r>
            <a:r>
              <a:rPr lang="en-GB" altLang="zh-CN" dirty="0" err="1"/>
              <a:t>pd.melt</a:t>
            </a:r>
            <a:r>
              <a:rPr lang="en-GB" altLang="zh-CN" dirty="0"/>
              <a:t>(</a:t>
            </a:r>
            <a:r>
              <a:rPr lang="en-GB" altLang="zh-CN" dirty="0" err="1"/>
              <a:t>bill_board,id_vars</a:t>
            </a:r>
            <a:r>
              <a:rPr lang="en-GB" altLang="zh-CN" dirty="0"/>
              <a:t>=['year','artist','track','time','</a:t>
            </a:r>
            <a:r>
              <a:rPr lang="en-GB" altLang="zh-CN" dirty="0" err="1"/>
              <a:t>date.entered</a:t>
            </a:r>
            <a:r>
              <a:rPr lang="en-GB" altLang="zh-CN" dirty="0"/>
              <a:t>'],</a:t>
            </a:r>
            <a:endParaRPr lang="en-GB" altLang="zh-CN" dirty="0"/>
          </a:p>
          <a:p>
            <a:r>
              <a:rPr lang="en-GB" altLang="zh-CN" dirty="0"/>
              <a:t>                          </a:t>
            </a:r>
            <a:r>
              <a:rPr lang="en-GB" altLang="zh-CN" dirty="0" err="1"/>
              <a:t>var_name</a:t>
            </a:r>
            <a:r>
              <a:rPr lang="en-GB" altLang="zh-CN" dirty="0"/>
              <a:t>='week',</a:t>
            </a:r>
            <a:r>
              <a:rPr lang="en-GB" altLang="zh-CN" dirty="0" err="1"/>
              <a:t>value_name</a:t>
            </a:r>
            <a:r>
              <a:rPr lang="en-GB" altLang="zh-CN" dirty="0"/>
              <a:t>='rating')</a:t>
            </a:r>
            <a:endParaRPr lang="en-GB" altLang="zh-CN" dirty="0"/>
          </a:p>
          <a:p>
            <a:r>
              <a:rPr lang="en-US" altLang="en-GB" dirty="0"/>
              <a:t>bill_borad_long</a:t>
            </a:r>
            <a:endParaRPr lang="zh-CN" altLang="en-US" dirty="0"/>
          </a:p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当我们查询任意一首歌曲信息时，会发现数据的存储有冗余的情况</a:t>
            </a:r>
            <a:endParaRPr lang="en-US" altLang="zh-CN" dirty="0"/>
          </a:p>
          <a:p>
            <a:r>
              <a:rPr lang="en-GB" altLang="zh-CN" dirty="0" err="1"/>
              <a:t>bill_borad_long</a:t>
            </a:r>
            <a:r>
              <a:rPr lang="en-GB" altLang="zh-CN" dirty="0"/>
              <a:t>[</a:t>
            </a:r>
            <a:r>
              <a:rPr lang="en-GB" altLang="zh-CN" dirty="0" err="1"/>
              <a:t>bill_borad_long.track</a:t>
            </a:r>
            <a:r>
              <a:rPr lang="en-GB" altLang="zh-CN" dirty="0"/>
              <a:t> =='Loser']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GB" altLang="zh-CN" dirty="0"/>
              <a:t>melt</a:t>
            </a:r>
            <a:r>
              <a:rPr lang="zh-CN" altLang="en-US" dirty="0"/>
              <a:t>整理数据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1.3</a:t>
            </a:r>
            <a:r>
              <a:rPr lang="zh-CN" altLang="en-US" dirty="0"/>
              <a:t> </a:t>
            </a:r>
            <a:r>
              <a:rPr lang="en-GB" altLang="zh-CN" dirty="0"/>
              <a:t>melt</a:t>
            </a:r>
            <a:r>
              <a:rPr lang="zh-CN" altLang="en-US" dirty="0"/>
              <a:t>函数使用</a:t>
            </a:r>
            <a:r>
              <a:rPr lang="en-US" altLang="zh-CN" dirty="0"/>
              <a:t>2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4"/>
            </a:pPr>
            <a:r>
              <a:rPr lang="zh-CN" altLang="en-US" dirty="0"/>
              <a:t>实际上，上面的数据包含了两类数据：歌曲信息、周排行信息</a:t>
            </a:r>
            <a:endParaRPr lang="zh-CN" altLang="en-US" dirty="0"/>
          </a:p>
          <a:p>
            <a:r>
              <a:rPr lang="zh-CN" altLang="en-US" b="0" dirty="0"/>
              <a:t>对于同一首歌曲来说，歌曲信息是完全一样的，可以考虑单独保存歌曲信息</a:t>
            </a:r>
            <a:endParaRPr lang="zh-CN" altLang="en-US" b="0" dirty="0"/>
          </a:p>
          <a:p>
            <a:r>
              <a:rPr lang="zh-CN" altLang="en-US" b="0" dirty="0"/>
              <a:t>减少上表中保存的歌曲信息，可以节省存储空间，需要完整信息的时候，可以通过</a:t>
            </a:r>
            <a:r>
              <a:rPr lang="en-US" altLang="zh-CN" b="0" dirty="0"/>
              <a:t>merge</a:t>
            </a:r>
            <a:r>
              <a:rPr lang="zh-CN" altLang="en-US" b="0" dirty="0"/>
              <a:t>拼接数据</a:t>
            </a:r>
            <a:endParaRPr lang="zh-CN" altLang="en-US" b="0" dirty="0"/>
          </a:p>
          <a:p>
            <a:r>
              <a:rPr lang="zh-CN" altLang="en-US" b="0" dirty="0"/>
              <a:t>我们可以把</a:t>
            </a:r>
            <a:r>
              <a:rPr lang="en-US" altLang="zh-CN" b="0" dirty="0" err="1"/>
              <a:t>year,artist,track,time</a:t>
            </a:r>
            <a:r>
              <a:rPr lang="zh-CN" altLang="en-US" b="0" dirty="0"/>
              <a:t>和</a:t>
            </a:r>
            <a:r>
              <a:rPr lang="en-US" altLang="zh-CN" b="0" dirty="0" err="1"/>
              <a:t>date.entered</a:t>
            </a:r>
            <a:r>
              <a:rPr lang="zh-CN" altLang="en-US" b="0" dirty="0"/>
              <a:t>放入一个新的</a:t>
            </a:r>
            <a:r>
              <a:rPr lang="en-US" altLang="zh-CN" b="0" dirty="0" err="1"/>
              <a:t>dataframe</a:t>
            </a:r>
            <a:r>
              <a:rPr lang="zh-CN" altLang="en-US" b="0" dirty="0"/>
              <a:t>中</a:t>
            </a:r>
            <a:endParaRPr lang="en-US" altLang="zh-CN" b="0" dirty="0"/>
          </a:p>
          <a:p>
            <a:r>
              <a:rPr lang="en-GB" altLang="zh-CN" dirty="0" err="1"/>
              <a:t>billboard_songs</a:t>
            </a:r>
            <a:r>
              <a:rPr lang="en-GB" altLang="zh-CN" dirty="0"/>
              <a:t> = </a:t>
            </a:r>
            <a:r>
              <a:rPr lang="en-GB" altLang="zh-CN" dirty="0" err="1"/>
              <a:t>bill_borad_long</a:t>
            </a:r>
            <a:r>
              <a:rPr lang="en-GB" altLang="zh-CN" dirty="0"/>
              <a:t>[['year','artist','track','time','</a:t>
            </a:r>
            <a:r>
              <a:rPr lang="en-GB" altLang="zh-CN" dirty="0" err="1"/>
              <a:t>date.entered</a:t>
            </a:r>
            <a:r>
              <a:rPr lang="en-GB" altLang="zh-CN" dirty="0"/>
              <a:t>']]</a:t>
            </a:r>
            <a:endParaRPr lang="en-GB" altLang="zh-CN" dirty="0"/>
          </a:p>
          <a:p>
            <a:r>
              <a:rPr lang="en-GB" altLang="zh-CN" dirty="0" err="1"/>
              <a:t>billboard_songs</a:t>
            </a:r>
            <a:r>
              <a:rPr lang="en-GB" altLang="zh-CN" dirty="0"/>
              <a:t> = </a:t>
            </a:r>
            <a:r>
              <a:rPr lang="en-GB" altLang="zh-CN" dirty="0" err="1"/>
              <a:t>billboard_songs.drop_duplicates</a:t>
            </a:r>
            <a:r>
              <a:rPr lang="en-GB" altLang="zh-CN" dirty="0"/>
              <a:t>()</a:t>
            </a:r>
            <a:endParaRPr lang="en-GB" altLang="zh-CN" dirty="0"/>
          </a:p>
          <a:p>
            <a:pPr marL="342900" indent="-342900">
              <a:buFont typeface="+mj-lt"/>
              <a:buAutoNum type="arabicPeriod" startAt="5"/>
            </a:pPr>
            <a:r>
              <a:rPr lang="zh-CN" altLang="en-US" dirty="0"/>
              <a:t>为上面数据添加</a:t>
            </a:r>
            <a:r>
              <a:rPr lang="en-US" altLang="zh-CN" dirty="0"/>
              <a:t>id</a:t>
            </a:r>
            <a:r>
              <a:rPr lang="zh-CN" altLang="en-US" dirty="0"/>
              <a:t>列</a:t>
            </a:r>
            <a:endParaRPr lang="en-US" altLang="zh-CN" dirty="0"/>
          </a:p>
          <a:p>
            <a:r>
              <a:rPr lang="en-GB" altLang="zh-CN" dirty="0" err="1"/>
              <a:t>billboard_songs</a:t>
            </a:r>
            <a:r>
              <a:rPr lang="en-GB" altLang="zh-CN" dirty="0"/>
              <a:t>['id'] = range(</a:t>
            </a:r>
            <a:r>
              <a:rPr lang="en-GB" altLang="zh-CN" dirty="0" err="1"/>
              <a:t>len</a:t>
            </a:r>
            <a:r>
              <a:rPr lang="en-GB" altLang="zh-CN" dirty="0"/>
              <a:t>(</a:t>
            </a:r>
            <a:r>
              <a:rPr lang="en-GB" altLang="zh-CN" dirty="0" err="1"/>
              <a:t>billboard_songs</a:t>
            </a:r>
            <a:r>
              <a:rPr lang="en-GB" altLang="zh-CN" dirty="0"/>
              <a:t>))</a:t>
            </a:r>
            <a:endParaRPr lang="zh-CN" altLang="en-US" dirty="0"/>
          </a:p>
          <a:p>
            <a:endParaRPr lang="zh-CN" altLang="en-US" b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GB" altLang="zh-CN" dirty="0"/>
              <a:t>melt</a:t>
            </a:r>
            <a:r>
              <a:rPr lang="zh-CN" altLang="en-US" dirty="0"/>
              <a:t>整理数据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1.3</a:t>
            </a:r>
            <a:r>
              <a:rPr lang="zh-CN" altLang="en-US" dirty="0"/>
              <a:t> </a:t>
            </a:r>
            <a:r>
              <a:rPr lang="en-GB" altLang="zh-CN" dirty="0"/>
              <a:t>melt</a:t>
            </a:r>
            <a:r>
              <a:rPr lang="zh-CN" altLang="en-US" dirty="0"/>
              <a:t>函数使用</a:t>
            </a:r>
            <a:r>
              <a:rPr lang="en-US" altLang="zh-CN" dirty="0"/>
              <a:t>2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6"/>
            </a:pPr>
            <a:r>
              <a:rPr lang="zh-CN" altLang="en-US" dirty="0"/>
              <a:t>将</a:t>
            </a:r>
            <a:r>
              <a:rPr lang="en-US" altLang="zh-CN" dirty="0"/>
              <a:t>id</a:t>
            </a:r>
            <a:r>
              <a:rPr lang="zh-CN" altLang="en-US" dirty="0"/>
              <a:t>列关联到原始数据，得到包含</a:t>
            </a:r>
            <a:r>
              <a:rPr lang="en-US" altLang="zh-CN" dirty="0"/>
              <a:t>id</a:t>
            </a:r>
            <a:r>
              <a:rPr lang="zh-CN" altLang="en-US" dirty="0"/>
              <a:t>的完整数据，并从完整数据中，取出每周评分部分，去掉冗余信息</a:t>
            </a:r>
            <a:endParaRPr lang="en-US" altLang="zh-CN" dirty="0"/>
          </a:p>
          <a:p>
            <a:r>
              <a:rPr lang="en-GB" altLang="zh-CN" dirty="0" err="1"/>
              <a:t>billboard_ratings</a:t>
            </a:r>
            <a:r>
              <a:rPr lang="en-GB" altLang="zh-CN" dirty="0"/>
              <a:t> = </a:t>
            </a:r>
            <a:r>
              <a:rPr lang="en-GB" altLang="zh-CN" dirty="0" err="1"/>
              <a:t>bill_borad_long.merge</a:t>
            </a:r>
            <a:r>
              <a:rPr lang="en-GB" altLang="zh-CN" dirty="0"/>
              <a:t>(</a:t>
            </a:r>
            <a:r>
              <a:rPr lang="en-GB" altLang="zh-CN" dirty="0" err="1"/>
              <a:t>billboard_songs,on</a:t>
            </a:r>
            <a:r>
              <a:rPr lang="en-GB" altLang="zh-CN" dirty="0"/>
              <a:t>=['year','artist','track','time','</a:t>
            </a:r>
            <a:r>
              <a:rPr lang="en-GB" altLang="zh-CN" dirty="0" err="1"/>
              <a:t>date.entered</a:t>
            </a:r>
            <a:r>
              <a:rPr lang="en-GB" altLang="zh-CN" dirty="0"/>
              <a:t>'])</a:t>
            </a:r>
            <a:endParaRPr lang="en-GB" altLang="zh-CN" dirty="0"/>
          </a:p>
          <a:p>
            <a:endParaRPr lang="en-GB" altLang="zh-CN" dirty="0"/>
          </a:p>
          <a:p>
            <a:r>
              <a:rPr lang="en-GB" altLang="zh-CN" dirty="0" err="1"/>
              <a:t>billboard_ratings</a:t>
            </a:r>
            <a:r>
              <a:rPr lang="en-GB" altLang="zh-CN" dirty="0"/>
              <a:t> = </a:t>
            </a:r>
            <a:r>
              <a:rPr lang="en-GB" altLang="zh-CN" dirty="0" err="1"/>
              <a:t>billboard_ratings</a:t>
            </a:r>
            <a:r>
              <a:rPr lang="en-GB" altLang="zh-CN" dirty="0"/>
              <a:t>[['</a:t>
            </a:r>
            <a:r>
              <a:rPr lang="en-GB" altLang="zh-CN" dirty="0" err="1"/>
              <a:t>id','week','rating</a:t>
            </a:r>
            <a:r>
              <a:rPr lang="en-GB" altLang="zh-CN" dirty="0"/>
              <a:t>’]]</a:t>
            </a:r>
            <a:endParaRPr lang="en-GB" altLang="zh-CN" dirty="0"/>
          </a:p>
          <a:p>
            <a:pPr marL="342900" indent="-342900">
              <a:buFont typeface="+mj-lt"/>
              <a:buAutoNum type="arabicPeriod" startAt="7"/>
            </a:pPr>
            <a:r>
              <a:rPr lang="zh-CN" altLang="en-US" dirty="0"/>
              <a:t>数据拆分成两个</a:t>
            </a:r>
            <a:r>
              <a:rPr lang="en-GB" altLang="zh-CN" dirty="0" err="1"/>
              <a:t>dataframe</a:t>
            </a:r>
            <a:r>
              <a:rPr lang="zh-CN" altLang="en-GB" dirty="0"/>
              <a:t>：</a:t>
            </a:r>
            <a:r>
              <a:rPr lang="en-GB" altLang="zh-CN" dirty="0" err="1"/>
              <a:t>billboard_songs</a:t>
            </a:r>
            <a:r>
              <a:rPr lang="zh-CN" altLang="en-US" dirty="0"/>
              <a:t>和 </a:t>
            </a:r>
            <a:r>
              <a:rPr lang="en-GB" altLang="zh-CN" dirty="0" err="1"/>
              <a:t>billboard_ratings</a:t>
            </a:r>
            <a:r>
              <a:rPr lang="zh-CN" altLang="en-GB" dirty="0"/>
              <a:t>，</a:t>
            </a:r>
            <a:r>
              <a:rPr lang="zh-CN" altLang="en-US" dirty="0"/>
              <a:t>保存成文件后可以减少磁盘开销</a:t>
            </a:r>
            <a:endParaRPr lang="en-US" altLang="zh-CN" dirty="0"/>
          </a:p>
          <a:p>
            <a:pPr marL="342900" indent="-342900">
              <a:buFont typeface="+mj-lt"/>
              <a:buAutoNum type="arabicPeriod" startAt="7"/>
            </a:pPr>
            <a:r>
              <a:rPr lang="zh-CN" altLang="en-US" dirty="0"/>
              <a:t>加载时可以通过</a:t>
            </a:r>
            <a:r>
              <a:rPr lang="en-GB" altLang="zh-CN" dirty="0"/>
              <a:t>merge</a:t>
            </a:r>
            <a:r>
              <a:rPr lang="zh-CN" altLang="en-US" dirty="0"/>
              <a:t>再还原成原始数据</a:t>
            </a:r>
            <a:endParaRPr lang="en-US" altLang="zh-CN" dirty="0"/>
          </a:p>
          <a:p>
            <a:r>
              <a:rPr lang="en-GB" altLang="zh-CN" dirty="0" err="1"/>
              <a:t>billboard_songs.merge</a:t>
            </a:r>
            <a:r>
              <a:rPr lang="en-GB" altLang="zh-CN" dirty="0"/>
              <a:t>(</a:t>
            </a:r>
            <a:r>
              <a:rPr lang="en-GB" altLang="zh-CN" dirty="0" err="1"/>
              <a:t>billboard_ratings,on</a:t>
            </a:r>
            <a:r>
              <a:rPr lang="en-GB" altLang="zh-CN" dirty="0"/>
              <a:t>=['id'])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b="1" dirty="0"/>
              <a:t>melt</a:t>
            </a:r>
            <a:r>
              <a:rPr lang="zh-CN" altLang="en-US" b="1" dirty="0"/>
              <a:t>整理数据</a:t>
            </a:r>
            <a:endParaRPr lang="zh-CN" altLang="en-US" b="1" dirty="0"/>
          </a:p>
          <a:p>
            <a:r>
              <a:rPr lang="en-GB" altLang="zh-CN" b="1" dirty="0">
                <a:solidFill>
                  <a:srgbClr val="FF0000"/>
                </a:solidFill>
              </a:rPr>
              <a:t>stack</a:t>
            </a:r>
            <a:r>
              <a:rPr lang="zh-CN" altLang="en-US" b="1" dirty="0">
                <a:solidFill>
                  <a:srgbClr val="FF0000"/>
                </a:solidFill>
              </a:rPr>
              <a:t>整理数据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en-GB" altLang="zh-CN" b="1" dirty="0" err="1"/>
              <a:t>wide_to_long</a:t>
            </a:r>
            <a:r>
              <a:rPr lang="zh-CN" altLang="en-US" b="1" dirty="0"/>
              <a:t>整理数据</a:t>
            </a:r>
            <a:endParaRPr lang="zh-CN" altLang="en-US" b="1" dirty="0"/>
          </a:p>
          <a:p>
            <a:r>
              <a:rPr lang="en-GB" altLang="zh-CN" b="1" dirty="0"/>
              <a:t>unstack </a:t>
            </a:r>
            <a:r>
              <a:rPr lang="zh-CN" altLang="en-US" b="1" dirty="0"/>
              <a:t>处理数据</a:t>
            </a:r>
            <a:endParaRPr lang="zh-CN" altLang="en-US" b="1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2 stack</a:t>
            </a:r>
            <a:r>
              <a:rPr lang="zh-CN" altLang="en-US" dirty="0"/>
              <a:t>整理数据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 </a:t>
            </a:r>
            <a:r>
              <a:rPr lang="en-GB" altLang="zh-CN" dirty="0"/>
              <a:t>stack</a:t>
            </a:r>
            <a:r>
              <a:rPr lang="zh-CN" altLang="en-US" dirty="0"/>
              <a:t>函数使用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783455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加载</a:t>
            </a:r>
            <a:r>
              <a:rPr lang="en-GB" altLang="zh-CN" dirty="0" err="1"/>
              <a:t>state_fruit</a:t>
            </a:r>
            <a:r>
              <a:rPr lang="zh-CN" altLang="en-US" dirty="0"/>
              <a:t>数据集</a:t>
            </a:r>
            <a:endParaRPr lang="en-US" altLang="zh-CN" dirty="0"/>
          </a:p>
          <a:p>
            <a:r>
              <a:rPr lang="en-GB" altLang="zh-CN" dirty="0" err="1"/>
              <a:t>state_fruit</a:t>
            </a:r>
            <a:r>
              <a:rPr lang="en-GB" altLang="zh-CN" dirty="0"/>
              <a:t> = </a:t>
            </a:r>
            <a:r>
              <a:rPr lang="en-GB" altLang="zh-CN" dirty="0" err="1"/>
              <a:t>pd.read_csv</a:t>
            </a:r>
            <a:r>
              <a:rPr lang="en-GB" altLang="zh-CN" dirty="0"/>
              <a:t>('data/</a:t>
            </a:r>
            <a:r>
              <a:rPr lang="en-GB" altLang="zh-CN" dirty="0" err="1"/>
              <a:t>state_fruit.csv</a:t>
            </a:r>
            <a:r>
              <a:rPr lang="en-GB" altLang="zh-CN" dirty="0"/>
              <a:t>', </a:t>
            </a:r>
            <a:r>
              <a:rPr lang="en-GB" altLang="zh-CN" dirty="0" err="1"/>
              <a:t>index_col</a:t>
            </a:r>
            <a:r>
              <a:rPr lang="en-GB" altLang="zh-CN" dirty="0"/>
              <a:t>=0)</a:t>
            </a:r>
            <a:endParaRPr lang="en-GB" altLang="zh-CN" dirty="0"/>
          </a:p>
          <a:p>
            <a:r>
              <a:rPr lang="en-US" altLang="zh-CN" dirty="0"/>
              <a:t>state_fruit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465" y="3162300"/>
            <a:ext cx="6953250" cy="21399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2 stack</a:t>
            </a:r>
            <a:r>
              <a:rPr lang="zh-CN" altLang="en-US" dirty="0"/>
              <a:t>整理数据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 </a:t>
            </a:r>
            <a:r>
              <a:rPr lang="en-GB" altLang="zh-CN" dirty="0"/>
              <a:t>stack</a:t>
            </a:r>
            <a:r>
              <a:rPr lang="zh-CN" altLang="en-US" dirty="0"/>
              <a:t>函数使用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783455"/>
          </a:xfrm>
        </p:spPr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zh-CN" altLang="en-GB" dirty="0"/>
              <a:t>使用</a:t>
            </a:r>
            <a:r>
              <a:rPr lang="en-US" altLang="zh-CN" dirty="0"/>
              <a:t>stack</a:t>
            </a:r>
            <a:r>
              <a:rPr lang="zh-CN" altLang="en-US" dirty="0"/>
              <a:t>函数</a:t>
            </a:r>
            <a:endParaRPr lang="en-GB" altLang="zh-CN" dirty="0"/>
          </a:p>
          <a:p>
            <a:r>
              <a:rPr lang="en-GB" altLang="zh-CN" dirty="0" err="1"/>
              <a:t>state_fruit.stack</a:t>
            </a:r>
            <a:r>
              <a:rPr lang="en-GB" altLang="zh-CN" dirty="0"/>
              <a:t>()</a:t>
            </a:r>
            <a:endParaRPr lang="en-GB" altLang="zh-CN" dirty="0"/>
          </a:p>
          <a:p>
            <a:endParaRPr lang="en-GB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035" y="2821305"/>
            <a:ext cx="6858000" cy="2819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2 stack</a:t>
            </a:r>
            <a:r>
              <a:rPr lang="zh-CN" altLang="en-US" dirty="0"/>
              <a:t>整理数据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 </a:t>
            </a:r>
            <a:r>
              <a:rPr lang="en-GB" altLang="zh-CN" dirty="0"/>
              <a:t>stack</a:t>
            </a:r>
            <a:r>
              <a:rPr lang="zh-CN" altLang="en-US" dirty="0"/>
              <a:t>函数使用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783455"/>
          </a:xfrm>
        </p:spPr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使用</a:t>
            </a:r>
            <a:r>
              <a:rPr lang="en-GB" altLang="zh-CN" dirty="0" err="1"/>
              <a:t>reset_index</a:t>
            </a:r>
            <a:r>
              <a:rPr lang="en-GB" altLang="zh-CN" dirty="0"/>
              <a:t>()</a:t>
            </a:r>
            <a:r>
              <a:rPr lang="zh-CN" altLang="en-GB" dirty="0"/>
              <a:t>，</a:t>
            </a:r>
            <a:r>
              <a:rPr lang="zh-CN" altLang="en-US" dirty="0"/>
              <a:t>将结果变为</a:t>
            </a:r>
            <a:r>
              <a:rPr lang="en-GB" altLang="zh-CN" dirty="0"/>
              <a:t>DataFrame</a:t>
            </a:r>
            <a:endParaRPr lang="en-GB" altLang="zh-CN" dirty="0"/>
          </a:p>
          <a:p>
            <a:r>
              <a:rPr lang="en-GB" altLang="zh-CN" dirty="0" err="1"/>
              <a:t>state_fruit_tidy</a:t>
            </a:r>
            <a:r>
              <a:rPr lang="en-GB" altLang="zh-CN" dirty="0"/>
              <a:t> = </a:t>
            </a:r>
            <a:r>
              <a:rPr lang="en-GB" altLang="zh-CN" dirty="0" err="1"/>
              <a:t>state_fruit.stack</a:t>
            </a:r>
            <a:r>
              <a:rPr lang="en-GB" altLang="zh-CN" dirty="0"/>
              <a:t>().</a:t>
            </a:r>
            <a:r>
              <a:rPr lang="en-GB" altLang="zh-CN" dirty="0" err="1"/>
              <a:t>reset_index</a:t>
            </a:r>
            <a:r>
              <a:rPr lang="en-GB" altLang="zh-CN" dirty="0"/>
              <a:t>()</a:t>
            </a:r>
            <a:endParaRPr lang="en-GB" altLang="zh-CN" dirty="0"/>
          </a:p>
          <a:p>
            <a:r>
              <a:rPr lang="en-US" altLang="en-GB" dirty="0"/>
              <a:t>state_fruit_tity</a:t>
            </a:r>
            <a:endParaRPr lang="en-GB" altLang="zh-CN" dirty="0"/>
          </a:p>
          <a:p>
            <a:endParaRPr lang="en-GB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5945" y="2668905"/>
            <a:ext cx="7086600" cy="382841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2 stack</a:t>
            </a:r>
            <a:r>
              <a:rPr lang="zh-CN" altLang="en-US" dirty="0"/>
              <a:t>整理数据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 </a:t>
            </a:r>
            <a:r>
              <a:rPr lang="en-GB" altLang="zh-CN" dirty="0"/>
              <a:t>stack</a:t>
            </a:r>
            <a:r>
              <a:rPr lang="zh-CN" altLang="en-US" dirty="0"/>
              <a:t>函数使用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783455"/>
          </a:xfrm>
        </p:spPr>
        <p:txBody>
          <a:bodyPr/>
          <a:lstStyle/>
          <a:p>
            <a:pPr marL="342900" indent="-342900">
              <a:buFont typeface="+mj-lt"/>
              <a:buAutoNum type="arabicPeriod" startAt="4"/>
            </a:pPr>
            <a:r>
              <a:rPr lang="zh-CN" altLang="en-US" dirty="0"/>
              <a:t>重命名列 </a:t>
            </a:r>
            <a:r>
              <a:rPr lang="en-GB" altLang="zh-CN" dirty="0" err="1"/>
              <a:t>state_fruit_tidy.columns</a:t>
            </a:r>
            <a:r>
              <a:rPr lang="en-GB" altLang="zh-CN" dirty="0"/>
              <a:t> = ['state', 'fruit', 'weight</a:t>
            </a:r>
            <a:r>
              <a:rPr lang="en-GB" altLang="zh-CN" dirty="0">
                <a:sym typeface="+mn-ea"/>
              </a:rPr>
              <a:t>'</a:t>
            </a:r>
            <a:r>
              <a:rPr lang="en-GB" altLang="zh-CN" dirty="0"/>
              <a:t>]</a:t>
            </a:r>
            <a:endParaRPr lang="en-GB" altLang="zh-CN" dirty="0"/>
          </a:p>
          <a:p>
            <a:pPr marL="342900" indent="-342900">
              <a:buFont typeface="+mj-lt"/>
              <a:buAutoNum type="arabicPeriod" startAt="5"/>
            </a:pPr>
            <a:r>
              <a:rPr lang="zh-CN" altLang="en-US" dirty="0"/>
              <a:t>也可以使用</a:t>
            </a:r>
            <a:r>
              <a:rPr lang="en-GB" altLang="zh-CN" dirty="0" err="1"/>
              <a:t>rename_axis</a:t>
            </a:r>
            <a:r>
              <a:rPr lang="zh-CN" altLang="en-US" dirty="0"/>
              <a:t>给不同的行索引层级命名</a:t>
            </a:r>
            <a:endParaRPr lang="en-US" altLang="zh-CN" dirty="0"/>
          </a:p>
          <a:p>
            <a:r>
              <a:rPr lang="en-GB" altLang="zh-CN" dirty="0" err="1"/>
              <a:t>state_fruit.stack</a:t>
            </a:r>
            <a:r>
              <a:rPr lang="en-GB" altLang="zh-CN" dirty="0"/>
              <a:t>().</a:t>
            </a:r>
            <a:r>
              <a:rPr lang="en-GB" altLang="zh-CN" dirty="0" err="1"/>
              <a:t>rename_axis</a:t>
            </a:r>
            <a:r>
              <a:rPr lang="en-GB" altLang="zh-CN" dirty="0"/>
              <a:t>(['state', 'fruit</a:t>
            </a:r>
            <a:r>
              <a:rPr lang="en-GB" altLang="zh-CN" dirty="0">
                <a:sym typeface="+mn-ea"/>
              </a:rPr>
              <a:t>'</a:t>
            </a:r>
            <a:r>
              <a:rPr lang="en-GB" altLang="zh-CN" dirty="0"/>
              <a:t>])</a:t>
            </a:r>
            <a:endParaRPr lang="en-GB" altLang="zh-CN" dirty="0"/>
          </a:p>
          <a:p>
            <a:endParaRPr lang="en-GB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2520" y="3150870"/>
            <a:ext cx="6832600" cy="30289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2 stack</a:t>
            </a:r>
            <a:r>
              <a:rPr lang="zh-CN" altLang="en-US" dirty="0"/>
              <a:t>整理数据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 </a:t>
            </a:r>
            <a:r>
              <a:rPr lang="en-GB" altLang="zh-CN" dirty="0"/>
              <a:t>stack</a:t>
            </a:r>
            <a:r>
              <a:rPr lang="zh-CN" altLang="en-US" dirty="0"/>
              <a:t>函数使用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783455"/>
          </a:xfrm>
        </p:spPr>
        <p:txBody>
          <a:bodyPr/>
          <a:lstStyle/>
          <a:p>
            <a:pPr marL="342900" indent="-342900">
              <a:buFont typeface="+mj-lt"/>
              <a:buAutoNum type="arabicPeriod" startAt="6"/>
            </a:pPr>
            <a:r>
              <a:rPr lang="zh-CN" altLang="en-US" dirty="0"/>
              <a:t>再次使用</a:t>
            </a:r>
            <a:r>
              <a:rPr lang="en-GB" altLang="zh-CN" dirty="0" err="1"/>
              <a:t>reset_index</a:t>
            </a:r>
            <a:r>
              <a:rPr lang="zh-CN" altLang="en-US" dirty="0"/>
              <a:t>方法</a:t>
            </a:r>
            <a:endParaRPr lang="zh-CN" altLang="en-US" dirty="0"/>
          </a:p>
          <a:p>
            <a:r>
              <a:rPr lang="en-GB" altLang="zh-CN" dirty="0" err="1"/>
              <a:t>state_fruit.stack</a:t>
            </a:r>
            <a:r>
              <a:rPr lang="en-GB" altLang="zh-CN" dirty="0"/>
              <a:t>().</a:t>
            </a:r>
            <a:r>
              <a:rPr lang="en-GB" altLang="zh-CN" dirty="0" err="1"/>
              <a:t>rename_axis</a:t>
            </a:r>
            <a:r>
              <a:rPr lang="en-GB" altLang="zh-CN" dirty="0"/>
              <a:t>(['state', 'fruit']).</a:t>
            </a:r>
            <a:r>
              <a:rPr lang="en-GB" altLang="zh-CN" dirty="0" err="1"/>
              <a:t>reset_index</a:t>
            </a:r>
            <a:r>
              <a:rPr lang="en-GB" altLang="zh-CN" dirty="0"/>
              <a:t>(name='weight')</a:t>
            </a:r>
            <a:endParaRPr lang="en-GB" altLang="zh-CN" dirty="0"/>
          </a:p>
          <a:p>
            <a:endParaRPr lang="zh-CN" altLang="en-US" dirty="0"/>
          </a:p>
          <a:p>
            <a:endParaRPr lang="en-GB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7790" y="2753360"/>
            <a:ext cx="7099300" cy="350901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b="1" dirty="0"/>
              <a:t>melt</a:t>
            </a:r>
            <a:r>
              <a:rPr lang="zh-CN" altLang="en-US" b="1" dirty="0"/>
              <a:t>整理数据</a:t>
            </a:r>
            <a:endParaRPr lang="zh-CN" altLang="en-US" b="1" dirty="0"/>
          </a:p>
          <a:p>
            <a:r>
              <a:rPr lang="en-GB" altLang="zh-CN" b="1" dirty="0"/>
              <a:t>stack</a:t>
            </a:r>
            <a:r>
              <a:rPr lang="zh-CN" altLang="en-US" b="1" dirty="0"/>
              <a:t>整理数据</a:t>
            </a:r>
            <a:endParaRPr lang="zh-CN" altLang="en-US" b="1" dirty="0"/>
          </a:p>
          <a:p>
            <a:r>
              <a:rPr lang="en-GB" altLang="zh-CN" b="1" dirty="0" err="1">
                <a:solidFill>
                  <a:srgbClr val="FF0000"/>
                </a:solidFill>
              </a:rPr>
              <a:t>wide_to_long</a:t>
            </a:r>
            <a:r>
              <a:rPr lang="zh-CN" altLang="en-US" b="1" dirty="0">
                <a:solidFill>
                  <a:srgbClr val="FF0000"/>
                </a:solidFill>
              </a:rPr>
              <a:t>整理数据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en-GB" altLang="zh-CN" b="1" dirty="0"/>
              <a:t>unstack </a:t>
            </a:r>
            <a:r>
              <a:rPr lang="zh-CN" altLang="en-US" b="1" dirty="0"/>
              <a:t>处理数据</a:t>
            </a:r>
            <a:endParaRPr lang="zh-CN" altLang="en-US" b="1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3 </a:t>
            </a:r>
            <a:r>
              <a:rPr lang="en-GB" altLang="zh-CN" dirty="0" err="1"/>
              <a:t>wide_to_long</a:t>
            </a:r>
            <a:r>
              <a:rPr lang="zh-CN" altLang="en-US" dirty="0"/>
              <a:t>整理数据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3.1 </a:t>
            </a:r>
            <a:r>
              <a:rPr lang="en-GB" altLang="zh-CN" dirty="0" err="1"/>
              <a:t>wide_to_long</a:t>
            </a:r>
            <a:r>
              <a:rPr lang="zh-CN" altLang="en-US" dirty="0"/>
              <a:t>函数使用</a:t>
            </a:r>
            <a:endParaRPr lang="en-GB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085080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加载数据</a:t>
            </a:r>
            <a:endParaRPr lang="en-US" altLang="zh-CN" dirty="0"/>
          </a:p>
          <a:p>
            <a:r>
              <a:rPr lang="en-GB" altLang="zh-CN" dirty="0"/>
              <a:t>movie = </a:t>
            </a:r>
            <a:r>
              <a:rPr lang="en-GB" altLang="zh-CN" dirty="0" err="1"/>
              <a:t>pd.read_csv</a:t>
            </a:r>
            <a:r>
              <a:rPr lang="en-GB" altLang="zh-CN" dirty="0"/>
              <a:t>('data/</a:t>
            </a:r>
            <a:r>
              <a:rPr lang="en-GB" altLang="zh-CN" dirty="0" err="1"/>
              <a:t>movie.csv</a:t>
            </a:r>
            <a:r>
              <a:rPr lang="en-GB" altLang="zh-CN" dirty="0"/>
              <a:t>')</a:t>
            </a:r>
            <a:endParaRPr lang="en-GB" altLang="zh-CN" dirty="0"/>
          </a:p>
          <a:p>
            <a:r>
              <a:rPr lang="en-GB" altLang="zh-CN" dirty="0"/>
              <a:t>actor = movie[['</a:t>
            </a:r>
            <a:r>
              <a:rPr lang="en-GB" altLang="zh-CN" dirty="0" err="1"/>
              <a:t>movie_title</a:t>
            </a:r>
            <a:r>
              <a:rPr lang="en-GB" altLang="zh-CN" dirty="0"/>
              <a:t>', 'actor_1_name', 'actor_2_name', 'actor_3_name', </a:t>
            </a:r>
            <a:endParaRPr lang="en-GB" altLang="zh-CN" dirty="0"/>
          </a:p>
          <a:p>
            <a:r>
              <a:rPr lang="en-GB" altLang="zh-CN" dirty="0"/>
              <a:t>               'actor_1_facebook_likes', 'actor_2_facebook_likes', 'actor_3_facebook_likes']]</a:t>
            </a:r>
            <a:endParaRPr lang="en-GB" altLang="zh-CN" dirty="0"/>
          </a:p>
          <a:p>
            <a:r>
              <a:rPr lang="en-GB" altLang="zh-CN" dirty="0" err="1"/>
              <a:t>actor.head</a:t>
            </a:r>
            <a:r>
              <a:rPr lang="en-GB" altLang="zh-CN" dirty="0"/>
              <a:t>()</a:t>
            </a:r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从上面数据中可以看出，列名中包含了数字 </a:t>
            </a:r>
            <a:r>
              <a:rPr lang="en-US" altLang="zh-CN" dirty="0"/>
              <a:t>1,2,3 </a:t>
            </a:r>
            <a:r>
              <a:rPr lang="zh-CN" altLang="en-US" dirty="0"/>
              <a:t>如果想把这部分信息提取到列当中，可以使用</a:t>
            </a:r>
            <a:r>
              <a:rPr lang="en-GB" altLang="zh-CN" dirty="0" err="1"/>
              <a:t>wide_to_long</a:t>
            </a:r>
            <a:r>
              <a:rPr lang="zh-CN" altLang="en-US" dirty="0"/>
              <a:t>函数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7335" y="3924935"/>
            <a:ext cx="6933565" cy="22453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3 </a:t>
            </a:r>
            <a:r>
              <a:rPr lang="en-GB" altLang="zh-CN" dirty="0" err="1"/>
              <a:t>wide_to_long</a:t>
            </a:r>
            <a:r>
              <a:rPr lang="zh-CN" altLang="en-US" dirty="0"/>
              <a:t>整理数据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3.1 </a:t>
            </a:r>
            <a:r>
              <a:rPr lang="en-GB" altLang="zh-CN" dirty="0" err="1"/>
              <a:t>wide_to_long</a:t>
            </a:r>
            <a:r>
              <a:rPr lang="zh-CN" altLang="en-US" dirty="0"/>
              <a:t>函数使用</a:t>
            </a:r>
            <a:endParaRPr lang="en-GB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使用</a:t>
            </a:r>
            <a:r>
              <a:rPr lang="en-GB" altLang="zh-CN" dirty="0" err="1"/>
              <a:t>wide_to_long</a:t>
            </a:r>
            <a:r>
              <a:rPr lang="zh-CN" altLang="en-US" dirty="0"/>
              <a:t>函数时，要求 </a:t>
            </a:r>
            <a:r>
              <a:rPr lang="en-US" altLang="zh-CN" dirty="0"/>
              <a:t>1,2,3 </a:t>
            </a:r>
            <a:r>
              <a:rPr lang="zh-CN" altLang="en-US" dirty="0"/>
              <a:t>这样的顺序信息在列名的最后，并用分隔符隔开</a:t>
            </a:r>
            <a:endParaRPr lang="zh-CN" altLang="en-US" dirty="0"/>
          </a:p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创建一个自定义函数</a:t>
            </a:r>
            <a:endParaRPr lang="en-US" altLang="zh-CN" dirty="0"/>
          </a:p>
          <a:p>
            <a:r>
              <a:rPr lang="en-GB" altLang="zh-CN" dirty="0"/>
              <a:t>def </a:t>
            </a:r>
            <a:r>
              <a:rPr lang="en-GB" altLang="zh-CN" dirty="0" err="1"/>
              <a:t>change_col_name</a:t>
            </a:r>
            <a:r>
              <a:rPr lang="en-GB" altLang="zh-CN" dirty="0"/>
              <a:t>(</a:t>
            </a:r>
            <a:r>
              <a:rPr lang="en-GB" altLang="zh-CN" dirty="0" err="1"/>
              <a:t>col_name</a:t>
            </a:r>
            <a:r>
              <a:rPr lang="en-GB" altLang="zh-CN" dirty="0"/>
              <a:t>):</a:t>
            </a:r>
            <a:endParaRPr lang="en-GB" altLang="zh-CN" dirty="0"/>
          </a:p>
          <a:p>
            <a:r>
              <a:rPr lang="en-GB" altLang="zh-CN" dirty="0"/>
              <a:t>    </a:t>
            </a:r>
            <a:r>
              <a:rPr lang="en-GB" altLang="zh-CN" dirty="0" err="1"/>
              <a:t>col_name</a:t>
            </a:r>
            <a:r>
              <a:rPr lang="en-GB" altLang="zh-CN" dirty="0"/>
              <a:t> = </a:t>
            </a:r>
            <a:r>
              <a:rPr lang="en-GB" altLang="zh-CN" dirty="0" err="1"/>
              <a:t>col_name.replace</a:t>
            </a:r>
            <a:r>
              <a:rPr lang="en-GB" altLang="zh-CN" dirty="0"/>
              <a:t>('_name', '')</a:t>
            </a:r>
            <a:endParaRPr lang="en-GB" altLang="zh-CN" dirty="0"/>
          </a:p>
          <a:p>
            <a:r>
              <a:rPr lang="en-GB" altLang="zh-CN" dirty="0"/>
              <a:t>    if '</a:t>
            </a:r>
            <a:r>
              <a:rPr lang="en-GB" altLang="zh-CN" dirty="0" err="1"/>
              <a:t>facebook</a:t>
            </a:r>
            <a:r>
              <a:rPr lang="en-GB" altLang="zh-CN" dirty="0"/>
              <a:t>' in </a:t>
            </a:r>
            <a:r>
              <a:rPr lang="en-GB" altLang="zh-CN" dirty="0" err="1"/>
              <a:t>col_name</a:t>
            </a:r>
            <a:r>
              <a:rPr lang="en-GB" altLang="zh-CN" dirty="0"/>
              <a:t>:</a:t>
            </a:r>
            <a:endParaRPr lang="en-GB" altLang="zh-CN" dirty="0"/>
          </a:p>
          <a:p>
            <a:r>
              <a:rPr lang="en-GB" altLang="zh-CN" dirty="0"/>
              <a:t>        </a:t>
            </a:r>
            <a:r>
              <a:rPr lang="en-GB" altLang="zh-CN" dirty="0" err="1"/>
              <a:t>fb_idx</a:t>
            </a:r>
            <a:r>
              <a:rPr lang="en-GB" altLang="zh-CN" dirty="0"/>
              <a:t> = </a:t>
            </a:r>
            <a:r>
              <a:rPr lang="en-GB" altLang="zh-CN" dirty="0" err="1"/>
              <a:t>col_name.find</a:t>
            </a:r>
            <a:r>
              <a:rPr lang="en-GB" altLang="zh-CN" dirty="0"/>
              <a:t>('</a:t>
            </a:r>
            <a:r>
              <a:rPr lang="en-GB" altLang="zh-CN" dirty="0" err="1"/>
              <a:t>facebook</a:t>
            </a:r>
            <a:r>
              <a:rPr lang="en-GB" altLang="zh-CN" dirty="0"/>
              <a:t>')</a:t>
            </a:r>
            <a:endParaRPr lang="en-GB" altLang="zh-CN" dirty="0"/>
          </a:p>
          <a:p>
            <a:r>
              <a:rPr lang="en-GB" altLang="zh-CN" dirty="0"/>
              <a:t>        </a:t>
            </a:r>
            <a:r>
              <a:rPr lang="en-GB" altLang="zh-CN" dirty="0" err="1"/>
              <a:t>col_name</a:t>
            </a:r>
            <a:r>
              <a:rPr lang="en-GB" altLang="zh-CN" dirty="0"/>
              <a:t> = </a:t>
            </a:r>
            <a:r>
              <a:rPr lang="en-GB" altLang="zh-CN" dirty="0" err="1"/>
              <a:t>col_name</a:t>
            </a:r>
            <a:r>
              <a:rPr lang="en-GB" altLang="zh-CN" dirty="0"/>
              <a:t>[:5] + </a:t>
            </a:r>
            <a:r>
              <a:rPr lang="en-GB" altLang="zh-CN" dirty="0" err="1"/>
              <a:t>col_name</a:t>
            </a:r>
            <a:r>
              <a:rPr lang="en-GB" altLang="zh-CN" dirty="0"/>
              <a:t>[</a:t>
            </a:r>
            <a:r>
              <a:rPr lang="en-GB" altLang="zh-CN" dirty="0" err="1"/>
              <a:t>fb_idx</a:t>
            </a:r>
            <a:r>
              <a:rPr lang="en-GB" altLang="zh-CN" dirty="0"/>
              <a:t> - 1:] + </a:t>
            </a:r>
            <a:r>
              <a:rPr lang="en-GB" altLang="zh-CN" dirty="0" err="1"/>
              <a:t>col_name</a:t>
            </a:r>
            <a:r>
              <a:rPr lang="en-GB" altLang="zh-CN" dirty="0"/>
              <a:t>[5:fb_idx-1]</a:t>
            </a:r>
            <a:endParaRPr lang="en-GB" altLang="zh-CN" dirty="0"/>
          </a:p>
          <a:p>
            <a:r>
              <a:rPr lang="en-GB" altLang="zh-CN" dirty="0"/>
              <a:t>    return </a:t>
            </a:r>
            <a:r>
              <a:rPr lang="en-GB" altLang="zh-CN" dirty="0" err="1"/>
              <a:t>col_name</a:t>
            </a:r>
            <a:endParaRPr lang="en-GB" altLang="zh-CN" dirty="0"/>
          </a:p>
          <a:p>
            <a:r>
              <a:rPr lang="en-GB" altLang="zh-CN" dirty="0"/>
              <a:t>actor2 = </a:t>
            </a:r>
            <a:r>
              <a:rPr lang="en-GB" altLang="zh-CN" dirty="0" err="1"/>
              <a:t>actor.rename</a:t>
            </a:r>
            <a:r>
              <a:rPr lang="en-GB" altLang="zh-CN" dirty="0"/>
              <a:t>(columns=</a:t>
            </a:r>
            <a:r>
              <a:rPr lang="en-GB" altLang="zh-CN" dirty="0" err="1"/>
              <a:t>change_col_name</a:t>
            </a:r>
            <a:r>
              <a:rPr lang="en-GB" altLang="zh-CN" dirty="0"/>
              <a:t>)</a:t>
            </a:r>
            <a:endParaRPr lang="en-GB" altLang="zh-CN" dirty="0"/>
          </a:p>
          <a:p>
            <a:r>
              <a:rPr lang="en-GB" altLang="zh-CN" dirty="0"/>
              <a:t>actor2.head()</a:t>
            </a:r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3 </a:t>
            </a:r>
            <a:r>
              <a:rPr lang="en-GB" altLang="zh-CN" dirty="0" err="1"/>
              <a:t>wide_to_long</a:t>
            </a:r>
            <a:r>
              <a:rPr lang="zh-CN" altLang="en-US" dirty="0"/>
              <a:t>整理数据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3.1 </a:t>
            </a:r>
            <a:r>
              <a:rPr lang="en-GB" altLang="zh-CN" dirty="0" err="1"/>
              <a:t>wide_to_long</a:t>
            </a:r>
            <a:r>
              <a:rPr lang="zh-CN" altLang="en-US" dirty="0"/>
              <a:t>函数使用</a:t>
            </a:r>
            <a:endParaRPr lang="en-GB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altLang="zh-CN" dirty="0"/>
              <a:t>actor2 = </a:t>
            </a:r>
            <a:r>
              <a:rPr lang="en-GB" altLang="zh-CN" dirty="0" err="1"/>
              <a:t>actor.rename</a:t>
            </a:r>
            <a:r>
              <a:rPr lang="en-GB" altLang="zh-CN" dirty="0"/>
              <a:t>(columns=</a:t>
            </a:r>
            <a:r>
              <a:rPr lang="en-GB" altLang="zh-CN" dirty="0" err="1"/>
              <a:t>change_col_name</a:t>
            </a:r>
            <a:r>
              <a:rPr lang="en-GB" altLang="zh-CN" dirty="0"/>
              <a:t>)</a:t>
            </a:r>
            <a:endParaRPr lang="en-GB" altLang="zh-CN" dirty="0"/>
          </a:p>
          <a:p>
            <a:r>
              <a:rPr lang="en-GB" altLang="zh-CN" dirty="0"/>
              <a:t>actor2.head()</a:t>
            </a:r>
            <a:endParaRPr lang="en-GB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040" y="2691765"/>
            <a:ext cx="7167880" cy="287845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3 </a:t>
            </a:r>
            <a:r>
              <a:rPr lang="en-GB" altLang="zh-CN" dirty="0" err="1"/>
              <a:t>wide_to_long</a:t>
            </a:r>
            <a:r>
              <a:rPr lang="zh-CN" altLang="en-US" dirty="0"/>
              <a:t>整理数据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3.1 </a:t>
            </a:r>
            <a:r>
              <a:rPr lang="en-GB" altLang="zh-CN" dirty="0" err="1"/>
              <a:t>wide_to_long</a:t>
            </a:r>
            <a:r>
              <a:rPr lang="zh-CN" altLang="en-US" dirty="0"/>
              <a:t>函数使用</a:t>
            </a:r>
            <a:endParaRPr lang="en-GB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1383645" cy="4988560"/>
          </a:xfrm>
        </p:spPr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使用</a:t>
            </a:r>
            <a:r>
              <a:rPr lang="en-US" altLang="zh-CN" dirty="0" err="1"/>
              <a:t>wide_to_long</a:t>
            </a:r>
            <a:r>
              <a:rPr lang="zh-CN" altLang="en-US" dirty="0"/>
              <a:t>进行转换</a:t>
            </a:r>
            <a:endParaRPr lang="en-US" altLang="zh-CN" dirty="0"/>
          </a:p>
          <a:p>
            <a:r>
              <a:rPr lang="en-GB" altLang="zh-CN" dirty="0"/>
              <a:t>stubs = ['actor', '</a:t>
            </a:r>
            <a:r>
              <a:rPr lang="en-GB" altLang="zh-CN" dirty="0" err="1"/>
              <a:t>actor_facebook_likes</a:t>
            </a:r>
            <a:r>
              <a:rPr lang="en-GB" altLang="zh-CN" dirty="0"/>
              <a:t>']</a:t>
            </a:r>
            <a:endParaRPr lang="en-GB" altLang="zh-CN" dirty="0"/>
          </a:p>
          <a:p>
            <a:r>
              <a:rPr lang="en-GB" altLang="zh-CN" dirty="0"/>
              <a:t>actor2_tidy = </a:t>
            </a:r>
            <a:r>
              <a:rPr lang="en-GB" altLang="zh-CN" dirty="0" err="1"/>
              <a:t>pd.wide_to_long</a:t>
            </a:r>
            <a:r>
              <a:rPr lang="en-GB" altLang="zh-CN" dirty="0"/>
              <a:t>(actor2, </a:t>
            </a:r>
            <a:r>
              <a:rPr lang="en-GB" altLang="zh-CN" dirty="0" err="1"/>
              <a:t>stubnames</a:t>
            </a:r>
            <a:r>
              <a:rPr lang="en-GB" altLang="zh-CN" dirty="0"/>
              <a:t>=stubs, </a:t>
            </a:r>
            <a:r>
              <a:rPr lang="en-GB" altLang="zh-CN" dirty="0" err="1"/>
              <a:t>i</a:t>
            </a:r>
            <a:r>
              <a:rPr lang="en-GB" altLang="zh-CN" dirty="0"/>
              <a:t>=['</a:t>
            </a:r>
            <a:r>
              <a:rPr lang="en-GB" altLang="zh-CN" dirty="0" err="1"/>
              <a:t>movie_title</a:t>
            </a:r>
            <a:r>
              <a:rPr lang="en-GB" altLang="zh-CN" dirty="0"/>
              <a:t>'], j='</a:t>
            </a:r>
            <a:r>
              <a:rPr lang="en-GB" altLang="zh-CN" dirty="0" err="1"/>
              <a:t>actor_num</a:t>
            </a:r>
            <a:r>
              <a:rPr lang="en-GB" altLang="zh-CN" dirty="0"/>
              <a:t>',</a:t>
            </a:r>
            <a:r>
              <a:rPr lang="en-GB" altLang="zh-CN" dirty="0" err="1"/>
              <a:t>sep</a:t>
            </a:r>
            <a:r>
              <a:rPr lang="en-GB" altLang="zh-CN" dirty="0"/>
              <a:t>='_').</a:t>
            </a:r>
            <a:r>
              <a:rPr lang="en-GB" altLang="zh-CN" dirty="0" err="1"/>
              <a:t>reset_index</a:t>
            </a:r>
            <a:r>
              <a:rPr lang="en-GB" altLang="zh-CN" dirty="0"/>
              <a:t>()</a:t>
            </a:r>
            <a:endParaRPr lang="en-GB" altLang="zh-CN" dirty="0"/>
          </a:p>
          <a:p>
            <a:r>
              <a:rPr lang="en-GB" altLang="zh-CN" dirty="0"/>
              <a:t>actor2_tidy.head()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825" y="3438525"/>
            <a:ext cx="6781800" cy="30886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b="1" dirty="0"/>
              <a:t>melt</a:t>
            </a:r>
            <a:r>
              <a:rPr lang="zh-CN" altLang="en-US" b="1" dirty="0"/>
              <a:t>整理数据</a:t>
            </a:r>
            <a:endParaRPr lang="zh-CN" altLang="en-US" b="1" dirty="0"/>
          </a:p>
          <a:p>
            <a:r>
              <a:rPr lang="en-GB" altLang="zh-CN" b="1" dirty="0"/>
              <a:t>stack</a:t>
            </a:r>
            <a:r>
              <a:rPr lang="zh-CN" altLang="en-US" b="1" dirty="0"/>
              <a:t>整理数据</a:t>
            </a:r>
            <a:endParaRPr lang="zh-CN" altLang="en-US" b="1" dirty="0"/>
          </a:p>
          <a:p>
            <a:r>
              <a:rPr lang="en-GB" altLang="zh-CN" b="1" dirty="0" err="1"/>
              <a:t>wide_to_long</a:t>
            </a:r>
            <a:r>
              <a:rPr lang="zh-CN" altLang="en-US" b="1" dirty="0"/>
              <a:t>整理数据</a:t>
            </a:r>
            <a:endParaRPr lang="zh-CN" altLang="en-US" b="1" dirty="0"/>
          </a:p>
          <a:p>
            <a:r>
              <a:rPr lang="en-GB" altLang="zh-CN" b="1" dirty="0">
                <a:solidFill>
                  <a:srgbClr val="FF0000"/>
                </a:solidFill>
              </a:rPr>
              <a:t>unstack </a:t>
            </a:r>
            <a:r>
              <a:rPr lang="zh-CN" altLang="en-US" b="1" dirty="0">
                <a:solidFill>
                  <a:srgbClr val="FF0000"/>
                </a:solidFill>
              </a:rPr>
              <a:t>处理数据</a:t>
            </a:r>
            <a:endParaRPr lang="zh-CN" alt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en-GB" altLang="zh-CN" dirty="0"/>
              <a:t> unstack </a:t>
            </a:r>
            <a:r>
              <a:rPr lang="zh-CN" altLang="en-US" dirty="0"/>
              <a:t>处理数据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4.1 unstack</a:t>
            </a:r>
            <a:r>
              <a:rPr lang="zh-CN" altLang="en-US" dirty="0"/>
              <a:t>函数使用</a:t>
            </a:r>
            <a:endParaRPr lang="en-GB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之前介绍了</a:t>
            </a:r>
            <a:r>
              <a:rPr lang="en-GB" altLang="zh-CN" dirty="0"/>
              <a:t>stack</a:t>
            </a:r>
            <a:r>
              <a:rPr lang="zh-CN" altLang="en-GB" dirty="0"/>
              <a:t>，</a:t>
            </a:r>
            <a:r>
              <a:rPr lang="en-GB" altLang="zh-CN" dirty="0"/>
              <a:t>unstack</a:t>
            </a:r>
            <a:r>
              <a:rPr lang="zh-CN" altLang="en-US" dirty="0"/>
              <a:t>可以将</a:t>
            </a:r>
            <a:r>
              <a:rPr lang="en-GB" altLang="zh-CN" dirty="0"/>
              <a:t>stack</a:t>
            </a:r>
            <a:r>
              <a:rPr lang="zh-CN" altLang="en-US" dirty="0"/>
              <a:t>的结果恢复</a:t>
            </a:r>
            <a:endParaRPr lang="en-US" altLang="zh-CN" dirty="0"/>
          </a:p>
          <a:p>
            <a:r>
              <a:rPr lang="en-GB" altLang="zh-CN" dirty="0" err="1"/>
              <a:t>state_fruit</a:t>
            </a:r>
            <a:r>
              <a:rPr lang="en-GB" altLang="zh-CN" dirty="0"/>
              <a:t> = </a:t>
            </a:r>
            <a:r>
              <a:rPr lang="en-GB" altLang="zh-CN" dirty="0" err="1"/>
              <a:t>pd.read_csv</a:t>
            </a:r>
            <a:r>
              <a:rPr lang="en-GB" altLang="zh-CN" dirty="0"/>
              <a:t>('data/</a:t>
            </a:r>
            <a:r>
              <a:rPr lang="en-GB" altLang="zh-CN" dirty="0" err="1"/>
              <a:t>state_fruit.csv</a:t>
            </a:r>
            <a:r>
              <a:rPr lang="en-GB" altLang="zh-CN" dirty="0"/>
              <a:t>', </a:t>
            </a:r>
            <a:r>
              <a:rPr lang="en-GB" altLang="zh-CN" dirty="0" err="1"/>
              <a:t>index_col</a:t>
            </a:r>
            <a:r>
              <a:rPr lang="en-GB" altLang="zh-CN" dirty="0"/>
              <a:t>=0)</a:t>
            </a:r>
            <a:endParaRPr lang="en-GB" altLang="zh-CN" dirty="0"/>
          </a:p>
          <a:p>
            <a:r>
              <a:rPr lang="en-GB" altLang="zh-CN" dirty="0" err="1"/>
              <a:t>state_fruit.stack</a:t>
            </a:r>
            <a:r>
              <a:rPr lang="en-GB" altLang="zh-CN" dirty="0"/>
              <a:t>()</a:t>
            </a:r>
            <a:endParaRPr lang="en-GB" altLang="zh-CN" dirty="0"/>
          </a:p>
          <a:p>
            <a:endParaRPr lang="en-GB" altLang="zh-CN" dirty="0"/>
          </a:p>
          <a:p>
            <a:r>
              <a:rPr lang="en-GB" altLang="zh-CN" dirty="0" err="1"/>
              <a:t>state_fruit.stack</a:t>
            </a:r>
            <a:r>
              <a:rPr lang="en-GB" altLang="zh-CN" dirty="0"/>
              <a:t>().unstack()</a:t>
            </a:r>
            <a:endParaRPr lang="en-GB" altLang="zh-CN" dirty="0"/>
          </a:p>
          <a:p>
            <a:endParaRPr lang="en-GB" altLang="zh-CN" dirty="0"/>
          </a:p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melt实际上也有反向操作，melt操作在pandas文档中被称为"unpivot”, 与melt所对应的函数为</a:t>
            </a:r>
            <a:endParaRPr lang="zh-CN" altLang="en-US" dirty="0"/>
          </a:p>
          <a:p>
            <a:r>
              <a:rPr lang="zh-CN" altLang="en-US" dirty="0"/>
              <a:t>piovt_table，后面的章节中再介绍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melt</a:t>
            </a:r>
            <a:r>
              <a:rPr lang="zh-CN" altLang="en-GB" dirty="0"/>
              <a:t>，</a:t>
            </a:r>
            <a:r>
              <a:rPr lang="en-GB" altLang="zh-CN" dirty="0"/>
              <a:t>stack</a:t>
            </a:r>
            <a:r>
              <a:rPr lang="zh-CN" altLang="en-GB" dirty="0"/>
              <a:t>，</a:t>
            </a:r>
            <a:r>
              <a:rPr lang="en-GB" altLang="zh-CN" dirty="0" err="1"/>
              <a:t>wide_to_long</a:t>
            </a:r>
            <a:r>
              <a:rPr lang="zh-CN" altLang="en-US" dirty="0"/>
              <a:t>函数均可以实现将宽数据整理成长数据</a:t>
            </a:r>
            <a:endParaRPr lang="zh-CN" altLang="en-US" dirty="0"/>
          </a:p>
          <a:p>
            <a:pPr lvl="1"/>
            <a:r>
              <a:rPr lang="en-GB" altLang="zh-CN" b="0" dirty="0"/>
              <a:t>melt</a:t>
            </a:r>
            <a:r>
              <a:rPr lang="zh-CN" altLang="en-GB" b="0" dirty="0"/>
              <a:t>：</a:t>
            </a:r>
            <a:r>
              <a:rPr lang="zh-CN" altLang="en-US" b="0" dirty="0"/>
              <a:t>指定数据列，将指定列变成长数据</a:t>
            </a:r>
            <a:endParaRPr lang="zh-CN" altLang="en-US" b="0" dirty="0"/>
          </a:p>
          <a:p>
            <a:pPr lvl="1"/>
            <a:r>
              <a:rPr lang="en-GB" altLang="zh-CN" b="0" dirty="0"/>
              <a:t>stack</a:t>
            </a:r>
            <a:r>
              <a:rPr lang="zh-CN" altLang="en-GB" b="0" dirty="0"/>
              <a:t>：</a:t>
            </a:r>
            <a:r>
              <a:rPr lang="zh-CN" altLang="en-US" b="0" dirty="0"/>
              <a:t>返回一个具有多层级索引的数据，配合</a:t>
            </a:r>
            <a:r>
              <a:rPr lang="en-GB" altLang="zh-CN" b="0" dirty="0" err="1"/>
              <a:t>reset_index</a:t>
            </a:r>
            <a:r>
              <a:rPr lang="zh-CN" altLang="en-US" b="0" dirty="0"/>
              <a:t>可以实现宽数据变成长数据</a:t>
            </a:r>
            <a:endParaRPr lang="zh-CN" altLang="en-US" b="0" dirty="0"/>
          </a:p>
          <a:p>
            <a:pPr lvl="1"/>
            <a:r>
              <a:rPr lang="en-GB" altLang="zh-CN" b="0" dirty="0" err="1"/>
              <a:t>wide_to_long</a:t>
            </a:r>
            <a:r>
              <a:rPr lang="zh-CN" altLang="en-GB" b="0" dirty="0"/>
              <a:t>：</a:t>
            </a:r>
            <a:r>
              <a:rPr lang="zh-CN" altLang="en-US" b="0" dirty="0"/>
              <a:t>处理列名带数字后缀的宽数据</a:t>
            </a:r>
            <a:endParaRPr lang="zh-CN" altLang="en-US" b="0" dirty="0"/>
          </a:p>
          <a:p>
            <a:r>
              <a:rPr lang="en-GB" altLang="zh-CN" dirty="0"/>
              <a:t>stack/unstack, melt/</a:t>
            </a:r>
            <a:r>
              <a:rPr lang="en-GB" altLang="zh-CN" dirty="0" err="1"/>
              <a:t>pivot_table</a:t>
            </a:r>
            <a:r>
              <a:rPr lang="en-GB" altLang="zh-CN" dirty="0"/>
              <a:t> </a:t>
            </a:r>
            <a:r>
              <a:rPr lang="zh-CN" altLang="en-US" dirty="0"/>
              <a:t>互为逆向操作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ags/tag2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ags/tag3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heme/theme1.xml><?xml version="1.0" encoding="utf-8"?>
<a:theme xmlns:a="http://schemas.openxmlformats.org/drawingml/2006/main" name="1_课程标题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目录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目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6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3957</Words>
  <Application>WPS 演示</Application>
  <PresentationFormat>宽屏</PresentationFormat>
  <Paragraphs>249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12</vt:i4>
      </vt:variant>
      <vt:variant>
        <vt:lpstr>幻灯片标题</vt:lpstr>
      </vt:variant>
      <vt:variant>
        <vt:i4>25</vt:i4>
      </vt:variant>
    </vt:vector>
  </HeadingPairs>
  <TitlesOfParts>
    <vt:vector size="53" baseType="lpstr">
      <vt:lpstr>Arial</vt:lpstr>
      <vt:lpstr>宋体</vt:lpstr>
      <vt:lpstr>Wingdings</vt:lpstr>
      <vt:lpstr>Calibri</vt:lpstr>
      <vt:lpstr>黑体</vt:lpstr>
      <vt:lpstr>阿里巴巴普惠体</vt:lpstr>
      <vt:lpstr>Segoe UI</vt:lpstr>
      <vt:lpstr>微软雅黑</vt:lpstr>
      <vt:lpstr>Segoe UI Light</vt:lpstr>
      <vt:lpstr>微软雅黑 Light</vt:lpstr>
      <vt:lpstr>Alibaba PuHuiTi B</vt:lpstr>
      <vt:lpstr>Alibaba PuHuiTi R</vt:lpstr>
      <vt:lpstr>Verdana</vt:lpstr>
      <vt:lpstr>Alibaba PuHuiTi M</vt:lpstr>
      <vt:lpstr>等线</vt:lpstr>
      <vt:lpstr>Arial Unicode MS</vt:lpstr>
      <vt:lpstr>1_课程标题页</vt:lpstr>
      <vt:lpstr>2_目录设计方案</vt:lpstr>
      <vt:lpstr>3_目标设计方案</vt:lpstr>
      <vt:lpstr>4_正文设计方案</vt:lpstr>
      <vt:lpstr>5_结束页设计方案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6_结束页设计方案</vt:lpstr>
      <vt:lpstr>整理数据</vt:lpstr>
      <vt:lpstr>PowerPoint 演示文稿</vt:lpstr>
      <vt:lpstr>PowerPoint 演示文稿</vt:lpstr>
      <vt:lpstr>1 melt整理数据</vt:lpstr>
      <vt:lpstr>1 melt整理数据</vt:lpstr>
      <vt:lpstr>1 melt整理数据</vt:lpstr>
      <vt:lpstr>1 melt整理数据</vt:lpstr>
      <vt:lpstr>1 melt整理数据</vt:lpstr>
      <vt:lpstr>1 melt整理数据</vt:lpstr>
      <vt:lpstr>1 melt整理数据</vt:lpstr>
      <vt:lpstr>PowerPoint 演示文稿</vt:lpstr>
      <vt:lpstr>2 stack整理数据</vt:lpstr>
      <vt:lpstr>2 stack整理数据</vt:lpstr>
      <vt:lpstr>2 stack整理数据</vt:lpstr>
      <vt:lpstr>2 stack整理数据</vt:lpstr>
      <vt:lpstr>2 stack整理数据</vt:lpstr>
      <vt:lpstr>PowerPoint 演示文稿</vt:lpstr>
      <vt:lpstr>3 wide_to_long整理数据</vt:lpstr>
      <vt:lpstr>3 wide_to_long整理数据</vt:lpstr>
      <vt:lpstr>3 wide_to_long整理数据</vt:lpstr>
      <vt:lpstr>3 wide_to_long整理数据</vt:lpstr>
      <vt:lpstr>PowerPoint 演示文稿</vt:lpstr>
      <vt:lpstr>4 unstack 处理数据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魏云飞</cp:lastModifiedBy>
  <cp:revision>161</cp:revision>
  <dcterms:created xsi:type="dcterms:W3CDTF">2020-03-31T02:23:00Z</dcterms:created>
  <dcterms:modified xsi:type="dcterms:W3CDTF">2021-05-15T02:27:40Z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2D4FA74716A4452F86FFBA5BC1C94D86</vt:lpwstr>
  </property>
  <property fmtid="{D5CDD505-2E9C-101B-9397-08002B2CF9AE}" pid="3" name="KSOProductBuildVer">
    <vt:lpwstr>2052-11.1.0.10463</vt:lpwstr>
  </property>
</Properties>
</file>