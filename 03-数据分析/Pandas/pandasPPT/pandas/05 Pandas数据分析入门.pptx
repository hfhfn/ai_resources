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428" r:id="rId20"/>
    <p:sldId id="429" r:id="rId21"/>
    <p:sldId id="433" r:id="rId22"/>
    <p:sldId id="430" r:id="rId23"/>
    <p:sldId id="431" r:id="rId24"/>
    <p:sldId id="432" r:id="rId25"/>
    <p:sldId id="434" r:id="rId26"/>
    <p:sldId id="435" r:id="rId27"/>
    <p:sldId id="436" r:id="rId28"/>
    <p:sldId id="437" r:id="rId29"/>
    <p:sldId id="438" r:id="rId30"/>
    <p:sldId id="439" r:id="rId31"/>
    <p:sldId id="440" r:id="rId32"/>
    <p:sldId id="441" r:id="rId33"/>
    <p:sldId id="442" r:id="rId34"/>
    <p:sldId id="443" r:id="rId35"/>
    <p:sldId id="444" r:id="rId36"/>
    <p:sldId id="454" r:id="rId37"/>
    <p:sldId id="445" r:id="rId38"/>
    <p:sldId id="446" r:id="rId39"/>
    <p:sldId id="447" r:id="rId40"/>
    <p:sldId id="448" r:id="rId41"/>
    <p:sldId id="266" r:id="rId42"/>
    <p:sldId id="264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6379" autoAdjust="0"/>
  </p:normalViewPr>
  <p:slideViewPr>
    <p:cSldViewPr snapToGrid="0">
      <p:cViewPr varScale="1">
        <p:scale>
          <a:sx n="137" d="100"/>
          <a:sy n="137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altLang="zh-CN" dirty="0"/>
              <a:t>Pandas </a:t>
            </a:r>
            <a:r>
              <a:rPr lang="zh-CN" altLang="en-US" dirty="0"/>
              <a:t>数据分析入门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掌握在</a:t>
            </a:r>
            <a:r>
              <a:rPr lang="en-US" altLang="zh-CN" dirty="0"/>
              <a:t>Pandas</a:t>
            </a:r>
            <a:r>
              <a:rPr lang="zh-CN" altLang="en-US" dirty="0"/>
              <a:t>中计算常用统计量的方法</a:t>
            </a:r>
            <a:endParaRPr lang="zh-CN" altLang="en-US" dirty="0"/>
          </a:p>
          <a:p>
            <a:r>
              <a:rPr lang="zh-CN" altLang="en-US" dirty="0"/>
              <a:t>熟练使用</a:t>
            </a:r>
            <a:r>
              <a:rPr lang="en-US" altLang="zh-CN" dirty="0"/>
              <a:t>pandas</a:t>
            </a:r>
            <a:r>
              <a:rPr lang="zh-CN" altLang="en-US" dirty="0"/>
              <a:t>进行简单排序、分组、聚合等计算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计算常用统计值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常用排序方法</a:t>
            </a:r>
            <a:endParaRPr lang="zh-CN" altLang="en-US" b="1" dirty="0"/>
          </a:p>
          <a:p>
            <a:r>
              <a:rPr lang="zh-CN" altLang="en-US" b="1" dirty="0"/>
              <a:t>简单数据分析练习</a:t>
            </a:r>
            <a:endParaRPr lang="zh-CN" altLang="en-US" b="1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 计算常用统计值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最大值，最小值，平均值，分位数，方差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59930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</a:t>
            </a:r>
            <a:endParaRPr lang="en-US" altLang="zh-CN" dirty="0"/>
          </a:p>
          <a:p>
            <a:r>
              <a:rPr lang="en-GB" altLang="zh-CN" dirty="0"/>
              <a:t>college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college.csv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college.head</a:t>
            </a:r>
            <a:r>
              <a:rPr lang="en-GB" altLang="zh-CN" dirty="0"/>
              <a:t>()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查看数据字段说明</a:t>
            </a:r>
            <a:endParaRPr lang="zh-CN" altLang="en-US" dirty="0"/>
          </a:p>
          <a:p>
            <a:r>
              <a:rPr lang="en-GB" altLang="zh-CN" dirty="0" err="1"/>
              <a:t>college.columns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630" y="3881120"/>
            <a:ext cx="10109200" cy="2139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 计算常用统计值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最大值，最小值，平均值，分位数，方差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88765"/>
            <a:ext cx="6270300" cy="50162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471" y="1989138"/>
            <a:ext cx="6223937" cy="4060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 计算常用统计值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最大值，最小值，平均值，分位数，方差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27270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查看数据行列数</a:t>
            </a:r>
            <a:endParaRPr lang="en-US" altLang="zh-CN" dirty="0"/>
          </a:p>
          <a:p>
            <a:r>
              <a:rPr lang="en-US" altLang="zh-CN" dirty="0" err="1"/>
              <a:t>college.shape</a:t>
            </a:r>
            <a:endParaRPr lang="en-US" altLang="zh-CN" dirty="0"/>
          </a:p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统计数值列，并进行转置</a:t>
            </a:r>
            <a:endParaRPr lang="en-US" altLang="zh-CN" dirty="0"/>
          </a:p>
          <a:p>
            <a:r>
              <a:rPr lang="en-US" altLang="zh-CN" dirty="0" err="1"/>
              <a:t>college.describe</a:t>
            </a:r>
            <a:r>
              <a:rPr lang="en-US" altLang="zh-CN" dirty="0"/>
              <a:t>().T</a:t>
            </a:r>
            <a:endParaRPr lang="en-US" altLang="zh-CN" dirty="0"/>
          </a:p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统计对象和类型列 </a:t>
            </a:r>
            <a:endParaRPr lang="zh-CN" altLang="en-US" dirty="0"/>
          </a:p>
          <a:p>
            <a:r>
              <a:rPr lang="en-GB" altLang="zh-CN" b="0" dirty="0"/>
              <a:t>pandas </a:t>
            </a:r>
            <a:r>
              <a:rPr lang="zh-CN" altLang="en-US" b="0" dirty="0"/>
              <a:t>基于 </a:t>
            </a:r>
            <a:r>
              <a:rPr lang="en-GB" altLang="zh-CN" b="0" dirty="0" err="1"/>
              <a:t>numpy</a:t>
            </a:r>
            <a:r>
              <a:rPr lang="zh-CN" altLang="en-GB" b="0" dirty="0"/>
              <a:t>，</a:t>
            </a:r>
            <a:r>
              <a:rPr lang="en-GB" altLang="zh-CN" b="0" dirty="0" err="1"/>
              <a:t>numpy</a:t>
            </a:r>
            <a:r>
              <a:rPr lang="zh-CN" altLang="en-US" b="0" dirty="0"/>
              <a:t>支持的数据类型，</a:t>
            </a:r>
            <a:r>
              <a:rPr lang="en-GB" altLang="zh-CN" b="0" dirty="0"/>
              <a:t>pandas</a:t>
            </a:r>
            <a:r>
              <a:rPr lang="zh-CN" altLang="en-US" b="0" dirty="0"/>
              <a:t>都支持</a:t>
            </a:r>
            <a:endParaRPr lang="zh-CN" altLang="en-US" b="0" dirty="0"/>
          </a:p>
          <a:p>
            <a:r>
              <a:rPr lang="en-GB" altLang="zh-CN" b="0" dirty="0" err="1"/>
              <a:t>np.object</a:t>
            </a:r>
            <a:r>
              <a:rPr lang="en-GB" altLang="zh-CN" b="0" dirty="0"/>
              <a:t> </a:t>
            </a:r>
            <a:r>
              <a:rPr lang="zh-CN" altLang="en-US" b="0" dirty="0"/>
              <a:t>字符串类型</a:t>
            </a:r>
            <a:endParaRPr lang="zh-CN" altLang="en-US" b="0" dirty="0"/>
          </a:p>
          <a:p>
            <a:r>
              <a:rPr lang="en-GB" altLang="zh-CN" b="0" dirty="0" err="1"/>
              <a:t>pd.Categorical</a:t>
            </a:r>
            <a:r>
              <a:rPr lang="en-GB" altLang="zh-CN" b="0" dirty="0"/>
              <a:t> </a:t>
            </a:r>
            <a:r>
              <a:rPr lang="zh-CN" altLang="en-US" b="0" dirty="0"/>
              <a:t>类别类型</a:t>
            </a:r>
            <a:endParaRPr lang="zh-CN" altLang="en-US" b="0" dirty="0"/>
          </a:p>
          <a:p>
            <a:endParaRPr lang="zh-CN" altLang="en-US" b="0" dirty="0"/>
          </a:p>
          <a:p>
            <a:r>
              <a:rPr lang="en-GB" altLang="zh-CN" dirty="0"/>
              <a:t>import </a:t>
            </a:r>
            <a:r>
              <a:rPr lang="en-GB" altLang="zh-CN" dirty="0" err="1"/>
              <a:t>numpy</a:t>
            </a:r>
            <a:r>
              <a:rPr lang="en-GB" altLang="zh-CN" dirty="0"/>
              <a:t> as np</a:t>
            </a:r>
            <a:endParaRPr lang="en-GB" altLang="zh-CN" dirty="0"/>
          </a:p>
          <a:p>
            <a:r>
              <a:rPr lang="en-GB" altLang="zh-CN" dirty="0" err="1"/>
              <a:t>college.describe</a:t>
            </a:r>
            <a:r>
              <a:rPr lang="en-GB" altLang="zh-CN" dirty="0"/>
              <a:t>(include=[</a:t>
            </a:r>
            <a:r>
              <a:rPr lang="en-GB" altLang="zh-CN" dirty="0" err="1"/>
              <a:t>np.object</a:t>
            </a:r>
            <a:r>
              <a:rPr lang="en-GB" altLang="zh-CN" dirty="0"/>
              <a:t>, </a:t>
            </a:r>
            <a:r>
              <a:rPr lang="en-GB" altLang="zh-CN" dirty="0" err="1"/>
              <a:t>pd.Categorical</a:t>
            </a:r>
            <a:r>
              <a:rPr lang="en-GB" altLang="zh-CN" dirty="0"/>
              <a:t>]).T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43780" y="4173220"/>
            <a:ext cx="6477000" cy="1689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455" y="2250440"/>
            <a:ext cx="6362700" cy="1416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 计算常用统计值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 info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9493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通过</a:t>
            </a:r>
            <a:r>
              <a:rPr lang="en-US" altLang="zh-CN" dirty="0"/>
              <a:t>info </a:t>
            </a:r>
            <a:r>
              <a:rPr lang="zh-CN" altLang="en-US" dirty="0"/>
              <a:t>方法了解不同字段的条目数量，数据类型，是否缺失及内存占用情况</a:t>
            </a:r>
            <a:endParaRPr lang="en-US" altLang="zh-CN" dirty="0"/>
          </a:p>
          <a:p>
            <a:r>
              <a:rPr lang="en-US" altLang="zh-CN" dirty="0" err="1"/>
              <a:t>college.info</a:t>
            </a:r>
            <a:r>
              <a:rPr lang="en-US" altLang="zh-CN" dirty="0"/>
              <a:t>()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2190" y="2093595"/>
            <a:ext cx="3759200" cy="4676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计算常用统计值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常用排序方法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简单数据分析练习</a:t>
            </a:r>
            <a:endParaRPr lang="zh-CN" altLang="en-US" b="1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常用排序方法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从最大的N个值中选取最小值——</a:t>
            </a:r>
            <a:r>
              <a:rPr lang="zh-CN" altLang="en-US" dirty="0"/>
              <a:t>找到小成本高口碑电影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45920"/>
            <a:ext cx="10699115" cy="4792980"/>
          </a:xfrm>
        </p:spPr>
        <p:txBody>
          <a:bodyPr/>
          <a:lstStyle/>
          <a:p>
            <a:r>
              <a:rPr lang="zh-CN" altLang="en-US" dirty="0"/>
              <a:t>思路：从最大的</a:t>
            </a:r>
            <a:r>
              <a:rPr lang="en-US" altLang="zh-CN" dirty="0"/>
              <a:t>N</a:t>
            </a:r>
            <a:r>
              <a:rPr lang="zh-CN" altLang="en-US" dirty="0"/>
              <a:t>个值中选取最小值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加载数据</a:t>
            </a:r>
            <a:endParaRPr lang="en-US" altLang="zh-CN" dirty="0"/>
          </a:p>
          <a:p>
            <a:r>
              <a:rPr lang="en-US" altLang="zh-CN" dirty="0"/>
              <a:t>movie = </a:t>
            </a:r>
            <a:r>
              <a:rPr lang="en-US" altLang="zh-CN" dirty="0" err="1"/>
              <a:t>pd.read_csv</a:t>
            </a:r>
            <a:r>
              <a:rPr lang="en-US" altLang="zh-CN" dirty="0"/>
              <a:t>('data/</a:t>
            </a:r>
            <a:r>
              <a:rPr lang="en-US" altLang="zh-CN" dirty="0" err="1"/>
              <a:t>movie.csv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/>
              <a:t>movie2 = movie[['</a:t>
            </a:r>
            <a:r>
              <a:rPr lang="en-US" altLang="zh-CN" dirty="0" err="1"/>
              <a:t>movie_title</a:t>
            </a:r>
            <a:r>
              <a:rPr lang="en-US" altLang="zh-CN" dirty="0"/>
              <a:t>', '</a:t>
            </a:r>
            <a:r>
              <a:rPr lang="en-US" altLang="zh-CN" dirty="0" err="1"/>
              <a:t>imdb_score</a:t>
            </a:r>
            <a:r>
              <a:rPr lang="en-US" altLang="zh-CN" dirty="0"/>
              <a:t>', 'budget']]</a:t>
            </a:r>
            <a:endParaRPr lang="en-US" altLang="zh-CN" dirty="0"/>
          </a:p>
          <a:p>
            <a:r>
              <a:rPr lang="en-US" altLang="zh-CN" dirty="0"/>
              <a:t>movie2.head()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用</a:t>
            </a:r>
            <a:r>
              <a:rPr lang="en-GB" altLang="zh-CN" dirty="0" err="1"/>
              <a:t>nlargest</a:t>
            </a:r>
            <a:r>
              <a:rPr lang="zh-CN" altLang="en-US" dirty="0"/>
              <a:t>方法，选出</a:t>
            </a:r>
            <a:r>
              <a:rPr lang="en-GB" altLang="zh-CN" dirty="0" err="1"/>
              <a:t>imdb_score</a:t>
            </a:r>
            <a:r>
              <a:rPr lang="zh-CN" altLang="en-US" dirty="0"/>
              <a:t>分数最高的</a:t>
            </a:r>
            <a:r>
              <a:rPr lang="en-US" altLang="zh-CN" dirty="0"/>
              <a:t>100</a:t>
            </a:r>
            <a:r>
              <a:rPr lang="zh-CN" altLang="en-US" dirty="0"/>
              <a:t>个</a:t>
            </a:r>
            <a:endParaRPr lang="en-US" altLang="zh-CN" dirty="0"/>
          </a:p>
          <a:p>
            <a:r>
              <a:rPr lang="en-GB" altLang="zh-CN" dirty="0"/>
              <a:t>movie2.nlargest(100, '</a:t>
            </a:r>
            <a:r>
              <a:rPr lang="en-GB" altLang="zh-CN" dirty="0" err="1"/>
              <a:t>imdb_score</a:t>
            </a:r>
            <a:r>
              <a:rPr lang="en-GB" altLang="zh-CN" dirty="0"/>
              <a:t>').head()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使用</a:t>
            </a:r>
            <a:r>
              <a:rPr lang="en-GB" altLang="zh-CN" dirty="0" err="1"/>
              <a:t>nsmallest</a:t>
            </a:r>
            <a:r>
              <a:rPr lang="zh-CN" altLang="en-US" dirty="0"/>
              <a:t>方法再从中挑出预算最小的五部</a:t>
            </a:r>
            <a:endParaRPr lang="en-US" altLang="zh-CN" dirty="0"/>
          </a:p>
          <a:p>
            <a:r>
              <a:rPr lang="en-GB" altLang="zh-CN" dirty="0"/>
              <a:t>movie2.nlargest(100, '</a:t>
            </a:r>
            <a:r>
              <a:rPr lang="en-GB" altLang="zh-CN" dirty="0" err="1"/>
              <a:t>imdb_score</a:t>
            </a:r>
            <a:r>
              <a:rPr lang="en-GB" altLang="zh-CN" dirty="0"/>
              <a:t>').</a:t>
            </a:r>
            <a:r>
              <a:rPr lang="en-GB" altLang="zh-CN" dirty="0" err="1"/>
              <a:t>nsmallest</a:t>
            </a:r>
            <a:r>
              <a:rPr lang="en-GB" altLang="zh-CN" dirty="0"/>
              <a:t>(5, 'budget')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5885" y="1555750"/>
            <a:ext cx="5606415" cy="1758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450" y="3314700"/>
            <a:ext cx="5724525" cy="1790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常用排序方法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找到每年</a:t>
            </a:r>
            <a:r>
              <a:rPr lang="en-US" altLang="zh-CN" dirty="0" err="1"/>
              <a:t>imdb</a:t>
            </a:r>
            <a:r>
              <a:rPr lang="zh-CN" altLang="en-US" dirty="0"/>
              <a:t>评分最高的电影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altLang="zh-CN" dirty="0" err="1"/>
              <a:t>sort_values</a:t>
            </a:r>
            <a:r>
              <a:rPr lang="en-GB" altLang="zh-CN" dirty="0"/>
              <a:t> </a:t>
            </a:r>
            <a:r>
              <a:rPr lang="zh-CN" altLang="en-US" dirty="0"/>
              <a:t>按照年排序，</a:t>
            </a:r>
            <a:r>
              <a:rPr lang="en-GB" altLang="zh-CN" dirty="0"/>
              <a:t>ascending </a:t>
            </a:r>
            <a:r>
              <a:rPr lang="zh-CN" altLang="en-US" dirty="0"/>
              <a:t>升序排列</a:t>
            </a:r>
            <a:endParaRPr lang="en-US" altLang="zh-CN" dirty="0"/>
          </a:p>
          <a:p>
            <a:r>
              <a:rPr lang="en-GB" altLang="zh-CN" dirty="0"/>
              <a:t>movie2 = movie[['</a:t>
            </a:r>
            <a:r>
              <a:rPr lang="en-GB" altLang="zh-CN" dirty="0" err="1"/>
              <a:t>movie_title</a:t>
            </a:r>
            <a:r>
              <a:rPr lang="en-GB" altLang="zh-CN" dirty="0"/>
              <a:t>', '</a:t>
            </a:r>
            <a:r>
              <a:rPr lang="en-GB" altLang="zh-CN" dirty="0" err="1"/>
              <a:t>title_year</a:t>
            </a:r>
            <a:r>
              <a:rPr lang="en-GB" altLang="zh-CN" dirty="0"/>
              <a:t>', '</a:t>
            </a:r>
            <a:r>
              <a:rPr lang="en-GB" altLang="zh-CN" dirty="0" err="1"/>
              <a:t>imdb_score</a:t>
            </a:r>
            <a:r>
              <a:rPr lang="en-GB" altLang="zh-CN" dirty="0"/>
              <a:t>']]</a:t>
            </a:r>
            <a:endParaRPr lang="en-GB" altLang="zh-CN" dirty="0"/>
          </a:p>
          <a:p>
            <a:r>
              <a:rPr lang="en-GB" altLang="zh-CN" dirty="0"/>
              <a:t>movie2.sort_values('</a:t>
            </a:r>
            <a:r>
              <a:rPr lang="en-GB" altLang="zh-CN" dirty="0" err="1"/>
              <a:t>title_year</a:t>
            </a:r>
            <a:r>
              <a:rPr lang="en-GB" altLang="zh-CN" dirty="0"/>
              <a:t>', ascending=False).head()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同时对</a:t>
            </a:r>
            <a:r>
              <a:rPr lang="en-US" altLang="zh-CN" dirty="0"/>
              <a:t>'</a:t>
            </a:r>
            <a:r>
              <a:rPr lang="en-GB" altLang="zh-CN" dirty="0"/>
              <a:t>title_year','</a:t>
            </a:r>
            <a:r>
              <a:rPr lang="en-GB" altLang="zh-CN" dirty="0" err="1"/>
              <a:t>imdb_score</a:t>
            </a:r>
            <a:r>
              <a:rPr lang="en-GB" altLang="zh-CN" dirty="0"/>
              <a:t>' </a:t>
            </a:r>
            <a:r>
              <a:rPr lang="zh-CN" altLang="en-US" dirty="0"/>
              <a:t>两列进行排序</a:t>
            </a:r>
            <a:endParaRPr lang="en-US" altLang="zh-CN" dirty="0"/>
          </a:p>
          <a:p>
            <a:r>
              <a:rPr lang="en-GB" altLang="zh-CN" dirty="0"/>
              <a:t>movie3 = movie2.sort_values(['title_year','</a:t>
            </a:r>
            <a:r>
              <a:rPr lang="en-GB" altLang="zh-CN" dirty="0" err="1"/>
              <a:t>imdb_score</a:t>
            </a:r>
            <a:r>
              <a:rPr lang="en-GB" altLang="zh-CN" dirty="0"/>
              <a:t>'], ascending=False)</a:t>
            </a:r>
            <a:endParaRPr lang="en-GB" altLang="zh-CN" dirty="0"/>
          </a:p>
          <a:p>
            <a:r>
              <a:rPr lang="en-GB" altLang="zh-CN" dirty="0"/>
              <a:t>movie3.head()</a:t>
            </a:r>
            <a:endParaRPr lang="en-GB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用</a:t>
            </a:r>
            <a:r>
              <a:rPr lang="en-GB" altLang="zh-CN" dirty="0" err="1"/>
              <a:t>drop_duplicates</a:t>
            </a:r>
            <a:r>
              <a:rPr lang="zh-CN" altLang="en-US" dirty="0"/>
              <a:t>去重，只保留每年的第一条数据</a:t>
            </a:r>
            <a:endParaRPr lang="en-US" altLang="zh-CN" dirty="0"/>
          </a:p>
          <a:p>
            <a:r>
              <a:rPr lang="en-GB" altLang="zh-CN" dirty="0" err="1"/>
              <a:t>movie_top_year</a:t>
            </a:r>
            <a:r>
              <a:rPr lang="en-GB" altLang="zh-CN" dirty="0"/>
              <a:t> = movie3.drop_duplicates(subset='</a:t>
            </a:r>
            <a:r>
              <a:rPr lang="en-GB" altLang="zh-CN" dirty="0" err="1"/>
              <a:t>title_year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movie_top_year.head</a:t>
            </a:r>
            <a:r>
              <a:rPr lang="en-GB" altLang="zh-CN" dirty="0"/>
              <a:t>()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zh-CN" altLang="en-US" dirty="0"/>
              <a:t>常用排序方法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提取出每年，每种电影分级中预算少的电影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多列排序时，</a:t>
            </a:r>
            <a:r>
              <a:rPr lang="en-US" altLang="zh-CN" dirty="0"/>
              <a:t>ascending </a:t>
            </a:r>
            <a:r>
              <a:rPr lang="zh-CN" altLang="en-US" dirty="0"/>
              <a:t>参数传入一个列表，排序一一对应</a:t>
            </a:r>
            <a:endParaRPr lang="zh-CN" altLang="en-US" dirty="0"/>
          </a:p>
          <a:p>
            <a:r>
              <a:rPr lang="en-US" altLang="zh-CN" dirty="0"/>
              <a:t>movie4 = movie[['</a:t>
            </a:r>
            <a:r>
              <a:rPr lang="en-US" altLang="zh-CN" dirty="0" err="1"/>
              <a:t>movie_title</a:t>
            </a:r>
            <a:r>
              <a:rPr lang="en-US" altLang="zh-CN" dirty="0"/>
              <a:t>', '</a:t>
            </a:r>
            <a:r>
              <a:rPr lang="en-US" altLang="zh-CN" dirty="0" err="1"/>
              <a:t>title_year</a:t>
            </a:r>
            <a:r>
              <a:rPr lang="en-US" altLang="zh-CN" dirty="0"/>
              <a:t>', '</a:t>
            </a:r>
            <a:r>
              <a:rPr lang="en-US" altLang="zh-CN" dirty="0" err="1"/>
              <a:t>content_rating</a:t>
            </a:r>
            <a:r>
              <a:rPr lang="en-US" altLang="zh-CN" dirty="0"/>
              <a:t>', 'budget']]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多列排序，</a:t>
            </a:r>
            <a:r>
              <a:rPr lang="en-US" altLang="zh-CN" dirty="0"/>
              <a:t>ascending=[False, False, True] </a:t>
            </a:r>
            <a:r>
              <a:rPr lang="zh-CN" altLang="en-US" dirty="0"/>
              <a:t>降序，降序，升序</a:t>
            </a:r>
            <a:endParaRPr lang="zh-CN" altLang="en-US" dirty="0"/>
          </a:p>
          <a:p>
            <a:r>
              <a:rPr lang="en-US" altLang="zh-CN" dirty="0"/>
              <a:t>movie4_sorted = movie4.sort_values(['</a:t>
            </a:r>
            <a:r>
              <a:rPr lang="en-US" altLang="zh-CN" dirty="0" err="1"/>
              <a:t>title_year</a:t>
            </a:r>
            <a:r>
              <a:rPr lang="en-US" altLang="zh-CN" dirty="0"/>
              <a:t>', '</a:t>
            </a:r>
            <a:r>
              <a:rPr lang="en-US" altLang="zh-CN" dirty="0" err="1"/>
              <a:t>content_rating</a:t>
            </a:r>
            <a:r>
              <a:rPr lang="en-US" altLang="zh-CN" dirty="0"/>
              <a:t>', 'budget'], ascending=[False, False, True])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去重，删除</a:t>
            </a:r>
            <a:r>
              <a:rPr lang="en-US" altLang="zh-CN" dirty="0"/>
              <a:t>'</a:t>
            </a:r>
            <a:r>
              <a:rPr lang="en-US" altLang="zh-CN" dirty="0" err="1"/>
              <a:t>title_year</a:t>
            </a:r>
            <a:r>
              <a:rPr lang="en-US" altLang="zh-CN" dirty="0"/>
              <a:t>', '</a:t>
            </a:r>
            <a:r>
              <a:rPr lang="en-US" altLang="zh-CN" dirty="0" err="1"/>
              <a:t>content_rating</a:t>
            </a:r>
            <a:r>
              <a:rPr lang="en-US" altLang="zh-CN" dirty="0"/>
              <a:t>'</a:t>
            </a:r>
            <a:r>
              <a:rPr lang="zh-CN" altLang="en-US" dirty="0"/>
              <a:t>相同的数据</a:t>
            </a:r>
            <a:endParaRPr lang="zh-CN" altLang="en-US" dirty="0"/>
          </a:p>
          <a:p>
            <a:r>
              <a:rPr lang="en-US" altLang="zh-CN" dirty="0"/>
              <a:t>movie4_sorted.drop_duplicates(subset=['</a:t>
            </a:r>
            <a:r>
              <a:rPr lang="en-US" altLang="zh-CN" dirty="0" err="1"/>
              <a:t>title_year</a:t>
            </a:r>
            <a:r>
              <a:rPr lang="en-US" altLang="zh-CN" dirty="0"/>
              <a:t>', '</a:t>
            </a:r>
            <a:r>
              <a:rPr lang="en-US" altLang="zh-CN" dirty="0" err="1"/>
              <a:t>content_rating</a:t>
            </a:r>
            <a:r>
              <a:rPr lang="en-US" altLang="zh-CN" dirty="0"/>
              <a:t>']).head(10)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计算常用统计值</a:t>
            </a:r>
            <a:endParaRPr lang="zh-CN" altLang="en-US" b="1" dirty="0"/>
          </a:p>
          <a:p>
            <a:r>
              <a:rPr lang="zh-CN" altLang="en-US" b="1" dirty="0"/>
              <a:t>常用排序方法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简单数据分析练习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加载数据</a:t>
            </a:r>
            <a:r>
              <a:rPr lang="en-US" altLang="zh-CN" dirty="0"/>
              <a:t>&amp;</a:t>
            </a:r>
            <a:r>
              <a:rPr lang="zh-CN" altLang="en-US" dirty="0"/>
              <a:t>预处理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载入数据</a:t>
            </a:r>
            <a:endParaRPr lang="en-US" altLang="zh-CN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r>
              <a:rPr lang="en-US" altLang="zh-CN" dirty="0" err="1"/>
              <a:t>house_data</a:t>
            </a:r>
            <a:r>
              <a:rPr lang="en-US" altLang="zh-CN" dirty="0"/>
              <a:t> = </a:t>
            </a:r>
            <a:r>
              <a:rPr lang="en-US" altLang="zh-CN" dirty="0" err="1"/>
              <a:t>pd.read_csv</a:t>
            </a:r>
            <a:r>
              <a:rPr lang="en-US" altLang="zh-CN" dirty="0"/>
              <a:t>('data/</a:t>
            </a:r>
            <a:r>
              <a:rPr lang="en-US" altLang="zh-CN" dirty="0" err="1"/>
              <a:t>LJdata.csv</a:t>
            </a:r>
            <a:r>
              <a:rPr lang="en-US" altLang="zh-CN" dirty="0"/>
              <a:t>’)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把列名替换成英文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查看原始列名</a:t>
            </a:r>
            <a:endParaRPr lang="zh-CN" altLang="en-US" dirty="0"/>
          </a:p>
          <a:p>
            <a:r>
              <a:rPr lang="en-US" altLang="zh-CN" dirty="0" err="1"/>
              <a:t>house_data.columns</a:t>
            </a:r>
            <a:endParaRPr lang="en-US" altLang="zh-CN" dirty="0"/>
          </a:p>
          <a:p>
            <a:r>
              <a:rPr lang="en-US" altLang="zh-CN" dirty="0" err="1"/>
              <a:t>house_data.columns</a:t>
            </a:r>
            <a:r>
              <a:rPr lang="en-US" altLang="zh-CN" dirty="0"/>
              <a:t> = ['district', 'address', 'title', '</a:t>
            </a:r>
            <a:r>
              <a:rPr lang="en-US" altLang="zh-CN" dirty="0" err="1"/>
              <a:t>house_type</a:t>
            </a:r>
            <a:r>
              <a:rPr lang="en-US" altLang="zh-CN" dirty="0"/>
              <a:t>', 'area', 'price', 'floor', '</a:t>
            </a:r>
            <a:r>
              <a:rPr lang="en-US" altLang="zh-CN" dirty="0" err="1"/>
              <a:t>build_time</a:t>
            </a:r>
            <a:r>
              <a:rPr lang="en-US" altLang="zh-CN" dirty="0"/>
              <a:t>', 'direction', '</a:t>
            </a:r>
            <a:r>
              <a:rPr lang="en-US" altLang="zh-CN" dirty="0" err="1"/>
              <a:t>update_time</a:t>
            </a:r>
            <a:r>
              <a:rPr lang="en-US" altLang="zh-CN" dirty="0"/>
              <a:t>', '</a:t>
            </a:r>
            <a:r>
              <a:rPr lang="en-US" altLang="zh-CN" dirty="0" err="1"/>
              <a:t>view_num</a:t>
            </a:r>
            <a:r>
              <a:rPr lang="en-US" altLang="zh-CN" dirty="0"/>
              <a:t>', '</a:t>
            </a:r>
            <a:r>
              <a:rPr lang="en-US" altLang="zh-CN" dirty="0" err="1"/>
              <a:t>extra_info</a:t>
            </a:r>
            <a:r>
              <a:rPr lang="en-US" altLang="zh-CN" dirty="0"/>
              <a:t>', 'link']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查看数据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查看数据前</a:t>
            </a:r>
            <a:r>
              <a:rPr lang="en-US" altLang="zh-CN" dirty="0"/>
              <a:t>5</a:t>
            </a:r>
            <a:r>
              <a:rPr lang="zh-CN" altLang="en-US" dirty="0"/>
              <a:t>行</a:t>
            </a:r>
            <a:endParaRPr lang="en-US" altLang="zh-CN" dirty="0"/>
          </a:p>
          <a:p>
            <a:r>
              <a:rPr lang="en-US" altLang="zh-CN" dirty="0" err="1"/>
              <a:t>house_data.head</a:t>
            </a:r>
            <a:r>
              <a:rPr lang="en-US" altLang="zh-CN" dirty="0"/>
              <a:t>()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查看列数据分布</a:t>
            </a:r>
            <a:endParaRPr lang="en-US" altLang="zh-CN" dirty="0"/>
          </a:p>
          <a:p>
            <a:r>
              <a:rPr lang="en-US" altLang="zh-CN" dirty="0" err="1"/>
              <a:t>house_data.info</a:t>
            </a:r>
            <a:r>
              <a:rPr lang="en-US" altLang="zh-CN" dirty="0"/>
              <a:t>()</a:t>
            </a:r>
            <a:endParaRPr lang="en-US" altLang="zh-CN" dirty="0"/>
          </a:p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查看列统计指标</a:t>
            </a:r>
            <a:endParaRPr lang="en-US" altLang="zh-CN" dirty="0"/>
          </a:p>
          <a:p>
            <a:r>
              <a:rPr lang="en-US" altLang="zh-CN" dirty="0" err="1"/>
              <a:t>house_data.describe</a:t>
            </a:r>
            <a:r>
              <a:rPr lang="en-US" altLang="zh-CN" dirty="0"/>
              <a:t>()</a:t>
            </a:r>
            <a:endParaRPr lang="en-US" altLang="zh-CN" dirty="0"/>
          </a:p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查看数据形状</a:t>
            </a:r>
            <a:endParaRPr lang="en-US" altLang="zh-CN" dirty="0"/>
          </a:p>
          <a:p>
            <a:r>
              <a:rPr lang="en-US" altLang="zh-CN" dirty="0" err="1"/>
              <a:t>house_data.shape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8030" y="3812540"/>
            <a:ext cx="6381750" cy="2749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675" y="824230"/>
            <a:ext cx="3019425" cy="3060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65" y="5164455"/>
            <a:ext cx="156845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找到租金最低，和租金最高的房子</a:t>
            </a:r>
            <a:endParaRPr lang="en-US" altLang="zh-CN" dirty="0"/>
          </a:p>
          <a:p>
            <a:r>
              <a:rPr lang="en-US" altLang="zh-CN" dirty="0" err="1"/>
              <a:t>house_data.loc</a:t>
            </a:r>
            <a:r>
              <a:rPr lang="en-US" altLang="zh-CN" dirty="0"/>
              <a:t>[</a:t>
            </a:r>
            <a:r>
              <a:rPr lang="en-US" altLang="zh-CN" dirty="0" err="1"/>
              <a:t>house_data</a:t>
            </a:r>
            <a:r>
              <a:rPr lang="en-US" altLang="zh-CN" dirty="0"/>
              <a:t>['price']==210000]</a:t>
            </a:r>
            <a:endParaRPr lang="en-US" altLang="zh-CN" dirty="0"/>
          </a:p>
          <a:p>
            <a:r>
              <a:rPr lang="en-US" altLang="zh-CN" dirty="0" err="1"/>
              <a:t>house_data.loc</a:t>
            </a:r>
            <a:r>
              <a:rPr lang="en-US" altLang="zh-CN" dirty="0"/>
              <a:t>[</a:t>
            </a:r>
            <a:r>
              <a:rPr lang="en-US" altLang="zh-CN" dirty="0" err="1"/>
              <a:t>house_data</a:t>
            </a:r>
            <a:r>
              <a:rPr lang="en-US" altLang="zh-CN" dirty="0"/>
              <a:t>['price']==1300]</a:t>
            </a:r>
            <a:endParaRPr lang="en-US" altLang="zh-CN" dirty="0"/>
          </a:p>
          <a:p>
            <a:r>
              <a:rPr lang="en-US" altLang="zh-CN" dirty="0" err="1"/>
              <a:t>house_data</a:t>
            </a:r>
            <a:r>
              <a:rPr lang="en-US" altLang="zh-CN" dirty="0"/>
              <a:t>[</a:t>
            </a:r>
            <a:r>
              <a:rPr lang="en-US" altLang="zh-CN" dirty="0" err="1"/>
              <a:t>house_data</a:t>
            </a:r>
            <a:r>
              <a:rPr lang="en-US" altLang="zh-CN" dirty="0"/>
              <a:t>['price']==</a:t>
            </a:r>
            <a:r>
              <a:rPr lang="en-US" altLang="zh-CN" dirty="0" err="1"/>
              <a:t>house_data</a:t>
            </a:r>
            <a:r>
              <a:rPr lang="en-US" altLang="zh-CN" dirty="0"/>
              <a:t>['price'].min()]</a:t>
            </a:r>
            <a:endParaRPr lang="en-US" altLang="zh-CN" dirty="0"/>
          </a:p>
          <a:p>
            <a:r>
              <a:rPr lang="en-US" altLang="zh-CN" dirty="0" err="1"/>
              <a:t>house_data</a:t>
            </a:r>
            <a:r>
              <a:rPr lang="en-US" altLang="zh-CN" dirty="0"/>
              <a:t>[</a:t>
            </a:r>
            <a:r>
              <a:rPr lang="en-US" altLang="zh-CN" dirty="0" err="1"/>
              <a:t>house_data</a:t>
            </a:r>
            <a:r>
              <a:rPr lang="en-US" altLang="zh-CN" dirty="0"/>
              <a:t>['price']==</a:t>
            </a:r>
            <a:r>
              <a:rPr lang="en-US" altLang="zh-CN" dirty="0" err="1"/>
              <a:t>house_data</a:t>
            </a:r>
            <a:r>
              <a:rPr lang="en-US" altLang="zh-CN" dirty="0"/>
              <a:t>['price'].max()]</a:t>
            </a:r>
            <a:endParaRPr lang="en-US" altLang="zh-CN" dirty="0"/>
          </a:p>
          <a:p>
            <a:endParaRPr lang="en-US" altLang="zh-CN" dirty="0"/>
          </a:p>
          <a:p>
            <a:r>
              <a:rPr lang="en-GB" altLang="zh-CN" dirty="0" err="1"/>
              <a:t>sort_values</a:t>
            </a:r>
            <a:r>
              <a:rPr lang="zh-CN" altLang="en-US" dirty="0"/>
              <a:t>按照值排序 参数</a:t>
            </a:r>
            <a:r>
              <a:rPr lang="en-GB" altLang="zh-CN" dirty="0"/>
              <a:t>by </a:t>
            </a:r>
            <a:r>
              <a:rPr lang="zh-CN" altLang="en-US" dirty="0"/>
              <a:t>传入列名 参数 </a:t>
            </a:r>
            <a:r>
              <a:rPr lang="en-GB" altLang="zh-CN" dirty="0"/>
              <a:t>ascending</a:t>
            </a:r>
            <a:r>
              <a:rPr lang="zh-CN" altLang="en-GB" dirty="0"/>
              <a:t>（</a:t>
            </a:r>
            <a:r>
              <a:rPr lang="zh-CN" altLang="en-US" dirty="0"/>
              <a:t>升序）</a:t>
            </a:r>
            <a:endParaRPr lang="en-US" altLang="zh-CN" dirty="0"/>
          </a:p>
          <a:p>
            <a:r>
              <a:rPr lang="en-GB" altLang="zh-CN" dirty="0" err="1"/>
              <a:t>house_data.sort_values</a:t>
            </a:r>
            <a:r>
              <a:rPr lang="en-GB" altLang="zh-CN" dirty="0"/>
              <a:t>(by='price').head(1)</a:t>
            </a:r>
            <a:endParaRPr lang="en-GB" altLang="zh-CN" dirty="0"/>
          </a:p>
          <a:p>
            <a:r>
              <a:rPr lang="en-GB" altLang="zh-CN" dirty="0" err="1"/>
              <a:t>house_data.sort_values</a:t>
            </a:r>
            <a:r>
              <a:rPr lang="en-GB" altLang="zh-CN" dirty="0"/>
              <a:t>(by='price').tail(1)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找到最近新上的</a:t>
            </a:r>
            <a:r>
              <a:rPr lang="en-US" altLang="zh-CN" dirty="0"/>
              <a:t>10</a:t>
            </a:r>
            <a:r>
              <a:rPr lang="zh-CN" altLang="en-US" dirty="0"/>
              <a:t>套房源</a:t>
            </a:r>
            <a:endParaRPr lang="en-US" altLang="zh-CN" dirty="0"/>
          </a:p>
          <a:p>
            <a:r>
              <a:rPr lang="en-GB" altLang="zh-CN" dirty="0" err="1"/>
              <a:t>house_data.sort_values</a:t>
            </a:r>
            <a:r>
              <a:rPr lang="en-GB" altLang="zh-CN" dirty="0"/>
              <a:t>(by='</a:t>
            </a:r>
            <a:r>
              <a:rPr lang="en-GB" altLang="zh-CN" dirty="0" err="1"/>
              <a:t>update_time</a:t>
            </a:r>
            <a:r>
              <a:rPr lang="en-GB" altLang="zh-CN" dirty="0"/>
              <a:t>', ascending=False).head()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40" y="2723515"/>
            <a:ext cx="7722235" cy="20853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查看所有更新时间</a:t>
            </a:r>
            <a:endParaRPr lang="en-US" altLang="zh-CN" dirty="0"/>
          </a:p>
          <a:p>
            <a:r>
              <a:rPr lang="en-GB" altLang="zh-CN" dirty="0" err="1"/>
              <a:t>house_data</a:t>
            </a:r>
            <a:r>
              <a:rPr lang="en-GB" altLang="zh-CN" dirty="0"/>
              <a:t>['</a:t>
            </a:r>
            <a:r>
              <a:rPr lang="en-GB" altLang="zh-CN" dirty="0" err="1"/>
              <a:t>update_time</a:t>
            </a:r>
            <a:r>
              <a:rPr lang="en-GB" altLang="zh-CN" dirty="0"/>
              <a:t>'].unique() </a:t>
            </a:r>
            <a:endParaRPr lang="en-GB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2667000"/>
            <a:ext cx="5410200" cy="10096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06035"/>
          </a:xfrm>
        </p:spPr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看房人数</a:t>
            </a:r>
            <a:endParaRPr lang="en-US" altLang="zh-CN" dirty="0"/>
          </a:p>
          <a:p>
            <a:r>
              <a:rPr lang="en-US" altLang="zh-CN" dirty="0" err="1"/>
              <a:t>house_data</a:t>
            </a:r>
            <a:r>
              <a:rPr lang="en-US" altLang="zh-CN" dirty="0"/>
              <a:t>['</a:t>
            </a:r>
            <a:r>
              <a:rPr lang="en-US" altLang="zh-CN" dirty="0" err="1"/>
              <a:t>view_num</a:t>
            </a:r>
            <a:r>
              <a:rPr lang="en-US" altLang="zh-CN" dirty="0"/>
              <a:t>'].mean() #</a:t>
            </a:r>
            <a:r>
              <a:rPr lang="zh-CN" altLang="en-US" dirty="0"/>
              <a:t>平均值</a:t>
            </a:r>
            <a:endParaRPr lang="zh-CN" altLang="en-US" dirty="0"/>
          </a:p>
          <a:p>
            <a:r>
              <a:rPr lang="en-US" altLang="zh-CN" dirty="0" err="1"/>
              <a:t>house_data</a:t>
            </a:r>
            <a:r>
              <a:rPr lang="en-US" altLang="zh-CN" dirty="0"/>
              <a:t>['</a:t>
            </a:r>
            <a:r>
              <a:rPr lang="en-US" altLang="zh-CN" dirty="0" err="1"/>
              <a:t>view_num</a:t>
            </a:r>
            <a:r>
              <a:rPr lang="en-US" altLang="zh-CN" dirty="0"/>
              <a:t>'].median() #</a:t>
            </a:r>
            <a:r>
              <a:rPr lang="zh-CN" altLang="en-US" dirty="0"/>
              <a:t>中位数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不同看房人数的房源数量，</a:t>
            </a:r>
            <a:r>
              <a:rPr lang="en-GB" altLang="zh-CN" dirty="0" err="1"/>
              <a:t>as_index</a:t>
            </a:r>
            <a:r>
              <a:rPr lang="en-GB" altLang="zh-CN" dirty="0"/>
              <a:t> = False </a:t>
            </a:r>
            <a:r>
              <a:rPr lang="zh-CN" altLang="en-US" dirty="0"/>
              <a:t>分组字段不作为行索引（默认为</a:t>
            </a:r>
            <a:r>
              <a:rPr lang="en-GB" altLang="zh-CN" dirty="0"/>
              <a:t>True)</a:t>
            </a:r>
            <a:endParaRPr lang="en-GB" altLang="zh-CN" dirty="0"/>
          </a:p>
          <a:p>
            <a:r>
              <a:rPr lang="en-US" altLang="zh-CN" dirty="0" err="1"/>
              <a:t>tmp_df</a:t>
            </a:r>
            <a:r>
              <a:rPr lang="en-US" altLang="zh-CN" dirty="0"/>
              <a:t> = </a:t>
            </a:r>
            <a:r>
              <a:rPr lang="en-US" altLang="zh-CN" dirty="0" err="1"/>
              <a:t>house_data.groupby</a:t>
            </a:r>
            <a:r>
              <a:rPr lang="en-US" altLang="zh-CN" dirty="0"/>
              <a:t>('view_</a:t>
            </a:r>
            <a:r>
              <a:rPr lang="en-US" altLang="zh-CN" dirty="0" err="1"/>
              <a:t>num</a:t>
            </a:r>
            <a:r>
              <a:rPr lang="en-US" altLang="zh-CN" dirty="0"/>
              <a:t>',</a:t>
            </a:r>
            <a:r>
              <a:rPr lang="en-US" altLang="zh-CN" dirty="0" err="1"/>
              <a:t>as_index</a:t>
            </a:r>
            <a:r>
              <a:rPr lang="en-US" altLang="zh-CN" dirty="0"/>
              <a:t>=False)['district'].count()</a:t>
            </a:r>
            <a:endParaRPr lang="en-US" altLang="zh-CN" dirty="0"/>
          </a:p>
          <a:p>
            <a:r>
              <a:rPr lang="en-US" altLang="zh-CN" dirty="0" err="1"/>
              <a:t>tmp_df.columns</a:t>
            </a:r>
            <a:r>
              <a:rPr lang="en-US" altLang="zh-CN" dirty="0"/>
              <a:t> = ['</a:t>
            </a:r>
            <a:r>
              <a:rPr lang="en-US" altLang="zh-CN" dirty="0" err="1"/>
              <a:t>view_num</a:t>
            </a:r>
            <a:r>
              <a:rPr lang="en-US" altLang="zh-CN" dirty="0"/>
              <a:t>', 'count']</a:t>
            </a:r>
            <a:endParaRPr lang="en-US" altLang="zh-CN" dirty="0"/>
          </a:p>
          <a:p>
            <a:r>
              <a:rPr lang="en-US" altLang="zh-CN" dirty="0" err="1"/>
              <a:t>tmp_df.head</a:t>
            </a:r>
            <a:r>
              <a:rPr lang="en-US" altLang="zh-CN" dirty="0"/>
              <a:t>()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1090" y="4625340"/>
            <a:ext cx="7658100" cy="2139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937760"/>
          </a:xfrm>
        </p:spPr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画图 </a:t>
            </a:r>
            <a:r>
              <a:rPr lang="en-US" altLang="zh-CN" dirty="0"/>
              <a:t>%</a:t>
            </a:r>
            <a:r>
              <a:rPr lang="en-GB" altLang="zh-CN" dirty="0"/>
              <a:t>matplotlib inline </a:t>
            </a:r>
            <a:r>
              <a:rPr lang="zh-CN" altLang="en-US" dirty="0"/>
              <a:t>功能是在</a:t>
            </a:r>
            <a:r>
              <a:rPr lang="en-GB" altLang="zh-CN" dirty="0" err="1"/>
              <a:t>jupyter</a:t>
            </a:r>
            <a:r>
              <a:rPr lang="en-GB" altLang="zh-CN" dirty="0"/>
              <a:t> notebook</a:t>
            </a:r>
            <a:r>
              <a:rPr lang="zh-CN" altLang="en-US" dirty="0"/>
              <a:t>中内嵌绘图，并且可以省略掉 </a:t>
            </a:r>
            <a:r>
              <a:rPr lang="en-GB" altLang="zh-CN" dirty="0" err="1"/>
              <a:t>plt.show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US" altLang="zh-CN" dirty="0"/>
              <a:t>import matplotlib.pyplot as plt</a:t>
            </a:r>
            <a:endParaRPr lang="en-US" altLang="zh-CN" dirty="0"/>
          </a:p>
          <a:p>
            <a:r>
              <a:rPr lang="en-US" altLang="zh-CN" dirty="0"/>
              <a:t>%matplotlib inline</a:t>
            </a:r>
            <a:endParaRPr lang="en-US" altLang="zh-CN" dirty="0"/>
          </a:p>
          <a:p>
            <a:r>
              <a:rPr lang="en-US" altLang="zh-CN" dirty="0" err="1"/>
              <a:t>tmp_df</a:t>
            </a:r>
            <a:r>
              <a:rPr lang="en-US" altLang="zh-CN" dirty="0"/>
              <a:t>['count'].plot(kind='bar',</a:t>
            </a:r>
            <a:r>
              <a:rPr lang="en-US" altLang="zh-CN" dirty="0" err="1"/>
              <a:t>figsize</a:t>
            </a:r>
            <a:r>
              <a:rPr lang="en-US" altLang="zh-CN" dirty="0"/>
              <a:t>=(20,10))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715" y="3376930"/>
            <a:ext cx="7813675" cy="3205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dirty="0"/>
              <a:t>房租价格的分布</a:t>
            </a:r>
            <a:endParaRPr lang="en-US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house_data</a:t>
            </a:r>
            <a:r>
              <a:rPr lang="en-GB" altLang="zh-CN" dirty="0"/>
              <a:t>['price'].mean())   #</a:t>
            </a:r>
            <a:r>
              <a:rPr lang="zh-CN" altLang="en-US" dirty="0"/>
              <a:t>平均值</a:t>
            </a:r>
            <a:endParaRPr lang="zh-CN" altLang="en-US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house_data</a:t>
            </a:r>
            <a:r>
              <a:rPr lang="en-GB" altLang="zh-CN" dirty="0"/>
              <a:t>['price'].</a:t>
            </a:r>
            <a:r>
              <a:rPr lang="en-GB" altLang="zh-CN" dirty="0" err="1"/>
              <a:t>std</a:t>
            </a:r>
            <a:r>
              <a:rPr lang="en-GB" altLang="zh-CN" dirty="0"/>
              <a:t>())    #</a:t>
            </a:r>
            <a:r>
              <a:rPr lang="zh-CN" altLang="en-US" dirty="0"/>
              <a:t>标准差</a:t>
            </a:r>
            <a:endParaRPr lang="zh-CN" altLang="en-US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house_data</a:t>
            </a:r>
            <a:r>
              <a:rPr lang="en-GB" altLang="zh-CN" dirty="0"/>
              <a:t>['price'].median())  #</a:t>
            </a:r>
            <a:r>
              <a:rPr lang="zh-CN" altLang="en-US" dirty="0"/>
              <a:t>中位数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40" y="3615690"/>
            <a:ext cx="2362200" cy="1187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7"/>
            </a:pPr>
            <a:r>
              <a:rPr lang="zh-CN" altLang="en-US" dirty="0"/>
              <a:t>看房人数最多的朝向</a:t>
            </a:r>
            <a:endParaRPr lang="en-US" altLang="zh-CN" dirty="0"/>
          </a:p>
          <a:p>
            <a:r>
              <a:rPr lang="en-GB" altLang="zh-CN" dirty="0" err="1"/>
              <a:t>popular_direction</a:t>
            </a:r>
            <a:r>
              <a:rPr lang="en-GB" altLang="zh-CN" dirty="0"/>
              <a:t> = </a:t>
            </a:r>
            <a:r>
              <a:rPr lang="en-GB" altLang="zh-CN" dirty="0" err="1"/>
              <a:t>house_data.groupby</a:t>
            </a:r>
            <a:r>
              <a:rPr lang="en-GB" altLang="zh-CN" dirty="0"/>
              <a:t>('direction',</a:t>
            </a:r>
            <a:r>
              <a:rPr lang="en-GB" altLang="zh-CN" dirty="0" err="1"/>
              <a:t>as_index</a:t>
            </a:r>
            <a:r>
              <a:rPr lang="en-GB" altLang="zh-CN" dirty="0"/>
              <a:t>=False)[['</a:t>
            </a:r>
            <a:r>
              <a:rPr lang="en-GB" altLang="zh-CN" dirty="0" err="1"/>
              <a:t>view_num</a:t>
            </a:r>
            <a:r>
              <a:rPr lang="en-GB" altLang="zh-CN" dirty="0"/>
              <a:t>']].sum()</a:t>
            </a:r>
            <a:endParaRPr lang="en-GB" altLang="zh-CN" dirty="0"/>
          </a:p>
          <a:p>
            <a:r>
              <a:rPr lang="en-GB" altLang="zh-CN" dirty="0" err="1"/>
              <a:t>popular_direction</a:t>
            </a:r>
            <a:r>
              <a:rPr lang="en-GB" altLang="zh-CN" dirty="0"/>
              <a:t>[</a:t>
            </a:r>
            <a:r>
              <a:rPr lang="en-GB" altLang="zh-CN" dirty="0" err="1"/>
              <a:t>popular_direction</a:t>
            </a:r>
            <a:r>
              <a:rPr lang="en-GB" altLang="zh-CN" dirty="0"/>
              <a:t>['</a:t>
            </a:r>
            <a:r>
              <a:rPr lang="en-GB" altLang="zh-CN" dirty="0" err="1"/>
              <a:t>view_num</a:t>
            </a:r>
            <a:r>
              <a:rPr lang="en-GB" altLang="zh-CN" dirty="0"/>
              <a:t>']==</a:t>
            </a:r>
            <a:r>
              <a:rPr lang="en-GB" altLang="zh-CN" dirty="0" err="1"/>
              <a:t>popular_direction</a:t>
            </a:r>
            <a:r>
              <a:rPr lang="en-GB" altLang="zh-CN" dirty="0"/>
              <a:t>['</a:t>
            </a:r>
            <a:r>
              <a:rPr lang="en-GB" altLang="zh-CN" dirty="0" err="1"/>
              <a:t>view_num</a:t>
            </a:r>
            <a:r>
              <a:rPr lang="en-GB" altLang="zh-CN" dirty="0"/>
              <a:t>'].max()]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170" y="3150235"/>
            <a:ext cx="7747000" cy="1231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63185"/>
          </a:xfrm>
        </p:spPr>
        <p:txBody>
          <a:bodyPr/>
          <a:lstStyle/>
          <a:p>
            <a:pPr marL="342900" indent="-342900">
              <a:buFont typeface="+mj-lt"/>
              <a:buAutoNum type="arabicPeriod" startAt="8"/>
            </a:pPr>
            <a:r>
              <a:rPr lang="zh-CN" altLang="en-US" dirty="0"/>
              <a:t>房型分布情况</a:t>
            </a:r>
            <a:endParaRPr lang="en-US" altLang="zh-CN" dirty="0"/>
          </a:p>
          <a:p>
            <a:r>
              <a:rPr lang="en-GB" altLang="zh-CN" dirty="0" err="1"/>
              <a:t>house_type_dis</a:t>
            </a:r>
            <a:r>
              <a:rPr lang="en-GB" altLang="zh-CN" dirty="0"/>
              <a:t> = </a:t>
            </a:r>
            <a:r>
              <a:rPr lang="en-GB" altLang="zh-CN" dirty="0" err="1"/>
              <a:t>house_data.groupby</a:t>
            </a:r>
            <a:r>
              <a:rPr lang="en-GB" altLang="zh-CN" dirty="0"/>
              <a:t>(['</a:t>
            </a:r>
            <a:r>
              <a:rPr lang="en-GB" altLang="zh-CN" dirty="0" err="1"/>
              <a:t>house_type</a:t>
            </a:r>
            <a:r>
              <a:rPr lang="en-GB" altLang="zh-CN" dirty="0"/>
              <a:t>']).count()</a:t>
            </a:r>
            <a:endParaRPr lang="en-GB" altLang="zh-CN" dirty="0"/>
          </a:p>
          <a:p>
            <a:r>
              <a:rPr lang="en-GB" altLang="zh-CN" dirty="0"/>
              <a:t>%matplotlib inline</a:t>
            </a:r>
            <a:endParaRPr lang="en-GB" altLang="zh-CN" dirty="0"/>
          </a:p>
          <a:p>
            <a:r>
              <a:rPr lang="en-GB" altLang="zh-CN" dirty="0" err="1"/>
              <a:t>house_type_dis</a:t>
            </a:r>
            <a:r>
              <a:rPr lang="en-GB" altLang="zh-CN" dirty="0"/>
              <a:t>['district'].plot(kind='bar') #</a:t>
            </a:r>
            <a:r>
              <a:rPr lang="zh-CN" altLang="en-US" dirty="0"/>
              <a:t>柱状图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支持中文,</a:t>
            </a:r>
            <a:r>
              <a:rPr lang="zh-CN" altLang="en-US" dirty="0"/>
              <a:t>一次性</a:t>
            </a:r>
            <a:endParaRPr lang="en-US" altLang="zh-CN" dirty="0"/>
          </a:p>
          <a:p>
            <a:r>
              <a:rPr lang="en-US" altLang="zh-CN" dirty="0"/>
              <a:t>plt.rcParams['font.sans-serif'] = ['SimHei']  # 用来正常显示中文标签</a:t>
            </a:r>
            <a:endParaRPr lang="en-US" altLang="zh-CN" dirty="0"/>
          </a:p>
          <a:p>
            <a:r>
              <a:rPr lang="en-US" altLang="zh-CN" dirty="0"/>
              <a:t>plt.rcParams['axes.unicode_minus'] = False  # 用来正常显示负号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585" y="2507615"/>
            <a:ext cx="6017260" cy="34023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570095"/>
          </a:xfrm>
        </p:spPr>
        <p:txBody>
          <a:bodyPr/>
          <a:lstStyle/>
          <a:p>
            <a:r>
              <a:rPr lang="en-US" altLang="zh-CN" dirty="0"/>
              <a:t># 支持中文,</a:t>
            </a:r>
            <a:r>
              <a:rPr lang="zh-CN" altLang="en-US" dirty="0"/>
              <a:t>永久修改</a:t>
            </a:r>
            <a:endParaRPr lang="zh-CN" altLang="en-US" dirty="0"/>
          </a:p>
          <a:p>
            <a:r>
              <a:rPr lang="en-US" altLang="zh-CN" dirty="0"/>
              <a:t>import matplotlib</a:t>
            </a:r>
            <a:endParaRPr lang="en-US" altLang="zh-CN" dirty="0"/>
          </a:p>
          <a:p>
            <a:r>
              <a:rPr lang="en-US" altLang="zh-CN" dirty="0"/>
              <a:t>print(matplotlib.matplotlib_fname())</a:t>
            </a:r>
            <a:endParaRPr lang="en-US" altLang="zh-CN" dirty="0"/>
          </a:p>
          <a:p>
            <a:r>
              <a:rPr lang="en-US" altLang="zh-CN" dirty="0"/>
              <a:t>D:\anaconda3\lib\site-packages\matplotlib\mpl-data\matplotlibrc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#axes.unicode_minus: False  True</a:t>
            </a:r>
            <a:r>
              <a:rPr lang="zh-CN" altLang="en-US" dirty="0"/>
              <a:t>改成</a:t>
            </a:r>
            <a:r>
              <a:rPr lang="en-US" altLang="zh-CN" dirty="0"/>
              <a:t>False</a:t>
            </a:r>
            <a:r>
              <a:rPr lang="zh-CN" altLang="en-US" dirty="0"/>
              <a:t>解决负号不显示问题</a:t>
            </a:r>
            <a:endParaRPr lang="en-US" altLang="zh-CN" dirty="0"/>
          </a:p>
          <a:p>
            <a:r>
              <a:rPr lang="en-US" altLang="zh-CN" dirty="0"/>
              <a:t>将下载的SimHei.ttf放入D:</a:t>
            </a:r>
            <a:r>
              <a:rPr lang="en-US" altLang="zh-CN" dirty="0">
                <a:sym typeface="+mn-ea"/>
              </a:rPr>
              <a:t>\anaconda3\lib\site-packages\matplotlib\mpl-data</a:t>
            </a:r>
            <a:r>
              <a:rPr lang="en-US" altLang="zh-CN" dirty="0"/>
              <a:t>\fonts\ttf中</a:t>
            </a:r>
            <a:endParaRPr lang="en-US" altLang="zh-CN" dirty="0"/>
          </a:p>
          <a:p>
            <a:r>
              <a:rPr lang="en-US" altLang="zh-CN" dirty="0"/>
              <a:t>然后在C:\Users下查看有没有matplotlib的缓存文件，有的话删除,</a:t>
            </a:r>
            <a:r>
              <a:rPr lang="zh-CN" altLang="en-US" dirty="0"/>
              <a:t>然后重启</a:t>
            </a:r>
            <a:r>
              <a:rPr lang="en-US" altLang="zh-CN" dirty="0"/>
              <a:t>jupyter notebook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470" y="3404235"/>
            <a:ext cx="3506470" cy="701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9"/>
            </a:pPr>
            <a:r>
              <a:rPr lang="zh-CN" altLang="en-US" dirty="0"/>
              <a:t>最受欢迎的房型</a:t>
            </a:r>
            <a:endParaRPr lang="en-US" altLang="zh-CN" dirty="0"/>
          </a:p>
          <a:p>
            <a:r>
              <a:rPr lang="en-GB" altLang="zh-CN" dirty="0" err="1"/>
              <a:t>tmp</a:t>
            </a:r>
            <a:r>
              <a:rPr lang="en-GB" altLang="zh-CN" dirty="0"/>
              <a:t> = </a:t>
            </a:r>
            <a:r>
              <a:rPr lang="en-GB" altLang="zh-CN" dirty="0" err="1"/>
              <a:t>house_data.groupby</a:t>
            </a:r>
            <a:r>
              <a:rPr lang="en-GB" altLang="zh-CN" dirty="0"/>
              <a:t>('house_type',</a:t>
            </a:r>
            <a:r>
              <a:rPr lang="en-GB" altLang="zh-CN" dirty="0" err="1"/>
              <a:t>as_index</a:t>
            </a:r>
            <a:r>
              <a:rPr lang="en-GB" altLang="zh-CN" dirty="0"/>
              <a:t>=False).</a:t>
            </a:r>
            <a:r>
              <a:rPr lang="en-GB" altLang="zh-CN" dirty="0" err="1"/>
              <a:t>agg</a:t>
            </a:r>
            <a:r>
              <a:rPr lang="en-GB" altLang="zh-CN" dirty="0"/>
              <a:t>({'view_</a:t>
            </a:r>
            <a:r>
              <a:rPr lang="en-GB" altLang="zh-CN" dirty="0" err="1"/>
              <a:t>num</a:t>
            </a:r>
            <a:r>
              <a:rPr lang="en-GB" altLang="zh-CN" dirty="0"/>
              <a:t>':'sum'})</a:t>
            </a:r>
            <a:endParaRPr lang="en-GB" altLang="zh-CN" dirty="0"/>
          </a:p>
          <a:p>
            <a:r>
              <a:rPr lang="en-GB" altLang="zh-CN" dirty="0" err="1"/>
              <a:t>tmp</a:t>
            </a:r>
            <a:r>
              <a:rPr lang="en-GB" altLang="zh-CN" dirty="0"/>
              <a:t>[</a:t>
            </a:r>
            <a:r>
              <a:rPr lang="en-GB" altLang="zh-CN" dirty="0" err="1"/>
              <a:t>tmp</a:t>
            </a:r>
            <a:r>
              <a:rPr lang="en-GB" altLang="zh-CN" dirty="0"/>
              <a:t>['</a:t>
            </a:r>
            <a:r>
              <a:rPr lang="en-GB" altLang="zh-CN" dirty="0" err="1"/>
              <a:t>view_num</a:t>
            </a:r>
            <a:r>
              <a:rPr lang="en-GB" altLang="zh-CN" dirty="0"/>
              <a:t>']==</a:t>
            </a:r>
            <a:r>
              <a:rPr lang="en-GB" altLang="zh-CN" dirty="0" err="1"/>
              <a:t>tmp</a:t>
            </a:r>
            <a:r>
              <a:rPr lang="en-GB" altLang="zh-CN" dirty="0"/>
              <a:t>['</a:t>
            </a:r>
            <a:r>
              <a:rPr lang="en-GB" altLang="zh-CN" dirty="0" err="1"/>
              <a:t>view_num</a:t>
            </a:r>
            <a:r>
              <a:rPr lang="en-GB" altLang="zh-CN" dirty="0"/>
              <a:t>'].max()]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75" y="3044190"/>
            <a:ext cx="780415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10"/>
            </a:pPr>
            <a:r>
              <a:rPr lang="zh-CN" altLang="en-US" dirty="0"/>
              <a:t>房子的平均租房价格 （元</a:t>
            </a:r>
            <a:r>
              <a:rPr lang="en-US" altLang="zh-CN" dirty="0"/>
              <a:t>/</a:t>
            </a:r>
            <a:r>
              <a:rPr lang="zh-CN" altLang="en-US" dirty="0"/>
              <a:t>平米）</a:t>
            </a:r>
            <a:endParaRPr lang="en-US" altLang="zh-CN" dirty="0"/>
          </a:p>
          <a:p>
            <a:r>
              <a:rPr lang="en-GB" altLang="zh-CN" dirty="0" err="1"/>
              <a:t>house_data.loc</a:t>
            </a:r>
            <a:r>
              <a:rPr lang="en-GB" altLang="zh-CN" dirty="0"/>
              <a:t>[:,'price_per_m2'] = </a:t>
            </a:r>
            <a:r>
              <a:rPr lang="en-GB" altLang="zh-CN" dirty="0" err="1"/>
              <a:t>house_data</a:t>
            </a:r>
            <a:r>
              <a:rPr lang="en-GB" altLang="zh-CN" dirty="0"/>
              <a:t>['price']/</a:t>
            </a:r>
            <a:r>
              <a:rPr lang="en-GB" altLang="zh-CN" dirty="0" err="1"/>
              <a:t>house_data</a:t>
            </a:r>
            <a:r>
              <a:rPr lang="en-GB" altLang="zh-CN" dirty="0"/>
              <a:t>['area']</a:t>
            </a:r>
            <a:endParaRPr lang="en-GB" altLang="zh-CN" dirty="0"/>
          </a:p>
          <a:p>
            <a:r>
              <a:rPr lang="en-GB" altLang="zh-CN" dirty="0" err="1"/>
              <a:t>house_data</a:t>
            </a:r>
            <a:r>
              <a:rPr lang="en-GB" altLang="zh-CN" dirty="0"/>
              <a:t>['price_per_m2'].mean()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3048000"/>
            <a:ext cx="21463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11"/>
            </a:pPr>
            <a:r>
              <a:rPr lang="zh-CN" altLang="en-US" dirty="0"/>
              <a:t>热门小区</a:t>
            </a:r>
            <a:endParaRPr lang="en-US" altLang="zh-CN" dirty="0"/>
          </a:p>
          <a:p>
            <a:r>
              <a:rPr lang="en-GB" altLang="zh-CN" dirty="0" err="1"/>
              <a:t>address_df</a:t>
            </a:r>
            <a:r>
              <a:rPr lang="en-GB" altLang="zh-CN" dirty="0"/>
              <a:t> = </a:t>
            </a:r>
            <a:r>
              <a:rPr lang="en-GB" altLang="zh-CN" dirty="0" err="1"/>
              <a:t>house_data</a:t>
            </a:r>
            <a:r>
              <a:rPr lang="en-GB" altLang="zh-CN" dirty="0"/>
              <a:t>[['address','</a:t>
            </a:r>
            <a:r>
              <a:rPr lang="en-GB" altLang="zh-CN" dirty="0" err="1"/>
              <a:t>view_num</a:t>
            </a:r>
            <a:r>
              <a:rPr lang="en-GB" altLang="zh-CN" dirty="0"/>
              <a:t>']].</a:t>
            </a:r>
            <a:r>
              <a:rPr lang="en-GB" altLang="zh-CN" dirty="0" err="1"/>
              <a:t>groupby</a:t>
            </a:r>
            <a:r>
              <a:rPr lang="en-GB" altLang="zh-CN" dirty="0"/>
              <a:t>(['address'],</a:t>
            </a:r>
            <a:r>
              <a:rPr lang="en-GB" altLang="zh-CN" dirty="0" err="1"/>
              <a:t>as_index</a:t>
            </a:r>
            <a:r>
              <a:rPr lang="en-GB" altLang="zh-CN" dirty="0"/>
              <a:t>=False).sum()</a:t>
            </a:r>
            <a:endParaRPr lang="en-GB" altLang="zh-CN" dirty="0"/>
          </a:p>
          <a:p>
            <a:r>
              <a:rPr lang="en-GB" altLang="zh-CN" dirty="0" err="1"/>
              <a:t>address_df.sort_values</a:t>
            </a:r>
            <a:r>
              <a:rPr lang="en-GB" altLang="zh-CN" dirty="0"/>
              <a:t>(by='</a:t>
            </a:r>
            <a:r>
              <a:rPr lang="en-GB" altLang="zh-CN" dirty="0" err="1"/>
              <a:t>view_num</a:t>
            </a:r>
            <a:r>
              <a:rPr lang="en-GB" altLang="zh-CN" dirty="0"/>
              <a:t>', ascending=False).head()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545" y="3106420"/>
            <a:ext cx="765810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简单数据分析练习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 简单数据分析</a:t>
            </a:r>
            <a:endParaRPr lang="en-US" alt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12"/>
            </a:pPr>
            <a:r>
              <a:rPr lang="zh-CN" altLang="en-US" dirty="0"/>
              <a:t>出租房源最多的小区</a:t>
            </a:r>
            <a:endParaRPr lang="en-US" altLang="zh-CN" dirty="0"/>
          </a:p>
          <a:p>
            <a:r>
              <a:rPr lang="en-GB" altLang="zh-CN" dirty="0"/>
              <a:t>tmp_df2 = </a:t>
            </a:r>
            <a:r>
              <a:rPr lang="en-GB" altLang="zh-CN" dirty="0" err="1"/>
              <a:t>house_data</a:t>
            </a:r>
            <a:r>
              <a:rPr lang="en-GB" altLang="zh-CN" dirty="0"/>
              <a:t>[['address','</a:t>
            </a:r>
            <a:r>
              <a:rPr lang="en-GB" altLang="zh-CN" dirty="0" err="1"/>
              <a:t>view_num</a:t>
            </a:r>
            <a:r>
              <a:rPr lang="en-GB" altLang="zh-CN" dirty="0"/>
              <a:t>']].</a:t>
            </a:r>
            <a:r>
              <a:rPr lang="en-GB" altLang="zh-CN" dirty="0" err="1"/>
              <a:t>groupby</a:t>
            </a:r>
            <a:r>
              <a:rPr lang="en-GB" altLang="zh-CN" dirty="0"/>
              <a:t>(['address'],</a:t>
            </a:r>
            <a:r>
              <a:rPr lang="en-GB" altLang="zh-CN" dirty="0" err="1"/>
              <a:t>as_index</a:t>
            </a:r>
            <a:r>
              <a:rPr lang="en-GB" altLang="zh-CN" dirty="0"/>
              <a:t>=False).count()</a:t>
            </a:r>
            <a:endParaRPr lang="en-GB" altLang="zh-CN" dirty="0"/>
          </a:p>
          <a:p>
            <a:r>
              <a:rPr lang="en-GB" altLang="zh-CN" dirty="0"/>
              <a:t>tmp_df2.columns =  ['</a:t>
            </a:r>
            <a:r>
              <a:rPr lang="en-GB" altLang="zh-CN" dirty="0" err="1"/>
              <a:t>address','count</a:t>
            </a:r>
            <a:r>
              <a:rPr lang="en-GB" altLang="zh-CN" dirty="0"/>
              <a:t>']</a:t>
            </a:r>
            <a:endParaRPr lang="en-GB" altLang="zh-CN" dirty="0"/>
          </a:p>
          <a:p>
            <a:r>
              <a:rPr lang="en-GB" altLang="zh-CN" dirty="0"/>
              <a:t>tmp_df2.nlargest(columns='count', n=1)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810" y="3563620"/>
            <a:ext cx="7772400" cy="11874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掌握在</a:t>
            </a:r>
            <a:r>
              <a:rPr lang="en-US" altLang="zh-CN" dirty="0"/>
              <a:t>Pandas</a:t>
            </a:r>
            <a:r>
              <a:rPr lang="zh-CN" altLang="en-US" dirty="0"/>
              <a:t>中计算常用统计量的方法</a:t>
            </a:r>
            <a:endParaRPr lang="zh-CN" altLang="en-US" dirty="0"/>
          </a:p>
          <a:p>
            <a:pPr lvl="1"/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info 了解不同字段的条目数量，数据类型，是否缺失及内存占用情况</a:t>
            </a:r>
            <a:endParaRPr lang="zh-CN" altLang="en-US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/>
            <a:r>
              <a:rPr lang="zh-CN" altLang="en-US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describe 计算数值类型数据的常用统计量</a:t>
            </a:r>
            <a:endParaRPr lang="zh-CN" altLang="en-US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dirty="0"/>
              <a:t>熟练使用</a:t>
            </a:r>
            <a:r>
              <a:rPr lang="en-US" altLang="zh-CN" dirty="0"/>
              <a:t>pandas</a:t>
            </a:r>
            <a:r>
              <a:rPr lang="zh-CN" altLang="en-US" dirty="0"/>
              <a:t>进行简单排序、分组、聚合等计算</a:t>
            </a:r>
            <a:endParaRPr lang="zh-CN" altLang="en-US" dirty="0"/>
          </a:p>
          <a:p>
            <a:pPr lvl="1"/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nlargest 返回指定字段的前n个最大值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/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nsmallest 返回指定字段的前n个最小值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/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sort_values 指定字段，按值排序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/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groupby 按字段分组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/>
            <a:r>
              <a:rPr lang="en-US" altLang="zh-CN" sz="1600" b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agg 分组之后聚合</a:t>
            </a:r>
            <a:endParaRPr lang="en-US" altLang="zh-CN" sz="1600" b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p="http://schemas.openxmlformats.org/presentationml/2006/main">
  <p:tag name="KSO_WM_UNIT_PLACING_PICTURE_USER_VIEWPORT" val="{&quot;height&quot;:2660,&quot;width&quot;:10200}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4885</Words>
  <Application>WPS 演示</Application>
  <PresentationFormat>宽屏</PresentationFormat>
  <Paragraphs>267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29</vt:i4>
      </vt:variant>
    </vt:vector>
  </HeadingPairs>
  <TitlesOfParts>
    <vt:vector size="57" baseType="lpstr">
      <vt:lpstr>Arial</vt:lpstr>
      <vt:lpstr>宋体</vt:lpstr>
      <vt:lpstr>Wingdings</vt:lpstr>
      <vt:lpstr>Calibri</vt:lpstr>
      <vt:lpstr>黑体</vt:lpstr>
      <vt:lpstr>阿里巴巴普惠体</vt:lpstr>
      <vt:lpstr>Segoe UI</vt:lpstr>
      <vt:lpstr>微软雅黑</vt:lpstr>
      <vt:lpstr>Segoe UI Light</vt:lpstr>
      <vt:lpstr>微软雅黑 Light</vt:lpstr>
      <vt:lpstr>Alibaba PuHuiTi B</vt:lpstr>
      <vt:lpstr>Alibaba PuHuiTi R</vt:lpstr>
      <vt:lpstr>Verdana</vt:lpstr>
      <vt:lpstr>Alibaba PuHuiTi M</vt:lpstr>
      <vt:lpstr>等线</vt:lpstr>
      <vt:lpstr>Arial Unicode MS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Pandas 数据分析入门</vt:lpstr>
      <vt:lpstr>PowerPoint 演示文稿</vt:lpstr>
      <vt:lpstr>PowerPoint 演示文稿</vt:lpstr>
      <vt:lpstr>1 计算常用统计值</vt:lpstr>
      <vt:lpstr>1 计算常用统计值</vt:lpstr>
      <vt:lpstr>1 计算常用统计值</vt:lpstr>
      <vt:lpstr>1 计算常用统计值</vt:lpstr>
      <vt:lpstr>PowerPoint 演示文稿</vt:lpstr>
      <vt:lpstr>2 常用排序方法</vt:lpstr>
      <vt:lpstr>2 常用排序方法</vt:lpstr>
      <vt:lpstr>2 常用排序方法</vt:lpstr>
      <vt:lpstr>PowerPoint 演示文稿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3 简单数据分析练习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魏云飞</cp:lastModifiedBy>
  <cp:revision>154</cp:revision>
  <dcterms:created xsi:type="dcterms:W3CDTF">2020-03-31T02:23:00Z</dcterms:created>
  <dcterms:modified xsi:type="dcterms:W3CDTF">2021-05-15T02:04:20Z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3D75511A3B31442C8B0EC75D8C3A1E37</vt:lpwstr>
  </property>
  <property fmtid="{D5CDD505-2E9C-101B-9397-08002B2CF9AE}" pid="3" name="KSOProductBuildVer">
    <vt:lpwstr>2052-11.1.0.10463</vt:lpwstr>
  </property>
</Properties>
</file>