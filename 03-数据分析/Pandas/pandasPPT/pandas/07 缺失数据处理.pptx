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3" r:id="rId4"/>
    <p:sldMasterId id="2147483655" r:id="rId5"/>
    <p:sldMasterId id="2147483667" r:id="rId6"/>
    <p:sldMasterId id="2147483669" r:id="rId7"/>
    <p:sldMasterId id="2147483671" r:id="rId8"/>
    <p:sldMasterId id="2147483673" r:id="rId9"/>
    <p:sldMasterId id="2147483675" r:id="rId10"/>
    <p:sldMasterId id="2147483677" r:id="rId11"/>
    <p:sldMasterId id="2147483679" r:id="rId12"/>
    <p:sldMasterId id="2147483693" r:id="rId13"/>
  </p:sldMasterIdLst>
  <p:notesMasterIdLst>
    <p:notesMasterId r:id="rId15"/>
  </p:notesMasterIdLst>
  <p:sldIdLst>
    <p:sldId id="260" r:id="rId14"/>
    <p:sldId id="424" r:id="rId16"/>
    <p:sldId id="268" r:id="rId17"/>
    <p:sldId id="265" r:id="rId18"/>
    <p:sldId id="427" r:id="rId19"/>
    <p:sldId id="428" r:id="rId20"/>
    <p:sldId id="429" r:id="rId21"/>
    <p:sldId id="430" r:id="rId22"/>
    <p:sldId id="431" r:id="rId23"/>
    <p:sldId id="432" r:id="rId24"/>
    <p:sldId id="457" r:id="rId25"/>
    <p:sldId id="458" r:id="rId26"/>
    <p:sldId id="433" r:id="rId27"/>
    <p:sldId id="434" r:id="rId28"/>
    <p:sldId id="436" r:id="rId29"/>
    <p:sldId id="435" r:id="rId30"/>
    <p:sldId id="437" r:id="rId31"/>
    <p:sldId id="459" r:id="rId32"/>
    <p:sldId id="461" r:id="rId33"/>
    <p:sldId id="438" r:id="rId34"/>
    <p:sldId id="462" r:id="rId35"/>
    <p:sldId id="439" r:id="rId36"/>
    <p:sldId id="463" r:id="rId37"/>
    <p:sldId id="464" r:id="rId38"/>
    <p:sldId id="440" r:id="rId39"/>
    <p:sldId id="466" r:id="rId40"/>
    <p:sldId id="465" r:id="rId41"/>
    <p:sldId id="441" r:id="rId42"/>
    <p:sldId id="442" r:id="rId43"/>
    <p:sldId id="443" r:id="rId44"/>
    <p:sldId id="444" r:id="rId45"/>
    <p:sldId id="445" r:id="rId46"/>
    <p:sldId id="446" r:id="rId47"/>
    <p:sldId id="489" r:id="rId48"/>
    <p:sldId id="447" r:id="rId49"/>
    <p:sldId id="448" r:id="rId50"/>
    <p:sldId id="449" r:id="rId51"/>
    <p:sldId id="450" r:id="rId52"/>
    <p:sldId id="451" r:id="rId53"/>
    <p:sldId id="452" r:id="rId54"/>
    <p:sldId id="266" r:id="rId55"/>
    <p:sldId id="453" r:id="rId56"/>
    <p:sldId id="264" r:id="rId5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C00000"/>
    <a:srgbClr val="0000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6379" autoAdjust="0"/>
  </p:normalViewPr>
  <p:slideViewPr>
    <p:cSldViewPr snapToGrid="0">
      <p:cViewPr varScale="1">
        <p:scale>
          <a:sx n="137" d="100"/>
          <a:sy n="137" d="100"/>
        </p:scale>
        <p:origin x="20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114" d="100"/>
          <a:sy n="114" d="100"/>
        </p:scale>
        <p:origin x="4000" y="1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0" Type="http://schemas.openxmlformats.org/officeDocument/2006/relationships/tableStyles" Target="tableStyles.xml"/><Relationship Id="rId6" Type="http://schemas.openxmlformats.org/officeDocument/2006/relationships/slideMaster" Target="slideMasters/slideMaster5.xml"/><Relationship Id="rId59" Type="http://schemas.openxmlformats.org/officeDocument/2006/relationships/viewProps" Target="viewProps.xml"/><Relationship Id="rId58" Type="http://schemas.openxmlformats.org/officeDocument/2006/relationships/presProps" Target="presProps.xml"/><Relationship Id="rId57" Type="http://schemas.openxmlformats.org/officeDocument/2006/relationships/slide" Target="slides/slide43.xml"/><Relationship Id="rId56" Type="http://schemas.openxmlformats.org/officeDocument/2006/relationships/slide" Target="slides/slide42.xml"/><Relationship Id="rId55" Type="http://schemas.openxmlformats.org/officeDocument/2006/relationships/slide" Target="slides/slide41.xml"/><Relationship Id="rId54" Type="http://schemas.openxmlformats.org/officeDocument/2006/relationships/slide" Target="slides/slide40.xml"/><Relationship Id="rId53" Type="http://schemas.openxmlformats.org/officeDocument/2006/relationships/slide" Target="slides/slide39.xml"/><Relationship Id="rId52" Type="http://schemas.openxmlformats.org/officeDocument/2006/relationships/slide" Target="slides/slide38.xml"/><Relationship Id="rId51" Type="http://schemas.openxmlformats.org/officeDocument/2006/relationships/slide" Target="slides/slide37.xml"/><Relationship Id="rId50" Type="http://schemas.openxmlformats.org/officeDocument/2006/relationships/slide" Target="slides/slide36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35.xml"/><Relationship Id="rId48" Type="http://schemas.openxmlformats.org/officeDocument/2006/relationships/slide" Target="slides/slide34.xml"/><Relationship Id="rId47" Type="http://schemas.openxmlformats.org/officeDocument/2006/relationships/slide" Target="slides/slide33.xml"/><Relationship Id="rId46" Type="http://schemas.openxmlformats.org/officeDocument/2006/relationships/slide" Target="slides/slide32.xml"/><Relationship Id="rId45" Type="http://schemas.openxmlformats.org/officeDocument/2006/relationships/slide" Target="slides/slide31.xml"/><Relationship Id="rId44" Type="http://schemas.openxmlformats.org/officeDocument/2006/relationships/slide" Target="slides/slide30.xml"/><Relationship Id="rId43" Type="http://schemas.openxmlformats.org/officeDocument/2006/relationships/slide" Target="slides/slide29.xml"/><Relationship Id="rId42" Type="http://schemas.openxmlformats.org/officeDocument/2006/relationships/slide" Target="slides/slide28.xml"/><Relationship Id="rId41" Type="http://schemas.openxmlformats.org/officeDocument/2006/relationships/slide" Target="slides/slide27.xml"/><Relationship Id="rId40" Type="http://schemas.openxmlformats.org/officeDocument/2006/relationships/slide" Target="slides/slide26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5.xml"/><Relationship Id="rId38" Type="http://schemas.openxmlformats.org/officeDocument/2006/relationships/slide" Target="slides/slide24.xml"/><Relationship Id="rId37" Type="http://schemas.openxmlformats.org/officeDocument/2006/relationships/slide" Target="slides/slide23.xml"/><Relationship Id="rId36" Type="http://schemas.openxmlformats.org/officeDocument/2006/relationships/slide" Target="slides/slide22.xml"/><Relationship Id="rId35" Type="http://schemas.openxmlformats.org/officeDocument/2006/relationships/slide" Target="slides/slide21.xml"/><Relationship Id="rId34" Type="http://schemas.openxmlformats.org/officeDocument/2006/relationships/slide" Target="slides/slide20.xml"/><Relationship Id="rId33" Type="http://schemas.openxmlformats.org/officeDocument/2006/relationships/slide" Target="slides/slide19.xml"/><Relationship Id="rId32" Type="http://schemas.openxmlformats.org/officeDocument/2006/relationships/slide" Target="slides/slide18.xml"/><Relationship Id="rId31" Type="http://schemas.openxmlformats.org/officeDocument/2006/relationships/slide" Target="slides/slide17.xml"/><Relationship Id="rId30" Type="http://schemas.openxmlformats.org/officeDocument/2006/relationships/slide" Target="slides/slide1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5.xml"/><Relationship Id="rId28" Type="http://schemas.openxmlformats.org/officeDocument/2006/relationships/slide" Target="slides/slide14.xml"/><Relationship Id="rId27" Type="http://schemas.openxmlformats.org/officeDocument/2006/relationships/slide" Target="slides/slide13.xml"/><Relationship Id="rId26" Type="http://schemas.openxmlformats.org/officeDocument/2006/relationships/slide" Target="slides/slide12.xml"/><Relationship Id="rId25" Type="http://schemas.openxmlformats.org/officeDocument/2006/relationships/slide" Target="slides/slide11.xml"/><Relationship Id="rId24" Type="http://schemas.openxmlformats.org/officeDocument/2006/relationships/slide" Target="slides/slide10.xml"/><Relationship Id="rId23" Type="http://schemas.openxmlformats.org/officeDocument/2006/relationships/slide" Target="slides/slide9.xml"/><Relationship Id="rId22" Type="http://schemas.openxmlformats.org/officeDocument/2006/relationships/slide" Target="slides/slide8.xml"/><Relationship Id="rId21" Type="http://schemas.openxmlformats.org/officeDocument/2006/relationships/slide" Target="slides/slide7.xml"/><Relationship Id="rId20" Type="http://schemas.openxmlformats.org/officeDocument/2006/relationships/slide" Target="slides/slide6.xml"/><Relationship Id="rId2" Type="http://schemas.openxmlformats.org/officeDocument/2006/relationships/theme" Target="theme/theme1.xml"/><Relationship Id="rId19" Type="http://schemas.openxmlformats.org/officeDocument/2006/relationships/slide" Target="slides/slide5.xml"/><Relationship Id="rId18" Type="http://schemas.openxmlformats.org/officeDocument/2006/relationships/slide" Target="slides/slide4.xml"/><Relationship Id="rId17" Type="http://schemas.openxmlformats.org/officeDocument/2006/relationships/slide" Target="slides/slide3.xml"/><Relationship Id="rId16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C63F50-FC71-46DD-9BDC-11F985EF41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2"/>
          <p:cNvSpPr>
            <a:spLocks noGrp="1"/>
          </p:cNvSpPr>
          <p:nvPr>
            <p:ph type="title" hasCustomPrompt="1"/>
          </p:nvPr>
        </p:nvSpPr>
        <p:spPr>
          <a:xfrm>
            <a:off x="2889584" y="3023414"/>
            <a:ext cx="6412832" cy="811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请输入课程标题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218190" y="1830980"/>
            <a:ext cx="6291263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标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8701" y="1940037"/>
            <a:ext cx="5630484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895350" indent="-285750">
              <a:lnSpc>
                <a:spcPct val="150000"/>
              </a:lnSpc>
              <a:buSzPct val="85000"/>
              <a:buFont typeface="Wingdings" panose="05000000000000000000" pitchFamily="2" charset="2"/>
              <a:buChar char="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SzPct val="85000"/>
              <a:buFont typeface="Wingdings" panose="05000000000000000000" pitchFamily="2" charset="2"/>
              <a:buChar char="u"/>
              <a:defRPr sz="1200" b="0">
                <a:solidFill>
                  <a:srgbClr val="404040"/>
                </a:solidFill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989138"/>
            <a:ext cx="9845675" cy="421957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>
              <a:lnSpc>
                <a:spcPct val="150000"/>
              </a:lnSpc>
              <a:buFont typeface="+mj-ea"/>
              <a:buAutoNum type="circleNumDbPlai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Font typeface="+mj-lt"/>
              <a:buAutoNum type="alphaLcPeriod"/>
              <a:defRPr sz="12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71575"/>
            <a:ext cx="9845675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1171575"/>
            <a:ext cx="9845675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172521"/>
            <a:ext cx="9845675" cy="4219575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895350" indent="-285750">
              <a:lnSpc>
                <a:spcPct val="150000"/>
              </a:lnSpc>
              <a:buSzPct val="85000"/>
              <a:buFont typeface="Wingdings" panose="05000000000000000000" pitchFamily="2" charset="2"/>
              <a:buChar char="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SzPct val="85000"/>
              <a:buFont typeface="Wingdings" panose="05000000000000000000" pitchFamily="2" charset="2"/>
              <a:buChar char="u"/>
              <a:defRPr sz="1200" b="0">
                <a:solidFill>
                  <a:srgbClr val="404040"/>
                </a:solidFill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1172521"/>
            <a:ext cx="9845675" cy="4219575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sz="16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>
              <a:lnSpc>
                <a:spcPct val="150000"/>
              </a:lnSpc>
              <a:buFont typeface="+mj-ea"/>
              <a:buAutoNum type="circleNumDbPlain"/>
              <a:defRPr sz="14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2pPr>
            <a:lvl3pPr marL="1524000" indent="-304800">
              <a:buFont typeface="+mj-lt"/>
              <a:buAutoNum type="alphaLcPeriod"/>
              <a:defRPr sz="1200" b="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1"/>
            <a:r>
              <a:rPr lang="zh-CN" altLang="en-US" dirty="0"/>
              <a:t>子项一级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2"/>
            <a:r>
              <a:rPr lang="zh-CN" altLang="en-US" dirty="0"/>
              <a:t>子项二级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0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 rot="2700000">
            <a:off x="1856318" y="2330451"/>
            <a:ext cx="2059516" cy="2059516"/>
          </a:xfrm>
          <a:prstGeom prst="rect">
            <a:avLst/>
          </a:prstGeom>
          <a:noFill/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7" name="矩形 6"/>
          <p:cNvSpPr/>
          <p:nvPr userDrawn="1"/>
        </p:nvSpPr>
        <p:spPr>
          <a:xfrm rot="2700000">
            <a:off x="1568451" y="2319867"/>
            <a:ext cx="2059517" cy="2059516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5559" y="1903912"/>
            <a:ext cx="5760538" cy="3196039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36790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 rot="2700000">
            <a:off x="1856318" y="2330451"/>
            <a:ext cx="2059516" cy="2059516"/>
          </a:xfrm>
          <a:prstGeom prst="rect">
            <a:avLst/>
          </a:prstGeom>
          <a:noFill/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7" name="矩形 6"/>
          <p:cNvSpPr/>
          <p:nvPr userDrawn="1"/>
        </p:nvSpPr>
        <p:spPr>
          <a:xfrm rot="2700000">
            <a:off x="1568451" y="2319867"/>
            <a:ext cx="2059517" cy="2059516"/>
          </a:xfrm>
          <a:prstGeom prst="rect">
            <a:avLst/>
          </a:prstGeom>
          <a:solidFill>
            <a:srgbClr val="404040"/>
          </a:solidFill>
          <a:ln w="6350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045559" y="1903912"/>
            <a:ext cx="5760538" cy="3196039"/>
          </a:xfrm>
          <a:prstGeom prst="rect">
            <a:avLst/>
          </a:prstGeom>
        </p:spPr>
        <p:txBody>
          <a:bodyPr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4218190" y="1830980"/>
            <a:ext cx="6291263" cy="3196039"/>
          </a:xfrm>
          <a:prstGeom prst="rect">
            <a:avLst/>
          </a:prstGeom>
        </p:spPr>
        <p:txBody>
          <a:bodyPr/>
          <a:lstStyle>
            <a:lvl1pPr marL="285750" marR="0" indent="-28575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r>
              <a:rPr lang="zh-CN" altLang="en-US" dirty="0"/>
              <a:t>请输入正文内容，字体不可改</a:t>
            </a:r>
            <a:endParaRPr lang="en-US" altLang="zh-CN" dirty="0"/>
          </a:p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  <a:endParaRPr kumimoji="1" lang="zh-CN" altLang="en-US" dirty="0"/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>
              <a:buNone/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  <a:lvl4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4pPr>
            <a:lvl5pPr>
              <a:defRPr b="0" i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  <a:endParaRPr kumimoji="1" lang="zh-CN" altLang="en-US" dirty="0"/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  <a:endParaRPr kumimoji="1"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sz="2400" b="1" i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4418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  <a:endParaRPr lang="en-US" altLang="zh-CN" dirty="0"/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案例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Alibaba PuHuiTi M" pitchFamily="18" charset="-122"/>
                  <a:ea typeface="Alibaba PuHuiTi M" pitchFamily="18" charset="-122"/>
                  <a:cs typeface="Alibaba PuHuiTi M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练习</a:t>
              </a:r>
              <a:endParaRPr lang="zh-CN" altLang="en-US" dirty="0">
                <a:solidFill>
                  <a:srgbClr val="AD2B26"/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Alibaba PuHuiTi M" pitchFamily="18" charset="-122"/>
                <a:ea typeface="Alibaba PuHuiTi M" pitchFamily="18" charset="-122"/>
                <a:cs typeface="Alibaba PuHuiTi M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思考</a:t>
            </a:r>
            <a:endParaRPr lang="zh-CN" altLang="en-US" sz="40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pitchFamily="18" charset="-122"/>
                  <a:ea typeface="阿里巴巴普惠体" panose="00020600040101010101" pitchFamily="18" charset="-122"/>
                  <a:cs typeface="阿里巴巴普惠体" panose="00020600040101010101" pitchFamily="18" charset="-122"/>
                </a:rPr>
                <a:t>总结</a:t>
              </a:r>
              <a:endParaRPr lang="zh-CN" altLang="en-US" sz="40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</a:lstStyle>
          <a:p>
            <a:pPr lvl="0"/>
            <a:r>
              <a:rPr lang="zh-CN" altLang="en-US" dirty="0"/>
              <a:t>正文标题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  <a:endParaRPr lang="zh-CN" altLang="en-US" dirty="0"/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今日</a:t>
            </a:r>
            <a:endParaRPr lang="en-US" altLang="zh-CN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作业</a:t>
            </a:r>
            <a:endParaRPr lang="zh-CN" altLang="en-US" sz="3600" dirty="0"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emf"/><Relationship Id="rId8" Type="http://schemas.openxmlformats.org/officeDocument/2006/relationships/image" Target="../media/image7.emf"/><Relationship Id="rId7" Type="http://schemas.openxmlformats.org/officeDocument/2006/relationships/image" Target="../media/image6.emf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png"/><Relationship Id="rId3" Type="http://schemas.openxmlformats.org/officeDocument/2006/relationships/image" Target="../media/image2.emf"/><Relationship Id="rId20" Type="http://schemas.openxmlformats.org/officeDocument/2006/relationships/theme" Target="../theme/theme1.xml"/><Relationship Id="rId2" Type="http://schemas.openxmlformats.org/officeDocument/2006/relationships/image" Target="../media/image1.emf"/><Relationship Id="rId19" Type="http://schemas.openxmlformats.org/officeDocument/2006/relationships/image" Target="../media/image18.emf"/><Relationship Id="rId18" Type="http://schemas.openxmlformats.org/officeDocument/2006/relationships/image" Target="../media/image17.emf"/><Relationship Id="rId17" Type="http://schemas.openxmlformats.org/officeDocument/2006/relationships/image" Target="../media/image16.emf"/><Relationship Id="rId16" Type="http://schemas.openxmlformats.org/officeDocument/2006/relationships/image" Target="../media/image15.emf"/><Relationship Id="rId15" Type="http://schemas.openxmlformats.org/officeDocument/2006/relationships/image" Target="../media/image14.emf"/><Relationship Id="rId14" Type="http://schemas.openxmlformats.org/officeDocument/2006/relationships/image" Target="../media/image13.emf"/><Relationship Id="rId13" Type="http://schemas.openxmlformats.org/officeDocument/2006/relationships/image" Target="../media/image12.emf"/><Relationship Id="rId12" Type="http://schemas.openxmlformats.org/officeDocument/2006/relationships/image" Target="../media/image11.emf"/><Relationship Id="rId11" Type="http://schemas.openxmlformats.org/officeDocument/2006/relationships/image" Target="../media/image10.emf"/><Relationship Id="rId10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3" Type="http://schemas.openxmlformats.org/officeDocument/2006/relationships/theme" Target="../theme/theme4.xml"/><Relationship Id="rId12" Type="http://schemas.openxmlformats.org/officeDocument/2006/relationships/image" Target="../media/image19.png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6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7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8.xml"/></Relationships>
</file>

<file path=ppt/slideMasters/_rels/slideMaster8.xml.rels><?xml version="1.0" encoding="UTF-8" standalone="yes"?>
<Relationships xmlns="http://schemas.openxmlformats.org/package/2006/relationships"><Relationship Id="rId4" Type="http://schemas.openxmlformats.org/officeDocument/2006/relationships/theme" Target="../theme/theme8.xml"/><Relationship Id="rId3" Type="http://schemas.openxmlformats.org/officeDocument/2006/relationships/image" Target="../media/image1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0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1.xml"/></Relationships>
</file>

<file path=ppt/slideMasters/_rels/slideMaster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5" Type="http://schemas.openxmlformats.org/officeDocument/2006/relationships/theme" Target="../theme/theme11.xml"/><Relationship Id="rId14" Type="http://schemas.openxmlformats.org/officeDocument/2006/relationships/image" Target="../media/image24.png"/><Relationship Id="rId13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1452" y="855134"/>
            <a:ext cx="4169833" cy="4586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4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9518" y="1420285"/>
            <a:ext cx="2933700" cy="32723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椭圆 3"/>
          <p:cNvSpPr/>
          <p:nvPr userDrawn="1"/>
        </p:nvSpPr>
        <p:spPr bwMode="auto">
          <a:xfrm>
            <a:off x="8509000" y="1845733"/>
            <a:ext cx="618067" cy="61806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5" name="椭圆 4"/>
          <p:cNvSpPr/>
          <p:nvPr userDrawn="1"/>
        </p:nvSpPr>
        <p:spPr bwMode="auto">
          <a:xfrm>
            <a:off x="3268134" y="2332567"/>
            <a:ext cx="245533" cy="245533"/>
          </a:xfrm>
          <a:prstGeom prst="ellipse">
            <a:avLst/>
          </a:prstGeom>
          <a:solidFill>
            <a:schemeClr val="tx1">
              <a:lumMod val="75000"/>
              <a:lumOff val="25000"/>
              <a:alpha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6" name="椭圆 10"/>
          <p:cNvSpPr>
            <a:spLocks noChangeArrowheads="1"/>
          </p:cNvSpPr>
          <p:nvPr userDrawn="1"/>
        </p:nvSpPr>
        <p:spPr bwMode="auto">
          <a:xfrm>
            <a:off x="6987118" y="5249334"/>
            <a:ext cx="292100" cy="2921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sp>
        <p:nvSpPr>
          <p:cNvPr id="7" name="椭圆 6"/>
          <p:cNvSpPr/>
          <p:nvPr userDrawn="1"/>
        </p:nvSpPr>
        <p:spPr bwMode="auto">
          <a:xfrm>
            <a:off x="4353985" y="2586567"/>
            <a:ext cx="171449" cy="17356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1032" name="图片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452" y="2108201"/>
            <a:ext cx="2899833" cy="793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3" name="Picture 5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6218" y="1947334"/>
            <a:ext cx="283633" cy="3873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34" name="组合 43"/>
          <p:cNvGrpSpPr/>
          <p:nvPr userDrawn="1"/>
        </p:nvGrpSpPr>
        <p:grpSpPr bwMode="auto">
          <a:xfrm>
            <a:off x="8134351" y="2334685"/>
            <a:ext cx="173567" cy="171449"/>
            <a:chOff x="6101548" y="1750326"/>
            <a:chExt cx="129654" cy="129654"/>
          </a:xfrm>
        </p:grpSpPr>
        <p:sp>
          <p:nvSpPr>
            <p:cNvPr id="13" name="椭圆 12"/>
            <p:cNvSpPr/>
            <p:nvPr/>
          </p:nvSpPr>
          <p:spPr bwMode="auto">
            <a:xfrm>
              <a:off x="6101548" y="1750326"/>
              <a:ext cx="129654" cy="129654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6" name="Picture 6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25394" y="1772988"/>
              <a:ext cx="84329" cy="84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35" name="Picture 7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201" y="5325534"/>
            <a:ext cx="156633" cy="182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36" name="组合 41"/>
          <p:cNvGrpSpPr/>
          <p:nvPr userDrawn="1"/>
        </p:nvGrpSpPr>
        <p:grpSpPr bwMode="auto">
          <a:xfrm>
            <a:off x="4053418" y="728134"/>
            <a:ext cx="300567" cy="300567"/>
            <a:chOff x="3039900" y="545911"/>
            <a:chExt cx="225188" cy="225188"/>
          </a:xfrm>
        </p:grpSpPr>
        <p:sp>
          <p:nvSpPr>
            <p:cNvPr id="17" name="椭圆 16"/>
            <p:cNvSpPr/>
            <p:nvPr/>
          </p:nvSpPr>
          <p:spPr bwMode="auto">
            <a:xfrm>
              <a:off x="3039900" y="545911"/>
              <a:ext cx="225188" cy="22518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6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2" name="Picture 8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80775" y="600432"/>
              <a:ext cx="143438" cy="1100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37" name="组合 37"/>
          <p:cNvGrpSpPr/>
          <p:nvPr userDrawn="1"/>
        </p:nvGrpSpPr>
        <p:grpSpPr bwMode="auto">
          <a:xfrm>
            <a:off x="3448052" y="4030133"/>
            <a:ext cx="247649" cy="247651"/>
            <a:chOff x="2586251" y="3022980"/>
            <a:chExt cx="88710" cy="88710"/>
          </a:xfrm>
          <a:solidFill>
            <a:srgbClr val="C00000"/>
          </a:solidFill>
        </p:grpSpPr>
        <p:sp>
          <p:nvSpPr>
            <p:cNvPr id="20" name="椭圆 9"/>
            <p:cNvSpPr>
              <a:spLocks noChangeArrowheads="1"/>
            </p:cNvSpPr>
            <p:nvPr/>
          </p:nvSpPr>
          <p:spPr bwMode="auto">
            <a:xfrm>
              <a:off x="2586251" y="3022980"/>
              <a:ext cx="88710" cy="88710"/>
            </a:xfrm>
            <a:prstGeom prst="ellipse">
              <a:avLst/>
            </a:prstGeom>
            <a:grpFill/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4" name="Picture 10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2611596" y="3041493"/>
              <a:ext cx="45720" cy="51684"/>
            </a:xfrm>
            <a:prstGeom prst="rect">
              <a:avLst/>
            </a:prstGeom>
            <a:grpFill/>
            <a:ln>
              <a:noFill/>
            </a:ln>
            <a:effectLst/>
          </p:spPr>
        </p:pic>
      </p:grpSp>
      <p:pic>
        <p:nvPicPr>
          <p:cNvPr id="1038" name="Picture 1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085" y="2633134"/>
            <a:ext cx="95249" cy="1037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椭圆 22"/>
          <p:cNvSpPr/>
          <p:nvPr userDrawn="1"/>
        </p:nvSpPr>
        <p:spPr bwMode="auto">
          <a:xfrm>
            <a:off x="9484785" y="3507318"/>
            <a:ext cx="334433" cy="332316"/>
          </a:xfrm>
          <a:prstGeom prst="ellipse">
            <a:avLst/>
          </a:prstGeom>
          <a:solidFill>
            <a:schemeClr val="tx1">
              <a:lumMod val="75000"/>
              <a:lumOff val="25000"/>
              <a:alpha val="86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+mn-ea"/>
              <a:ea typeface="+mn-ea"/>
            </a:endParaRPr>
          </a:p>
        </p:txBody>
      </p:sp>
      <p:pic>
        <p:nvPicPr>
          <p:cNvPr id="1040" name="Picture 15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7333" y="3587752"/>
            <a:ext cx="177800" cy="171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41" name="组合 46"/>
          <p:cNvGrpSpPr/>
          <p:nvPr userDrawn="1"/>
        </p:nvGrpSpPr>
        <p:grpSpPr bwMode="auto">
          <a:xfrm>
            <a:off x="3103034" y="4514851"/>
            <a:ext cx="345017" cy="345016"/>
            <a:chOff x="1798978" y="3519004"/>
            <a:chExt cx="259307" cy="259307"/>
          </a:xfrm>
        </p:grpSpPr>
        <p:sp>
          <p:nvSpPr>
            <p:cNvPr id="26" name="椭圆 25"/>
            <p:cNvSpPr/>
            <p:nvPr/>
          </p:nvSpPr>
          <p:spPr bwMode="auto">
            <a:xfrm>
              <a:off x="1798978" y="3519004"/>
              <a:ext cx="259307" cy="259307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2" name="Picture 2"/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039" y="3616294"/>
              <a:ext cx="173184" cy="859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2" name="组合 38"/>
          <p:cNvGrpSpPr/>
          <p:nvPr userDrawn="1"/>
        </p:nvGrpSpPr>
        <p:grpSpPr bwMode="auto">
          <a:xfrm>
            <a:off x="1301752" y="1394885"/>
            <a:ext cx="400049" cy="400049"/>
            <a:chOff x="748396" y="764271"/>
            <a:chExt cx="300782" cy="300782"/>
          </a:xfrm>
        </p:grpSpPr>
        <p:sp>
          <p:nvSpPr>
            <p:cNvPr id="29" name="椭圆 28"/>
            <p:cNvSpPr/>
            <p:nvPr/>
          </p:nvSpPr>
          <p:spPr bwMode="auto">
            <a:xfrm>
              <a:off x="748396" y="764271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4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60" name="Picture 4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7106" y="856341"/>
              <a:ext cx="203362" cy="11664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3" name="组合 42"/>
          <p:cNvGrpSpPr/>
          <p:nvPr userDrawn="1"/>
        </p:nvGrpSpPr>
        <p:grpSpPr bwMode="auto">
          <a:xfrm>
            <a:off x="2351618" y="5854700"/>
            <a:ext cx="400049" cy="400051"/>
            <a:chOff x="1365228" y="4292790"/>
            <a:chExt cx="300782" cy="300782"/>
          </a:xfrm>
        </p:grpSpPr>
        <p:sp>
          <p:nvSpPr>
            <p:cNvPr id="32" name="椭圆 31"/>
            <p:cNvSpPr/>
            <p:nvPr/>
          </p:nvSpPr>
          <p:spPr bwMode="auto">
            <a:xfrm>
              <a:off x="1365228" y="4292790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8" name="Picture 5"/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17391" y="4364115"/>
              <a:ext cx="196455" cy="1581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4" name="组合 1"/>
          <p:cNvGrpSpPr/>
          <p:nvPr userDrawn="1"/>
        </p:nvGrpSpPr>
        <p:grpSpPr bwMode="auto">
          <a:xfrm>
            <a:off x="1559985" y="3492500"/>
            <a:ext cx="400049" cy="400051"/>
            <a:chOff x="1169908" y="2618983"/>
            <a:chExt cx="300782" cy="300782"/>
          </a:xfrm>
        </p:grpSpPr>
        <p:sp>
          <p:nvSpPr>
            <p:cNvPr id="35" name="椭圆 34"/>
            <p:cNvSpPr/>
            <p:nvPr/>
          </p:nvSpPr>
          <p:spPr bwMode="auto">
            <a:xfrm>
              <a:off x="1169908" y="2618983"/>
              <a:ext cx="300782" cy="30078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8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6" name="Picture 6"/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4531" y="2690308"/>
              <a:ext cx="211536" cy="1811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5" name="组合 49"/>
          <p:cNvGrpSpPr/>
          <p:nvPr userDrawn="1"/>
        </p:nvGrpSpPr>
        <p:grpSpPr bwMode="auto">
          <a:xfrm>
            <a:off x="10375901" y="5395385"/>
            <a:ext cx="427567" cy="427567"/>
            <a:chOff x="7874758" y="4418464"/>
            <a:chExt cx="320722" cy="320722"/>
          </a:xfrm>
        </p:grpSpPr>
        <p:sp>
          <p:nvSpPr>
            <p:cNvPr id="38" name="椭圆 37"/>
            <p:cNvSpPr/>
            <p:nvPr/>
          </p:nvSpPr>
          <p:spPr bwMode="auto">
            <a:xfrm>
              <a:off x="7874758" y="4418464"/>
              <a:ext cx="320722" cy="320722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7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4" name="Picture 7"/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16542" y="4486356"/>
              <a:ext cx="237154" cy="1849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46" name="Picture 9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234" y="2364318"/>
            <a:ext cx="169333" cy="182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47" name="组合 45"/>
          <p:cNvGrpSpPr/>
          <p:nvPr userDrawn="1"/>
        </p:nvGrpSpPr>
        <p:grpSpPr bwMode="auto">
          <a:xfrm>
            <a:off x="8818034" y="4578351"/>
            <a:ext cx="345017" cy="345016"/>
            <a:chOff x="8470946" y="4206098"/>
            <a:chExt cx="259071" cy="259071"/>
          </a:xfrm>
        </p:grpSpPr>
        <p:sp>
          <p:nvSpPr>
            <p:cNvPr id="42" name="椭圆 41"/>
            <p:cNvSpPr/>
            <p:nvPr/>
          </p:nvSpPr>
          <p:spPr bwMode="auto">
            <a:xfrm>
              <a:off x="8470946" y="4206098"/>
              <a:ext cx="259071" cy="259071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23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2" name="Picture 10"/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30841" y="4263524"/>
              <a:ext cx="145353" cy="1442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048" name="组合 44"/>
          <p:cNvGrpSpPr/>
          <p:nvPr userDrawn="1"/>
        </p:nvGrpSpPr>
        <p:grpSpPr bwMode="auto">
          <a:xfrm>
            <a:off x="9745134" y="1217084"/>
            <a:ext cx="429684" cy="429683"/>
            <a:chOff x="7308304" y="912172"/>
            <a:chExt cx="323068" cy="323068"/>
          </a:xfrm>
        </p:grpSpPr>
        <p:sp>
          <p:nvSpPr>
            <p:cNvPr id="45" name="椭圆 44"/>
            <p:cNvSpPr/>
            <p:nvPr/>
          </p:nvSpPr>
          <p:spPr bwMode="auto">
            <a:xfrm>
              <a:off x="7308304" y="912172"/>
              <a:ext cx="323068" cy="323068"/>
            </a:xfrm>
            <a:prstGeom prst="ellipse">
              <a:avLst/>
            </a:prstGeom>
            <a:solidFill>
              <a:schemeClr val="tx1">
                <a:lumMod val="75000"/>
                <a:lumOff val="25000"/>
                <a:alpha val="31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buFont typeface="Arial" panose="020B0604020202020204" pitchFamily="34" charset="0"/>
                <a:buNone/>
                <a:defRPr/>
              </a:pPr>
              <a:endParaRPr lang="zh-CN" altLang="en-US" sz="2400">
                <a:latin typeface="+mn-ea"/>
                <a:ea typeface="+mn-ea"/>
              </a:endParaRPr>
            </a:p>
          </p:txBody>
        </p:sp>
        <p:pic>
          <p:nvPicPr>
            <p:cNvPr id="1050" name="Picture 11"/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8238" y="989568"/>
              <a:ext cx="203200" cy="1682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3075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3076" name="图片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MH_Others_1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2611967" y="2556933"/>
            <a:ext cx="859367" cy="3524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lIns="91440" tIns="45720" rIns="91440" bIns="4572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n-US" altLang="zh-CN" sz="4800" dirty="0">
                <a:solidFill>
                  <a:srgbClr val="C0000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Contents</a:t>
            </a:r>
            <a:endParaRPr lang="en-US" altLang="zh-CN" sz="4800" dirty="0">
              <a:solidFill>
                <a:srgbClr val="C0000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1" name="MH_Others_2"/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2264834" y="1221318"/>
            <a:ext cx="1248833" cy="1246716"/>
          </a:xfrm>
          <a:prstGeom prst="ellipse">
            <a:avLst/>
          </a:prstGeom>
          <a:solidFill>
            <a:srgbClr val="404040"/>
          </a:solidFill>
          <a:ln w="0">
            <a:solidFill>
              <a:srgbClr val="FFFFFF">
                <a:alpha val="49000"/>
              </a:srgbClr>
            </a:solidFill>
          </a:ln>
        </p:spPr>
        <p:txBody>
          <a:bodyPr lIns="91440" tIns="45720" rIns="91440" bIns="18000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ts val="9335"/>
              </a:lnSpc>
              <a:spcBef>
                <a:spcPct val="0"/>
              </a:spcBef>
              <a:buNone/>
              <a:defRPr/>
            </a:pPr>
            <a:r>
              <a:rPr lang="zh-CN" altLang="en-US" sz="5400" b="1" dirty="0">
                <a:solidFill>
                  <a:srgbClr val="FFFFFF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目</a:t>
            </a:r>
            <a:endParaRPr lang="zh-CN" altLang="en-US" sz="5400" b="1" dirty="0">
              <a:solidFill>
                <a:srgbClr val="FFFFFF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sp>
        <p:nvSpPr>
          <p:cNvPr id="23" name="MH_Others_3"/>
          <p:cNvSpPr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1775520" y="2346261"/>
            <a:ext cx="979155" cy="979155"/>
          </a:xfrm>
          <a:prstGeom prst="ellipse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  <a:defRPr/>
            </a:pPr>
            <a:r>
              <a:rPr lang="zh-CN" altLang="en-US" sz="5400" b="1" dirty="0">
                <a:ln w="3175">
                  <a:solidFill>
                    <a:srgbClr val="FFFFFF"/>
                  </a:solidFill>
                </a:ln>
                <a:solidFill>
                  <a:srgbClr val="404040"/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rPr>
              <a:t>录</a:t>
            </a:r>
            <a:endParaRPr lang="zh-CN" altLang="en-US" sz="5400" b="1" dirty="0">
              <a:ln w="3175">
                <a:solidFill>
                  <a:srgbClr val="FFFFFF"/>
                </a:solidFill>
              </a:ln>
              <a:solidFill>
                <a:srgbClr val="404040"/>
              </a:solidFill>
              <a:latin typeface="阿里巴巴普惠体" panose="00020600040101010101" pitchFamily="18" charset="-122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3075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3076" name="图片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464051" y="1845734"/>
            <a:ext cx="0" cy="326390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 userDrawn="1"/>
        </p:nvSpPr>
        <p:spPr>
          <a:xfrm>
            <a:off x="4415367" y="1797052"/>
            <a:ext cx="97367" cy="95249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12" name="椭圆 11"/>
          <p:cNvSpPr/>
          <p:nvPr userDrawn="1"/>
        </p:nvSpPr>
        <p:spPr>
          <a:xfrm>
            <a:off x="4415367" y="5109633"/>
            <a:ext cx="97367" cy="95251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sz="2400"/>
          </a:p>
        </p:txBody>
      </p:sp>
      <p:sp>
        <p:nvSpPr>
          <p:cNvPr id="14" name="标题占位符 1"/>
          <p:cNvSpPr txBox="1">
            <a:spLocks noChangeArrowheads="1"/>
          </p:cNvSpPr>
          <p:nvPr userDrawn="1"/>
        </p:nvSpPr>
        <p:spPr bwMode="auto">
          <a:xfrm>
            <a:off x="1390651" y="2565401"/>
            <a:ext cx="2294467" cy="107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265" b="1" kern="0" dirty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</a:t>
            </a:r>
            <a:endParaRPr lang="zh-TW" altLang="zh-CN" sz="4265" b="1" kern="0" dirty="0">
              <a:solidFill>
                <a:srgbClr val="40404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标题占位符 1"/>
          <p:cNvSpPr txBox="1">
            <a:spLocks noChangeArrowheads="1"/>
          </p:cNvSpPr>
          <p:nvPr userDrawn="1"/>
        </p:nvSpPr>
        <p:spPr bwMode="auto">
          <a:xfrm>
            <a:off x="1678518" y="3431118"/>
            <a:ext cx="2821516" cy="687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>
              <a:defRPr/>
            </a:pPr>
            <a:r>
              <a:rPr lang="en-US" altLang="zh-CN" sz="32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TARGET</a:t>
            </a:r>
            <a:endParaRPr lang="zh-TW" altLang="zh-CN" sz="32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18"/>
          <p:cNvGrpSpPr/>
          <p:nvPr userDrawn="1"/>
        </p:nvGrpSpPr>
        <p:grpSpPr bwMode="auto">
          <a:xfrm>
            <a:off x="658285" y="292101"/>
            <a:ext cx="122767" cy="419100"/>
            <a:chOff x="457200" y="427038"/>
            <a:chExt cx="127000" cy="431800"/>
          </a:xfrm>
        </p:grpSpPr>
        <p:sp>
          <p:nvSpPr>
            <p:cNvPr id="8" name="圆角矩形 1"/>
            <p:cNvSpPr>
              <a:spLocks noChangeArrowheads="1"/>
            </p:cNvSpPr>
            <p:nvPr/>
          </p:nvSpPr>
          <p:spPr bwMode="auto">
            <a:xfrm>
              <a:off x="457200" y="427038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/>
            </a:p>
          </p:txBody>
        </p:sp>
        <p:sp>
          <p:nvSpPr>
            <p:cNvPr id="9" name="圆角矩形 23"/>
            <p:cNvSpPr>
              <a:spLocks noChangeArrowheads="1"/>
            </p:cNvSpPr>
            <p:nvPr/>
          </p:nvSpPr>
          <p:spPr bwMode="auto">
            <a:xfrm>
              <a:off x="457200" y="579695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rgbClr val="C00000"/>
            </a:solidFill>
            <a:ln>
              <a:noFill/>
            </a:ln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400">
                <a:latin typeface="Segoe UI" panose="020B0502040204020203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圆角矩形 24"/>
            <p:cNvSpPr>
              <a:spLocks noChangeArrowheads="1"/>
            </p:cNvSpPr>
            <p:nvPr/>
          </p:nvSpPr>
          <p:spPr bwMode="auto">
            <a:xfrm>
              <a:off x="457200" y="732351"/>
              <a:ext cx="127000" cy="126487"/>
            </a:xfrm>
            <a:prstGeom prst="roundRect">
              <a:avLst>
                <a:gd name="adj" fmla="val 16667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Segoe UI" panose="020B0502040204020203" pitchFamily="34" charset="0"/>
                  <a:ea typeface="微软雅黑" panose="020B0503020204020204" pitchFamily="34" charset="-122"/>
                </a:defRPr>
              </a:lvl9pPr>
            </a:lstStyle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/>
            </a:p>
          </p:txBody>
        </p:sp>
      </p:grpSp>
      <p:sp>
        <p:nvSpPr>
          <p:cNvPr id="11" name="矩形 10"/>
          <p:cNvSpPr/>
          <p:nvPr userDrawn="1"/>
        </p:nvSpPr>
        <p:spPr bwMode="auto">
          <a:xfrm>
            <a:off x="10890251" y="6733117"/>
            <a:ext cx="1301749" cy="12488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52" name="圆角矩形 3"/>
          <p:cNvSpPr/>
          <p:nvPr userDrawn="1"/>
        </p:nvSpPr>
        <p:spPr bwMode="auto">
          <a:xfrm>
            <a:off x="9834034" y="-25399"/>
            <a:ext cx="1708151" cy="836084"/>
          </a:xfrm>
          <a:custGeom>
            <a:avLst/>
            <a:gdLst>
              <a:gd name="T0" fmla="*/ 22386923 w 1180531"/>
              <a:gd name="T1" fmla="*/ 0 h 577560"/>
              <a:gd name="T2" fmla="*/ 22386923 w 1180531"/>
              <a:gd name="T3" fmla="*/ 8917360 h 577560"/>
              <a:gd name="T4" fmla="*/ 20196321 w 1180531"/>
              <a:gd name="T5" fmla="*/ 11146814 h 577560"/>
              <a:gd name="T6" fmla="*/ 2190580 w 1180531"/>
              <a:gd name="T7" fmla="*/ 11146814 h 577560"/>
              <a:gd name="T8" fmla="*/ 0 w 1180531"/>
              <a:gd name="T9" fmla="*/ 8917360 h 577560"/>
              <a:gd name="T10" fmla="*/ 0 w 1180531"/>
              <a:gd name="T11" fmla="*/ 0 h 57756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180531" h="577560">
                <a:moveTo>
                  <a:pt x="1180531" y="0"/>
                </a:moveTo>
                <a:lnTo>
                  <a:pt x="1180531" y="462045"/>
                </a:lnTo>
                <a:cubicBezTo>
                  <a:pt x="1180531" y="525842"/>
                  <a:pt x="1128813" y="577560"/>
                  <a:pt x="1065016" y="577560"/>
                </a:cubicBezTo>
                <a:lnTo>
                  <a:pt x="115515" y="577560"/>
                </a:lnTo>
                <a:cubicBezTo>
                  <a:pt x="51718" y="577560"/>
                  <a:pt x="0" y="525842"/>
                  <a:pt x="0" y="462045"/>
                </a:cubicBezTo>
                <a:lnTo>
                  <a:pt x="0" y="0"/>
                </a:lnTo>
              </a:path>
            </a:pathLst>
          </a:custGeom>
          <a:solidFill>
            <a:srgbClr val="C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 sz="2400"/>
          </a:p>
        </p:txBody>
      </p:sp>
      <p:pic>
        <p:nvPicPr>
          <p:cNvPr id="2053" name="图片 1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55200" y="67733"/>
            <a:ext cx="1686984" cy="694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33117"/>
            <a:ext cx="10818284" cy="12488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9"/>
          <p:cNvGrpSpPr/>
          <p:nvPr userDrawn="1"/>
        </p:nvGrpSpPr>
        <p:grpSpPr bwMode="auto">
          <a:xfrm>
            <a:off x="2592918" y="2423584"/>
            <a:ext cx="6864349" cy="1049867"/>
            <a:chOff x="1944836" y="1767215"/>
            <a:chExt cx="5147444" cy="787423"/>
          </a:xfrm>
        </p:grpSpPr>
        <p:pic>
          <p:nvPicPr>
            <p:cNvPr id="4099" name="图片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1020" y="1767215"/>
              <a:ext cx="1907084" cy="7874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9" name="直接连接符 8"/>
            <p:cNvCxnSpPr/>
            <p:nvPr/>
          </p:nvCxnSpPr>
          <p:spPr>
            <a:xfrm>
              <a:off x="1944836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/>
            <p:cNvCxnSpPr/>
            <p:nvPr/>
          </p:nvCxnSpPr>
          <p:spPr>
            <a:xfrm>
              <a:off x="5436781" y="2211728"/>
              <a:ext cx="1655499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Alibaba PuHuiTi B" pitchFamily="18" charset="-122"/>
                  <a:ea typeface="Alibaba PuHuiTi B" pitchFamily="18" charset="-122"/>
                  <a:cs typeface="Alibaba PuHuiTi B" pitchFamily="18" charset="-122"/>
                </a:rPr>
                <a:t>目录</a:t>
              </a:r>
              <a:endPara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endParaRP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pitchFamily="18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pitchFamily="18" charset="-122"/>
                <a:cs typeface="阿里巴巴普惠体" panose="00020600040101010101" pitchFamily="18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Alibaba PuHuiTi B" pitchFamily="18" charset="-122"/>
                <a:ea typeface="Alibaba PuHuiTi B" pitchFamily="18" charset="-122"/>
                <a:cs typeface="Alibaba PuHuiTi B" pitchFamily="18" charset="-122"/>
              </a:rPr>
              <a:t>学习目标</a:t>
            </a:r>
            <a:endParaRPr lang="zh-CN" altLang="en-US" sz="4200" b="1" i="0" dirty="0">
              <a:latin typeface="Alibaba PuHuiTi B" pitchFamily="18" charset="-122"/>
              <a:ea typeface="Alibaba PuHuiTi B" pitchFamily="18" charset="-122"/>
              <a:cs typeface="Alibaba PuHuiTi B" pitchFamily="18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pitchFamily="18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pitchFamily="18" charset="-122"/>
              <a:cs typeface="阿里巴巴普惠体" panose="00020600040101010101" pitchFamily="18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Alibaba PuHuiTi R" pitchFamily="18" charset="-122"/>
          <a:ea typeface="Alibaba PuHuiTi R" pitchFamily="18" charset="-122"/>
          <a:cs typeface="Alibaba PuHuiTi R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cxnSp>
        <p:nvCxnSpPr>
          <p:cNvPr id="11" name="直接连接符 22"/>
          <p:cNvCxnSpPr/>
          <p:nvPr userDrawn="1"/>
        </p:nvCxnSpPr>
        <p:spPr>
          <a:xfrm flipH="1">
            <a:off x="323600" y="763880"/>
            <a:ext cx="11544801" cy="0"/>
          </a:xfrm>
          <a:prstGeom prst="line">
            <a:avLst/>
          </a:prstGeom>
          <a:ln w="9525">
            <a:solidFill>
              <a:srgbClr val="F2F2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组合 11"/>
          <p:cNvGrpSpPr/>
          <p:nvPr userDrawn="1"/>
        </p:nvGrpSpPr>
        <p:grpSpPr>
          <a:xfrm>
            <a:off x="0" y="420997"/>
            <a:ext cx="224590" cy="220464"/>
            <a:chOff x="0" y="262878"/>
            <a:chExt cx="224590" cy="506266"/>
          </a:xfrm>
        </p:grpSpPr>
        <p:sp>
          <p:nvSpPr>
            <p:cNvPr id="13" name="矩形 12"/>
            <p:cNvSpPr/>
            <p:nvPr/>
          </p:nvSpPr>
          <p:spPr>
            <a:xfrm>
              <a:off x="0" y="262878"/>
              <a:ext cx="224590" cy="506266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142500" y="262878"/>
              <a:ext cx="82090" cy="506266"/>
            </a:xfrm>
            <a:prstGeom prst="rect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4242" y="283220"/>
            <a:ext cx="1225447" cy="35824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26.png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2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46.png"/><Relationship Id="rId1" Type="http://schemas.openxmlformats.org/officeDocument/2006/relationships/tags" Target="../tags/tag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9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50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缺失数据处理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知道什么是缺失值，为什么会产生缺失值</a:t>
            </a:r>
            <a:endParaRPr lang="zh-CN" altLang="en-US" dirty="0"/>
          </a:p>
          <a:p>
            <a:r>
              <a:rPr lang="zh-CN" altLang="en-US" dirty="0"/>
              <a:t>熟练掌握缺失值处理的方式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</a:rPr>
              <a:t>简介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加载缺失值</a:t>
            </a:r>
            <a:endParaRPr lang="zh-CN" altLang="en-US" b="1" dirty="0"/>
          </a:p>
          <a:p>
            <a:r>
              <a:rPr lang="zh-CN" altLang="en-US" b="1" dirty="0"/>
              <a:t>处理缺失值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简介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1.1 </a:t>
            </a:r>
            <a:r>
              <a:rPr lang="zh-CN" altLang="en-US" dirty="0"/>
              <a:t>缺失数据简介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好多数据集都含缺失数据。缺失数据有多种表现形式</a:t>
            </a:r>
            <a:endParaRPr lang="zh-CN" altLang="en-US" dirty="0"/>
          </a:p>
          <a:p>
            <a:r>
              <a:rPr lang="zh-CN" altLang="en-US" b="0" dirty="0"/>
              <a:t>数据库中，缺失数据表示为</a:t>
            </a:r>
            <a:r>
              <a:rPr lang="en-US" altLang="zh-CN" b="0" dirty="0"/>
              <a:t>NULL</a:t>
            </a:r>
            <a:endParaRPr lang="en-US" altLang="zh-CN" b="0" dirty="0"/>
          </a:p>
          <a:p>
            <a:r>
              <a:rPr lang="zh-CN" altLang="en-US" b="0" dirty="0"/>
              <a:t>在某些编程语言中用</a:t>
            </a:r>
            <a:r>
              <a:rPr lang="en-US" altLang="zh-CN" b="0" dirty="0"/>
              <a:t>NA</a:t>
            </a:r>
            <a:r>
              <a:rPr lang="zh-CN" altLang="en-US" b="0" dirty="0"/>
              <a:t>表示</a:t>
            </a:r>
            <a:endParaRPr lang="zh-CN" altLang="en-US" b="0" dirty="0"/>
          </a:p>
          <a:p>
            <a:r>
              <a:rPr lang="zh-CN" altLang="en-US" b="0" dirty="0"/>
              <a:t>缺失值也可能是空字符串</a:t>
            </a:r>
            <a:r>
              <a:rPr lang="en-US" altLang="zh-CN" b="0" dirty="0"/>
              <a:t>(</a:t>
            </a:r>
            <a:r>
              <a:rPr lang="en-GB" altLang="zh-CN" dirty="0">
                <a:sym typeface="+mn-ea"/>
              </a:rPr>
              <a:t>''</a:t>
            </a:r>
            <a:r>
              <a:rPr lang="en-US" altLang="zh-CN" b="0" dirty="0"/>
              <a:t>)</a:t>
            </a:r>
            <a:r>
              <a:rPr lang="zh-CN" altLang="en-US" b="0" dirty="0"/>
              <a:t>或数值</a:t>
            </a:r>
            <a:endParaRPr lang="zh-CN" altLang="en-US" b="0" dirty="0"/>
          </a:p>
          <a:p>
            <a:r>
              <a:rPr lang="zh-CN" altLang="en-US" b="0" dirty="0"/>
              <a:t>在</a:t>
            </a:r>
            <a:r>
              <a:rPr lang="en-US" altLang="zh-CN" b="0" dirty="0"/>
              <a:t>Pandas</a:t>
            </a:r>
            <a:r>
              <a:rPr lang="zh-CN" altLang="en-US" b="0" dirty="0"/>
              <a:t>中使用</a:t>
            </a:r>
            <a:r>
              <a:rPr lang="en-US" altLang="zh-CN" b="0" dirty="0" err="1"/>
              <a:t>NaN</a:t>
            </a:r>
            <a:r>
              <a:rPr lang="zh-CN" altLang="en-US" b="0" dirty="0"/>
              <a:t>表示缺失值</a:t>
            </a:r>
            <a:endParaRPr lang="zh-CN" altLang="en-US" b="0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简介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en-GB" altLang="zh-CN" dirty="0" err="1"/>
              <a:t>NaN</a:t>
            </a:r>
            <a:r>
              <a:rPr lang="zh-CN" altLang="en-US" dirty="0"/>
              <a:t>简介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zh-CN" dirty="0"/>
              <a:t>Pandas</a:t>
            </a:r>
            <a:r>
              <a:rPr lang="zh-CN" altLang="en-US" dirty="0"/>
              <a:t>中的</a:t>
            </a:r>
            <a:r>
              <a:rPr lang="en-US" altLang="zh-CN" dirty="0" err="1"/>
              <a:t>NaN</a:t>
            </a:r>
            <a:r>
              <a:rPr lang="zh-CN" altLang="en-US" dirty="0"/>
              <a:t>值来自</a:t>
            </a:r>
            <a:r>
              <a:rPr lang="en-US" altLang="zh-CN" dirty="0"/>
              <a:t>NumPy</a:t>
            </a:r>
            <a:r>
              <a:rPr lang="zh-CN" altLang="en-US" dirty="0"/>
              <a:t>库，</a:t>
            </a:r>
            <a:r>
              <a:rPr lang="en-US" altLang="zh-CN" dirty="0"/>
              <a:t>NumPy</a:t>
            </a:r>
            <a:r>
              <a:rPr lang="zh-CN" altLang="en-US" dirty="0"/>
              <a:t>中缺失值有几种表示形式：</a:t>
            </a:r>
            <a:r>
              <a:rPr lang="en-US" altLang="zh-CN" dirty="0" err="1"/>
              <a:t>NaN</a:t>
            </a:r>
            <a:r>
              <a:rPr lang="zh-CN" altLang="en-US" dirty="0"/>
              <a:t>，</a:t>
            </a:r>
            <a:r>
              <a:rPr lang="en-US" altLang="zh-CN" dirty="0"/>
              <a:t>NAN</a:t>
            </a:r>
            <a:r>
              <a:rPr lang="zh-CN" altLang="en-US" dirty="0"/>
              <a:t>，</a:t>
            </a:r>
            <a:r>
              <a:rPr lang="en-US" altLang="zh-CN" dirty="0"/>
              <a:t>nan</a:t>
            </a:r>
            <a:r>
              <a:rPr lang="zh-CN" altLang="en-US" dirty="0"/>
              <a:t>，他们都一样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缺失值和其它类型的数据不同，它毫无意义，</a:t>
            </a:r>
            <a:r>
              <a:rPr lang="en-US" altLang="zh-CN" dirty="0" err="1"/>
              <a:t>NaN</a:t>
            </a:r>
            <a:r>
              <a:rPr lang="zh-CN" altLang="en-US" dirty="0"/>
              <a:t>不等于</a:t>
            </a:r>
            <a:r>
              <a:rPr lang="en-US" altLang="zh-CN" dirty="0"/>
              <a:t>0</a:t>
            </a:r>
            <a:r>
              <a:rPr lang="zh-CN" altLang="en-US" dirty="0"/>
              <a:t>，也不等于空串，</a:t>
            </a:r>
            <a:endParaRPr lang="zh-CN" altLang="en-US" dirty="0"/>
          </a:p>
          <a:p>
            <a:pPr marL="342900" indent="-342900">
              <a:buFont typeface="+mj-lt"/>
              <a:buAutoNum type="arabicPeriod"/>
            </a:pPr>
            <a:r>
              <a:rPr lang="zh-CN" altLang="en-GB" dirty="0"/>
              <a:t>查看</a:t>
            </a:r>
            <a:r>
              <a:rPr lang="en-US" altLang="zh-CN" dirty="0" err="1"/>
              <a:t>NaN</a:t>
            </a:r>
            <a:r>
              <a:rPr lang="zh-CN" altLang="en-US" dirty="0"/>
              <a:t>，</a:t>
            </a:r>
            <a:r>
              <a:rPr lang="en-US" altLang="zh-CN" dirty="0"/>
              <a:t>NAN</a:t>
            </a:r>
            <a:r>
              <a:rPr lang="zh-CN" altLang="en-US" dirty="0"/>
              <a:t>，</a:t>
            </a:r>
            <a:r>
              <a:rPr lang="en-US" altLang="zh-CN" dirty="0"/>
              <a:t>nan</a:t>
            </a:r>
            <a:endParaRPr lang="en-GB" altLang="zh-CN" dirty="0"/>
          </a:p>
          <a:p>
            <a:r>
              <a:rPr lang="en-GB" altLang="zh-CN" dirty="0"/>
              <a:t>from </a:t>
            </a:r>
            <a:r>
              <a:rPr lang="en-GB" altLang="zh-CN" dirty="0" err="1"/>
              <a:t>numpy</a:t>
            </a:r>
            <a:r>
              <a:rPr lang="en-GB" altLang="zh-CN" dirty="0"/>
              <a:t> import </a:t>
            </a:r>
            <a:r>
              <a:rPr lang="en-GB" altLang="zh-CN" dirty="0" err="1"/>
              <a:t>NaN,NAN,nan</a:t>
            </a:r>
            <a:endParaRPr lang="en-GB" altLang="zh-CN" dirty="0"/>
          </a:p>
          <a:p>
            <a:r>
              <a:rPr lang="en-GB" altLang="zh-CN" dirty="0"/>
              <a:t>print(</a:t>
            </a:r>
            <a:r>
              <a:rPr lang="en-GB" altLang="zh-CN" dirty="0" err="1"/>
              <a:t>NaN</a:t>
            </a:r>
            <a:r>
              <a:rPr lang="en-GB" altLang="zh-CN" dirty="0"/>
              <a:t>==True)</a:t>
            </a:r>
            <a:endParaRPr lang="en-GB" altLang="zh-CN" dirty="0"/>
          </a:p>
          <a:p>
            <a:r>
              <a:rPr lang="en-GB" altLang="zh-CN" dirty="0"/>
              <a:t>print(</a:t>
            </a:r>
            <a:r>
              <a:rPr lang="en-GB" altLang="zh-CN" dirty="0" err="1"/>
              <a:t>NaN</a:t>
            </a:r>
            <a:r>
              <a:rPr lang="en-GB" altLang="zh-CN" dirty="0"/>
              <a:t>==False)</a:t>
            </a:r>
            <a:endParaRPr lang="en-GB" altLang="zh-CN" dirty="0"/>
          </a:p>
          <a:p>
            <a:r>
              <a:rPr lang="en-GB" altLang="zh-CN" dirty="0"/>
              <a:t>print(</a:t>
            </a:r>
            <a:r>
              <a:rPr lang="en-GB" altLang="zh-CN" dirty="0" err="1"/>
              <a:t>NaN</a:t>
            </a:r>
            <a:r>
              <a:rPr lang="en-GB" altLang="zh-CN" dirty="0"/>
              <a:t>==0)</a:t>
            </a:r>
            <a:endParaRPr lang="en-GB" altLang="zh-CN" dirty="0"/>
          </a:p>
          <a:p>
            <a:r>
              <a:rPr lang="en-GB" altLang="zh-CN" dirty="0"/>
              <a:t>print(</a:t>
            </a:r>
            <a:r>
              <a:rPr lang="en-GB" altLang="zh-CN" dirty="0" err="1"/>
              <a:t>NaN</a:t>
            </a:r>
            <a:r>
              <a:rPr lang="en-GB" altLang="zh-CN" dirty="0"/>
              <a:t>=='')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972050" y="3354070"/>
            <a:ext cx="4406900" cy="1841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简介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en-GB" altLang="zh-CN" dirty="0" err="1"/>
              <a:t>NaN</a:t>
            </a:r>
            <a:r>
              <a:rPr lang="zh-CN" altLang="en-US" dirty="0"/>
              <a:t>简介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两个</a:t>
            </a:r>
            <a:r>
              <a:rPr lang="en-US" altLang="zh-CN" dirty="0" err="1"/>
              <a:t>NaN</a:t>
            </a:r>
            <a:r>
              <a:rPr lang="zh-CN" altLang="en-US" dirty="0"/>
              <a:t>也不相等</a:t>
            </a:r>
            <a:endParaRPr lang="zh-CN" altLang="en-US" dirty="0"/>
          </a:p>
          <a:p>
            <a:r>
              <a:rPr lang="en-US" altLang="zh-CN" dirty="0"/>
              <a:t>print(NaN==NaN)</a:t>
            </a:r>
            <a:endParaRPr lang="en-US" altLang="zh-CN" dirty="0"/>
          </a:p>
          <a:p>
            <a:r>
              <a:rPr lang="en-US" altLang="zh-CN" dirty="0"/>
              <a:t>print(NaN==nan)</a:t>
            </a:r>
            <a:endParaRPr lang="en-US" altLang="zh-CN" dirty="0"/>
          </a:p>
          <a:p>
            <a:r>
              <a:rPr lang="en-US" altLang="zh-CN" dirty="0"/>
              <a:t>print(NaN==NAN)</a:t>
            </a:r>
            <a:endParaRPr lang="en-US" altLang="zh-CN" dirty="0"/>
          </a:p>
          <a:p>
            <a:r>
              <a:rPr lang="en-US" altLang="zh-CN" dirty="0"/>
              <a:t>print(nan==NAN)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90" y="3900170"/>
            <a:ext cx="7778750" cy="1854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简介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1.2 </a:t>
            </a:r>
            <a:r>
              <a:rPr lang="en-GB" altLang="zh-CN" dirty="0" err="1"/>
              <a:t>NaN</a:t>
            </a:r>
            <a:r>
              <a:rPr lang="zh-CN" altLang="en-US" dirty="0"/>
              <a:t>简介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en-GB" altLang="zh-CN" dirty="0"/>
              <a:t>Pandas</a:t>
            </a:r>
            <a:r>
              <a:rPr lang="zh-CN" altLang="en-US" dirty="0"/>
              <a:t>提供了</a:t>
            </a:r>
            <a:r>
              <a:rPr lang="en-GB" altLang="zh-CN" dirty="0" err="1"/>
              <a:t>isnull</a:t>
            </a:r>
            <a:r>
              <a:rPr lang="en-GB" altLang="zh-CN" dirty="0"/>
              <a:t>/</a:t>
            </a:r>
            <a:r>
              <a:rPr lang="en-GB" altLang="zh-CN" dirty="0" err="1"/>
              <a:t>isna</a:t>
            </a:r>
            <a:r>
              <a:rPr lang="zh-CN" altLang="en-US" dirty="0"/>
              <a:t>方法，用于测试某个值是否为缺失值</a:t>
            </a:r>
            <a:endParaRPr lang="en-US" altLang="zh-CN" dirty="0"/>
          </a:p>
          <a:p>
            <a:r>
              <a:rPr lang="en-US" altLang="zh-CN" dirty="0"/>
              <a:t>import pandas as </a:t>
            </a:r>
            <a:r>
              <a:rPr lang="en-US" altLang="zh-CN" dirty="0" err="1"/>
              <a:t>pd</a:t>
            </a:r>
            <a:endParaRPr lang="en-US" altLang="zh-CN" dirty="0"/>
          </a:p>
          <a:p>
            <a:r>
              <a:rPr lang="en-US" altLang="zh-CN" dirty="0"/>
              <a:t>print(</a:t>
            </a:r>
            <a:r>
              <a:rPr lang="en-US" altLang="zh-CN" dirty="0" err="1"/>
              <a:t>pd.isnull</a:t>
            </a:r>
            <a:r>
              <a:rPr lang="en-US" altLang="zh-CN" dirty="0"/>
              <a:t>(</a:t>
            </a:r>
            <a:r>
              <a:rPr lang="en-US" altLang="zh-CN" dirty="0" err="1"/>
              <a:t>NaN</a:t>
            </a:r>
            <a:r>
              <a:rPr lang="en-US" altLang="zh-CN" dirty="0"/>
              <a:t>))</a:t>
            </a:r>
            <a:endParaRPr lang="en-US" altLang="zh-CN" dirty="0"/>
          </a:p>
          <a:p>
            <a:r>
              <a:rPr lang="en-US" altLang="zh-CN" dirty="0"/>
              <a:t>print(</a:t>
            </a:r>
            <a:r>
              <a:rPr lang="en-US" altLang="zh-CN" dirty="0" err="1"/>
              <a:t>pd.isnull</a:t>
            </a:r>
            <a:r>
              <a:rPr lang="en-US" altLang="zh-CN" dirty="0"/>
              <a:t>(nan))</a:t>
            </a:r>
            <a:endParaRPr lang="en-US" altLang="zh-CN" dirty="0"/>
          </a:p>
          <a:p>
            <a:r>
              <a:rPr lang="en-US" altLang="zh-CN" dirty="0"/>
              <a:t>print(</a:t>
            </a:r>
            <a:r>
              <a:rPr lang="en-US" altLang="zh-CN" dirty="0" err="1"/>
              <a:t>pd.isnull</a:t>
            </a:r>
            <a:r>
              <a:rPr lang="en-US" altLang="zh-CN" dirty="0"/>
              <a:t>(NAN))</a:t>
            </a:r>
            <a:endParaRPr lang="en-US" altLang="zh-CN" dirty="0"/>
          </a:p>
          <a:p>
            <a:pPr marL="342900" indent="-342900">
              <a:buFont typeface="+mj-lt"/>
              <a:buAutoNum type="arabicPeriod" startAt="4"/>
            </a:pPr>
            <a:r>
              <a:rPr lang="en-GB" altLang="zh-CN" dirty="0"/>
              <a:t>Pandas</a:t>
            </a:r>
            <a:r>
              <a:rPr lang="zh-CN" altLang="en-US" dirty="0"/>
              <a:t>的</a:t>
            </a:r>
            <a:r>
              <a:rPr lang="en-GB" altLang="zh-CN" dirty="0" err="1"/>
              <a:t>notnull</a:t>
            </a:r>
            <a:r>
              <a:rPr lang="en-GB" altLang="zh-CN" dirty="0"/>
              <a:t>/</a:t>
            </a:r>
            <a:r>
              <a:rPr lang="en-GB" altLang="zh-CN" dirty="0" err="1"/>
              <a:t>notna</a:t>
            </a:r>
            <a:r>
              <a:rPr lang="zh-CN" altLang="en-US" dirty="0"/>
              <a:t>方法也可以用于判断某个值是否为缺失值</a:t>
            </a:r>
            <a:endParaRPr lang="en-US" altLang="zh-CN" dirty="0"/>
          </a:p>
          <a:p>
            <a:r>
              <a:rPr lang="en-US" altLang="zh-CN" dirty="0"/>
              <a:t>print(</a:t>
            </a:r>
            <a:r>
              <a:rPr lang="en-US" altLang="zh-CN" dirty="0" err="1"/>
              <a:t>pd.notnull</a:t>
            </a:r>
            <a:r>
              <a:rPr lang="en-US" altLang="zh-CN" dirty="0"/>
              <a:t>(</a:t>
            </a:r>
            <a:r>
              <a:rPr lang="en-US" altLang="zh-CN" dirty="0" err="1"/>
              <a:t>NaN</a:t>
            </a:r>
            <a:r>
              <a:rPr lang="en-US" altLang="zh-CN" dirty="0"/>
              <a:t>))</a:t>
            </a:r>
            <a:endParaRPr lang="en-US" altLang="zh-CN" dirty="0"/>
          </a:p>
          <a:p>
            <a:r>
              <a:rPr lang="en-US" altLang="zh-CN" dirty="0"/>
              <a:t>print(</a:t>
            </a:r>
            <a:r>
              <a:rPr lang="en-US" altLang="zh-CN" dirty="0" err="1"/>
              <a:t>pd.notnull</a:t>
            </a:r>
            <a:r>
              <a:rPr lang="en-US" altLang="zh-CN" dirty="0"/>
              <a:t>(42))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98900" y="2220595"/>
            <a:ext cx="5041900" cy="15621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8900" y="4306570"/>
            <a:ext cx="5924550" cy="12890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/>
              <a:t>简介</a:t>
            </a:r>
            <a:endParaRPr lang="zh-CN" altLang="en-US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加载缺失值</a:t>
            </a:r>
            <a:endParaRPr lang="zh-CN" altLang="en-US" b="1" dirty="0">
              <a:solidFill>
                <a:srgbClr val="FF0000"/>
              </a:solidFill>
            </a:endParaRPr>
          </a:p>
          <a:p>
            <a:r>
              <a:rPr lang="zh-CN" altLang="en-US" b="1" dirty="0"/>
              <a:t>处理缺失值</a:t>
            </a:r>
            <a:endParaRPr lang="zh-CN" altLang="en-US" b="1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 加载缺失值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2.1</a:t>
            </a:r>
            <a:r>
              <a:rPr lang="zh-CN" altLang="en-US" dirty="0"/>
              <a:t> 缺失值来源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缺失值的来源有两个</a:t>
            </a:r>
            <a:endParaRPr lang="zh-CN" altLang="en-US" dirty="0"/>
          </a:p>
          <a:p>
            <a:r>
              <a:rPr lang="zh-CN" altLang="en-US" b="0" dirty="0"/>
              <a:t>原始数据包含缺失值</a:t>
            </a:r>
            <a:endParaRPr lang="zh-CN" altLang="en-US" b="0" dirty="0"/>
          </a:p>
          <a:p>
            <a:r>
              <a:rPr lang="zh-CN" altLang="en-US" b="0" dirty="0"/>
              <a:t>数据整理过程中产生缺失值</a:t>
            </a:r>
            <a:endParaRPr lang="zh-CN" altLang="en-US" b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 加载缺失值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</a:t>
            </a:r>
            <a:r>
              <a:rPr lang="zh-CN" altLang="en-US" dirty="0"/>
              <a:t> 加载包含缺失的数据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加载数据时可以通过</a:t>
            </a:r>
            <a:r>
              <a:rPr lang="en-GB" altLang="zh-CN" dirty="0" err="1"/>
              <a:t>keep_default_na</a:t>
            </a:r>
            <a:r>
              <a:rPr lang="en-GB" altLang="zh-CN" dirty="0"/>
              <a:t> </a:t>
            </a:r>
            <a:r>
              <a:rPr lang="zh-CN" altLang="en-US" dirty="0"/>
              <a:t>与 </a:t>
            </a:r>
            <a:r>
              <a:rPr lang="en-GB" altLang="zh-CN" dirty="0" err="1"/>
              <a:t>na_values</a:t>
            </a:r>
            <a:r>
              <a:rPr lang="en-GB" altLang="zh-CN" dirty="0"/>
              <a:t> </a:t>
            </a:r>
            <a:r>
              <a:rPr lang="zh-CN" altLang="en-US" dirty="0"/>
              <a:t>指定加载数据时的缺失值</a:t>
            </a:r>
            <a:endParaRPr lang="en-US" altLang="zh-CN" dirty="0"/>
          </a:p>
          <a:p>
            <a:r>
              <a:rPr lang="en-GB" altLang="zh-CN" dirty="0" err="1"/>
              <a:t>pd.read_csv</a:t>
            </a:r>
            <a:r>
              <a:rPr lang="en-GB" altLang="zh-CN" dirty="0"/>
              <a:t>('data/</a:t>
            </a:r>
            <a:r>
              <a:rPr lang="en-GB" altLang="zh-CN" dirty="0" err="1"/>
              <a:t>survey_visited.csv</a:t>
            </a:r>
            <a:r>
              <a:rPr lang="en-GB" altLang="zh-CN" dirty="0"/>
              <a:t>’)</a:t>
            </a:r>
            <a:endParaRPr lang="en-GB" altLang="zh-CN" dirty="0"/>
          </a:p>
          <a:p>
            <a:pPr>
              <a:buFont typeface="+mj-lt"/>
            </a:pPr>
            <a:endParaRPr lang="zh-CN" altLang="en-US" b="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45" y="2708275"/>
            <a:ext cx="7575550" cy="3035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 加载缺失值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</a:t>
            </a:r>
            <a:r>
              <a:rPr lang="zh-CN" altLang="en-US" dirty="0"/>
              <a:t> 加载包含缺失的数据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加载数据，不包含默认缺失值</a:t>
            </a:r>
            <a:endParaRPr lang="en-US" altLang="zh-CN" dirty="0"/>
          </a:p>
          <a:p>
            <a:r>
              <a:rPr lang="en-GB" altLang="zh-CN" dirty="0" err="1"/>
              <a:t>pd.read_csv</a:t>
            </a:r>
            <a:r>
              <a:rPr lang="en-GB" altLang="zh-CN" dirty="0"/>
              <a:t>('data/survey_visited.csv',</a:t>
            </a:r>
            <a:r>
              <a:rPr lang="en-GB" altLang="zh-CN" dirty="0" err="1"/>
              <a:t>keep_default_na</a:t>
            </a:r>
            <a:r>
              <a:rPr lang="en-GB" altLang="zh-CN" dirty="0"/>
              <a:t> = False)</a:t>
            </a:r>
            <a:endParaRPr lang="en-GB" altLang="zh-CN" dirty="0"/>
          </a:p>
          <a:p>
            <a:pPr>
              <a:buFont typeface="+mj-lt"/>
            </a:pPr>
            <a:endParaRPr lang="zh-CN" altLang="en-US" b="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70" y="2788285"/>
            <a:ext cx="7880350" cy="2679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zh-CN" altLang="en-US" dirty="0">
                <a:solidFill>
                  <a:schemeClr val="tx1"/>
                </a:solidFill>
              </a:rPr>
              <a:t> 加载缺失值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2.2</a:t>
            </a:r>
            <a:r>
              <a:rPr lang="zh-CN" altLang="en-US" dirty="0"/>
              <a:t> 加载包含缺失的数据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797425"/>
          </a:xfrm>
        </p:spPr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加载数据，手动指定缺失值</a:t>
            </a:r>
            <a:endParaRPr lang="en-US" altLang="zh-CN" dirty="0"/>
          </a:p>
          <a:p>
            <a:r>
              <a:rPr lang="en-GB" altLang="zh-CN" dirty="0" err="1"/>
              <a:t>pd.read_csv</a:t>
            </a:r>
            <a:r>
              <a:rPr lang="en-GB" altLang="zh-CN" dirty="0"/>
              <a:t>('data/survey_visited.csv',</a:t>
            </a:r>
            <a:r>
              <a:rPr lang="en-GB" altLang="zh-CN" dirty="0" err="1"/>
              <a:t>na_values</a:t>
            </a:r>
            <a:r>
              <a:rPr lang="en-GB" altLang="zh-CN" dirty="0"/>
              <a:t>=[""],</a:t>
            </a:r>
            <a:r>
              <a:rPr lang="en-GB" altLang="zh-CN" dirty="0" err="1"/>
              <a:t>keep_default_na</a:t>
            </a:r>
            <a:r>
              <a:rPr lang="en-GB" altLang="zh-CN" dirty="0"/>
              <a:t> = False)</a:t>
            </a:r>
            <a:endParaRPr lang="en-GB" altLang="zh-CN" dirty="0"/>
          </a:p>
          <a:p>
            <a:endParaRPr lang="zh-CN" altLang="en-US" b="0" dirty="0"/>
          </a:p>
          <a:p>
            <a:endParaRPr lang="zh-CN" altLang="en-US" b="0" dirty="0"/>
          </a:p>
          <a:p>
            <a:endParaRPr lang="zh-CN" altLang="en-US" b="0" dirty="0"/>
          </a:p>
          <a:p>
            <a:endParaRPr lang="zh-CN" altLang="en-US" b="0" dirty="0"/>
          </a:p>
          <a:p>
            <a:endParaRPr lang="zh-CN" altLang="en-US" b="0" dirty="0"/>
          </a:p>
          <a:p>
            <a:endParaRPr lang="zh-CN" altLang="en-US" b="0" dirty="0"/>
          </a:p>
          <a:p>
            <a:endParaRPr lang="zh-CN" altLang="en-US" b="0" dirty="0"/>
          </a:p>
          <a:p>
            <a:endParaRPr lang="zh-CN" altLang="en-US" b="0" dirty="0"/>
          </a:p>
          <a:p>
            <a:pPr marL="342900" indent="-342900">
              <a:buFont typeface="+mj-lt"/>
              <a:buAutoNum type="arabicPeriod" startAt="4"/>
            </a:pPr>
            <a:r>
              <a:rPr lang="zh-CN" altLang="en-US" b="0" dirty="0"/>
              <a:t>在</a:t>
            </a:r>
            <a:r>
              <a:rPr lang="en-US" altLang="zh-CN" b="0" dirty="0"/>
              <a:t>merge</a:t>
            </a:r>
            <a:r>
              <a:rPr lang="zh-CN" altLang="en-US" b="0" dirty="0"/>
              <a:t>数据的时候也会产生缺失值</a:t>
            </a:r>
            <a:r>
              <a:rPr lang="en-US" altLang="zh-CN" b="0" dirty="0"/>
              <a:t>,</a:t>
            </a:r>
            <a:r>
              <a:rPr lang="zh-CN" altLang="en-US" b="0" dirty="0"/>
              <a:t>在上一小节中已经提及</a:t>
            </a:r>
            <a:r>
              <a:rPr lang="en-US" altLang="zh-CN" b="0" dirty="0"/>
              <a:t>,</a:t>
            </a:r>
            <a:r>
              <a:rPr lang="zh-CN" altLang="en-US" b="0" dirty="0"/>
              <a:t>这里不再赘述</a:t>
            </a:r>
            <a:endParaRPr lang="zh-CN" altLang="en-US" b="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784475"/>
            <a:ext cx="7594600" cy="3009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dirty="0"/>
              <a:t>简介</a:t>
            </a:r>
            <a:endParaRPr lang="zh-CN" altLang="en-US" b="1" dirty="0"/>
          </a:p>
          <a:p>
            <a:r>
              <a:rPr lang="zh-CN" altLang="en-US" b="1" dirty="0"/>
              <a:t>加载缺失值</a:t>
            </a:r>
            <a:endParaRPr lang="zh-CN" altLang="en-US" b="1" dirty="0"/>
          </a:p>
          <a:p>
            <a:r>
              <a:rPr lang="zh-CN" altLang="en-US" b="1" dirty="0">
                <a:solidFill>
                  <a:srgbClr val="FF0000"/>
                </a:solidFill>
              </a:rPr>
              <a:t>处理缺失值</a:t>
            </a:r>
            <a:endParaRPr lang="zh-CN" alt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处理缺失值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3.1 </a:t>
            </a:r>
            <a:r>
              <a:rPr lang="zh-CN" altLang="en-US" dirty="0"/>
              <a:t>加载数据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856480"/>
          </a:xfrm>
        </p:spPr>
        <p:txBody>
          <a:bodyPr/>
          <a:lstStyle/>
          <a:p>
            <a:r>
              <a:rPr lang="en-GB" altLang="zh-CN" dirty="0"/>
              <a:t>train=</a:t>
            </a:r>
            <a:r>
              <a:rPr lang="en-GB" altLang="zh-CN" dirty="0" err="1"/>
              <a:t>pd.read_csv</a:t>
            </a:r>
            <a:r>
              <a:rPr lang="en-GB" altLang="zh-CN" dirty="0"/>
              <a:t>('data/</a:t>
            </a:r>
            <a:r>
              <a:rPr lang="en-GB" altLang="zh-CN" dirty="0" err="1"/>
              <a:t>titanic_train.csv</a:t>
            </a:r>
            <a:r>
              <a:rPr lang="en-GB" altLang="zh-CN" dirty="0"/>
              <a:t>')</a:t>
            </a:r>
            <a:endParaRPr lang="en-GB" altLang="zh-CN" dirty="0"/>
          </a:p>
          <a:p>
            <a:r>
              <a:rPr lang="en-GB" altLang="zh-CN" dirty="0"/>
              <a:t>test=</a:t>
            </a:r>
            <a:r>
              <a:rPr lang="en-GB" altLang="zh-CN" dirty="0" err="1"/>
              <a:t>pd.read_csv</a:t>
            </a:r>
            <a:r>
              <a:rPr lang="en-GB" altLang="zh-CN" dirty="0"/>
              <a:t>('data/</a:t>
            </a:r>
            <a:r>
              <a:rPr lang="en-GB" altLang="zh-CN" dirty="0" err="1"/>
              <a:t>titanic_test.csv</a:t>
            </a:r>
            <a:r>
              <a:rPr lang="en-GB" altLang="zh-CN" dirty="0"/>
              <a:t>')</a:t>
            </a:r>
            <a:endParaRPr lang="en-GB" altLang="zh-CN" dirty="0"/>
          </a:p>
          <a:p>
            <a:r>
              <a:rPr lang="en-GB" altLang="zh-CN" dirty="0" err="1"/>
              <a:t>train.shape</a:t>
            </a:r>
            <a:endParaRPr lang="en-GB" altLang="zh-CN" b="0" dirty="0"/>
          </a:p>
          <a:p>
            <a:r>
              <a:rPr lang="en-GB" altLang="zh-CN" dirty="0" err="1"/>
              <a:t>train.head</a:t>
            </a:r>
            <a:r>
              <a:rPr lang="en-GB" altLang="zh-CN" dirty="0"/>
              <a:t>()</a:t>
            </a:r>
            <a:endParaRPr lang="en-GB" altLang="zh-CN" dirty="0"/>
          </a:p>
          <a:p>
            <a:endParaRPr lang="zh-CN" altLang="en-US" b="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7610" y="2651760"/>
            <a:ext cx="8140700" cy="3733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处理缺失值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3.2 </a:t>
            </a:r>
            <a:r>
              <a:rPr lang="zh-CN" altLang="en-US" dirty="0"/>
              <a:t>字段说明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zh-CN" altLang="en-US" dirty="0"/>
              <a:t>此数据为泰坦尼克生存预测数据，</a:t>
            </a:r>
            <a:endParaRPr lang="en-US" altLang="zh-CN" dirty="0"/>
          </a:p>
          <a:p>
            <a:r>
              <a:rPr lang="en-US" altLang="zh-CN" dirty="0"/>
              <a:t>Survived</a:t>
            </a:r>
            <a:r>
              <a:rPr lang="zh-CN" altLang="en-US" dirty="0"/>
              <a:t>字段，代表该名乘客是否获救</a:t>
            </a:r>
            <a:endParaRPr lang="zh-CN" altLang="en-US" dirty="0"/>
          </a:p>
          <a:p>
            <a:endParaRPr lang="zh-CN" altLang="en-US" b="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57478" y="1592010"/>
            <a:ext cx="55499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处理缺失值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 </a:t>
            </a:r>
            <a:r>
              <a:rPr lang="zh-CN" altLang="en-US" dirty="0"/>
              <a:t>查看数据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GB" dirty="0"/>
              <a:t>查看</a:t>
            </a:r>
            <a:r>
              <a:rPr lang="zh-CN" altLang="en-US" dirty="0"/>
              <a:t>是否获救数据</a:t>
            </a:r>
            <a:endParaRPr lang="en-GB" altLang="zh-CN" dirty="0"/>
          </a:p>
          <a:p>
            <a:r>
              <a:rPr lang="en-GB" altLang="zh-CN" dirty="0"/>
              <a:t>train['Survived'].</a:t>
            </a:r>
            <a:r>
              <a:rPr lang="en-GB" altLang="zh-CN" dirty="0" err="1"/>
              <a:t>value_counts</a:t>
            </a:r>
            <a:r>
              <a:rPr lang="en-GB" altLang="zh-CN" dirty="0"/>
              <a:t>()</a:t>
            </a:r>
            <a:endParaRPr lang="en-GB" altLang="zh-CN" dirty="0"/>
          </a:p>
          <a:p>
            <a:endParaRPr lang="en-GB" altLang="zh-CN" dirty="0"/>
          </a:p>
          <a:p>
            <a:endParaRPr lang="zh-CN" altLang="en-US" b="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950" y="2793365"/>
            <a:ext cx="8108950" cy="15938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处理缺失值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 </a:t>
            </a:r>
            <a:r>
              <a:rPr lang="zh-CN" altLang="en-US" dirty="0"/>
              <a:t>查看数据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1081385" cy="4805045"/>
          </a:xfrm>
        </p:spPr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检测数据集中每一列中缺失值的百分比</a:t>
            </a:r>
            <a:endParaRPr lang="en-GB" altLang="zh-CN" dirty="0"/>
          </a:p>
          <a:p>
            <a:r>
              <a:rPr lang="zh-CN" altLang="en-GB" dirty="0"/>
              <a:t>定义</a:t>
            </a:r>
            <a:r>
              <a:rPr lang="en-GB" altLang="zh-CN" dirty="0" err="1"/>
              <a:t>missing_values_table</a:t>
            </a:r>
            <a:r>
              <a:rPr lang="zh-CN" altLang="en-US" dirty="0"/>
              <a:t>，计算每列缺失百分比</a:t>
            </a:r>
            <a:endParaRPr lang="en-US" altLang="zh-CN" dirty="0"/>
          </a:p>
          <a:p>
            <a:pPr>
              <a:buFont typeface="+mj-lt"/>
            </a:pPr>
            <a:r>
              <a:rPr lang="zh-CN" altLang="en-US" sz="1400" dirty="0">
                <a:sym typeface="+mn-ea"/>
              </a:rPr>
              <a:t>def missing_values_table(df): </a:t>
            </a:r>
            <a:endParaRPr lang="zh-CN" altLang="en-US" sz="1400" dirty="0">
              <a:sym typeface="+mn-ea"/>
            </a:endParaRPr>
          </a:p>
          <a:p>
            <a:pPr>
              <a:buFont typeface="+mj-lt"/>
            </a:pPr>
            <a:r>
              <a:rPr lang="zh-CN" altLang="en-US" sz="1400" dirty="0">
                <a:sym typeface="+mn-ea"/>
              </a:rPr>
              <a:t>    mis_val = df.isnull().sum() # 计算所有的缺失值</a:t>
            </a:r>
            <a:endParaRPr lang="zh-CN" altLang="en-US" sz="1400" dirty="0">
              <a:sym typeface="+mn-ea"/>
            </a:endParaRPr>
          </a:p>
          <a:p>
            <a:pPr>
              <a:buFont typeface="+mj-lt"/>
            </a:pPr>
            <a:r>
              <a:rPr lang="zh-CN" altLang="en-US" sz="1400" dirty="0">
                <a:sym typeface="+mn-ea"/>
              </a:rPr>
              <a:t>    mis_val_percent = 100 * df.isnull().sum() / len(df) # 计算缺失值比例</a:t>
            </a:r>
            <a:endParaRPr lang="zh-CN" altLang="en-US" sz="1400" dirty="0">
              <a:sym typeface="+mn-ea"/>
            </a:endParaRPr>
          </a:p>
          <a:p>
            <a:pPr>
              <a:buFont typeface="+mj-lt"/>
            </a:pPr>
            <a:r>
              <a:rPr lang="zh-CN" altLang="en-US" sz="1400" dirty="0">
                <a:sym typeface="+mn-ea"/>
              </a:rPr>
              <a:t>    mis_val_table = pd.concat([mis_val, mis_val_percent], axis=1) # 将结果拼接成dataframe</a:t>
            </a:r>
            <a:endParaRPr lang="zh-CN" altLang="en-US" sz="1400" dirty="0">
              <a:sym typeface="+mn-ea"/>
            </a:endParaRPr>
          </a:p>
          <a:p>
            <a:pPr>
              <a:buFont typeface="+mj-lt"/>
            </a:pPr>
            <a:r>
              <a:rPr lang="zh-CN" altLang="en-US" sz="1400" dirty="0">
                <a:sym typeface="+mn-ea"/>
              </a:rPr>
              <a:t>    mis_val_table_ren_columns = mis_val_table.rename( columns = {0 : '缺失值', 1 : '占比（%）'}) # 将列重命名</a:t>
            </a:r>
            <a:endParaRPr lang="zh-CN" altLang="en-US" sz="1400" dirty="0">
              <a:sym typeface="+mn-ea"/>
            </a:endParaRPr>
          </a:p>
          <a:p>
            <a:pPr>
              <a:buFont typeface="+mj-lt"/>
            </a:pPr>
            <a:r>
              <a:rPr lang="zh-CN" altLang="en-US" sz="1400" dirty="0">
                <a:sym typeface="+mn-ea"/>
              </a:rPr>
              <a:t>    mis_val_table_ren_columns = mis_val_table_ren_columns[ mis_val_table_ren_columns.iloc[:,1] != 0].sort_values( '占比（%）', ascending=False).round(1) # 按照缺失值降序排列，并把缺失值为0的数据排除</a:t>
            </a:r>
            <a:endParaRPr lang="zh-CN" altLang="en-US" sz="1400" dirty="0">
              <a:sym typeface="+mn-ea"/>
            </a:endParaRPr>
          </a:p>
          <a:p>
            <a:pPr>
              <a:buFont typeface="+mj-lt"/>
            </a:pPr>
            <a:r>
              <a:rPr lang="zh-CN" altLang="en-US" sz="1400" dirty="0">
                <a:sym typeface="+mn-ea"/>
              </a:rPr>
              <a:t>    print ("传入的数据集中共 " + str(df.shape[1]) + " 列.\n" "其中 " + str(mis_val_table_ren_columns.shape[0]) + "列包含缺失值") # 打印信息</a:t>
            </a:r>
            <a:endParaRPr lang="zh-CN" altLang="en-US" sz="1400" dirty="0">
              <a:sym typeface="+mn-ea"/>
            </a:endParaRPr>
          </a:p>
          <a:p>
            <a:pPr>
              <a:buFont typeface="+mj-lt"/>
            </a:pPr>
            <a:r>
              <a:rPr lang="zh-CN" altLang="en-US" sz="1400" dirty="0">
                <a:sym typeface="+mn-ea"/>
              </a:rPr>
              <a:t>    return mis_val_table_ren_columns # 返回缺失值信息的dataframe</a:t>
            </a:r>
            <a:endParaRPr lang="zh-CN" altLang="en-US" sz="1400" dirty="0"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处理缺失值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 </a:t>
            </a:r>
            <a:r>
              <a:rPr lang="zh-CN" altLang="en-US" dirty="0"/>
              <a:t>查看数据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10785"/>
          </a:xfrm>
        </p:spPr>
        <p:txBody>
          <a:bodyPr/>
          <a:lstStyle/>
          <a:p>
            <a:r>
              <a:rPr lang="en-US" altLang="zh-CN" dirty="0"/>
              <a:t>#</a:t>
            </a:r>
            <a:r>
              <a:rPr lang="zh-CN" altLang="en-US" dirty="0"/>
              <a:t> 查看训练集缺失情况</a:t>
            </a:r>
            <a:endParaRPr lang="en-US" altLang="zh-CN" dirty="0"/>
          </a:p>
          <a:p>
            <a:r>
              <a:rPr lang="en-US" altLang="zh-CN" dirty="0" err="1"/>
              <a:t>train_missing</a:t>
            </a:r>
            <a:r>
              <a:rPr lang="en-US" altLang="zh-CN" dirty="0"/>
              <a:t>= </a:t>
            </a:r>
            <a:r>
              <a:rPr lang="en-US" altLang="zh-CN" dirty="0" err="1"/>
              <a:t>missing_values_table</a:t>
            </a:r>
            <a:r>
              <a:rPr lang="en-US" altLang="zh-CN" dirty="0"/>
              <a:t>(train)</a:t>
            </a:r>
            <a:endParaRPr lang="en-US" altLang="zh-CN" dirty="0"/>
          </a:p>
          <a:p>
            <a:r>
              <a:rPr lang="en-US" altLang="zh-CN" dirty="0" err="1"/>
              <a:t>train_missing</a:t>
            </a:r>
            <a:endParaRPr lang="en-US" altLang="zh-CN" dirty="0" err="1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b="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685" y="3228975"/>
            <a:ext cx="5238750" cy="19748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处理缺失值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3.3 </a:t>
            </a:r>
            <a:r>
              <a:rPr lang="zh-CN" altLang="en-US" dirty="0"/>
              <a:t>查看数据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53330"/>
          </a:xfrm>
        </p:spPr>
        <p:txBody>
          <a:bodyPr/>
          <a:lstStyle/>
          <a:p>
            <a:r>
              <a:rPr lang="en-US" altLang="zh-CN" dirty="0"/>
              <a:t>#</a:t>
            </a:r>
            <a:r>
              <a:rPr lang="zh-CN" altLang="en-US" dirty="0"/>
              <a:t> 查看</a:t>
            </a:r>
            <a:r>
              <a:rPr lang="zh-CN" altLang="en-US" dirty="0"/>
              <a:t>测试</a:t>
            </a:r>
            <a:r>
              <a:rPr lang="zh-CN" altLang="en-US" dirty="0"/>
              <a:t>集缺失情况</a:t>
            </a:r>
            <a:endParaRPr lang="en-US" altLang="zh-CN" dirty="0"/>
          </a:p>
          <a:p>
            <a:r>
              <a:rPr lang="en-GB" altLang="zh-CN" dirty="0" err="1"/>
              <a:t>test_missing</a:t>
            </a:r>
            <a:r>
              <a:rPr lang="en-GB" altLang="zh-CN" dirty="0"/>
              <a:t>= </a:t>
            </a:r>
            <a:r>
              <a:rPr lang="en-GB" altLang="zh-CN" dirty="0" err="1"/>
              <a:t>missing_values_table</a:t>
            </a:r>
            <a:r>
              <a:rPr lang="en-GB" altLang="zh-CN" dirty="0"/>
              <a:t>(test)</a:t>
            </a:r>
            <a:endParaRPr lang="en-GB" altLang="zh-CN" dirty="0"/>
          </a:p>
          <a:p>
            <a:r>
              <a:rPr lang="en-GB" altLang="zh-CN" dirty="0" err="1"/>
              <a:t>test_missing</a:t>
            </a:r>
            <a:endParaRPr lang="en-GB" altLang="zh-CN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训练集和测试集的缺失值比例基本相似</a:t>
            </a:r>
            <a:endParaRPr lang="zh-CN" altLang="en-US" b="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5825" y="3176270"/>
            <a:ext cx="6153150" cy="20129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处理缺失值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3.4</a:t>
            </a:r>
            <a:r>
              <a:rPr lang="zh-CN" altLang="en-US" dirty="0"/>
              <a:t> 缺失值可视化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使用</a:t>
            </a:r>
            <a:r>
              <a:rPr lang="en-US" altLang="zh-CN" dirty="0" err="1"/>
              <a:t>Missingno</a:t>
            </a:r>
            <a:r>
              <a:rPr lang="zh-CN" altLang="en-US" dirty="0"/>
              <a:t>来对缺失值进行可视化</a:t>
            </a:r>
            <a:endParaRPr lang="en-US" altLang="zh-CN" dirty="0"/>
          </a:p>
          <a:p>
            <a:r>
              <a:rPr lang="zh-CN" altLang="en-US" dirty="0"/>
              <a:t>安装</a:t>
            </a:r>
            <a:r>
              <a:rPr lang="en-GB" altLang="zh-CN" dirty="0"/>
              <a:t>pip install </a:t>
            </a:r>
            <a:r>
              <a:rPr lang="en-GB" altLang="zh-CN" dirty="0" err="1"/>
              <a:t>missingno</a:t>
            </a:r>
            <a:r>
              <a:rPr lang="en-GB" altLang="zh-CN" dirty="0"/>
              <a:t> </a:t>
            </a:r>
            <a:endParaRPr lang="en-US" altLang="zh-CN" dirty="0"/>
          </a:p>
          <a:p>
            <a:r>
              <a:rPr lang="zh-CN" altLang="en-US" dirty="0"/>
              <a:t>导入模块</a:t>
            </a:r>
            <a:r>
              <a:rPr lang="en-GB" altLang="zh-CN" dirty="0"/>
              <a:t>import </a:t>
            </a:r>
            <a:r>
              <a:rPr lang="en-GB" altLang="zh-CN" dirty="0" err="1"/>
              <a:t>missingno</a:t>
            </a:r>
            <a:r>
              <a:rPr lang="en-GB" altLang="zh-CN" dirty="0"/>
              <a:t> as </a:t>
            </a:r>
            <a:r>
              <a:rPr lang="en-GB" altLang="zh-CN" dirty="0" err="1"/>
              <a:t>msno</a:t>
            </a:r>
            <a:endParaRPr lang="en-GB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条形</a:t>
            </a:r>
            <a:r>
              <a:rPr lang="zh-CN" altLang="en-GB" dirty="0"/>
              <a:t>图</a:t>
            </a:r>
            <a:endParaRPr lang="en-GB" altLang="zh-CN" dirty="0"/>
          </a:p>
          <a:p>
            <a:r>
              <a:rPr lang="en-GB" altLang="zh-CN" dirty="0"/>
              <a:t>import </a:t>
            </a:r>
            <a:r>
              <a:rPr lang="en-GB" altLang="zh-CN" dirty="0" err="1"/>
              <a:t>missingno</a:t>
            </a:r>
            <a:r>
              <a:rPr lang="en-GB" altLang="zh-CN" dirty="0"/>
              <a:t> as </a:t>
            </a:r>
            <a:r>
              <a:rPr lang="en-GB" altLang="zh-CN" dirty="0" err="1"/>
              <a:t>msno</a:t>
            </a:r>
            <a:endParaRPr lang="en-GB" altLang="zh-CN" dirty="0"/>
          </a:p>
          <a:p>
            <a:r>
              <a:rPr lang="en-GB" altLang="zh-CN" dirty="0" err="1"/>
              <a:t>msno.bar</a:t>
            </a:r>
            <a:r>
              <a:rPr lang="en-GB" altLang="zh-CN" dirty="0"/>
              <a:t>(train)</a:t>
            </a:r>
            <a:endParaRPr lang="en-GB" altLang="zh-CN" dirty="0"/>
          </a:p>
          <a:p>
            <a:endParaRPr lang="zh-CN" altLang="en-US" b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处理缺失值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3.4</a:t>
            </a:r>
            <a:r>
              <a:rPr lang="zh-CN" altLang="en-US" dirty="0"/>
              <a:t> 缺失值可视化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963910" cy="4997450"/>
          </a:xfrm>
        </p:spPr>
        <p:txBody>
          <a:bodyPr/>
          <a:lstStyle/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条形图提供了数据集完整性的可视化图形。 </a:t>
            </a:r>
            <a:endParaRPr lang="en-US" altLang="zh-CN" dirty="0"/>
          </a:p>
          <a:p>
            <a:r>
              <a:rPr lang="zh-CN" altLang="en-US" dirty="0"/>
              <a:t>我们可以看到“年龄”，“客舱号码”和“登船的港口”列包含值缺失</a:t>
            </a:r>
            <a:endParaRPr lang="zh-CN" altLang="en-US" b="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8525" y="1457325"/>
            <a:ext cx="8394700" cy="39243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处理缺失值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3.4</a:t>
            </a:r>
            <a:r>
              <a:rPr lang="zh-CN" altLang="en-US" dirty="0"/>
              <a:t> 缺失值可视化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en-GB" altLang="zh-CN" dirty="0" err="1"/>
              <a:t>msno.matrix</a:t>
            </a:r>
            <a:r>
              <a:rPr lang="en-GB" altLang="zh-CN" dirty="0"/>
              <a:t> </a:t>
            </a:r>
            <a:r>
              <a:rPr lang="zh-CN" altLang="en-US" dirty="0"/>
              <a:t>函数</a:t>
            </a:r>
            <a:endParaRPr lang="en-US" altLang="zh-CN" dirty="0"/>
          </a:p>
          <a:p>
            <a:r>
              <a:rPr lang="en-US" altLang="zh-CN" dirty="0"/>
              <a:t>#</a:t>
            </a:r>
            <a:r>
              <a:rPr lang="zh-CN" altLang="en-US" dirty="0"/>
              <a:t> 快速直观的查看缺失值的分布情况</a:t>
            </a:r>
            <a:endParaRPr lang="en-US" altLang="zh-CN" dirty="0"/>
          </a:p>
          <a:p>
            <a:r>
              <a:rPr lang="en-GB" altLang="zh-CN" dirty="0" err="1"/>
              <a:t>msno.matrix</a:t>
            </a:r>
            <a:r>
              <a:rPr lang="en-GB" altLang="zh-CN" dirty="0"/>
              <a:t>(train)</a:t>
            </a:r>
            <a:endParaRPr lang="en-GB" altLang="zh-CN" dirty="0"/>
          </a:p>
          <a:p>
            <a:endParaRPr lang="en-GB" altLang="zh-CN" b="0" dirty="0"/>
          </a:p>
          <a:p>
            <a:endParaRPr lang="zh-CN" altLang="en-US" b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处理缺失值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3.4</a:t>
            </a:r>
            <a:r>
              <a:rPr lang="zh-CN" altLang="en-US" dirty="0"/>
              <a:t> 缺失值可视化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141595"/>
          </a:xfrm>
        </p:spPr>
        <p:txBody>
          <a:bodyPr/>
          <a:lstStyle/>
          <a:p>
            <a:pPr>
              <a:buFont typeface="+mj-lt"/>
            </a:pPr>
            <a:endParaRPr lang="zh-CN" altLang="en-US" b="0" dirty="0"/>
          </a:p>
          <a:p>
            <a:pPr>
              <a:buFont typeface="+mj-lt"/>
            </a:pPr>
            <a:endParaRPr lang="zh-CN" altLang="en-US" b="0" dirty="0"/>
          </a:p>
          <a:p>
            <a:pPr>
              <a:buFont typeface="+mj-lt"/>
            </a:pPr>
            <a:endParaRPr lang="zh-CN" altLang="en-US" b="0" dirty="0"/>
          </a:p>
          <a:p>
            <a:pPr>
              <a:buFont typeface="+mj-lt"/>
            </a:pPr>
            <a:endParaRPr lang="zh-CN" altLang="en-US" b="0" dirty="0"/>
          </a:p>
          <a:p>
            <a:pPr>
              <a:buFont typeface="+mj-lt"/>
            </a:pPr>
            <a:endParaRPr lang="zh-CN" altLang="en-US" b="0" dirty="0"/>
          </a:p>
          <a:p>
            <a:pPr>
              <a:buFont typeface="+mj-lt"/>
            </a:pPr>
            <a:endParaRPr lang="zh-CN" altLang="en-US" b="0" dirty="0"/>
          </a:p>
          <a:p>
            <a:pPr>
              <a:buFont typeface="+mj-lt"/>
            </a:pPr>
            <a:endParaRPr lang="zh-CN" altLang="en-US" b="0" dirty="0"/>
          </a:p>
          <a:p>
            <a:pPr>
              <a:buFont typeface="+mj-lt"/>
            </a:pPr>
            <a:endParaRPr lang="zh-CN" altLang="en-US" b="0" dirty="0"/>
          </a:p>
          <a:p>
            <a:pPr>
              <a:buFont typeface="+mj-lt"/>
            </a:pPr>
            <a:endParaRPr lang="zh-CN" altLang="en-US" b="0" dirty="0"/>
          </a:p>
          <a:p>
            <a:pPr>
              <a:buFont typeface="+mj-lt"/>
            </a:pPr>
            <a:r>
              <a:rPr lang="zh-CN" altLang="en-US" b="0" dirty="0"/>
              <a:t>在有缺失值的地方，图都显示为空白。 例如，在“ Embarked”列中，只有两个丢失数据的实例，因此有两个白线。</a:t>
            </a:r>
            <a:endParaRPr lang="zh-CN" altLang="en-US" b="0" dirty="0"/>
          </a:p>
          <a:p>
            <a:pPr>
              <a:buFont typeface="+mj-lt"/>
            </a:pPr>
            <a:r>
              <a:rPr lang="zh-CN" altLang="en-US" b="0" dirty="0"/>
              <a:t>右侧的迷你图给出了数据完整性的情况，并在底部指出了最少有10列数据是完整的，最多有12列数据是完整的</a:t>
            </a:r>
            <a:endParaRPr lang="zh-CN" altLang="en-US" b="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370" y="1609725"/>
            <a:ext cx="8083550" cy="36385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处理缺失值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3.4</a:t>
            </a:r>
            <a:r>
              <a:rPr lang="zh-CN" altLang="en-US" dirty="0"/>
              <a:t> 缺失值可视化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856480"/>
          </a:xfrm>
        </p:spPr>
        <p:txBody>
          <a:bodyPr/>
          <a:lstStyle/>
          <a:p>
            <a:r>
              <a:rPr lang="en-US" altLang="zh-CN" dirty="0"/>
              <a:t>#</a:t>
            </a:r>
            <a:r>
              <a:rPr lang="zh-CN" altLang="en-US" dirty="0"/>
              <a:t> 取出一小部分数据进一步查看</a:t>
            </a:r>
            <a:endParaRPr lang="en-GB" altLang="zh-CN" dirty="0"/>
          </a:p>
          <a:p>
            <a:r>
              <a:rPr lang="en-US" altLang="zh-CN" dirty="0" err="1"/>
              <a:t>msno.matrix</a:t>
            </a:r>
            <a:r>
              <a:rPr lang="en-US" altLang="zh-CN" dirty="0"/>
              <a:t>(</a:t>
            </a:r>
            <a:r>
              <a:rPr lang="en-US" altLang="zh-CN" dirty="0" err="1"/>
              <a:t>train.sample</a:t>
            </a:r>
            <a:r>
              <a:rPr lang="en-US" altLang="zh-CN" dirty="0"/>
              <a:t>(100))</a:t>
            </a:r>
            <a:endParaRPr lang="en-US" altLang="zh-CN" dirty="0"/>
          </a:p>
          <a:p>
            <a:endParaRPr lang="zh-CN" altLang="en-US" b="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1380" y="2700655"/>
            <a:ext cx="8032750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处理缺失值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3.5</a:t>
            </a:r>
            <a:r>
              <a:rPr lang="zh-CN" altLang="en-US" dirty="0"/>
              <a:t> 查看缺失值之间相关性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33645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数据缺失原因</a:t>
            </a:r>
            <a:endParaRPr lang="en-US" altLang="zh-CN" b="0" dirty="0"/>
          </a:p>
          <a:p>
            <a:r>
              <a:rPr lang="zh-CN" altLang="en-US" dirty="0"/>
              <a:t>通过计算缺失值间相关性判断缺失原因</a:t>
            </a:r>
            <a:endParaRPr lang="en-US" altLang="zh-CN" dirty="0"/>
          </a:p>
          <a:p>
            <a:r>
              <a:rPr lang="en-GB" altLang="zh-CN" dirty="0" err="1"/>
              <a:t>msno.heatmap</a:t>
            </a:r>
            <a:r>
              <a:rPr lang="en-GB" altLang="zh-CN" dirty="0"/>
              <a:t>(train)</a:t>
            </a:r>
            <a:endParaRPr lang="en-GB" altLang="zh-CN" dirty="0"/>
          </a:p>
          <a:p>
            <a:endParaRPr lang="en-GB" altLang="zh-CN" dirty="0"/>
          </a:p>
          <a:p>
            <a:endParaRPr lang="en-GB" altLang="zh-CN" dirty="0"/>
          </a:p>
          <a:p>
            <a:r>
              <a:rPr lang="en-GB" altLang="zh-CN" dirty="0"/>
              <a:t>通过</a:t>
            </a:r>
            <a:r>
              <a:rPr lang="zh-CN" altLang="en-GB" dirty="0"/>
              <a:t>下</a:t>
            </a:r>
            <a:r>
              <a:rPr lang="en-GB" altLang="zh-CN" dirty="0"/>
              <a:t>图发现，age 和 cabin的相关性为0.1，（相关性取值 0 不相关，1强相关，-1强负相关），</a:t>
            </a:r>
            <a:endParaRPr lang="en-GB" altLang="zh-CN" dirty="0"/>
          </a:p>
          <a:p>
            <a:r>
              <a:rPr lang="en-GB" altLang="zh-CN" dirty="0"/>
              <a:t>所以相关性不强，也就是说，age是否缺失，与Cabin是否缺失没多大关系</a:t>
            </a:r>
            <a:endParaRPr lang="en-GB" altLang="zh-CN" dirty="0"/>
          </a:p>
          <a:p>
            <a:r>
              <a:rPr lang="en-GB" altLang="zh-CN" dirty="0"/>
              <a:t>进一步将age进行排序，验证了age的缺失 与cabin确实无关</a:t>
            </a:r>
            <a:endParaRPr lang="en-GB" altLang="zh-CN" dirty="0"/>
          </a:p>
          <a:p>
            <a:endParaRPr lang="zh-CN" altLang="en-US" b="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处理缺失值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3.5</a:t>
            </a:r>
            <a:r>
              <a:rPr lang="zh-CN" altLang="en-US" dirty="0"/>
              <a:t> 查看缺失值之间相关性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7475" y="1829435"/>
            <a:ext cx="7616190" cy="415480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处理缺失值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3.5</a:t>
            </a:r>
            <a:r>
              <a:rPr lang="zh-CN" altLang="en-US" dirty="0"/>
              <a:t> 查看缺失值之间相关性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893310"/>
          </a:xfrm>
        </p:spPr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进一步将</a:t>
            </a:r>
            <a:r>
              <a:rPr lang="en-US" altLang="zh-CN" dirty="0"/>
              <a:t>age</a:t>
            </a:r>
            <a:r>
              <a:rPr lang="zh-CN" altLang="en-US" dirty="0"/>
              <a:t>进行排序进行验证</a:t>
            </a:r>
            <a:endParaRPr lang="en-US" altLang="zh-CN" dirty="0"/>
          </a:p>
          <a:p>
            <a:r>
              <a:rPr lang="en-GB" altLang="zh-CN" dirty="0"/>
              <a:t>sorted = </a:t>
            </a:r>
            <a:r>
              <a:rPr lang="en-GB" altLang="zh-CN" dirty="0" err="1"/>
              <a:t>train.sort_values</a:t>
            </a:r>
            <a:r>
              <a:rPr lang="en-GB" altLang="zh-CN" dirty="0"/>
              <a:t>('Age')</a:t>
            </a:r>
            <a:endParaRPr lang="en-GB" altLang="zh-CN" dirty="0"/>
          </a:p>
          <a:p>
            <a:r>
              <a:rPr lang="en-GB" altLang="zh-CN" dirty="0" err="1"/>
              <a:t>msno.matrix</a:t>
            </a:r>
            <a:r>
              <a:rPr lang="en-GB" altLang="zh-CN" dirty="0"/>
              <a:t>(sorted)</a:t>
            </a:r>
            <a:endParaRPr lang="en-GB" altLang="zh-CN" dirty="0"/>
          </a:p>
          <a:p>
            <a:endParaRPr lang="zh-CN" altLang="en-US" b="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62275" y="2698115"/>
            <a:ext cx="7975600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处理缺失值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3.5</a:t>
            </a:r>
            <a:r>
              <a:rPr lang="zh-CN" altLang="en-US" dirty="0"/>
              <a:t> 删除缺失值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82854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删除缺失值</a:t>
            </a:r>
            <a:endParaRPr lang="en-US" altLang="zh-CN" dirty="0"/>
          </a:p>
          <a:p>
            <a:r>
              <a:rPr lang="zh-CN" altLang="en-US" dirty="0"/>
              <a:t>删除缺失值会损失信息，并不推荐删除，当缺失数据占比较低的时候，可以尝试使用删除缺失值</a:t>
            </a:r>
            <a:endParaRPr lang="en-US" altLang="zh-CN" dirty="0"/>
          </a:p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按行删除：删除包含缺失值的记录</a:t>
            </a:r>
            <a:endParaRPr lang="en-US" altLang="zh-CN" dirty="0"/>
          </a:p>
          <a:p>
            <a:r>
              <a:rPr lang="en-GB" altLang="zh-CN" dirty="0"/>
              <a:t>train_1 = </a:t>
            </a:r>
            <a:r>
              <a:rPr lang="en-GB" altLang="zh-CN" dirty="0" err="1"/>
              <a:t>train.copy</a:t>
            </a:r>
            <a:r>
              <a:rPr lang="en-GB" altLang="zh-CN" dirty="0"/>
              <a:t>() # </a:t>
            </a:r>
            <a:r>
              <a:rPr lang="zh-CN" altLang="en-US" dirty="0"/>
              <a:t>复制一份数据</a:t>
            </a:r>
            <a:endParaRPr lang="zh-CN" altLang="en-US" dirty="0"/>
          </a:p>
          <a:p>
            <a:r>
              <a:rPr lang="en-GB" altLang="zh-CN" dirty="0"/>
              <a:t>train_1.dropna(subset=['Age'],how='any',</a:t>
            </a:r>
            <a:r>
              <a:rPr lang="en-GB" altLang="zh-CN" dirty="0" err="1"/>
              <a:t>inplace</a:t>
            </a:r>
            <a:r>
              <a:rPr lang="en-GB" altLang="zh-CN" dirty="0"/>
              <a:t>=True)</a:t>
            </a:r>
            <a:endParaRPr lang="en-GB" altLang="zh-CN" dirty="0"/>
          </a:p>
          <a:p>
            <a:r>
              <a:rPr lang="en-GB" altLang="zh-CN" dirty="0"/>
              <a:t>train_1['Age'].</a:t>
            </a:r>
            <a:r>
              <a:rPr lang="en-GB" altLang="zh-CN" dirty="0" err="1"/>
              <a:t>isnull</a:t>
            </a:r>
            <a:r>
              <a:rPr lang="en-GB" altLang="zh-CN" dirty="0"/>
              <a:t>().sum()</a:t>
            </a:r>
            <a:endParaRPr lang="en-GB" altLang="zh-CN" dirty="0"/>
          </a:p>
          <a:p>
            <a:r>
              <a:rPr lang="en-GB" altLang="zh-CN" dirty="0"/>
              <a:t>train_1.shape</a:t>
            </a:r>
            <a:endParaRPr lang="zh-CN" altLang="en-US" b="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080" y="4733290"/>
            <a:ext cx="7696200" cy="15557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处理缺失值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3.5</a:t>
            </a:r>
            <a:r>
              <a:rPr lang="zh-CN" altLang="en-US" dirty="0"/>
              <a:t> 删除缺失值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按列删除</a:t>
            </a:r>
            <a:endParaRPr lang="en-US" altLang="zh-CN" dirty="0"/>
          </a:p>
          <a:p>
            <a:r>
              <a:rPr lang="zh-CN" altLang="en-US" dirty="0"/>
              <a:t>当一列包含了很多缺失值的时候（比如超过</a:t>
            </a:r>
            <a:r>
              <a:rPr lang="en-US" altLang="zh-CN" dirty="0"/>
              <a:t>80%</a:t>
            </a:r>
            <a:r>
              <a:rPr lang="zh-CN" altLang="en-US" dirty="0"/>
              <a:t>），可以将该列删除，但最好不要删除数据</a:t>
            </a:r>
            <a:endParaRPr lang="en-US" altLang="zh-CN" dirty="0"/>
          </a:p>
          <a:p>
            <a:r>
              <a:rPr lang="en-GB" altLang="zh-CN" dirty="0"/>
              <a:t>train_1.drop(['Age'],axis = 1).head()</a:t>
            </a:r>
            <a:endParaRPr lang="zh-CN" altLang="en-US" b="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处理缺失值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3.6</a:t>
            </a:r>
            <a:r>
              <a:rPr lang="zh-CN" altLang="en-US" dirty="0"/>
              <a:t> 填充缺失值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665345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填充缺失值是指用一个估算的值来去替代缺失的数据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非时间序列数据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使用常量来替换（默认值）</a:t>
            </a:r>
            <a:endParaRPr lang="en-US" altLang="zh-CN" dirty="0"/>
          </a:p>
          <a:p>
            <a:r>
              <a:rPr lang="en-US" altLang="zh-CN" dirty="0" err="1"/>
              <a:t>train_constant</a:t>
            </a:r>
            <a:r>
              <a:rPr lang="en-US" altLang="zh-CN" dirty="0"/>
              <a:t> = </a:t>
            </a:r>
            <a:r>
              <a:rPr lang="en-US" altLang="zh-CN" dirty="0" err="1"/>
              <a:t>train.copy</a:t>
            </a:r>
            <a:r>
              <a:rPr lang="en-US" altLang="zh-CN" dirty="0"/>
              <a:t>()</a:t>
            </a:r>
            <a:endParaRPr lang="en-US" altLang="zh-CN" dirty="0"/>
          </a:p>
          <a:p>
            <a:r>
              <a:rPr lang="en-US" altLang="zh-CN" dirty="0" err="1"/>
              <a:t>train_constant.fillna</a:t>
            </a:r>
            <a:r>
              <a:rPr lang="en-US" altLang="zh-CN" dirty="0"/>
              <a:t>(0,inplace = </a:t>
            </a:r>
            <a:r>
              <a:rPr lang="en-US" altLang="zh-CN" dirty="0" err="1"/>
              <a:t>True</a:t>
            </a:r>
            <a:r>
              <a:rPr lang="en-US" altLang="zh-CN" dirty="0"/>
              <a:t>)</a:t>
            </a:r>
            <a:endParaRPr lang="en-US" altLang="zh-CN" dirty="0"/>
          </a:p>
          <a:p>
            <a:r>
              <a:rPr lang="en-US" altLang="zh-CN" dirty="0" err="1"/>
              <a:t>train_constant.isnull</a:t>
            </a:r>
            <a:r>
              <a:rPr lang="en-US" altLang="zh-CN" dirty="0"/>
              <a:t>().</a:t>
            </a:r>
            <a:r>
              <a:rPr lang="en-US" altLang="zh-CN" dirty="0" err="1"/>
              <a:t>sum</a:t>
            </a:r>
            <a:r>
              <a:rPr lang="en-US" altLang="zh-CN" dirty="0"/>
              <a:t>()</a:t>
            </a:r>
            <a:endParaRPr lang="en-US" altLang="zh-CN" dirty="0"/>
          </a:p>
          <a:p>
            <a:r>
              <a:rPr lang="en-US" altLang="zh-CN" dirty="0" err="1"/>
              <a:t>train_constant</a:t>
            </a:r>
            <a:r>
              <a:rPr lang="en-US" altLang="zh-CN" dirty="0"/>
              <a:t>[</a:t>
            </a:r>
            <a:r>
              <a:rPr lang="en-US" altLang="zh-CN" dirty="0" err="1"/>
              <a:t>train_constant</a:t>
            </a:r>
            <a:r>
              <a:rPr lang="en-US" altLang="zh-CN" dirty="0"/>
              <a:t>['</a:t>
            </a:r>
            <a:r>
              <a:rPr lang="en-US" altLang="zh-CN" dirty="0" err="1"/>
              <a:t>Cabin</a:t>
            </a:r>
            <a:r>
              <a:rPr lang="en-US" altLang="zh-CN" dirty="0"/>
              <a:t>']==0].</a:t>
            </a:r>
            <a:r>
              <a:rPr lang="en-US" altLang="zh-CN" dirty="0" err="1"/>
              <a:t>shape</a:t>
            </a:r>
            <a:endParaRPr lang="en-US" altLang="zh-CN" dirty="0" err="1"/>
          </a:p>
          <a:p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450" y="4811395"/>
            <a:ext cx="7880350" cy="13398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处理缺失值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3.6</a:t>
            </a:r>
            <a:r>
              <a:rPr lang="zh-CN" altLang="en-US" dirty="0"/>
              <a:t> 填充缺失值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154930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非时间序列数据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使用统计量替换（缺失值所处列的平均值、中位数、众数）</a:t>
            </a:r>
            <a:endParaRPr lang="en-US" altLang="zh-CN" dirty="0"/>
          </a:p>
          <a:p>
            <a:r>
              <a:rPr lang="en-GB" altLang="zh-CN" dirty="0" err="1"/>
              <a:t>train_mean</a:t>
            </a:r>
            <a:r>
              <a:rPr lang="en-GB" altLang="zh-CN" dirty="0"/>
              <a:t> = </a:t>
            </a:r>
            <a:r>
              <a:rPr lang="en-GB" altLang="zh-CN" dirty="0" err="1"/>
              <a:t>train.copy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GB" altLang="zh-CN" dirty="0" err="1"/>
              <a:t>train_mean</a:t>
            </a:r>
            <a:r>
              <a:rPr lang="en-GB" altLang="zh-CN" dirty="0"/>
              <a:t>['Age'].</a:t>
            </a:r>
            <a:r>
              <a:rPr lang="en-GB" altLang="zh-CN" dirty="0" err="1"/>
              <a:t>fillna</a:t>
            </a:r>
            <a:r>
              <a:rPr lang="en-GB" altLang="zh-CN" dirty="0"/>
              <a:t>(</a:t>
            </a:r>
            <a:r>
              <a:rPr lang="en-GB" altLang="zh-CN" dirty="0" err="1"/>
              <a:t>train_mean</a:t>
            </a:r>
            <a:r>
              <a:rPr lang="en-GB" altLang="zh-CN" dirty="0"/>
              <a:t>['Age'].mean(),</a:t>
            </a:r>
            <a:r>
              <a:rPr lang="en-GB" altLang="zh-CN" dirty="0" err="1"/>
              <a:t>inplace</a:t>
            </a:r>
            <a:r>
              <a:rPr lang="en-GB" altLang="zh-CN" dirty="0"/>
              <a:t> = True)</a:t>
            </a:r>
            <a:endParaRPr lang="en-GB" altLang="zh-CN" dirty="0"/>
          </a:p>
          <a:p>
            <a:r>
              <a:rPr lang="en-GB" altLang="zh-CN" dirty="0" err="1"/>
              <a:t>train_mean.isnull</a:t>
            </a:r>
            <a:r>
              <a:rPr lang="en-GB" altLang="zh-CN" dirty="0"/>
              <a:t>().sum()</a:t>
            </a:r>
            <a:endParaRPr lang="en-GB" altLang="zh-CN" dirty="0"/>
          </a:p>
          <a:p>
            <a:endParaRPr lang="zh-CN" altLang="en-US" b="0" dirty="0"/>
          </a:p>
          <a:p>
            <a:endParaRPr lang="zh-CN" altLang="en-US" b="0" dirty="0"/>
          </a:p>
          <a:p>
            <a:endParaRPr lang="zh-CN" altLang="en-US" b="0" dirty="0"/>
          </a:p>
          <a:p>
            <a:endParaRPr lang="zh-CN" altLang="en-US" b="0" dirty="0"/>
          </a:p>
          <a:p>
            <a:endParaRPr lang="zh-CN" altLang="en-US" b="0" dirty="0"/>
          </a:p>
          <a:p>
            <a:endParaRPr lang="zh-CN" altLang="en-US" b="0" dirty="0"/>
          </a:p>
          <a:p>
            <a:r>
              <a:rPr lang="zh-CN" altLang="en-US" b="0" dirty="0"/>
              <a:t>train_mean[train_mean['Age']==train['Age'].mean()]</a:t>
            </a:r>
            <a:endParaRPr lang="zh-CN" altLang="en-US" b="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1720" y="3474720"/>
            <a:ext cx="3587750" cy="26797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处理缺失值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3.6</a:t>
            </a:r>
            <a:r>
              <a:rPr lang="zh-CN" altLang="en-US" dirty="0"/>
              <a:t> 填充缺失值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时间序列数据介绍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我们同样可以使用</a:t>
            </a:r>
            <a:r>
              <a:rPr lang="en-US" altLang="zh-CN" dirty="0"/>
              <a:t>pandas</a:t>
            </a:r>
            <a:r>
              <a:rPr lang="zh-CN" altLang="en-US" dirty="0"/>
              <a:t>的</a:t>
            </a:r>
            <a:r>
              <a:rPr lang="en-US" altLang="zh-CN" dirty="0" err="1"/>
              <a:t>fillna</a:t>
            </a:r>
            <a:r>
              <a:rPr lang="zh-CN" altLang="en-US" dirty="0"/>
              <a:t>来处理这类情况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0" dirty="0"/>
              <a:t>用时间序列中空值的上一个非空值填充</a:t>
            </a:r>
            <a:endParaRPr lang="zh-CN" altLang="en-US" b="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0" dirty="0"/>
              <a:t>用时间序列中空值的下一个非空值填充</a:t>
            </a:r>
            <a:endParaRPr lang="zh-CN" altLang="en-US" b="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b="0" dirty="0"/>
              <a:t>线性插值方法</a:t>
            </a:r>
            <a:endParaRPr lang="zh-CN" altLang="en-US" b="0" dirty="0"/>
          </a:p>
          <a:p>
            <a:endParaRPr lang="zh-CN" altLang="en-US" b="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处理缺失值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3.6</a:t>
            </a:r>
            <a:r>
              <a:rPr lang="zh-CN" altLang="en-US" dirty="0"/>
              <a:t> 填充缺失值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时间序列数据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加载时间序列数据，数据集为印度城市空气质量数据（</a:t>
            </a:r>
            <a:r>
              <a:rPr lang="en-US" altLang="zh-CN" dirty="0"/>
              <a:t>2015-2020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GB" altLang="zh-CN" dirty="0" err="1"/>
              <a:t>city_day</a:t>
            </a:r>
            <a:r>
              <a:rPr lang="en-GB" altLang="zh-CN" dirty="0"/>
              <a:t> = </a:t>
            </a:r>
            <a:r>
              <a:rPr lang="en-GB" altLang="zh-CN" dirty="0" err="1"/>
              <a:t>pd.read_csv</a:t>
            </a:r>
            <a:r>
              <a:rPr lang="en-GB" altLang="zh-CN" dirty="0"/>
              <a:t>('data/city_day.csv',</a:t>
            </a:r>
            <a:r>
              <a:rPr lang="en-GB" altLang="zh-CN" dirty="0" err="1"/>
              <a:t>parse_dates</a:t>
            </a:r>
            <a:r>
              <a:rPr lang="en-GB" altLang="zh-CN" dirty="0"/>
              <a:t>=</a:t>
            </a:r>
            <a:r>
              <a:rPr lang="en-GB" altLang="zh-CN" dirty="0" err="1"/>
              <a:t>True,index_col</a:t>
            </a:r>
            <a:r>
              <a:rPr lang="en-GB" altLang="zh-CN" dirty="0"/>
              <a:t>='Date')</a:t>
            </a:r>
            <a:endParaRPr lang="en-GB" altLang="zh-CN" dirty="0"/>
          </a:p>
          <a:p>
            <a:r>
              <a:rPr lang="en-GB" altLang="zh-CN" dirty="0"/>
              <a:t>city_day1=</a:t>
            </a:r>
            <a:r>
              <a:rPr lang="en-GB" altLang="zh-CN" dirty="0" err="1"/>
              <a:t>city_day.copy</a:t>
            </a:r>
            <a:r>
              <a:rPr lang="en-GB" altLang="zh-CN" dirty="0"/>
              <a:t>()</a:t>
            </a:r>
            <a:endParaRPr lang="en-GB" altLang="zh-CN" dirty="0"/>
          </a:p>
          <a:p>
            <a:r>
              <a:rPr lang="en-GB" altLang="zh-CN" dirty="0" err="1"/>
              <a:t>city_day</a:t>
            </a:r>
            <a:r>
              <a:rPr lang="en-US" altLang="en-GB" dirty="0" err="1"/>
              <a:t>1</a:t>
            </a:r>
            <a:r>
              <a:rPr lang="en-GB" altLang="zh-CN" dirty="0" err="1"/>
              <a:t>.head</a:t>
            </a:r>
            <a:r>
              <a:rPr lang="en-GB" altLang="zh-CN" dirty="0"/>
              <a:t>()</a:t>
            </a:r>
            <a:endParaRPr lang="en-GB" altLang="zh-CN" dirty="0"/>
          </a:p>
          <a:p>
            <a:endParaRPr lang="zh-CN" altLang="en-US" b="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处理缺失值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3.6</a:t>
            </a:r>
            <a:r>
              <a:rPr lang="zh-CN" altLang="en-US" dirty="0"/>
              <a:t> 填充缺失值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758170" cy="4992370"/>
          </a:xfrm>
        </p:spPr>
        <p:txBody>
          <a:bodyPr/>
          <a:lstStyle/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dirty="0"/>
              <a:t>用之前封装的方法，查看数据缺失情况</a:t>
            </a:r>
            <a:endParaRPr lang="en-US" altLang="zh-CN" dirty="0"/>
          </a:p>
          <a:p>
            <a:r>
              <a:rPr lang="en-GB" altLang="zh-CN" dirty="0" err="1"/>
              <a:t>city_day_missing</a:t>
            </a:r>
            <a:r>
              <a:rPr lang="en-GB" altLang="zh-CN" dirty="0"/>
              <a:t>= </a:t>
            </a:r>
            <a:r>
              <a:rPr lang="en-GB" altLang="zh-CN" dirty="0" err="1"/>
              <a:t>missing_values_table</a:t>
            </a:r>
            <a:r>
              <a:rPr lang="en-GB" altLang="zh-CN" dirty="0"/>
              <a:t>(</a:t>
            </a:r>
            <a:r>
              <a:rPr lang="en-GB" altLang="zh-CN" dirty="0" err="1"/>
              <a:t>city_day</a:t>
            </a:r>
            <a:r>
              <a:rPr lang="en-GB" altLang="zh-CN" dirty="0"/>
              <a:t>)</a:t>
            </a:r>
            <a:endParaRPr lang="en-GB" altLang="zh-CN" dirty="0"/>
          </a:p>
          <a:p>
            <a:r>
              <a:rPr lang="en-GB" altLang="zh-CN" dirty="0" err="1"/>
              <a:t>city_day_missing</a:t>
            </a:r>
            <a:endParaRPr lang="en-GB" altLang="zh-CN" dirty="0" err="1"/>
          </a:p>
          <a:p>
            <a:endParaRPr lang="en-US" altLang="zh-CN" dirty="0"/>
          </a:p>
          <a:p>
            <a:endParaRPr lang="zh-CN" altLang="en-US" b="0" dirty="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5828030" y="1718310"/>
            <a:ext cx="5581650" cy="45593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处理缺失值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3.6</a:t>
            </a:r>
            <a:r>
              <a:rPr lang="zh-CN" altLang="en-US" dirty="0"/>
              <a:t> 填充缺失值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5036820"/>
          </a:xfrm>
        </p:spPr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时间序列数据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数据中有很多缺失值，比如</a:t>
            </a:r>
            <a:r>
              <a:rPr lang="en-US" altLang="zh-CN" dirty="0"/>
              <a:t>Xylene</a:t>
            </a:r>
            <a:r>
              <a:rPr lang="zh-CN" altLang="en-US" dirty="0"/>
              <a:t>（二甲苯）有超过</a:t>
            </a:r>
            <a:r>
              <a:rPr lang="en-US" altLang="zh-CN" dirty="0"/>
              <a:t>50%</a:t>
            </a:r>
            <a:r>
              <a:rPr lang="zh-CN" altLang="en-US" dirty="0"/>
              <a:t>的缺失值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查看包含缺失数据的部分</a:t>
            </a:r>
            <a:endParaRPr lang="zh-CN" altLang="en-US" dirty="0"/>
          </a:p>
          <a:p>
            <a:r>
              <a:rPr lang="en-GB" altLang="zh-CN" dirty="0" err="1"/>
              <a:t>city_day1</a:t>
            </a:r>
            <a:r>
              <a:rPr lang="en-GB" altLang="zh-CN" dirty="0"/>
              <a:t>['Xylene'][50:64]</a:t>
            </a:r>
            <a:endParaRPr lang="zh-CN" altLang="en-US" b="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1125" y="2985770"/>
            <a:ext cx="5041900" cy="32067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处理缺失值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3.6</a:t>
            </a:r>
            <a:r>
              <a:rPr lang="zh-CN" altLang="en-US" dirty="0"/>
              <a:t> 填充缺失值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885690"/>
          </a:xfrm>
        </p:spPr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时间序列数据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使用</a:t>
            </a:r>
            <a:r>
              <a:rPr lang="en-US" altLang="zh-CN" dirty="0" err="1"/>
              <a:t>ffill</a:t>
            </a:r>
            <a:r>
              <a:rPr lang="en-US" altLang="zh-CN" dirty="0"/>
              <a:t> </a:t>
            </a:r>
            <a:r>
              <a:rPr lang="zh-CN" altLang="en-US" dirty="0"/>
              <a:t>填充，用时间序列中空值的上一个非空值填充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 err="1"/>
              <a:t>NaN</a:t>
            </a:r>
            <a:r>
              <a:rPr lang="zh-CN" altLang="en-US" dirty="0"/>
              <a:t>值的前一个非空值是</a:t>
            </a:r>
            <a:r>
              <a:rPr lang="en-US" altLang="zh-CN" dirty="0"/>
              <a:t>0.81</a:t>
            </a:r>
            <a:r>
              <a:rPr lang="zh-CN" altLang="en-US" dirty="0"/>
              <a:t>，可以看到所有的</a:t>
            </a:r>
            <a:r>
              <a:rPr lang="en-US" altLang="zh-CN" dirty="0" err="1"/>
              <a:t>NaN</a:t>
            </a:r>
            <a:r>
              <a:rPr lang="zh-CN" altLang="en-US" dirty="0"/>
              <a:t>都被填充为</a:t>
            </a:r>
            <a:r>
              <a:rPr lang="en-US" altLang="zh-CN" dirty="0"/>
              <a:t>0.81</a:t>
            </a:r>
            <a:endParaRPr lang="en-US" altLang="zh-CN" dirty="0"/>
          </a:p>
          <a:p>
            <a:r>
              <a:rPr lang="en-GB" altLang="zh-CN" dirty="0" err="1"/>
              <a:t>city_day1.fillna</a:t>
            </a:r>
            <a:r>
              <a:rPr lang="en-GB" altLang="zh-CN" dirty="0"/>
              <a:t>(method='</a:t>
            </a:r>
            <a:r>
              <a:rPr lang="en-GB" altLang="zh-CN" dirty="0" err="1"/>
              <a:t>ffill</a:t>
            </a:r>
            <a:r>
              <a:rPr lang="en-GB" altLang="zh-CN" dirty="0"/>
              <a:t>',</a:t>
            </a:r>
            <a:r>
              <a:rPr lang="en-GB" altLang="zh-CN" dirty="0" err="1"/>
              <a:t>inplace</a:t>
            </a:r>
            <a:r>
              <a:rPr lang="en-GB" altLang="zh-CN" dirty="0"/>
              <a:t>=True)</a:t>
            </a:r>
            <a:endParaRPr lang="en-GB" altLang="zh-CN" dirty="0"/>
          </a:p>
          <a:p>
            <a:r>
              <a:rPr lang="en-GB" altLang="zh-CN" dirty="0" err="1"/>
              <a:t>city_day1</a:t>
            </a:r>
            <a:r>
              <a:rPr lang="en-GB" altLang="zh-CN" dirty="0"/>
              <a:t>['Xylene'][50:65]</a:t>
            </a:r>
            <a:endParaRPr lang="en-GB" altLang="zh-CN" dirty="0"/>
          </a:p>
          <a:p>
            <a:endParaRPr lang="en-US" altLang="zh-CN" b="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3105" y="2941955"/>
            <a:ext cx="4387850" cy="34163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处理缺失值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3.6</a:t>
            </a:r>
            <a:r>
              <a:rPr lang="zh-CN" altLang="en-US" dirty="0"/>
              <a:t> 填充缺失值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539615"/>
          </a:xfrm>
        </p:spPr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时间序列数据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dirty="0"/>
              <a:t>使用</a:t>
            </a:r>
            <a:r>
              <a:rPr lang="en-GB" altLang="zh-CN" dirty="0" err="1"/>
              <a:t>bfill</a:t>
            </a:r>
            <a:r>
              <a:rPr lang="zh-CN" altLang="en-US" dirty="0"/>
              <a:t>填充，用时间序列中空值的下一个非空值填充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 err="1"/>
              <a:t>NaN</a:t>
            </a:r>
            <a:r>
              <a:rPr lang="zh-CN" altLang="en-US" dirty="0"/>
              <a:t>值的后一个非空值是</a:t>
            </a:r>
            <a:r>
              <a:rPr lang="en-US" altLang="zh-CN" dirty="0"/>
              <a:t>209</a:t>
            </a:r>
            <a:r>
              <a:rPr lang="zh-CN" altLang="en-US" dirty="0"/>
              <a:t>，可以看到所有的</a:t>
            </a:r>
            <a:r>
              <a:rPr lang="en-US" altLang="zh-CN" dirty="0" err="1"/>
              <a:t>NaN</a:t>
            </a:r>
            <a:r>
              <a:rPr lang="zh-CN" altLang="en-US" dirty="0"/>
              <a:t>都被填充为</a:t>
            </a:r>
            <a:r>
              <a:rPr lang="en-US" altLang="zh-CN" dirty="0"/>
              <a:t>209</a:t>
            </a:r>
            <a:endParaRPr lang="en-US" altLang="zh-CN" dirty="0"/>
          </a:p>
          <a:p>
            <a:r>
              <a:rPr lang="en-GB" altLang="zh-CN" dirty="0" err="1"/>
              <a:t>city_day.fillna</a:t>
            </a:r>
            <a:r>
              <a:rPr lang="en-GB" altLang="zh-CN" dirty="0"/>
              <a:t>(method='</a:t>
            </a:r>
            <a:r>
              <a:rPr lang="en-GB" altLang="zh-CN" dirty="0" err="1"/>
              <a:t>bfill</a:t>
            </a:r>
            <a:r>
              <a:rPr lang="en-GB" altLang="zh-CN" dirty="0"/>
              <a:t>')</a:t>
            </a:r>
            <a:r>
              <a:rPr lang="en-GB" altLang="zh-CN" dirty="0">
                <a:sym typeface="+mn-ea"/>
              </a:rPr>
              <a:t>['AQI'][20:30]</a:t>
            </a:r>
            <a:endParaRPr lang="en-US" altLang="zh-CN" b="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0620" y="3560445"/>
            <a:ext cx="36068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处理缺失值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3.6</a:t>
            </a:r>
            <a:r>
              <a:rPr lang="zh-CN" altLang="en-US" dirty="0"/>
              <a:t> 填充缺失值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时间序列数据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线性插值方法填充缺失值</a:t>
            </a:r>
            <a:endParaRPr lang="zh-CN" alt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0" dirty="0"/>
              <a:t>时间序列数据，数据随着时间的变化可能会较大。 </a:t>
            </a:r>
            <a:endParaRPr lang="en-US" altLang="zh-CN" b="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0" dirty="0"/>
              <a:t>使用</a:t>
            </a:r>
            <a:r>
              <a:rPr lang="en-US" altLang="zh-CN" b="0" dirty="0" err="1"/>
              <a:t>bfill</a:t>
            </a:r>
            <a:r>
              <a:rPr lang="zh-CN" altLang="en-US" b="0" dirty="0"/>
              <a:t>和</a:t>
            </a:r>
            <a:r>
              <a:rPr lang="en-US" altLang="zh-CN" b="0" dirty="0" err="1"/>
              <a:t>ffill</a:t>
            </a:r>
            <a:r>
              <a:rPr lang="zh-CN" altLang="en-US" b="0" dirty="0"/>
              <a:t>进行插补并不是解决缺失值问题的最优方案。</a:t>
            </a:r>
            <a:endParaRPr lang="zh-CN" altLang="en-US" b="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0" dirty="0"/>
              <a:t>线性插值法是一种插补缺失值技术，它假定数据点之间存在线性关系，</a:t>
            </a:r>
            <a:endParaRPr lang="en-US" altLang="zh-CN" b="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b="0" dirty="0"/>
              <a:t>利用相邻数据点中的非缺失值来计算缺失数据点的值。</a:t>
            </a:r>
            <a:endParaRPr lang="zh-CN" altLang="en-US" b="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处理缺失值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3.6</a:t>
            </a:r>
            <a:r>
              <a:rPr lang="zh-CN" altLang="en-US" dirty="0"/>
              <a:t> 填充缺失值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>
          <a:xfrm>
            <a:off x="710565" y="1656080"/>
            <a:ext cx="10699115" cy="4842510"/>
          </a:xfrm>
        </p:spPr>
        <p:txBody>
          <a:bodyPr/>
          <a:lstStyle/>
          <a:p>
            <a:pPr marL="342900" indent="-342900">
              <a:buFont typeface="+mj-lt"/>
              <a:buAutoNum type="arabicPeriod" startAt="2"/>
            </a:pPr>
            <a:r>
              <a:rPr lang="zh-CN" altLang="en-US" dirty="0"/>
              <a:t>时间序列数据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/>
              <a:t>线性插值方法填充缺失值</a:t>
            </a:r>
            <a:endParaRPr lang="zh-CN" altLang="en-US" dirty="0"/>
          </a:p>
          <a:p>
            <a:r>
              <a:rPr lang="en-GB" altLang="zh-CN" dirty="0"/>
              <a:t>city_day.interpolate(</a:t>
            </a:r>
            <a:r>
              <a:rPr lang="en-GB" altLang="zh-CN" dirty="0" err="1"/>
              <a:t>limit_direction</a:t>
            </a:r>
            <a:r>
              <a:rPr lang="en-GB" altLang="zh-CN" dirty="0"/>
              <a:t>="both")</a:t>
            </a:r>
            <a:r>
              <a:rPr lang="en-GB" altLang="zh-CN" dirty="0">
                <a:sym typeface="+mn-ea"/>
              </a:rPr>
              <a:t>['Xylene'][50:65]</a:t>
            </a:r>
            <a:endParaRPr lang="zh-CN" altLang="en-US" b="0" dirty="0"/>
          </a:p>
          <a:p>
            <a:endParaRPr lang="zh-CN" altLang="en-US" b="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3013710"/>
            <a:ext cx="3930650" cy="342265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3 </a:t>
            </a:r>
            <a:r>
              <a:rPr lang="zh-CN" altLang="en-US" dirty="0">
                <a:solidFill>
                  <a:schemeClr val="tx1"/>
                </a:solidFill>
              </a:rPr>
              <a:t>处理缺失值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3.6</a:t>
            </a:r>
            <a:r>
              <a:rPr lang="zh-CN" altLang="en-US" dirty="0"/>
              <a:t> 填充缺失值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 startAt="3"/>
            </a:pPr>
            <a:r>
              <a:rPr lang="zh-CN" altLang="en-US" dirty="0"/>
              <a:t>其它填充缺失值的方法</a:t>
            </a:r>
            <a:endParaRPr lang="zh-CN" altLang="en-US" dirty="0"/>
          </a:p>
          <a:p>
            <a:r>
              <a:rPr lang="zh-CN" altLang="en-US" b="0" dirty="0"/>
              <a:t>除了上面介绍的填充缺失值的方法外，还可以使用机器学习算法预测来进行缺失值填充</a:t>
            </a:r>
            <a:endParaRPr lang="zh-CN" altLang="en-US" b="0" dirty="0"/>
          </a:p>
          <a:p>
            <a:r>
              <a:rPr lang="zh-CN" altLang="en-US" b="0" dirty="0"/>
              <a:t>后续课程再介绍用算法来填充缺失值的方法</a:t>
            </a:r>
            <a:endParaRPr lang="zh-CN" altLang="en-US" b="0" dirty="0"/>
          </a:p>
          <a:p>
            <a:pPr marL="342900" indent="-342900">
              <a:buFont typeface="+mj-lt"/>
              <a:buAutoNum type="arabicPeriod" startAt="2"/>
            </a:pPr>
            <a:endParaRPr lang="zh-CN" altLang="en-US" b="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数据中包含缺失值是很常见的情况，缺失值可能在很多环节产生（用户没填，程序错误，数据合并</a:t>
            </a:r>
            <a:r>
              <a:rPr lang="en-US" altLang="zh-CN" dirty="0"/>
              <a:t>...)</a:t>
            </a:r>
            <a:endParaRPr lang="en-US" altLang="zh-CN" dirty="0"/>
          </a:p>
          <a:p>
            <a:r>
              <a:rPr lang="en-US" altLang="zh-CN" dirty="0"/>
              <a:t>pandas</a:t>
            </a:r>
            <a:r>
              <a:rPr lang="zh-CN" altLang="en-US" dirty="0"/>
              <a:t>中用</a:t>
            </a:r>
            <a:r>
              <a:rPr lang="en-US" altLang="zh-CN" dirty="0" err="1"/>
              <a:t>np.NaN</a:t>
            </a:r>
            <a:r>
              <a:rPr lang="en-US" altLang="zh-CN" dirty="0"/>
              <a:t> </a:t>
            </a:r>
            <a:r>
              <a:rPr lang="zh-CN" altLang="en-US" dirty="0"/>
              <a:t>表示缺失值，通过</a:t>
            </a:r>
            <a:r>
              <a:rPr lang="en-US" altLang="zh-CN" dirty="0" err="1"/>
              <a:t>pd.isnull</a:t>
            </a:r>
            <a:r>
              <a:rPr lang="en-US" altLang="zh-CN" dirty="0"/>
              <a:t>()</a:t>
            </a:r>
            <a:r>
              <a:rPr lang="zh-CN" altLang="en-US" dirty="0"/>
              <a:t>或者</a:t>
            </a:r>
            <a:r>
              <a:rPr lang="en-US" altLang="zh-CN" dirty="0" err="1"/>
              <a:t>pd.notnull</a:t>
            </a:r>
            <a:r>
              <a:rPr lang="en-US" altLang="zh-CN" dirty="0"/>
              <a:t>()</a:t>
            </a:r>
            <a:r>
              <a:rPr lang="zh-CN" altLang="en-US" dirty="0"/>
              <a:t>来判断是否是缺失值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Font typeface="+mj-lt"/>
              <a:buAutoNum type="arabicPeriod" startAt="3"/>
            </a:pPr>
            <a:r>
              <a:rPr lang="zh-CN" altLang="en-US" dirty="0"/>
              <a:t>常用的缺失值处理方式包括</a:t>
            </a:r>
            <a:endParaRPr lang="zh-CN" altLang="en-US" dirty="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dirty="0"/>
              <a:t>删除缺失值</a:t>
            </a:r>
            <a:endParaRPr lang="zh-CN" altLang="en-US" dirty="0"/>
          </a:p>
          <a:p>
            <a:pPr lvl="1"/>
            <a:r>
              <a:rPr lang="zh-CN" altLang="en-US" b="0" dirty="0"/>
              <a:t>按行删除</a:t>
            </a:r>
            <a:endParaRPr lang="zh-CN" altLang="en-US" b="0" dirty="0"/>
          </a:p>
          <a:p>
            <a:pPr lvl="1"/>
            <a:r>
              <a:rPr lang="zh-CN" altLang="en-US" b="0" dirty="0"/>
              <a:t>按列删除</a:t>
            </a:r>
            <a:endParaRPr lang="zh-CN" altLang="en-US" b="0" dirty="0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 dirty="0"/>
              <a:t>填充缺失值</a:t>
            </a:r>
            <a:endParaRPr lang="zh-CN" altLang="en-US" dirty="0"/>
          </a:p>
          <a:p>
            <a:pPr lvl="1"/>
            <a:r>
              <a:rPr lang="zh-CN" altLang="en-US" b="0" dirty="0"/>
              <a:t>默认值填充</a:t>
            </a:r>
            <a:endParaRPr lang="zh-CN" altLang="en-US" b="0" dirty="0"/>
          </a:p>
          <a:p>
            <a:pPr lvl="1"/>
            <a:r>
              <a:rPr lang="zh-CN" altLang="en-US" b="0" dirty="0"/>
              <a:t>统计值填充</a:t>
            </a:r>
            <a:endParaRPr lang="zh-CN" altLang="en-US" b="0" dirty="0"/>
          </a:p>
          <a:p>
            <a:pPr lvl="1"/>
            <a:r>
              <a:rPr lang="zh-CN" altLang="en-US" b="0" dirty="0"/>
              <a:t>时间序列数据，用前</a:t>
            </a:r>
            <a:r>
              <a:rPr lang="en-US" altLang="zh-CN" b="0" dirty="0"/>
              <a:t>/</a:t>
            </a:r>
            <a:r>
              <a:rPr lang="zh-CN" altLang="en-US" b="0" dirty="0"/>
              <a:t>后值填充，线性插值填充</a:t>
            </a:r>
            <a:endParaRPr lang="zh-CN" altLang="en-US" b="0" dirty="0"/>
          </a:p>
          <a:p>
            <a:pPr lvl="1"/>
            <a:r>
              <a:rPr lang="zh-CN" altLang="en-US" b="0" dirty="0"/>
              <a:t>算法填充</a:t>
            </a:r>
            <a:endParaRPr lang="zh-CN" altLang="en-US" b="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2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3.xml><?xml version="1.0" encoding="utf-8"?>
<p:tagLst xmlns:p="http://schemas.openxmlformats.org/presentationml/2006/main">
  <p:tag name="MH" val="20180905155037"/>
  <p:tag name="MH_LIBRARY" val="CONTENTS"/>
  <p:tag name="MH_TYPE" val="OTHERS"/>
  <p:tag name="ID" val="545836"/>
</p:tagLst>
</file>

<file path=ppt/tags/tag4.xml><?xml version="1.0" encoding="utf-8"?>
<p:tagLst xmlns:p="http://schemas.openxmlformats.org/presentationml/2006/main">
  <p:tag name="KSO_WM_UNIT_PLACING_PICTURE_USER_VIEWPORT" val="{&quot;height&quot;:2900,&quot;width&quot;:6940}"/>
</p:tagLst>
</file>

<file path=ppt/tags/tag5.xml><?xml version="1.0" encoding="utf-8"?>
<p:tagLst xmlns:p="http://schemas.openxmlformats.org/presentationml/2006/main">
  <p:tag name="KSO_WM_UNIT_PLACING_PICTURE_USER_VIEWPORT" val="{&quot;height&quot;:7180,&quot;width&quot;:8790}"/>
</p:tagLst>
</file>

<file path=ppt/theme/theme1.xml><?xml version="1.0" encoding="utf-8"?>
<a:theme xmlns:a="http://schemas.openxmlformats.org/drawingml/2006/main" name="1_课程标题页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目录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目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6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4892</Words>
  <Application>WPS 演示</Application>
  <PresentationFormat>宽屏</PresentationFormat>
  <Paragraphs>417</Paragraphs>
  <Slides>43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12</vt:i4>
      </vt:variant>
      <vt:variant>
        <vt:lpstr>幻灯片标题</vt:lpstr>
      </vt:variant>
      <vt:variant>
        <vt:i4>43</vt:i4>
      </vt:variant>
    </vt:vector>
  </HeadingPairs>
  <TitlesOfParts>
    <vt:vector size="72" baseType="lpstr">
      <vt:lpstr>Arial</vt:lpstr>
      <vt:lpstr>宋体</vt:lpstr>
      <vt:lpstr>Wingdings</vt:lpstr>
      <vt:lpstr>Calibri</vt:lpstr>
      <vt:lpstr>黑体</vt:lpstr>
      <vt:lpstr>阿里巴巴普惠体</vt:lpstr>
      <vt:lpstr>Segoe UI</vt:lpstr>
      <vt:lpstr>微软雅黑</vt:lpstr>
      <vt:lpstr>Segoe UI Light</vt:lpstr>
      <vt:lpstr>微软雅黑 Light</vt:lpstr>
      <vt:lpstr>Alibaba PuHuiTi B</vt:lpstr>
      <vt:lpstr>Alibaba PuHuiTi R</vt:lpstr>
      <vt:lpstr>Verdana</vt:lpstr>
      <vt:lpstr>Alibaba PuHuiTi M</vt:lpstr>
      <vt:lpstr>等线</vt:lpstr>
      <vt:lpstr>Arial Unicode MS</vt:lpstr>
      <vt:lpstr>Wingdings</vt:lpstr>
      <vt:lpstr>1_课程标题页</vt:lpstr>
      <vt:lpstr>2_目录设计方案</vt:lpstr>
      <vt:lpstr>3_目标设计方案</vt:lpstr>
      <vt:lpstr>4_正文设计方案</vt:lpstr>
      <vt:lpstr>5_结束页设计方案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6_结束页设计方案</vt:lpstr>
      <vt:lpstr>缺失数据处理</vt:lpstr>
      <vt:lpstr>PowerPoint 演示文稿</vt:lpstr>
      <vt:lpstr>PowerPoint 演示文稿</vt:lpstr>
      <vt:lpstr>1 简介</vt:lpstr>
      <vt:lpstr>1 简介</vt:lpstr>
      <vt:lpstr>1 简介</vt:lpstr>
      <vt:lpstr>1 简介</vt:lpstr>
      <vt:lpstr>PowerPoint 演示文稿</vt:lpstr>
      <vt:lpstr>2 加载缺失值</vt:lpstr>
      <vt:lpstr>2 加载缺失值</vt:lpstr>
      <vt:lpstr>2 加载缺失值</vt:lpstr>
      <vt:lpstr>2 加载缺失值</vt:lpstr>
      <vt:lpstr>PowerPoint 演示文稿</vt:lpstr>
      <vt:lpstr>3 处理缺失值</vt:lpstr>
      <vt:lpstr>3 处理缺失值</vt:lpstr>
      <vt:lpstr>3 处理缺失值</vt:lpstr>
      <vt:lpstr>3 处理缺失值</vt:lpstr>
      <vt:lpstr>3 处理缺失值</vt:lpstr>
      <vt:lpstr>3 处理缺失值</vt:lpstr>
      <vt:lpstr>3 处理缺失值</vt:lpstr>
      <vt:lpstr>3 处理缺失值</vt:lpstr>
      <vt:lpstr>3 处理缺失值</vt:lpstr>
      <vt:lpstr>3 处理缺失值</vt:lpstr>
      <vt:lpstr>3 处理缺失值</vt:lpstr>
      <vt:lpstr>3 处理缺失值</vt:lpstr>
      <vt:lpstr>3 处理缺失值</vt:lpstr>
      <vt:lpstr>3 处理缺失值</vt:lpstr>
      <vt:lpstr>3 处理缺失值</vt:lpstr>
      <vt:lpstr>3 处理缺失值</vt:lpstr>
      <vt:lpstr>3 处理缺失值</vt:lpstr>
      <vt:lpstr>3 处理缺失值</vt:lpstr>
      <vt:lpstr>3 处理缺失值</vt:lpstr>
      <vt:lpstr>3 处理缺失值</vt:lpstr>
      <vt:lpstr>3 处理缺失值</vt:lpstr>
      <vt:lpstr>3 处理缺失值</vt:lpstr>
      <vt:lpstr>3 处理缺失值</vt:lpstr>
      <vt:lpstr>3 处理缺失值</vt:lpstr>
      <vt:lpstr>3 处理缺失值</vt:lpstr>
      <vt:lpstr>3 处理缺失值</vt:lpstr>
      <vt:lpstr>3 处理缺失值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魏云飞</cp:lastModifiedBy>
  <cp:revision>227</cp:revision>
  <dcterms:created xsi:type="dcterms:W3CDTF">2020-03-31T02:23:00Z</dcterms:created>
  <dcterms:modified xsi:type="dcterms:W3CDTF">2021-05-15T02:24:42Z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E742EE92D7454C77810D90661707E201</vt:lpwstr>
  </property>
  <property fmtid="{D5CDD505-2E9C-101B-9397-08002B2CF9AE}" pid="3" name="KSOProductBuildVer">
    <vt:lpwstr>2052-11.1.0.10463</vt:lpwstr>
  </property>
</Properties>
</file>