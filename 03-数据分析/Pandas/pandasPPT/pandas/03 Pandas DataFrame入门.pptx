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266" r:id="rId20"/>
    <p:sldId id="428" r:id="rId21"/>
    <p:sldId id="429" r:id="rId22"/>
    <p:sldId id="425" r:id="rId23"/>
    <p:sldId id="430" r:id="rId24"/>
    <p:sldId id="431" r:id="rId25"/>
    <p:sldId id="432" r:id="rId26"/>
    <p:sldId id="433" r:id="rId27"/>
    <p:sldId id="434" r:id="rId28"/>
    <p:sldId id="435" r:id="rId29"/>
    <p:sldId id="436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49" r:id="rId42"/>
    <p:sldId id="450" r:id="rId43"/>
    <p:sldId id="451" r:id="rId44"/>
    <p:sldId id="452" r:id="rId45"/>
    <p:sldId id="461" r:id="rId46"/>
    <p:sldId id="453" r:id="rId47"/>
    <p:sldId id="454" r:id="rId48"/>
    <p:sldId id="455" r:id="rId49"/>
    <p:sldId id="456" r:id="rId50"/>
    <p:sldId id="426" r:id="rId51"/>
    <p:sldId id="264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6"/>
    <p:restoredTop sz="96379" autoAdjust="0"/>
  </p:normalViewPr>
  <p:slideViewPr>
    <p:cSldViewPr snapToGrid="0">
      <p:cViewPr varScale="1">
        <p:scale>
          <a:sx n="142" d="100"/>
          <a:sy n="142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1.png"/><Relationship Id="rId1" Type="http://schemas.openxmlformats.org/officeDocument/2006/relationships/tags" Target="../tags/tag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.tif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 dirty="0"/>
              <a:t>Pandas DataFrame </a:t>
            </a:r>
            <a:r>
              <a:rPr lang="zh-CN" altLang="en-US" dirty="0"/>
              <a:t>入门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</a:t>
            </a:r>
            <a:r>
              <a:rPr lang="en-US" altLang="zh-CN" dirty="0"/>
              <a:t>DataFrame</a:t>
            </a:r>
            <a:r>
              <a:rPr lang="zh-CN" altLang="en-US" dirty="0"/>
              <a:t>加载数据文件的方法</a:t>
            </a:r>
            <a:endParaRPr lang="zh-CN" altLang="en-US" dirty="0"/>
          </a:p>
          <a:p>
            <a:r>
              <a:rPr lang="zh-CN" altLang="en-US" dirty="0"/>
              <a:t>知道如何加载部分数据</a:t>
            </a:r>
            <a:endParaRPr lang="zh-CN" altLang="en-US" dirty="0"/>
          </a:p>
          <a:p>
            <a:r>
              <a:rPr lang="zh-CN" altLang="en-US" dirty="0"/>
              <a:t>知道如何对数据进行简单的分组聚合操作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>
                <a:solidFill>
                  <a:srgbClr val="FF0000"/>
                </a:solidFill>
              </a:rPr>
              <a:t>Pandas DataFrame</a:t>
            </a:r>
            <a:r>
              <a:rPr lang="zh-CN" altLang="en-US" b="1" dirty="0">
                <a:solidFill>
                  <a:srgbClr val="FF0000"/>
                </a:solidFill>
              </a:rPr>
              <a:t>简介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加载数据集</a:t>
            </a:r>
            <a:endParaRPr lang="zh-CN" altLang="en-US" b="1" dirty="0"/>
          </a:p>
          <a:p>
            <a:r>
              <a:rPr lang="zh-CN" altLang="en-US" b="1" dirty="0"/>
              <a:t>查看部分数据</a:t>
            </a:r>
            <a:endParaRPr lang="zh-CN" altLang="en-US" b="1" dirty="0"/>
          </a:p>
          <a:p>
            <a:r>
              <a:rPr lang="zh-CN" altLang="en-US" b="1" dirty="0"/>
              <a:t>分组和聚合计算</a:t>
            </a:r>
            <a:endParaRPr lang="zh-CN" altLang="en-US" b="1" dirty="0"/>
          </a:p>
          <a:p>
            <a:r>
              <a:rPr lang="zh-CN" altLang="en-US" b="1" dirty="0"/>
              <a:t>基本绘图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solidFill>
                  <a:schemeClr val="tx1"/>
                </a:solidFill>
              </a:rPr>
              <a:t>1 Pandas DataFrame</a:t>
            </a:r>
            <a:r>
              <a:rPr lang="zh-CN" altLang="en-US" dirty="0">
                <a:solidFill>
                  <a:schemeClr val="tx1"/>
                </a:solidFill>
              </a:rPr>
              <a:t>简介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Pandas</a:t>
            </a:r>
            <a:r>
              <a:rPr lang="zh-CN" altLang="en-US" dirty="0"/>
              <a:t>是用于数据分析的开源</a:t>
            </a:r>
            <a:r>
              <a:rPr lang="en-US" altLang="zh-CN" dirty="0"/>
              <a:t>Python</a:t>
            </a:r>
            <a:r>
              <a:rPr lang="zh-CN" altLang="en-US" dirty="0"/>
              <a:t>库，可以实现数据加载，清洗，转换，统计处理，可视化等功能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DataFrame</a:t>
            </a:r>
            <a:r>
              <a:rPr lang="zh-CN" altLang="en-US" dirty="0"/>
              <a:t>和</a:t>
            </a:r>
            <a:r>
              <a:rPr lang="en-US" altLang="zh-CN" dirty="0"/>
              <a:t>Series</a:t>
            </a:r>
            <a:r>
              <a:rPr lang="zh-CN" altLang="en-US" dirty="0"/>
              <a:t>是</a:t>
            </a:r>
            <a:r>
              <a:rPr lang="en-US" altLang="zh-CN" dirty="0"/>
              <a:t>Pandas</a:t>
            </a:r>
            <a:r>
              <a:rPr lang="zh-CN" altLang="en-US" dirty="0"/>
              <a:t>最基本的两种数据结构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DataFrame</a:t>
            </a:r>
            <a:r>
              <a:rPr lang="zh-CN" altLang="en-US" dirty="0"/>
              <a:t>用来处理结构化数据（</a:t>
            </a:r>
            <a:r>
              <a:rPr lang="en-US" altLang="zh-CN" dirty="0"/>
              <a:t>SQL</a:t>
            </a:r>
            <a:r>
              <a:rPr lang="zh-CN" altLang="en-US" dirty="0"/>
              <a:t>数据表，</a:t>
            </a:r>
            <a:r>
              <a:rPr lang="en-US" altLang="zh-CN" dirty="0"/>
              <a:t>Excel</a:t>
            </a:r>
            <a:r>
              <a:rPr lang="zh-CN" altLang="en-US" dirty="0"/>
              <a:t>表格）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Series</a:t>
            </a:r>
            <a:r>
              <a:rPr lang="zh-CN" altLang="en-US" dirty="0"/>
              <a:t>用来处理单列数据，也可以把</a:t>
            </a:r>
            <a:r>
              <a:rPr lang="en-US" altLang="zh-CN" dirty="0"/>
              <a:t>DataFrame</a:t>
            </a:r>
            <a:r>
              <a:rPr lang="zh-CN" altLang="en-US" dirty="0"/>
              <a:t>看作由</a:t>
            </a:r>
            <a:r>
              <a:rPr lang="en-US" altLang="zh-CN" dirty="0"/>
              <a:t>Series</a:t>
            </a:r>
            <a:r>
              <a:rPr lang="zh-CN" altLang="en-US" dirty="0"/>
              <a:t>对象组成的字典或集合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Pandas DataFrame</a:t>
            </a:r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加载数据集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查看部分数据</a:t>
            </a:r>
            <a:endParaRPr lang="zh-CN" altLang="en-US" b="1" dirty="0"/>
          </a:p>
          <a:p>
            <a:r>
              <a:rPr lang="zh-CN" altLang="en-US" b="1" dirty="0"/>
              <a:t>分组和聚合计算</a:t>
            </a:r>
            <a:endParaRPr lang="zh-CN" altLang="en-US" b="1" dirty="0"/>
          </a:p>
          <a:p>
            <a:r>
              <a:rPr lang="zh-CN" altLang="en-US" b="1" dirty="0"/>
              <a:t>基本绘图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加载数据集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目的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做数据分析首先要加载数据，并查看其结构和内容，对数据有初步的了解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查看行，列数据分布情况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查看每一列中存储信息的类型</a:t>
            </a:r>
            <a:endParaRPr lang="zh-CN" altLang="en-US" b="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加载数据集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步骤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导包</a:t>
            </a:r>
            <a:endParaRPr lang="en-US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加载</a:t>
            </a:r>
            <a:r>
              <a:rPr lang="en-US" altLang="zh-CN" dirty="0"/>
              <a:t>csv</a:t>
            </a:r>
            <a:endParaRPr lang="en-US" altLang="zh-CN" dirty="0"/>
          </a:p>
          <a:p>
            <a:r>
              <a:rPr lang="en-US" altLang="zh-CN" dirty="0" err="1"/>
              <a:t>df</a:t>
            </a:r>
            <a:r>
              <a:rPr lang="en-US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(‘</a:t>
            </a:r>
            <a:r>
              <a:rPr lang="en-GB" altLang="zh-CN" dirty="0" err="1"/>
              <a:t>data/movie.csv</a:t>
            </a:r>
            <a:r>
              <a:rPr lang="en-GB" altLang="zh-CN" dirty="0"/>
              <a:t>’)</a:t>
            </a:r>
            <a:endParaRPr lang="en-GB" altLang="zh-CN" dirty="0"/>
          </a:p>
          <a:p>
            <a:r>
              <a:rPr lang="en-GB" altLang="zh-CN" dirty="0"/>
              <a:t>csv</a:t>
            </a:r>
            <a:r>
              <a:rPr lang="zh-CN" altLang="en-US" dirty="0"/>
              <a:t>文件：</a:t>
            </a:r>
            <a:r>
              <a:rPr lang="en-GB" altLang="zh-CN" dirty="0"/>
              <a:t>Comma-Separated Values</a:t>
            </a:r>
            <a:endParaRPr lang="en-GB" altLang="zh-CN" dirty="0"/>
          </a:p>
          <a:p>
            <a:endParaRPr lang="en-US" altLang="zh-CN" dirty="0"/>
          </a:p>
          <a:p>
            <a:r>
              <a:rPr lang="zh-CN" altLang="en-GB" dirty="0"/>
              <a:t>也可以</a:t>
            </a:r>
            <a:r>
              <a:rPr lang="zh-CN" altLang="en-US" dirty="0"/>
              <a:t>通过指定分隔符加载</a:t>
            </a:r>
            <a:r>
              <a:rPr lang="en-US" altLang="zh-CN" dirty="0" err="1"/>
              <a:t>tsv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 err="1"/>
              <a:t>df</a:t>
            </a:r>
            <a:r>
              <a:rPr lang="en-US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('data/gapminder.</a:t>
            </a:r>
            <a:r>
              <a:rPr lang="en-GB" altLang="zh-CN" dirty="0" err="1"/>
              <a:t>tsv</a:t>
            </a:r>
            <a:r>
              <a:rPr lang="en-GB" altLang="zh-CN" dirty="0"/>
              <a:t>',</a:t>
            </a:r>
            <a:r>
              <a:rPr lang="en-GB" altLang="zh-CN" dirty="0" err="1"/>
              <a:t>sep</a:t>
            </a:r>
            <a:r>
              <a:rPr lang="en-GB" altLang="zh-CN" dirty="0"/>
              <a:t>='\t’)</a:t>
            </a:r>
            <a:endParaRPr lang="en-GB" altLang="zh-CN" dirty="0"/>
          </a:p>
          <a:p>
            <a:r>
              <a:rPr lang="en-GB" altLang="zh-CN" dirty="0" err="1"/>
              <a:t>tsv</a:t>
            </a:r>
            <a:r>
              <a:rPr lang="zh-CN" altLang="en-US" dirty="0"/>
              <a:t>文件 </a:t>
            </a:r>
            <a:r>
              <a:rPr lang="en-GB" altLang="zh-CN" dirty="0"/>
              <a:t>Tab-Separated Values</a:t>
            </a:r>
            <a:endParaRPr lang="en-GB" altLang="zh-CN" dirty="0"/>
          </a:p>
          <a:p>
            <a:r>
              <a:rPr lang="zh-CN" altLang="en-US" dirty="0"/>
              <a:t>       </a:t>
            </a:r>
            <a:r>
              <a:rPr lang="en-GB" altLang="zh-CN" dirty="0"/>
              <a:t>	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加载数据集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 查看数据类型及属性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GB" dirty="0"/>
              <a:t>查看</a:t>
            </a:r>
            <a:r>
              <a:rPr lang="en-US" altLang="zh-CN" dirty="0" err="1"/>
              <a:t>df</a:t>
            </a:r>
            <a:r>
              <a:rPr lang="zh-CN" altLang="en-US" dirty="0"/>
              <a:t>类型</a:t>
            </a:r>
            <a:endParaRPr lang="en-GB" altLang="zh-CN" dirty="0"/>
          </a:p>
          <a:p>
            <a:r>
              <a:rPr lang="en-GB" altLang="zh-CN" dirty="0"/>
              <a:t>type(</a:t>
            </a:r>
            <a:r>
              <a:rPr lang="en-GB" altLang="zh-CN" dirty="0" err="1"/>
              <a:t>df</a:t>
            </a:r>
            <a:r>
              <a:rPr lang="en-GB" altLang="zh-CN" dirty="0"/>
              <a:t>) 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GB" dirty="0"/>
              <a:t>查看</a:t>
            </a:r>
            <a:r>
              <a:rPr lang="en-US" altLang="zh-CN" dirty="0" err="1"/>
              <a:t>df</a:t>
            </a:r>
            <a:r>
              <a:rPr lang="zh-CN" altLang="en-US" dirty="0"/>
              <a:t>的</a:t>
            </a:r>
            <a:r>
              <a:rPr lang="en-US" altLang="zh-CN" dirty="0"/>
              <a:t>shape</a:t>
            </a:r>
            <a:r>
              <a:rPr lang="zh-CN" altLang="en-US" dirty="0"/>
              <a:t>属性，可以获取</a:t>
            </a:r>
            <a:r>
              <a:rPr lang="en-US" altLang="zh-CN" dirty="0"/>
              <a:t>DataFrame</a:t>
            </a:r>
            <a:r>
              <a:rPr lang="zh-CN" altLang="en-US" dirty="0"/>
              <a:t>的行数，列数</a:t>
            </a:r>
            <a:endParaRPr lang="en-GB" altLang="zh-CN" dirty="0"/>
          </a:p>
          <a:p>
            <a:r>
              <a:rPr lang="en-GB" altLang="zh-CN" dirty="0" err="1"/>
              <a:t>df.shape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GB" dirty="0"/>
              <a:t>查看</a:t>
            </a:r>
            <a:r>
              <a:rPr lang="en-US" altLang="zh-CN" dirty="0" err="1"/>
              <a:t>df</a:t>
            </a:r>
            <a:r>
              <a:rPr lang="zh-CN" altLang="en-US" dirty="0"/>
              <a:t>的</a:t>
            </a:r>
            <a:r>
              <a:rPr lang="en-US" altLang="zh-CN" dirty="0"/>
              <a:t>columns</a:t>
            </a:r>
            <a:r>
              <a:rPr lang="zh-CN" altLang="en-US" dirty="0"/>
              <a:t>属性，获取</a:t>
            </a:r>
            <a:r>
              <a:rPr lang="en-GB" altLang="zh-CN" dirty="0"/>
              <a:t>DataFrame</a:t>
            </a:r>
            <a:r>
              <a:rPr lang="zh-CN" altLang="en-US" dirty="0"/>
              <a:t>中的列名</a:t>
            </a:r>
            <a:endParaRPr lang="en-GB" altLang="zh-CN" dirty="0"/>
          </a:p>
          <a:p>
            <a:r>
              <a:rPr lang="en-GB" altLang="zh-CN" dirty="0" err="1"/>
              <a:t>df.columns</a:t>
            </a:r>
            <a:endParaRPr lang="en-GB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GB" dirty="0"/>
              <a:t>查看</a:t>
            </a:r>
            <a:r>
              <a:rPr lang="en-US" altLang="zh-CN" dirty="0" err="1"/>
              <a:t>df</a:t>
            </a:r>
            <a:r>
              <a:rPr lang="zh-CN" altLang="en-US" dirty="0"/>
              <a:t>的</a:t>
            </a:r>
            <a:r>
              <a:rPr lang="en-US" altLang="zh-CN" dirty="0" err="1"/>
              <a:t>dtypes</a:t>
            </a:r>
            <a:r>
              <a:rPr lang="zh-CN" altLang="en-US" dirty="0"/>
              <a:t>属性，获取每一列的数据类型</a:t>
            </a:r>
            <a:endParaRPr lang="en-GB" altLang="zh-CN" dirty="0"/>
          </a:p>
          <a:p>
            <a:r>
              <a:rPr lang="en-GB" altLang="zh-CN" dirty="0" err="1"/>
              <a:t>df.dtypes</a:t>
            </a:r>
            <a:endParaRPr lang="en-GB" altLang="zh-CN" dirty="0"/>
          </a:p>
          <a:p>
            <a:r>
              <a:rPr lang="en-GB" altLang="zh-CN" dirty="0" err="1"/>
              <a:t>df.info</a:t>
            </a:r>
            <a:r>
              <a:rPr lang="en-GB" altLang="zh-CN" dirty="0"/>
              <a:t>()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加载数据集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r>
              <a:rPr lang="zh-CN" altLang="en-US" dirty="0"/>
              <a:t>与</a:t>
            </a:r>
            <a:r>
              <a:rPr lang="en-GB" altLang="zh-CN" dirty="0"/>
              <a:t>Python</a:t>
            </a:r>
            <a:r>
              <a:rPr lang="zh-CN" altLang="en-US" dirty="0"/>
              <a:t>常用数据类型对照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64043"/>
            <a:ext cx="8940800" cy="245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Pandas DataFrame</a:t>
            </a:r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/>
              <a:t>加载数据集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查看部分数据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分组和聚合计算</a:t>
            </a:r>
            <a:endParaRPr lang="zh-CN" altLang="en-US" b="1" dirty="0"/>
          </a:p>
          <a:p>
            <a:r>
              <a:rPr lang="zh-CN" altLang="en-US" b="1" dirty="0"/>
              <a:t>基本绘图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根据列名加载部分列数据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加载一列数据，通过</a:t>
            </a:r>
            <a:r>
              <a:rPr lang="en-US" altLang="zh-CN" dirty="0" err="1"/>
              <a:t>df</a:t>
            </a:r>
            <a:r>
              <a:rPr lang="en-US" altLang="zh-CN" dirty="0"/>
              <a:t>['</a:t>
            </a:r>
            <a:r>
              <a:rPr lang="zh-CN" altLang="en-US" dirty="0"/>
              <a:t>列名</a:t>
            </a:r>
            <a:r>
              <a:rPr lang="en-US" altLang="zh-CN" dirty="0"/>
              <a:t>']</a:t>
            </a:r>
            <a:r>
              <a:rPr lang="zh-CN" altLang="en-US" dirty="0"/>
              <a:t>方式获取</a:t>
            </a:r>
            <a:endParaRPr lang="en-US" altLang="zh-CN" dirty="0"/>
          </a:p>
          <a:p>
            <a:r>
              <a:rPr lang="en-GB" altLang="zh-CN" dirty="0" err="1"/>
              <a:t>country_df</a:t>
            </a:r>
            <a:r>
              <a:rPr lang="en-GB" altLang="zh-CN" dirty="0"/>
              <a:t> = </a:t>
            </a:r>
            <a:r>
              <a:rPr lang="en-GB" altLang="zh-CN" dirty="0" err="1"/>
              <a:t>df</a:t>
            </a:r>
            <a:r>
              <a:rPr lang="en-GB" altLang="zh-CN" dirty="0"/>
              <a:t>['country’]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加载多列数据，通过</a:t>
            </a:r>
            <a:r>
              <a:rPr lang="en-US" altLang="zh-CN" dirty="0" err="1"/>
              <a:t>df</a:t>
            </a:r>
            <a:r>
              <a:rPr lang="en-US" altLang="zh-CN" dirty="0"/>
              <a:t>[['</a:t>
            </a:r>
            <a:r>
              <a:rPr lang="zh-CN" altLang="en-US" dirty="0"/>
              <a:t>列名</a:t>
            </a:r>
            <a:r>
              <a:rPr lang="en-US" altLang="zh-CN" dirty="0"/>
              <a:t>1','</a:t>
            </a:r>
            <a:r>
              <a:rPr lang="zh-CN" altLang="en-US" dirty="0"/>
              <a:t>列名</a:t>
            </a:r>
            <a:r>
              <a:rPr lang="en-US" altLang="zh-CN" dirty="0"/>
              <a:t>2',...]]</a:t>
            </a:r>
            <a:endParaRPr lang="en-US" altLang="zh-CN" dirty="0"/>
          </a:p>
          <a:p>
            <a:r>
              <a:rPr lang="en-GB" altLang="zh-CN" dirty="0" err="1"/>
              <a:t>df</a:t>
            </a:r>
            <a:r>
              <a:rPr lang="en-GB" altLang="zh-CN" dirty="0"/>
              <a:t>[['</a:t>
            </a:r>
            <a:r>
              <a:rPr lang="en-GB" altLang="zh-CN" dirty="0" err="1"/>
              <a:t>country','continent','year</a:t>
            </a:r>
            <a:r>
              <a:rPr lang="en-GB" altLang="zh-CN" dirty="0"/>
              <a:t>’]]</a:t>
            </a:r>
            <a:endParaRPr lang="en-GB" altLang="zh-CN" dirty="0"/>
          </a:p>
          <a:p>
            <a:r>
              <a:rPr lang="zh-CN" altLang="en-US" dirty="0"/>
              <a:t>注意这里是两层</a:t>
            </a:r>
            <a:r>
              <a:rPr lang="en-US" altLang="zh-CN" dirty="0"/>
              <a:t>[] </a:t>
            </a:r>
            <a:r>
              <a:rPr lang="zh-CN" altLang="en-US" dirty="0"/>
              <a:t>可以理解为 </a:t>
            </a:r>
            <a:r>
              <a:rPr lang="en-US" altLang="zh-CN" dirty="0" err="1"/>
              <a:t>df</a:t>
            </a:r>
            <a:r>
              <a:rPr lang="en-US" altLang="zh-CN" dirty="0"/>
              <a:t>[</a:t>
            </a:r>
            <a:r>
              <a:rPr lang="zh-CN" altLang="en-US" dirty="0"/>
              <a:t>列名的</a:t>
            </a:r>
            <a:r>
              <a:rPr lang="en-US" altLang="zh-CN" dirty="0"/>
              <a:t>list]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按行加载部分数据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行索引介绍</a:t>
            </a:r>
            <a:endParaRPr lang="en-US" altLang="zh-CN" dirty="0"/>
          </a:p>
          <a:p>
            <a:r>
              <a:rPr lang="zh-CN" altLang="en-US" dirty="0"/>
              <a:t>先打印前</a:t>
            </a:r>
            <a:r>
              <a:rPr lang="en-US" altLang="zh-CN" dirty="0"/>
              <a:t>5</a:t>
            </a:r>
            <a:r>
              <a:rPr lang="zh-CN" altLang="en-US" dirty="0"/>
              <a:t>行数据 观察第一列</a:t>
            </a:r>
            <a:endParaRPr lang="zh-CN" altLang="en-US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df.head</a:t>
            </a:r>
            <a:r>
              <a:rPr lang="en-GB" altLang="zh-CN" dirty="0"/>
              <a:t>())</a:t>
            </a:r>
            <a:endParaRPr lang="en-GB" altLang="zh-CN" dirty="0"/>
          </a:p>
          <a:p>
            <a:r>
              <a:rPr lang="zh-CN" altLang="en-US" dirty="0"/>
              <a:t>最左边一列是行号，也就是</a:t>
            </a:r>
            <a:r>
              <a:rPr lang="en-US" altLang="zh-CN" dirty="0"/>
              <a:t>DataFrame</a:t>
            </a:r>
            <a:r>
              <a:rPr lang="zh-CN" altLang="en-US" dirty="0"/>
              <a:t>的</a:t>
            </a:r>
            <a:r>
              <a:rPr lang="zh-CN" altLang="en-US" b="1" dirty="0"/>
              <a:t>行索引</a:t>
            </a:r>
            <a:endParaRPr lang="en-US" altLang="zh-CN" b="1" dirty="0"/>
          </a:p>
          <a:p>
            <a:r>
              <a:rPr lang="en-US" altLang="zh-CN" dirty="0"/>
              <a:t>Pandas</a:t>
            </a:r>
            <a:r>
              <a:rPr lang="zh-CN" altLang="en-US" dirty="0"/>
              <a:t>默认使用行号作为行索引</a:t>
            </a:r>
            <a:endParaRPr lang="en-GB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4098925"/>
            <a:ext cx="68453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按行加载部分数据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0380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zh-CN" dirty="0" err="1"/>
              <a:t>loc</a:t>
            </a:r>
            <a:r>
              <a:rPr lang="zh-CN" altLang="en-US" dirty="0"/>
              <a:t>：通过行索引获取指定行数据</a:t>
            </a:r>
            <a:endParaRPr lang="en-US" altLang="zh-CN" dirty="0"/>
          </a:p>
          <a:p>
            <a:r>
              <a:rPr lang="en-US" altLang="zh-CN" dirty="0" err="1"/>
              <a:t>loc</a:t>
            </a:r>
            <a:r>
              <a:rPr lang="zh-CN" altLang="en-US" dirty="0"/>
              <a:t>方法传入行索引，来获取</a:t>
            </a:r>
            <a:r>
              <a:rPr lang="en-US" altLang="zh-CN" dirty="0"/>
              <a:t>DataFrame</a:t>
            </a:r>
            <a:r>
              <a:rPr lang="zh-CN" altLang="en-US" dirty="0"/>
              <a:t>的部分数据（一行，或多行）</a:t>
            </a:r>
            <a:endParaRPr lang="en-US" altLang="zh-CN" dirty="0"/>
          </a:p>
          <a:p>
            <a:r>
              <a:rPr lang="en-US" altLang="zh-CN" dirty="0" err="1"/>
              <a:t>df.loc</a:t>
            </a:r>
            <a:r>
              <a:rPr lang="en-US" altLang="zh-CN" dirty="0"/>
              <a:t>[0]</a:t>
            </a:r>
            <a:endParaRPr lang="en-US" altLang="zh-CN" dirty="0"/>
          </a:p>
          <a:p>
            <a:r>
              <a:rPr lang="en-US" altLang="zh-CN" dirty="0" err="1"/>
              <a:t>df.loc</a:t>
            </a:r>
            <a:r>
              <a:rPr lang="en-US" altLang="zh-CN" dirty="0"/>
              <a:t>[99]</a:t>
            </a:r>
            <a:endParaRPr lang="en-US" altLang="zh-CN" dirty="0"/>
          </a:p>
          <a:p>
            <a:r>
              <a:rPr lang="en-US" altLang="zh-CN" dirty="0"/>
              <a:t>获取最后一行 通过shape 获取一共有多少行 </a:t>
            </a:r>
            <a:endParaRPr lang="en-US" altLang="zh-CN" dirty="0"/>
          </a:p>
          <a:p>
            <a:r>
              <a:rPr lang="en-US" altLang="zh-CN" dirty="0"/>
              <a:t>number_of_rows = df.shape[0] </a:t>
            </a:r>
            <a:endParaRPr lang="en-US" altLang="zh-CN" dirty="0"/>
          </a:p>
          <a:p>
            <a:r>
              <a:rPr lang="en-US" altLang="zh-CN" dirty="0"/>
              <a:t>总行数-1 获取最后一行行索引 </a:t>
            </a:r>
            <a:endParaRPr lang="en-US" altLang="zh-CN" dirty="0"/>
          </a:p>
          <a:p>
            <a:r>
              <a:rPr lang="en-US" altLang="zh-CN" dirty="0"/>
              <a:t>last_row_index = number_of_rows - 1 </a:t>
            </a:r>
            <a:endParaRPr lang="en-US" altLang="zh-CN" dirty="0"/>
          </a:p>
          <a:p>
            <a:r>
              <a:rPr lang="en-US" altLang="zh-CN" dirty="0"/>
              <a:t>获取最后一行数据，并打印</a:t>
            </a:r>
            <a:endParaRPr lang="en-US" altLang="zh-CN" dirty="0"/>
          </a:p>
          <a:p>
            <a:r>
              <a:rPr lang="en-GB" altLang="zh-CN" dirty="0" err="1"/>
              <a:t>df.loc</a:t>
            </a:r>
            <a:r>
              <a:rPr lang="en-GB" altLang="zh-CN" dirty="0"/>
              <a:t>[</a:t>
            </a:r>
            <a:r>
              <a:rPr lang="en-GB" altLang="zh-CN" dirty="0" err="1"/>
              <a:t>last_row_index</a:t>
            </a:r>
            <a:r>
              <a:rPr lang="en-GB" altLang="zh-CN" dirty="0"/>
              <a:t>]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0" y="5287645"/>
            <a:ext cx="2082800" cy="140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按行加载部分数据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使用</a:t>
            </a:r>
            <a:r>
              <a:rPr lang="en-US" altLang="zh-CN" dirty="0"/>
              <a:t>tail</a:t>
            </a:r>
            <a:r>
              <a:rPr lang="zh-CN" altLang="en-US" dirty="0"/>
              <a:t>方法获取最后一行数据</a:t>
            </a:r>
            <a:endParaRPr lang="en-US" altLang="zh-CN" dirty="0"/>
          </a:p>
          <a:p>
            <a:r>
              <a:rPr lang="en-US" altLang="zh-CN" dirty="0" err="1"/>
              <a:t>df.tail</a:t>
            </a:r>
            <a:r>
              <a:rPr lang="en-US" altLang="zh-CN" dirty="0"/>
              <a:t>(n=1)</a:t>
            </a:r>
            <a:endParaRPr lang="en-US" altLang="zh-CN" dirty="0"/>
          </a:p>
          <a:p>
            <a:r>
              <a:rPr lang="zh-CN" altLang="en-US" dirty="0"/>
              <a:t>注意：</a:t>
            </a:r>
            <a:r>
              <a:rPr lang="en-US" altLang="zh-CN" dirty="0" err="1"/>
              <a:t>df.loc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df.tail</a:t>
            </a:r>
            <a:r>
              <a:rPr lang="en-US" altLang="zh-CN" dirty="0"/>
              <a:t> </a:t>
            </a:r>
            <a:r>
              <a:rPr lang="zh-CN" altLang="en-US" dirty="0"/>
              <a:t>两种方式获得的最后一行数据有些不同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35" y="3058160"/>
            <a:ext cx="4419600" cy="654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按行加载部分数据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en-US" altLang="zh-CN" dirty="0" err="1"/>
              <a:t>loc</a:t>
            </a:r>
            <a:r>
              <a:rPr lang="zh-CN" altLang="en-US" dirty="0"/>
              <a:t>：通过索引标签获取指定多行数据</a:t>
            </a:r>
            <a:endParaRPr lang="en-US" altLang="zh-CN" dirty="0"/>
          </a:p>
          <a:p>
            <a:r>
              <a:rPr lang="en-US" altLang="zh-CN" dirty="0" err="1"/>
              <a:t>df.loc</a:t>
            </a:r>
            <a:r>
              <a:rPr lang="en-US" altLang="zh-CN" dirty="0"/>
              <a:t>[[0, 99, 999]]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0" y="2673350"/>
            <a:ext cx="43815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按行加载部分数据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510405"/>
          </a:xfrm>
        </p:spPr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en-US" altLang="zh-CN" dirty="0" err="1"/>
              <a:t>iloc</a:t>
            </a:r>
            <a:r>
              <a:rPr lang="en-US" altLang="zh-CN" dirty="0"/>
              <a:t> : </a:t>
            </a:r>
            <a:r>
              <a:rPr lang="zh-CN" altLang="en-US" dirty="0"/>
              <a:t>通过行号获取行数据</a:t>
            </a:r>
            <a:endParaRPr lang="en-US" altLang="zh-CN" dirty="0"/>
          </a:p>
          <a:p>
            <a:r>
              <a:rPr lang="zh-CN" altLang="en-US" dirty="0"/>
              <a:t>在当前案例中，使用</a:t>
            </a:r>
            <a:r>
              <a:rPr lang="en-US" altLang="zh-CN" dirty="0" err="1"/>
              <a:t>iloc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loc</a:t>
            </a:r>
            <a:r>
              <a:rPr lang="zh-CN" altLang="en-US" dirty="0"/>
              <a:t>效果是一样的</a:t>
            </a:r>
            <a:endParaRPr lang="zh-CN" altLang="en-US" dirty="0"/>
          </a:p>
          <a:p>
            <a:r>
              <a:rPr lang="zh-CN" altLang="en-US" dirty="0"/>
              <a:t>需要注意的是，</a:t>
            </a:r>
            <a:r>
              <a:rPr lang="en-US" altLang="zh-CN" dirty="0" err="1"/>
              <a:t>iloc</a:t>
            </a:r>
            <a:r>
              <a:rPr lang="zh-CN" altLang="en-US" dirty="0"/>
              <a:t>传入的是索引的序号，</a:t>
            </a:r>
            <a:r>
              <a:rPr lang="en-US" altLang="zh-CN" dirty="0" err="1"/>
              <a:t>loc</a:t>
            </a:r>
            <a:r>
              <a:rPr lang="zh-CN" altLang="en-US" dirty="0"/>
              <a:t>是索引的标签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在当前案例中，索引标签和索引序号刚好相同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并不是所有情况下索引标签=索引序号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例如：在做时间序列分析的时候，我们可以使用日期作为行索引</a:t>
            </a:r>
            <a:endParaRPr lang="zh-CN" altLang="en-US" dirty="0"/>
          </a:p>
          <a:p>
            <a:pPr marL="742950" lvl="2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1655" b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此时索引标签日期</a:t>
            </a:r>
            <a:endParaRPr lang="zh-CN" altLang="en-US" sz="1655" b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2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p"/>
            </a:pPr>
            <a:r>
              <a:rPr lang="zh-CN" altLang="en-US" sz="1655" b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索引序号依然是0，1，2，3</a:t>
            </a:r>
            <a:endParaRPr lang="zh-CN" altLang="en-US" sz="1655" b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/>
              <a:t>使用</a:t>
            </a:r>
            <a:r>
              <a:rPr lang="en-US" altLang="zh-CN" dirty="0" err="1"/>
              <a:t>iloc</a:t>
            </a:r>
            <a:r>
              <a:rPr lang="zh-CN" altLang="en-US" dirty="0"/>
              <a:t>时可以传入</a:t>
            </a:r>
            <a:r>
              <a:rPr lang="en-US" altLang="zh-CN" dirty="0"/>
              <a:t>-1</a:t>
            </a:r>
            <a:r>
              <a:rPr lang="zh-CN" altLang="en-US" dirty="0"/>
              <a:t>来获取最后一行数据，使用</a:t>
            </a:r>
            <a:r>
              <a:rPr lang="en-US" altLang="zh-CN" dirty="0" err="1"/>
              <a:t>loc</a:t>
            </a:r>
            <a:r>
              <a:rPr lang="zh-CN" altLang="en-US" dirty="0"/>
              <a:t>的时候不行</a:t>
            </a:r>
            <a:endParaRPr lang="en-US" altLang="zh-CN" b="0" dirty="0"/>
          </a:p>
          <a:p>
            <a:r>
              <a:rPr lang="en-US" altLang="zh-CN" b="0" dirty="0"/>
              <a:t>print(df.iloc[-1])</a:t>
            </a:r>
            <a:endParaRPr lang="en-US" altLang="zh-CN" b="0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按行加载部分数据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en-US" altLang="zh-CN" dirty="0"/>
              <a:t>Pandas V0.20 </a:t>
            </a:r>
            <a:r>
              <a:rPr lang="zh-CN" altLang="en-US" dirty="0"/>
              <a:t>开始不再支持使用 </a:t>
            </a:r>
            <a:r>
              <a:rPr lang="en-US" altLang="zh-CN" dirty="0"/>
              <a:t>ix </a:t>
            </a:r>
            <a:r>
              <a:rPr lang="zh-CN" altLang="en-US" dirty="0"/>
              <a:t>获取数据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可以把</a:t>
            </a:r>
            <a:r>
              <a:rPr lang="en-US" altLang="zh-CN" dirty="0"/>
              <a:t>ix</a:t>
            </a:r>
            <a:r>
              <a:rPr lang="zh-CN" altLang="en-US" dirty="0"/>
              <a:t>看作</a:t>
            </a:r>
            <a:r>
              <a:rPr lang="en-US" altLang="zh-CN" dirty="0" err="1"/>
              <a:t>loc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iloc</a:t>
            </a:r>
            <a:r>
              <a:rPr lang="zh-CN" altLang="en-US" dirty="0"/>
              <a:t>的结合，因为它允许通过标签或者整数取子集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默认情况下，它会搜索标签，如果找不到相应的标签，就会改用整数索引，这可能导致混乱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使用</a:t>
            </a:r>
            <a:r>
              <a:rPr lang="en-US" altLang="zh-CN" dirty="0"/>
              <a:t>ix</a:t>
            </a:r>
            <a:r>
              <a:rPr lang="zh-CN" altLang="en-US" dirty="0"/>
              <a:t>时与使用</a:t>
            </a:r>
            <a:r>
              <a:rPr lang="en-US" altLang="zh-CN" dirty="0" err="1"/>
              <a:t>loc</a:t>
            </a:r>
            <a:r>
              <a:rPr lang="zh-CN" altLang="en-US" dirty="0"/>
              <a:t>或</a:t>
            </a:r>
            <a:r>
              <a:rPr lang="en-US" altLang="zh-CN" dirty="0" err="1"/>
              <a:t>iloc</a:t>
            </a:r>
            <a:r>
              <a:rPr lang="zh-CN" altLang="en-US" dirty="0"/>
              <a:t>时的代码完全相同，只是将</a:t>
            </a:r>
            <a:r>
              <a:rPr lang="en-US" altLang="zh-CN" dirty="0" err="1"/>
              <a:t>loc</a:t>
            </a:r>
            <a:r>
              <a:rPr lang="zh-CN" altLang="en-US" dirty="0"/>
              <a:t>或者</a:t>
            </a:r>
            <a:r>
              <a:rPr lang="en-US" altLang="zh-CN" dirty="0" err="1"/>
              <a:t>iloc</a:t>
            </a:r>
            <a:r>
              <a:rPr lang="zh-CN" altLang="en-US" dirty="0"/>
              <a:t>换成</a:t>
            </a:r>
            <a:r>
              <a:rPr lang="en-US" altLang="zh-CN" dirty="0"/>
              <a:t>ix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以下代码只能在</a:t>
            </a:r>
            <a:r>
              <a:rPr lang="en-US" altLang="zh-CN" dirty="0"/>
              <a:t>pandas </a:t>
            </a:r>
            <a:r>
              <a:rPr lang="zh-CN" altLang="en-US" dirty="0"/>
              <a:t>版本低于</a:t>
            </a:r>
            <a:r>
              <a:rPr lang="en-US" altLang="zh-CN" dirty="0"/>
              <a:t>0.20</a:t>
            </a:r>
            <a:r>
              <a:rPr lang="zh-CN" altLang="en-US" dirty="0"/>
              <a:t>的时候才能成功运行</a:t>
            </a:r>
            <a:endParaRPr lang="zh-CN" altLang="en-US" dirty="0"/>
          </a:p>
          <a:p>
            <a:r>
              <a:rPr lang="en-US" altLang="zh-CN" dirty="0" err="1"/>
              <a:t>df.ix</a:t>
            </a:r>
            <a:r>
              <a:rPr lang="en-US" altLang="zh-CN" dirty="0"/>
              <a:t>[0] #</a:t>
            </a:r>
            <a:r>
              <a:rPr lang="zh-CN" altLang="en-US" dirty="0"/>
              <a:t> 获取第一行数据</a:t>
            </a:r>
            <a:endParaRPr lang="zh-CN" altLang="en-US" dirty="0"/>
          </a:p>
          <a:p>
            <a:r>
              <a:rPr lang="en-US" altLang="zh-CN" dirty="0" err="1"/>
              <a:t>df.ix</a:t>
            </a:r>
            <a:r>
              <a:rPr lang="en-US" altLang="zh-CN" dirty="0"/>
              <a:t>[99] # </a:t>
            </a:r>
            <a:r>
              <a:rPr lang="zh-CN" altLang="en-US" dirty="0"/>
              <a:t>获取第</a:t>
            </a:r>
            <a:r>
              <a:rPr lang="en-US" altLang="zh-CN" dirty="0"/>
              <a:t>100</a:t>
            </a:r>
            <a:r>
              <a:rPr lang="zh-CN" altLang="en-US" dirty="0"/>
              <a:t>行数据</a:t>
            </a:r>
            <a:endParaRPr lang="zh-CN" altLang="en-US" dirty="0"/>
          </a:p>
          <a:p>
            <a:r>
              <a:rPr lang="en-US" altLang="zh-CN" dirty="0" err="1"/>
              <a:t>df.ix</a:t>
            </a:r>
            <a:r>
              <a:rPr lang="en-US" altLang="zh-CN" dirty="0"/>
              <a:t>[[0,99,999]] # </a:t>
            </a:r>
            <a:r>
              <a:rPr lang="zh-CN" altLang="en-US" dirty="0"/>
              <a:t>获取第</a:t>
            </a:r>
            <a:r>
              <a:rPr lang="en-US" altLang="zh-CN" dirty="0"/>
              <a:t>1</a:t>
            </a:r>
            <a:r>
              <a:rPr lang="zh-CN" altLang="en-US" dirty="0"/>
              <a:t>行，第</a:t>
            </a:r>
            <a:r>
              <a:rPr lang="en-US" altLang="zh-CN" dirty="0"/>
              <a:t>100</a:t>
            </a:r>
            <a:r>
              <a:rPr lang="zh-CN" altLang="en-US" dirty="0"/>
              <a:t>行，第</a:t>
            </a:r>
            <a:r>
              <a:rPr lang="en-US" altLang="zh-CN" dirty="0"/>
              <a:t>1000</a:t>
            </a:r>
            <a:r>
              <a:rPr lang="zh-CN" altLang="en-US" dirty="0"/>
              <a:t>行数据</a:t>
            </a:r>
            <a:endParaRPr lang="en-US" altLang="zh-CN" b="0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loc</a:t>
            </a:r>
            <a:r>
              <a:rPr lang="zh-CN" altLang="en-US" dirty="0"/>
              <a:t>和</a:t>
            </a:r>
            <a:r>
              <a:rPr lang="en-US" altLang="zh-CN" dirty="0" err="1"/>
              <a:t>iloc</a:t>
            </a:r>
            <a:r>
              <a:rPr lang="zh-CN" altLang="en-US" dirty="0"/>
              <a:t>属性既可以用于获取列数据，也可以用于获取行数据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b="0" dirty="0" err="1"/>
              <a:t>df.loc</a:t>
            </a:r>
            <a:r>
              <a:rPr lang="en-US" altLang="zh-CN" b="0" dirty="0"/>
              <a:t>[[</a:t>
            </a:r>
            <a:r>
              <a:rPr lang="zh-CN" altLang="en-US" b="0" dirty="0"/>
              <a:t>行</a:t>
            </a:r>
            <a:r>
              <a:rPr lang="en-US" altLang="zh-CN" b="0" dirty="0"/>
              <a:t>]</a:t>
            </a:r>
            <a:r>
              <a:rPr lang="zh-CN" altLang="en-US" b="0" dirty="0"/>
              <a:t>，</a:t>
            </a:r>
            <a:r>
              <a:rPr lang="en-US" altLang="zh-CN" b="0" dirty="0"/>
              <a:t>[</a:t>
            </a:r>
            <a:r>
              <a:rPr lang="zh-CN" altLang="en-US" b="0" dirty="0"/>
              <a:t>列</a:t>
            </a:r>
            <a:r>
              <a:rPr lang="en-US" altLang="zh-CN" b="0" dirty="0"/>
              <a:t>]]</a:t>
            </a:r>
            <a:endParaRPr lang="en-US" altLang="zh-CN" b="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b="0" dirty="0" err="1"/>
              <a:t>df.iloc</a:t>
            </a:r>
            <a:r>
              <a:rPr lang="en-US" altLang="zh-CN" b="0" dirty="0"/>
              <a:t>[[</a:t>
            </a:r>
            <a:r>
              <a:rPr lang="zh-CN" altLang="en-US" b="0" dirty="0"/>
              <a:t>行</a:t>
            </a:r>
            <a:r>
              <a:rPr lang="en-US" altLang="zh-CN" b="0" dirty="0"/>
              <a:t>]</a:t>
            </a:r>
            <a:r>
              <a:rPr lang="zh-CN" altLang="en-US" b="0" dirty="0"/>
              <a:t>，</a:t>
            </a:r>
            <a:r>
              <a:rPr lang="en-US" altLang="zh-CN" b="0" dirty="0"/>
              <a:t>[</a:t>
            </a:r>
            <a:r>
              <a:rPr lang="zh-CN" altLang="en-US" b="0" dirty="0"/>
              <a:t>列</a:t>
            </a:r>
            <a:r>
              <a:rPr lang="en-US" altLang="zh-CN" b="0" dirty="0"/>
              <a:t>]]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使用 </a:t>
            </a:r>
            <a:r>
              <a:rPr lang="en-US" altLang="zh-CN" dirty="0" err="1"/>
              <a:t>loc</a:t>
            </a:r>
            <a:r>
              <a:rPr lang="en-US" altLang="zh-CN" dirty="0"/>
              <a:t> </a:t>
            </a:r>
            <a:r>
              <a:rPr lang="zh-CN" altLang="en-US" dirty="0"/>
              <a:t>获取数据中的</a:t>
            </a:r>
            <a:r>
              <a:rPr lang="en-US" altLang="zh-CN" dirty="0"/>
              <a:t>1</a:t>
            </a:r>
            <a:r>
              <a:rPr lang="zh-CN" altLang="en-US" dirty="0"/>
              <a:t>列</a:t>
            </a:r>
            <a:r>
              <a:rPr lang="en-US" altLang="zh-CN" dirty="0"/>
              <a:t>/</a:t>
            </a:r>
            <a:r>
              <a:rPr lang="zh-CN" altLang="en-US" dirty="0"/>
              <a:t>几列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 err="1"/>
              <a:t>df.loc</a:t>
            </a:r>
            <a:r>
              <a:rPr lang="en-US" altLang="zh-CN" dirty="0"/>
              <a:t>[[</a:t>
            </a:r>
            <a:r>
              <a:rPr lang="zh-CN" altLang="en-US" dirty="0"/>
              <a:t>所有行</a:t>
            </a:r>
            <a:r>
              <a:rPr lang="en-US" altLang="zh-CN" dirty="0"/>
              <a:t>],[</a:t>
            </a:r>
            <a:r>
              <a:rPr lang="zh-CN" altLang="en-US" dirty="0"/>
              <a:t>列名</a:t>
            </a:r>
            <a:r>
              <a:rPr lang="en-US" altLang="zh-CN" dirty="0"/>
              <a:t>]] 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取出所有行，可以使用切片语法 </a:t>
            </a:r>
            <a:r>
              <a:rPr lang="en-US" altLang="zh-CN" dirty="0" err="1"/>
              <a:t>df.loc</a:t>
            </a:r>
            <a:r>
              <a:rPr lang="en-US" altLang="zh-CN" dirty="0"/>
              <a:t>[ : , [</a:t>
            </a:r>
            <a:r>
              <a:rPr lang="zh-CN" altLang="en-US" dirty="0"/>
              <a:t>列名</a:t>
            </a:r>
            <a:r>
              <a:rPr lang="en-US" altLang="zh-CN" dirty="0"/>
              <a:t>]]</a:t>
            </a:r>
            <a:endParaRPr lang="en-US" altLang="zh-CN" dirty="0"/>
          </a:p>
          <a:p>
            <a:r>
              <a:rPr lang="en-US" altLang="zh-CN" dirty="0"/>
              <a:t>subset = </a:t>
            </a:r>
            <a:r>
              <a:rPr lang="en-US" altLang="zh-CN" dirty="0" err="1"/>
              <a:t>df.loc</a:t>
            </a:r>
            <a:r>
              <a:rPr lang="en-US" altLang="zh-CN" dirty="0"/>
              <a:t>[:,['</a:t>
            </a:r>
            <a:r>
              <a:rPr lang="en-US" altLang="zh-CN" dirty="0" err="1"/>
              <a:t>year','pop</a:t>
            </a:r>
            <a:r>
              <a:rPr lang="en-US" altLang="zh-CN" dirty="0"/>
              <a:t>']] 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subset.head</a:t>
            </a:r>
            <a:r>
              <a:rPr lang="en-US" altLang="zh-CN" dirty="0"/>
              <a:t>())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使用 </a:t>
            </a:r>
            <a:r>
              <a:rPr lang="en-US" altLang="zh-CN" dirty="0" err="1"/>
              <a:t>iloc</a:t>
            </a:r>
            <a:r>
              <a:rPr lang="en-US" altLang="zh-CN" dirty="0"/>
              <a:t> </a:t>
            </a:r>
            <a:r>
              <a:rPr lang="zh-CN" altLang="en-US" dirty="0"/>
              <a:t>获取数据中的</a:t>
            </a:r>
            <a:r>
              <a:rPr lang="en-US" altLang="zh-CN" dirty="0"/>
              <a:t>1</a:t>
            </a:r>
            <a:r>
              <a:rPr lang="zh-CN" altLang="en-US" dirty="0"/>
              <a:t>列</a:t>
            </a:r>
            <a:r>
              <a:rPr lang="en-US" altLang="zh-CN" dirty="0"/>
              <a:t>/</a:t>
            </a:r>
            <a:r>
              <a:rPr lang="zh-CN" altLang="en-US" dirty="0"/>
              <a:t>几列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 err="1"/>
              <a:t>df.iloc</a:t>
            </a:r>
            <a:r>
              <a:rPr lang="en-US" altLang="zh-CN" dirty="0"/>
              <a:t>[:,[</a:t>
            </a:r>
            <a:r>
              <a:rPr lang="zh-CN" altLang="en-US" dirty="0"/>
              <a:t>列序号</a:t>
            </a:r>
            <a:r>
              <a:rPr lang="en-US" altLang="zh-CN" dirty="0"/>
              <a:t>]] # </a:t>
            </a:r>
            <a:r>
              <a:rPr lang="zh-CN" altLang="en-US" dirty="0"/>
              <a:t>列序号可以使用</a:t>
            </a:r>
            <a:r>
              <a:rPr lang="en-US" altLang="zh-CN" dirty="0"/>
              <a:t>-1</a:t>
            </a:r>
            <a:r>
              <a:rPr lang="zh-CN" altLang="en-US" dirty="0"/>
              <a:t>代表最后一列</a:t>
            </a:r>
            <a:endParaRPr lang="en-US" altLang="zh-CN" dirty="0"/>
          </a:p>
          <a:p>
            <a:r>
              <a:rPr lang="en-GB" altLang="zh-CN" dirty="0"/>
              <a:t>subset = </a:t>
            </a:r>
            <a:r>
              <a:rPr lang="en-GB" altLang="zh-CN" dirty="0" err="1"/>
              <a:t>df.iloc</a:t>
            </a:r>
            <a:r>
              <a:rPr lang="en-GB" altLang="zh-CN" dirty="0"/>
              <a:t>[:,[2,4,-1]]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subset.head</a:t>
            </a:r>
            <a:r>
              <a:rPr lang="en-GB" altLang="zh-CN" dirty="0"/>
              <a:t>())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如果</a:t>
            </a:r>
            <a:r>
              <a:rPr lang="en-US" altLang="zh-CN" dirty="0" err="1"/>
              <a:t>loc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iloc</a:t>
            </a:r>
            <a:r>
              <a:rPr lang="en-US" altLang="zh-CN" dirty="0"/>
              <a:t> </a:t>
            </a:r>
            <a:r>
              <a:rPr lang="zh-CN" altLang="en-US" dirty="0"/>
              <a:t>传入的参数弄混了，会报错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 err="1"/>
              <a:t>loc</a:t>
            </a:r>
            <a:r>
              <a:rPr lang="en-US" altLang="zh-CN" dirty="0"/>
              <a:t> </a:t>
            </a:r>
            <a:r>
              <a:rPr lang="zh-CN" altLang="en-US" dirty="0"/>
              <a:t>只能接受行</a:t>
            </a:r>
            <a:r>
              <a:rPr lang="en-US" altLang="zh-CN" dirty="0"/>
              <a:t>/</a:t>
            </a:r>
            <a:r>
              <a:rPr lang="zh-CN" altLang="en-US" dirty="0"/>
              <a:t>列 的名字， 不能传入索引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GB" altLang="zh-CN" dirty="0" err="1"/>
              <a:t>iloc</a:t>
            </a:r>
            <a:r>
              <a:rPr lang="zh-CN" altLang="en-US" dirty="0"/>
              <a:t>只能接受行</a:t>
            </a:r>
            <a:r>
              <a:rPr lang="en-US" altLang="zh-CN" dirty="0"/>
              <a:t>/</a:t>
            </a:r>
            <a:r>
              <a:rPr lang="zh-CN" altLang="en-US" dirty="0"/>
              <a:t>列的索引，不能传入行名，或者列名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通过</a:t>
            </a:r>
            <a:r>
              <a:rPr lang="en-US" altLang="zh-CN" dirty="0"/>
              <a:t>range </a:t>
            </a:r>
            <a:r>
              <a:rPr lang="zh-CN" altLang="en-US" dirty="0"/>
              <a:t>生成序号，结合</a:t>
            </a:r>
            <a:r>
              <a:rPr lang="en-US" altLang="zh-CN" dirty="0" err="1"/>
              <a:t>iloc</a:t>
            </a:r>
            <a:r>
              <a:rPr lang="en-US" altLang="zh-CN" dirty="0"/>
              <a:t> </a:t>
            </a:r>
            <a:r>
              <a:rPr lang="zh-CN" altLang="en-US" dirty="0"/>
              <a:t>获取连续多列数据</a:t>
            </a:r>
            <a:endParaRPr lang="en-US" altLang="zh-CN" dirty="0"/>
          </a:p>
          <a:p>
            <a:r>
              <a:rPr lang="en-US" altLang="zh-CN" dirty="0" err="1"/>
              <a:t>tmp_range</a:t>
            </a:r>
            <a:r>
              <a:rPr lang="en-US" altLang="zh-CN" dirty="0"/>
              <a:t> = list(range(5))</a:t>
            </a:r>
            <a:endParaRPr lang="en-US" altLang="zh-CN" dirty="0"/>
          </a:p>
          <a:p>
            <a:r>
              <a:rPr lang="en-US" altLang="zh-CN" dirty="0"/>
              <a:t>print(tmp_range)</a:t>
            </a:r>
            <a:endParaRPr lang="en-US" altLang="zh-CN" dirty="0"/>
          </a:p>
          <a:p>
            <a:r>
              <a:rPr lang="en-GB" altLang="zh-CN" dirty="0"/>
              <a:t>subset = </a:t>
            </a:r>
            <a:r>
              <a:rPr lang="en-GB" altLang="zh-CN" dirty="0" err="1"/>
              <a:t>df.iloc</a:t>
            </a:r>
            <a:r>
              <a:rPr lang="en-GB" altLang="zh-CN" dirty="0"/>
              <a:t>[:,</a:t>
            </a:r>
            <a:r>
              <a:rPr lang="en-GB" altLang="zh-CN" dirty="0" err="1"/>
              <a:t>tmp_range</a:t>
            </a:r>
            <a:r>
              <a:rPr lang="en-GB" altLang="zh-CN" dirty="0"/>
              <a:t>]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 err="1"/>
              <a:t>tmp_range</a:t>
            </a:r>
            <a:r>
              <a:rPr lang="en-GB" altLang="zh-CN" dirty="0"/>
              <a:t> = list(range(3,5))</a:t>
            </a:r>
            <a:endParaRPr lang="en-GB" altLang="zh-CN" dirty="0"/>
          </a:p>
          <a:p>
            <a:r>
              <a:rPr lang="en-GB" altLang="zh-CN" dirty="0"/>
              <a:t>print(tmp_range)</a:t>
            </a:r>
            <a:endParaRPr lang="en-GB" altLang="zh-CN" dirty="0"/>
          </a:p>
          <a:p>
            <a:r>
              <a:rPr lang="en-GB" altLang="zh-CN" dirty="0"/>
              <a:t>subset = </a:t>
            </a:r>
            <a:r>
              <a:rPr lang="en-GB" altLang="zh-CN" dirty="0" err="1"/>
              <a:t>df.iloc</a:t>
            </a:r>
            <a:r>
              <a:rPr lang="en-GB" altLang="zh-CN" dirty="0"/>
              <a:t>[:,</a:t>
            </a:r>
            <a:r>
              <a:rPr lang="en-GB" altLang="zh-CN" dirty="0" err="1"/>
              <a:t>tmp_range</a:t>
            </a:r>
            <a:r>
              <a:rPr lang="en-GB" altLang="zh-CN" dirty="0"/>
              <a:t>]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在 </a:t>
            </a:r>
            <a:r>
              <a:rPr lang="en-US" altLang="zh-CN" dirty="0" err="1"/>
              <a:t>iloc</a:t>
            </a:r>
            <a:r>
              <a:rPr lang="zh-CN" altLang="en-US" dirty="0"/>
              <a:t>中使用切片语法获取几列数据</a:t>
            </a:r>
            <a:endParaRPr lang="en-US" altLang="zh-CN" dirty="0"/>
          </a:p>
          <a:p>
            <a:r>
              <a:rPr lang="zh-CN" altLang="en-US" dirty="0"/>
              <a:t>使用切片语法获取前三列</a:t>
            </a:r>
            <a:endParaRPr lang="en-US" altLang="zh-CN" dirty="0"/>
          </a:p>
          <a:p>
            <a:r>
              <a:rPr lang="en-US" altLang="zh-CN" dirty="0"/>
              <a:t>subset = </a:t>
            </a:r>
            <a:r>
              <a:rPr lang="en-US" altLang="zh-CN" dirty="0" err="1"/>
              <a:t>df.iloc</a:t>
            </a:r>
            <a:r>
              <a:rPr lang="en-US" altLang="zh-CN" dirty="0"/>
              <a:t>[:,0:3]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subset.head</a:t>
            </a:r>
            <a:r>
              <a:rPr lang="en-US" altLang="zh-CN" dirty="0"/>
              <a:t>())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获取第</a:t>
            </a:r>
            <a:r>
              <a:rPr lang="en-US" altLang="zh-CN" dirty="0"/>
              <a:t>0,2,4</a:t>
            </a:r>
            <a:r>
              <a:rPr lang="zh-CN" altLang="en-US" dirty="0"/>
              <a:t>列</a:t>
            </a:r>
            <a:endParaRPr lang="en-US" altLang="zh-CN" dirty="0"/>
          </a:p>
          <a:p>
            <a:r>
              <a:rPr lang="en-US" altLang="zh-CN" dirty="0"/>
              <a:t>subset = </a:t>
            </a:r>
            <a:r>
              <a:rPr lang="en-US" altLang="zh-CN" dirty="0" err="1"/>
              <a:t>df.iloc</a:t>
            </a:r>
            <a:r>
              <a:rPr lang="en-US" altLang="zh-CN" dirty="0"/>
              <a:t>[:,0:6:2]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subset.head</a:t>
            </a:r>
            <a:r>
              <a:rPr lang="en-US" altLang="zh-CN" dirty="0"/>
              <a:t>())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7"/>
            </a:pPr>
            <a:r>
              <a:rPr lang="zh-CN" altLang="en-US" dirty="0"/>
              <a:t>使用 </a:t>
            </a:r>
            <a:r>
              <a:rPr lang="en-US" altLang="zh-CN" dirty="0" err="1"/>
              <a:t>loc</a:t>
            </a:r>
            <a:r>
              <a:rPr lang="en-US" altLang="zh-CN" dirty="0"/>
              <a:t>/</a:t>
            </a:r>
            <a:r>
              <a:rPr lang="en-US" altLang="zh-CN" dirty="0" err="1"/>
              <a:t>iloc</a:t>
            </a:r>
            <a:r>
              <a:rPr lang="en-US" altLang="zh-CN" dirty="0"/>
              <a:t> </a:t>
            </a:r>
            <a:r>
              <a:rPr lang="zh-CN" altLang="en-US" dirty="0"/>
              <a:t>获取指定行，指定列的数据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使用</a:t>
            </a:r>
            <a:r>
              <a:rPr lang="en-GB" altLang="zh-CN" dirty="0" err="1"/>
              <a:t>loc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df.loc</a:t>
            </a:r>
            <a:r>
              <a:rPr lang="en-GB" altLang="zh-CN" dirty="0"/>
              <a:t>[42,'country’])</a:t>
            </a:r>
            <a:endParaRPr lang="en-GB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使用</a:t>
            </a:r>
            <a:r>
              <a:rPr lang="en-GB" altLang="zh-CN" dirty="0" err="1"/>
              <a:t>iloc</a:t>
            </a:r>
            <a:endParaRPr lang="en-GB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df.iloc</a:t>
            </a:r>
            <a:r>
              <a:rPr lang="en-US" altLang="zh-CN" dirty="0"/>
              <a:t>[42,0])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不要混淆</a:t>
            </a:r>
            <a:r>
              <a:rPr lang="en-US" altLang="zh-CN" dirty="0" err="1"/>
              <a:t>loc</a:t>
            </a:r>
            <a:r>
              <a:rPr lang="zh-CN" altLang="en-US" dirty="0"/>
              <a:t>和</a:t>
            </a:r>
            <a:r>
              <a:rPr lang="en-US" altLang="zh-CN" dirty="0" err="1"/>
              <a:t>iloc</a:t>
            </a:r>
            <a:r>
              <a:rPr lang="zh-CN" altLang="en-US" dirty="0"/>
              <a:t>，</a:t>
            </a:r>
            <a:r>
              <a:rPr lang="en-US" altLang="zh-CN" dirty="0" err="1"/>
              <a:t>df.loc</a:t>
            </a:r>
            <a:r>
              <a:rPr lang="en-US" altLang="zh-CN" dirty="0"/>
              <a:t>[42,0] </a:t>
            </a:r>
            <a:r>
              <a:rPr lang="zh-CN" altLang="en-US" dirty="0"/>
              <a:t>会报错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df.loc</a:t>
            </a:r>
            <a:r>
              <a:rPr lang="en-US" altLang="zh-CN" dirty="0"/>
              <a:t>[42,0])</a:t>
            </a: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8"/>
            </a:pPr>
            <a:r>
              <a:rPr lang="zh-CN" altLang="en-US" dirty="0"/>
              <a:t>获取多行多列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可以把获取单行单列的语法和获取多行多列的语法结合起来使用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获取 第一列，第四列，第六列（</a:t>
            </a:r>
            <a:r>
              <a:rPr lang="en-GB" altLang="zh-CN" dirty="0" err="1"/>
              <a:t>country,lifeExp,gdpPercap</a:t>
            </a:r>
            <a:r>
              <a:rPr lang="en-GB" altLang="zh-CN" dirty="0"/>
              <a:t>) </a:t>
            </a:r>
            <a:r>
              <a:rPr lang="zh-CN" altLang="en-US" dirty="0"/>
              <a:t>数据中的第</a:t>
            </a:r>
            <a:r>
              <a:rPr lang="en-US" altLang="zh-CN" dirty="0"/>
              <a:t>1</a:t>
            </a:r>
            <a:r>
              <a:rPr lang="zh-CN" altLang="en-US" dirty="0"/>
              <a:t>行，第</a:t>
            </a:r>
            <a:r>
              <a:rPr lang="en-US" altLang="zh-CN" dirty="0"/>
              <a:t>100</a:t>
            </a:r>
            <a:r>
              <a:rPr lang="zh-CN" altLang="en-US" dirty="0"/>
              <a:t>行和第</a:t>
            </a:r>
            <a:r>
              <a:rPr lang="en-US" altLang="zh-CN" dirty="0"/>
              <a:t>1000</a:t>
            </a:r>
            <a:r>
              <a:rPr lang="zh-CN" altLang="en-US" dirty="0"/>
              <a:t>行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df.iloc</a:t>
            </a:r>
            <a:r>
              <a:rPr lang="en-US" altLang="zh-CN" dirty="0"/>
              <a:t>[[0,99,999],[0,3,5]])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1225" y="3604895"/>
            <a:ext cx="7912100" cy="19951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 查看部分数据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获取指定行</a:t>
            </a:r>
            <a:r>
              <a:rPr lang="en-US" altLang="zh-CN" dirty="0"/>
              <a:t>/</a:t>
            </a:r>
            <a:r>
              <a:rPr lang="zh-CN" altLang="en-US" dirty="0"/>
              <a:t>列数据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8"/>
            </a:pPr>
            <a:r>
              <a:rPr lang="zh-CN" altLang="en-US" dirty="0"/>
              <a:t>获取多行多列</a:t>
            </a:r>
            <a:endParaRPr lang="en-US" altLang="zh-CN" dirty="0"/>
          </a:p>
          <a:p>
            <a:pPr>
              <a:buFont typeface="Wingdings" panose="05000000000000000000" charset="0"/>
            </a:pPr>
            <a:r>
              <a:rPr lang="zh-CN" altLang="en-US" dirty="0"/>
              <a:t>在实际工作中，获取某几列数据的时候，建议传入实际的列名，使用列名的好处：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0" dirty="0"/>
              <a:t>增加代码的可读性</a:t>
            </a:r>
            <a:endParaRPr lang="zh-CN" altLang="en-US" b="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0" dirty="0"/>
              <a:t>避免因列顺序的变化导致取出错误的列数据</a:t>
            </a:r>
            <a:endParaRPr lang="en-US" altLang="zh-CN" b="0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df.loc</a:t>
            </a:r>
            <a:r>
              <a:rPr lang="en-GB" altLang="zh-CN" dirty="0"/>
              <a:t>[[0,99,999],['country','</a:t>
            </a:r>
            <a:r>
              <a:rPr lang="en-GB" altLang="zh-CN" dirty="0" err="1"/>
              <a:t>lifeExp</a:t>
            </a:r>
            <a:r>
              <a:rPr lang="en-GB" altLang="zh-CN" dirty="0"/>
              <a:t>','</a:t>
            </a:r>
            <a:r>
              <a:rPr lang="en-GB" altLang="zh-CN" dirty="0" err="1"/>
              <a:t>gdpPercap</a:t>
            </a:r>
            <a:r>
              <a:rPr lang="en-GB" altLang="zh-CN" dirty="0"/>
              <a:t>']])</a:t>
            </a:r>
            <a:endParaRPr lang="en-GB" altLang="zh-CN" dirty="0"/>
          </a:p>
          <a:p>
            <a:endParaRPr lang="en-GB" altLang="zh-CN" dirty="0"/>
          </a:p>
          <a:p>
            <a:r>
              <a:rPr lang="zh-CN" altLang="en-US" b="0" dirty="0"/>
              <a:t>注意：可以在loc 和 iloc 属性的行部分使用切片获取数据</a:t>
            </a:r>
            <a:endParaRPr lang="en-GB" altLang="zh-CN" b="0" dirty="0"/>
          </a:p>
          <a:p>
            <a:r>
              <a:rPr lang="zh-CN" altLang="en-US" b="0" dirty="0"/>
              <a:t>print(df.loc[2:6,['country','lifeExp','gdpPercap']])</a:t>
            </a:r>
            <a:endParaRPr lang="zh-CN" altLang="en-US" b="0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Pandas DataFrame</a:t>
            </a:r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/>
              <a:t>加载数据集</a:t>
            </a:r>
            <a:endParaRPr lang="zh-CN" altLang="en-US" b="1" dirty="0"/>
          </a:p>
          <a:p>
            <a:r>
              <a:rPr lang="zh-CN" altLang="en-US" b="1" dirty="0"/>
              <a:t>查看部分数据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分组和聚合计算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基本绘图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分组和聚合计算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分组和聚合介绍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在我们使用</a:t>
            </a:r>
            <a:r>
              <a:rPr lang="en-US" altLang="zh-CN" dirty="0"/>
              <a:t>Excel</a:t>
            </a:r>
            <a:r>
              <a:rPr lang="zh-CN" altLang="en-US" dirty="0"/>
              <a:t>或者</a:t>
            </a:r>
            <a:r>
              <a:rPr lang="en-US" altLang="zh-CN" dirty="0"/>
              <a:t>SQL</a:t>
            </a:r>
            <a:r>
              <a:rPr lang="zh-CN" altLang="en-US" dirty="0"/>
              <a:t>进行数据处理时，</a:t>
            </a:r>
            <a:r>
              <a:rPr lang="en-US" altLang="zh-CN" dirty="0"/>
              <a:t>Excel</a:t>
            </a:r>
            <a:r>
              <a:rPr lang="zh-CN" altLang="en-US" dirty="0"/>
              <a:t>和</a:t>
            </a:r>
            <a:r>
              <a:rPr lang="en-US" altLang="zh-CN" dirty="0"/>
              <a:t>SQL</a:t>
            </a:r>
            <a:r>
              <a:rPr lang="zh-CN" altLang="en-US" dirty="0"/>
              <a:t>都提供了基本的统计计算功能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当我们再次查看</a:t>
            </a:r>
            <a:r>
              <a:rPr lang="en-US" altLang="zh-CN" dirty="0" err="1"/>
              <a:t>gapminder</a:t>
            </a:r>
            <a:r>
              <a:rPr lang="zh-CN" altLang="en-US" dirty="0"/>
              <a:t>数据的时候，可以根据数据提出几个问题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每一年的平均预期寿命是多少？每一年的平均人口和平均</a:t>
            </a:r>
            <a:r>
              <a:rPr lang="en-US" altLang="zh-CN" dirty="0"/>
              <a:t>GDP</a:t>
            </a:r>
            <a:r>
              <a:rPr lang="zh-CN" altLang="en-US" dirty="0"/>
              <a:t>是多少？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如果我们按照大洲来计算，每年每个大洲的平均预期寿命，平均人口，平均</a:t>
            </a:r>
            <a:r>
              <a:rPr lang="en-US" altLang="zh-CN" dirty="0"/>
              <a:t>GDP</a:t>
            </a:r>
            <a:r>
              <a:rPr lang="zh-CN" altLang="en-US" dirty="0"/>
              <a:t>情况又如何？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在数据中，每个大洲列出了多少个国家和地区？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分组和聚合计算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分组方式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对于上面提出的问题，需要进行分组</a:t>
            </a:r>
            <a:r>
              <a:rPr lang="en-US" altLang="zh-CN" dirty="0"/>
              <a:t>-</a:t>
            </a:r>
            <a:r>
              <a:rPr lang="zh-CN" altLang="en-US" dirty="0"/>
              <a:t>聚合计算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先将数据分组（每一年的平均预期寿命问题 按照年份将相同年份的数据分成一组） 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对每组的数据再去进行统计计算</a:t>
            </a:r>
            <a:r>
              <a:rPr lang="en-US" altLang="zh-CN" dirty="0"/>
              <a:t> </a:t>
            </a:r>
            <a:r>
              <a:rPr lang="zh-CN" altLang="en-US" dirty="0"/>
              <a:t>如</a:t>
            </a:r>
            <a:r>
              <a:rPr lang="en-US" altLang="zh-CN" dirty="0"/>
              <a:t>:</a:t>
            </a:r>
            <a:r>
              <a:rPr lang="zh-CN" altLang="en-US" dirty="0"/>
              <a:t>求平均，求每组数据条目数（频数）等</a:t>
            </a:r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再将每一组计算的结果合并起来</a:t>
            </a: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可以使用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 err="1"/>
              <a:t>groupby</a:t>
            </a:r>
            <a:r>
              <a:rPr lang="zh-CN" altLang="en-US" dirty="0"/>
              <a:t>方法完成分组</a:t>
            </a:r>
            <a:r>
              <a:rPr lang="en-US" altLang="zh-CN" dirty="0"/>
              <a:t>/</a:t>
            </a:r>
            <a:r>
              <a:rPr lang="zh-CN" altLang="en-US" dirty="0"/>
              <a:t>聚合计算</a:t>
            </a:r>
            <a:endParaRPr lang="en-US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df.groupby</a:t>
            </a:r>
            <a:r>
              <a:rPr lang="en-GB" altLang="zh-CN" dirty="0"/>
              <a:t>('year')['</a:t>
            </a:r>
            <a:r>
              <a:rPr lang="en-GB" altLang="zh-CN" dirty="0" err="1"/>
              <a:t>lifeExp</a:t>
            </a:r>
            <a:r>
              <a:rPr lang="en-GB" altLang="zh-CN" dirty="0"/>
              <a:t>'].mean())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4240530"/>
            <a:ext cx="2235200" cy="24828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分组和聚合计算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分组方式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294505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将前面一行代码拆开，逐步分析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通过</a:t>
            </a:r>
            <a:r>
              <a:rPr lang="en-GB" altLang="zh-CN" dirty="0" err="1"/>
              <a:t>df.groupby</a:t>
            </a:r>
            <a:r>
              <a:rPr lang="en-GB" altLang="zh-CN" dirty="0"/>
              <a:t>('year')</a:t>
            </a:r>
            <a:r>
              <a:rPr lang="zh-CN" altLang="en-US" dirty="0"/>
              <a:t>先创一个分组对象</a:t>
            </a:r>
            <a:endParaRPr lang="zh-CN" altLang="en-US" dirty="0"/>
          </a:p>
          <a:p>
            <a:pPr>
              <a:buFont typeface="+mj-ea"/>
            </a:pPr>
            <a:r>
              <a:rPr lang="en-US" altLang="zh-CN" dirty="0"/>
              <a:t>df.groupby('year')</a:t>
            </a:r>
            <a:endParaRPr lang="en-US" altLang="zh-CN" dirty="0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dirty="0"/>
              <a:t>从分组之后的数据</a:t>
            </a:r>
            <a:r>
              <a:rPr lang="en-US" altLang="zh-CN" dirty="0" err="1"/>
              <a:t>DataFrameGroupBy</a:t>
            </a:r>
            <a:r>
              <a:rPr lang="zh-CN" altLang="en-US" dirty="0"/>
              <a:t>中，传入列名获取我们感兴趣的数据，并进行进一步计算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计算每一年的平均预期寿命，我们需要用到 lifeExp 这一列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我们可以使用上一小节介绍的方法获取分组之后数据中的一列</a:t>
            </a:r>
            <a:endParaRPr lang="zh-CN" altLang="en-US" dirty="0"/>
          </a:p>
          <a:p>
            <a:pPr>
              <a:buFont typeface="Wingdings" panose="05000000000000000000" charset="0"/>
            </a:pPr>
            <a:r>
              <a:rPr lang="en-US" altLang="zh-CN" dirty="0">
                <a:sym typeface="+mn-ea"/>
              </a:rPr>
              <a:t>df.groupby('year')</a:t>
            </a:r>
            <a:r>
              <a:rPr lang="zh-CN" altLang="en-US" dirty="0"/>
              <a:t>['lifeExp']</a:t>
            </a:r>
            <a:endParaRPr lang="zh-CN" altLang="en-US" dirty="0"/>
          </a:p>
          <a:p>
            <a:pPr marL="342900" indent="-342900">
              <a:buFont typeface="+mj-ea"/>
              <a:buAutoNum type="circleNumDbPlain" startAt="3"/>
            </a:pPr>
            <a:r>
              <a:rPr lang="zh-CN" altLang="en-US" dirty="0"/>
              <a:t>返回结果为一个 </a:t>
            </a:r>
            <a:r>
              <a:rPr lang="en-GB" altLang="zh-CN" dirty="0" err="1"/>
              <a:t>SeriesGroupBy</a:t>
            </a:r>
            <a:r>
              <a:rPr lang="en-GB" altLang="zh-CN" dirty="0"/>
              <a:t> </a:t>
            </a:r>
            <a:r>
              <a:rPr lang="zh-CN" altLang="en-US" dirty="0"/>
              <a:t>，其内容是分组后的数据</a:t>
            </a:r>
            <a:endParaRPr lang="zh-CN" altLang="en-US" dirty="0"/>
          </a:p>
          <a:p>
            <a:pPr marL="342900" indent="-342900">
              <a:buFont typeface="+mj-ea"/>
              <a:buAutoNum type="circleNumDbPlain" startAt="3"/>
            </a:pPr>
            <a:r>
              <a:rPr lang="zh-CN" altLang="en-US" dirty="0"/>
              <a:t>对分组后的数据计算平均值</a:t>
            </a:r>
            <a:endParaRPr lang="zh-CN" altLang="en-US" dirty="0"/>
          </a:p>
          <a:p>
            <a:pPr>
              <a:buFont typeface="+mj-ea"/>
            </a:pPr>
            <a:r>
              <a:rPr lang="en-US" altLang="zh-CN" dirty="0">
                <a:sym typeface="+mn-ea"/>
              </a:rPr>
              <a:t>df.groupby('year')</a:t>
            </a:r>
            <a:r>
              <a:rPr lang="zh-CN" altLang="en-US" dirty="0">
                <a:sym typeface="+mn-ea"/>
              </a:rPr>
              <a:t>['lifeExp']</a:t>
            </a:r>
            <a:r>
              <a:rPr lang="en-US" altLang="zh-CN" dirty="0"/>
              <a:t>.mean()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715" y="2586355"/>
            <a:ext cx="5676900" cy="398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910" y="4157980"/>
            <a:ext cx="5429250" cy="4902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分组和聚合计算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分组方式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565" y="1649095"/>
            <a:ext cx="10699115" cy="4878070"/>
          </a:xfrm>
        </p:spPr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上面的例子只是对一列 lifeExp 进行了分组求平均，如果想对多列值进行分组聚合代码也类似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df.groupby</a:t>
            </a:r>
            <a:r>
              <a:rPr lang="en-US" altLang="zh-CN" dirty="0"/>
              <a:t>(['year', 'continent'])[['</a:t>
            </a:r>
            <a:r>
              <a:rPr lang="en-US" altLang="zh-CN" dirty="0" err="1"/>
              <a:t>lifeExp</a:t>
            </a:r>
            <a:r>
              <a:rPr lang="en-US" altLang="zh-CN" dirty="0"/>
              <a:t>','</a:t>
            </a:r>
            <a:r>
              <a:rPr lang="en-US" altLang="zh-CN" dirty="0" err="1"/>
              <a:t>gdpPercap</a:t>
            </a:r>
            <a:r>
              <a:rPr lang="en-US" altLang="zh-CN" dirty="0"/>
              <a:t>']].mean())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649220"/>
            <a:ext cx="7594600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分组和聚合计算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分组方式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565" y="1508760"/>
            <a:ext cx="10699115" cy="4632960"/>
          </a:xfrm>
        </p:spPr>
        <p:txBody>
          <a:bodyPr/>
          <a:lstStyle/>
          <a:p>
            <a:pPr>
              <a:buFont typeface="+mj-lt"/>
            </a:pPr>
            <a:r>
              <a:rPr lang="en-US" altLang="zh-CN" dirty="0"/>
              <a:t>上面的代码按年份和大洲对数据进行分组，针对每一组数据计算了对应的平均预期寿命lifeExp和平均GDP</a:t>
            </a:r>
            <a:endParaRPr lang="en-US" altLang="zh-CN" dirty="0"/>
          </a:p>
          <a:p>
            <a:r>
              <a:rPr lang="en-US" altLang="zh-CN" dirty="0"/>
              <a:t>输出的结果中 year continent 和 lifeExp gdpPercap 不在同一行， year continent两个行索</a:t>
            </a:r>
            <a:endParaRPr lang="en-US" altLang="zh-CN" dirty="0"/>
          </a:p>
          <a:p>
            <a:r>
              <a:rPr lang="en-US" altLang="zh-CN" dirty="0"/>
              <a:t>引存在层级结构，后面的章节会详细介绍这种复合索引的用法</a:t>
            </a:r>
            <a:endParaRPr lang="en-US" altLang="zh-CN" dirty="0"/>
          </a:p>
          <a:p>
            <a:r>
              <a:rPr lang="en-US" altLang="zh-CN" dirty="0"/>
              <a:t>如果想去掉 year continent的层级结构，可以使用reset_index方法（重置行索引）</a:t>
            </a:r>
            <a:endParaRPr lang="en-US" altLang="zh-CN" dirty="0"/>
          </a:p>
          <a:p>
            <a:r>
              <a:rPr lang="en-US" altLang="zh-CN" dirty="0"/>
              <a:t>df.groupby(['year', 'continent']) [['lifeExp','gdpPercap']].mean().reset_index()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115" y="3716655"/>
            <a:ext cx="76454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分组和聚合计算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</a:t>
            </a:r>
            <a:r>
              <a:rPr lang="zh-CN" altLang="en-US" dirty="0"/>
              <a:t> 分组频数计算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10565" y="1456690"/>
            <a:ext cx="10699115" cy="500761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在数据分析中，一个常见的任务是计算频数</a:t>
            </a:r>
            <a:endParaRPr lang="zh-CN" altLang="en-US" dirty="0"/>
          </a:p>
          <a:p>
            <a:pPr marL="285750" indent="-285750" latinLnBrk="0">
              <a:buFont typeface="Wingdings" panose="05000000000000000000" charset="0"/>
              <a:buChar char="l"/>
            </a:pPr>
            <a:r>
              <a:rPr lang="zh-CN" altLang="en-US" dirty="0"/>
              <a:t>可以使用 </a:t>
            </a:r>
            <a:r>
              <a:rPr lang="en-GB" altLang="zh-CN" dirty="0" err="1"/>
              <a:t>nunique</a:t>
            </a:r>
            <a:r>
              <a:rPr lang="en-GB" altLang="zh-CN" dirty="0"/>
              <a:t> </a:t>
            </a:r>
            <a:r>
              <a:rPr lang="zh-CN" altLang="en-US" dirty="0"/>
              <a:t>方法 计算</a:t>
            </a:r>
            <a:r>
              <a:rPr lang="en-GB" altLang="zh-CN" dirty="0"/>
              <a:t>Pandas Series</a:t>
            </a:r>
            <a:r>
              <a:rPr lang="zh-CN" altLang="en-US" dirty="0"/>
              <a:t>的唯一值计数</a:t>
            </a:r>
            <a:endParaRPr lang="zh-CN" altLang="en-US" dirty="0"/>
          </a:p>
          <a:p>
            <a:pPr marL="285750" indent="-285750" latinLnBrk="0">
              <a:buFont typeface="Wingdings" panose="05000000000000000000" charset="0"/>
              <a:buChar char="l"/>
            </a:pPr>
            <a:r>
              <a:rPr lang="zh-CN" altLang="en-US" dirty="0"/>
              <a:t>可以使用 </a:t>
            </a:r>
            <a:r>
              <a:rPr lang="en-GB" altLang="zh-CN" dirty="0" err="1"/>
              <a:t>value_counts</a:t>
            </a:r>
            <a:r>
              <a:rPr lang="en-GB" altLang="zh-CN" dirty="0"/>
              <a:t> </a:t>
            </a:r>
            <a:r>
              <a:rPr lang="zh-CN" altLang="en-US" dirty="0"/>
              <a:t>方法来获取</a:t>
            </a:r>
            <a:r>
              <a:rPr lang="en-GB" altLang="zh-CN" dirty="0"/>
              <a:t>Pandas Series </a:t>
            </a:r>
            <a:r>
              <a:rPr lang="zh-CN" altLang="en-US" dirty="0"/>
              <a:t>的频数统计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在数据中，每个大洲列出了多少个国家和地区？</a:t>
            </a:r>
            <a:endParaRPr lang="en-US" altLang="zh-CN" dirty="0"/>
          </a:p>
          <a:p>
            <a:r>
              <a:rPr lang="en-GB" altLang="zh-CN" dirty="0" err="1"/>
              <a:t>df.groupby</a:t>
            </a:r>
            <a:r>
              <a:rPr lang="en-GB" altLang="zh-CN" dirty="0"/>
              <a:t>('continent')['country'].</a:t>
            </a:r>
            <a:r>
              <a:rPr lang="en-GB" altLang="zh-CN" dirty="0" err="1"/>
              <a:t>nunique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0" y="3627120"/>
            <a:ext cx="76835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Pandas DataFrame</a:t>
            </a:r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/>
              <a:t>加载数据集</a:t>
            </a:r>
            <a:endParaRPr lang="zh-CN" altLang="en-US" b="1" dirty="0"/>
          </a:p>
          <a:p>
            <a:r>
              <a:rPr lang="zh-CN" altLang="en-US" b="1" dirty="0"/>
              <a:t>查看部分数据</a:t>
            </a:r>
            <a:endParaRPr lang="zh-CN" altLang="en-US" b="1" dirty="0"/>
          </a:p>
          <a:p>
            <a:r>
              <a:rPr lang="zh-CN" altLang="en-US" b="1" dirty="0"/>
              <a:t>分组和聚合计算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基本绘图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 基本绘图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</a:t>
            </a:r>
            <a:r>
              <a:rPr lang="zh-CN" altLang="en-US" dirty="0"/>
              <a:t> 绘图作用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可视化在数据分析的每个步骤中都非常重要</a:t>
            </a:r>
            <a:endParaRPr lang="en-US" altLang="zh-CN" dirty="0"/>
          </a:p>
          <a:p>
            <a:r>
              <a:rPr lang="zh-CN" altLang="en-US" dirty="0"/>
              <a:t>在理解或清理数据时，可视化有助于识别数据中的趋势</a:t>
            </a:r>
            <a:endParaRPr lang="en-US" altLang="zh-CN" dirty="0"/>
          </a:p>
          <a:p>
            <a:r>
              <a:rPr lang="en-GB" altLang="zh-CN" dirty="0" err="1"/>
              <a:t>global_yearly_life_expectancy</a:t>
            </a:r>
            <a:r>
              <a:rPr lang="en-GB" altLang="zh-CN" dirty="0"/>
              <a:t> = </a:t>
            </a:r>
            <a:r>
              <a:rPr lang="en-GB" altLang="zh-CN" dirty="0" err="1"/>
              <a:t>df.groupby</a:t>
            </a:r>
            <a:r>
              <a:rPr lang="en-GB" altLang="zh-CN" dirty="0"/>
              <a:t>('year')['</a:t>
            </a:r>
            <a:r>
              <a:rPr lang="en-GB" altLang="zh-CN" dirty="0" err="1"/>
              <a:t>lifeExp</a:t>
            </a:r>
            <a:r>
              <a:rPr lang="en-GB" altLang="zh-CN" dirty="0"/>
              <a:t>'].mean()</a:t>
            </a:r>
            <a:endParaRPr lang="en-GB" altLang="zh-CN" dirty="0"/>
          </a:p>
          <a:p>
            <a:r>
              <a:rPr lang="en-GB" altLang="zh-CN" dirty="0" err="1"/>
              <a:t>global_yearly_life_expectancy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3600450"/>
            <a:ext cx="2235200" cy="24828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 基本绘图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5.2</a:t>
            </a:r>
            <a:r>
              <a:rPr lang="zh-CN" altLang="en-US" dirty="0"/>
              <a:t> 通过</a:t>
            </a:r>
            <a:r>
              <a:rPr lang="en-GB" altLang="zh-CN" dirty="0"/>
              <a:t>plot</a:t>
            </a:r>
            <a:r>
              <a:rPr lang="zh-CN" altLang="en-US" dirty="0"/>
              <a:t>画图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 err="1"/>
              <a:t>global_yearly_life_expectancy.plot</a:t>
            </a:r>
            <a:r>
              <a:rPr lang="en-GB" altLang="zh-CN" dirty="0"/>
              <a:t>()	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670050"/>
            <a:ext cx="5105400" cy="35386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19625" y="1463040"/>
            <a:ext cx="6267450" cy="45110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如何使用</a:t>
            </a: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/>
              <a:t>DataFrame</a:t>
            </a:r>
            <a:r>
              <a:rPr lang="zh-CN" altLang="en-US" dirty="0"/>
              <a:t>加载数据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如何查看部分数据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如何对数据进行简单的分组聚合以及绘图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pd.read_csv # 加载CSV文件 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pd.loc # 从DataFrame中获取部分数据，传入索引名字 pd.iloc # 从DataFrame中获取部分数据，传入索引序号 pd.groupby # 分组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p="http://schemas.openxmlformats.org/presentationml/2006/main">
  <p:tag name="KSO_WM_UNIT_PLACING_PICTURE_USER_VIEWPORT" val="{&quot;height&quot;:3060,&quot;width&quot;:12460}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5025</Words>
  <Application>WPS 演示</Application>
  <PresentationFormat>宽屏</PresentationFormat>
  <Paragraphs>366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38</vt:i4>
      </vt:variant>
    </vt:vector>
  </HeadingPairs>
  <TitlesOfParts>
    <vt:vector size="67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等线</vt:lpstr>
      <vt:lpstr>Arial Unicode MS</vt:lpstr>
      <vt:lpstr>Wingdings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Pandas DataFrame 入门</vt:lpstr>
      <vt:lpstr>PowerPoint 演示文稿</vt:lpstr>
      <vt:lpstr>PowerPoint 演示文稿</vt:lpstr>
      <vt:lpstr>1 Pandas DataFrame简介</vt:lpstr>
      <vt:lpstr>PowerPoint 演示文稿</vt:lpstr>
      <vt:lpstr>2 加载数据集</vt:lpstr>
      <vt:lpstr>2 加载数据集</vt:lpstr>
      <vt:lpstr>2 加载数据集</vt:lpstr>
      <vt:lpstr>2 加载数据集</vt:lpstr>
      <vt:lpstr>PowerPoint 演示文稿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3 查看部分数据</vt:lpstr>
      <vt:lpstr>PowerPoint 演示文稿</vt:lpstr>
      <vt:lpstr>4 分组和聚合计算</vt:lpstr>
      <vt:lpstr>4 分组和聚合计算</vt:lpstr>
      <vt:lpstr>4 分组和聚合计算</vt:lpstr>
      <vt:lpstr>4 分组和聚合计算</vt:lpstr>
      <vt:lpstr>4 分组和聚合计算</vt:lpstr>
      <vt:lpstr>4 分组和聚合计算</vt:lpstr>
      <vt:lpstr>PowerPoint 演示文稿</vt:lpstr>
      <vt:lpstr>5 基本绘图</vt:lpstr>
      <vt:lpstr>5 基本绘图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魏云飞</cp:lastModifiedBy>
  <cp:revision>202</cp:revision>
  <dcterms:created xsi:type="dcterms:W3CDTF">2020-03-31T02:23:00Z</dcterms:created>
  <dcterms:modified xsi:type="dcterms:W3CDTF">2021-05-15T01:29:44Z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C8E72E924C2941D19DDD2E5FFC7B4AB6</vt:lpwstr>
  </property>
  <property fmtid="{D5CDD505-2E9C-101B-9397-08002B2CF9AE}" pid="3" name="KSOProductBuildVer">
    <vt:lpwstr>2052-11.1.0.10463</vt:lpwstr>
  </property>
</Properties>
</file>