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5" r:id="rId26"/>
    <p:sldId id="436" r:id="rId27"/>
    <p:sldId id="460" r:id="rId28"/>
    <p:sldId id="437" r:id="rId29"/>
    <p:sldId id="438" r:id="rId30"/>
    <p:sldId id="439" r:id="rId31"/>
    <p:sldId id="440" r:id="rId32"/>
    <p:sldId id="441" r:id="rId33"/>
    <p:sldId id="46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50" r:id="rId42"/>
    <p:sldId id="449" r:id="rId43"/>
    <p:sldId id="451" r:id="rId44"/>
    <p:sldId id="453" r:id="rId45"/>
    <p:sldId id="452" r:id="rId46"/>
    <p:sldId id="454" r:id="rId47"/>
    <p:sldId id="455" r:id="rId48"/>
    <p:sldId id="266" r:id="rId49"/>
    <p:sldId id="456" r:id="rId50"/>
    <p:sldId id="264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数据分组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 err="1"/>
              <a:t>groupby</a:t>
            </a:r>
            <a:r>
              <a:rPr lang="en-US" altLang="zh-CN" dirty="0"/>
              <a:t> </a:t>
            </a:r>
            <a:r>
              <a:rPr lang="zh-CN" altLang="en-US" dirty="0"/>
              <a:t>进行分组</a:t>
            </a:r>
            <a:endParaRPr lang="en-US" altLang="zh-CN" dirty="0"/>
          </a:p>
          <a:p>
            <a:r>
              <a:rPr lang="zh-CN" altLang="en-US" dirty="0"/>
              <a:t>对分组数据进行聚合</a:t>
            </a:r>
            <a:r>
              <a:rPr lang="en-US" altLang="zh-CN" dirty="0"/>
              <a:t>,</a:t>
            </a:r>
            <a:r>
              <a:rPr lang="zh-CN" altLang="en-US" dirty="0"/>
              <a:t>转换和过滤</a:t>
            </a:r>
            <a:endParaRPr lang="zh-CN" altLang="en-US" dirty="0"/>
          </a:p>
          <a:p>
            <a:r>
              <a:rPr lang="zh-CN" altLang="en-US" dirty="0"/>
              <a:t>应用内置函数和自定义函数处理分组之后的数据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聚合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转换</a:t>
            </a:r>
            <a:endParaRPr lang="zh-CN" altLang="en-US" b="1" dirty="0"/>
          </a:p>
          <a:p>
            <a:r>
              <a:rPr lang="zh-CN" altLang="en-US" b="1" dirty="0"/>
              <a:t>过滤</a:t>
            </a:r>
            <a:endParaRPr lang="zh-CN" altLang="en-US" b="1" dirty="0"/>
          </a:p>
          <a:p>
            <a:r>
              <a:rPr lang="en-GB" altLang="zh-CN" b="1" dirty="0" err="1"/>
              <a:t>DataFrameGroupBy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</a:t>
            </a:r>
            <a:r>
              <a:rPr lang="en-US" altLang="zh-CN" dirty="0"/>
              <a:t>SQL</a:t>
            </a:r>
            <a:r>
              <a:rPr lang="zh-CN" altLang="en-US" dirty="0"/>
              <a:t>中我们经常使用 </a:t>
            </a:r>
            <a:r>
              <a:rPr lang="en-US" altLang="zh-CN" dirty="0"/>
              <a:t>GROUP BY </a:t>
            </a:r>
            <a:r>
              <a:rPr lang="zh-CN" altLang="en-US" dirty="0"/>
              <a:t>将某个字段</a:t>
            </a:r>
            <a:r>
              <a:rPr lang="en-US" altLang="zh-CN" dirty="0"/>
              <a:t>,</a:t>
            </a:r>
            <a:r>
              <a:rPr lang="zh-CN" altLang="en-US" dirty="0"/>
              <a:t>按不同的取值进行分组</a:t>
            </a:r>
            <a:r>
              <a:rPr lang="en-US" altLang="zh-CN" dirty="0"/>
              <a:t>, </a:t>
            </a:r>
            <a:r>
              <a:rPr lang="zh-CN" altLang="en-US" dirty="0"/>
              <a:t>在</a:t>
            </a:r>
            <a:r>
              <a:rPr lang="en-US" altLang="zh-CN" dirty="0"/>
              <a:t>pandas</a:t>
            </a:r>
            <a:r>
              <a:rPr lang="zh-CN" altLang="en-US" dirty="0"/>
              <a:t>中也有</a:t>
            </a:r>
            <a:r>
              <a:rPr lang="en-US" altLang="zh-CN" dirty="0" err="1"/>
              <a:t>groupby</a:t>
            </a:r>
            <a:r>
              <a:rPr lang="zh-CN" altLang="en-US" dirty="0"/>
              <a:t>函数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分组之后</a:t>
            </a:r>
            <a:r>
              <a:rPr lang="en-US" altLang="zh-CN" dirty="0"/>
              <a:t>,</a:t>
            </a:r>
            <a:r>
              <a:rPr lang="zh-CN" altLang="en-US" dirty="0"/>
              <a:t>每组都会有至少</a:t>
            </a:r>
            <a:r>
              <a:rPr lang="en-US" altLang="zh-CN" dirty="0"/>
              <a:t>1</a:t>
            </a:r>
            <a:r>
              <a:rPr lang="zh-CN" altLang="en-US" dirty="0"/>
              <a:t>条数据</a:t>
            </a:r>
            <a:r>
              <a:rPr lang="en-US" altLang="zh-CN" dirty="0"/>
              <a:t>, </a:t>
            </a:r>
            <a:r>
              <a:rPr lang="zh-CN" altLang="en-US" dirty="0"/>
              <a:t>将这些数据进一步处理返回单个值的过程就是聚合</a:t>
            </a:r>
            <a:r>
              <a:rPr lang="en-US" altLang="zh-CN" dirty="0"/>
              <a:t>,</a:t>
            </a:r>
            <a:r>
              <a:rPr lang="zh-CN" altLang="en-US" dirty="0"/>
              <a:t>比如分组之后计算算术平均值</a:t>
            </a:r>
            <a:r>
              <a:rPr lang="en-US" altLang="zh-CN" dirty="0"/>
              <a:t>, </a:t>
            </a:r>
            <a:r>
              <a:rPr lang="zh-CN" altLang="en-US" dirty="0"/>
              <a:t>或者分组之后计算频数</a:t>
            </a:r>
            <a:r>
              <a:rPr lang="en-US" altLang="zh-CN" dirty="0"/>
              <a:t>,</a:t>
            </a:r>
            <a:r>
              <a:rPr lang="zh-CN" altLang="en-US" dirty="0"/>
              <a:t>都属于聚合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单变量分组聚合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GB" altLang="zh-CN" dirty="0" err="1"/>
              <a:t>df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('data/gapminder.</a:t>
            </a:r>
            <a:r>
              <a:rPr lang="en-GB" altLang="zh-CN" dirty="0" err="1"/>
              <a:t>tsv</a:t>
            </a:r>
            <a:r>
              <a:rPr lang="en-GB" altLang="zh-CN" dirty="0"/>
              <a:t>',</a:t>
            </a:r>
            <a:r>
              <a:rPr lang="en-GB" altLang="zh-CN" dirty="0" err="1"/>
              <a:t>sep</a:t>
            </a:r>
            <a:r>
              <a:rPr lang="en-GB" altLang="zh-CN" dirty="0"/>
              <a:t>='\t’)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en-US" altLang="zh-CN" dirty="0" err="1"/>
              <a:t>groupby</a:t>
            </a:r>
            <a:r>
              <a:rPr lang="zh-CN" altLang="en-US" dirty="0"/>
              <a:t>语句创建若干组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 对</a:t>
            </a:r>
            <a:r>
              <a:rPr lang="en-US" altLang="zh-CN" dirty="0"/>
              <a:t>year</a:t>
            </a:r>
            <a:r>
              <a:rPr lang="zh-CN" altLang="en-US" dirty="0"/>
              <a:t>字段分组</a:t>
            </a:r>
            <a:r>
              <a:rPr lang="en-US" altLang="zh-CN" dirty="0"/>
              <a:t>, </a:t>
            </a:r>
            <a:r>
              <a:rPr lang="zh-CN" altLang="en-US" dirty="0"/>
              <a:t>会将数据中不同年份作为分组结果</a:t>
            </a:r>
            <a:endParaRPr lang="en-GB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('year').</a:t>
            </a:r>
            <a:r>
              <a:rPr lang="en-GB" altLang="zh-CN" dirty="0" err="1"/>
              <a:t>lifeExp.mean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zh-CN" altLang="en-GB" dirty="0"/>
              <a:t>查询</a:t>
            </a:r>
            <a:r>
              <a:rPr lang="zh-CN" altLang="en-US" dirty="0"/>
              <a:t>年份</a:t>
            </a:r>
            <a:endParaRPr lang="en-GB" altLang="zh-CN" dirty="0"/>
          </a:p>
          <a:p>
            <a:r>
              <a:rPr lang="en-GB" altLang="zh-CN" dirty="0"/>
              <a:t>years = </a:t>
            </a:r>
            <a:r>
              <a:rPr lang="en-GB" altLang="zh-CN" dirty="0" err="1"/>
              <a:t>df.year.unique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单变量分组聚合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上面</a:t>
            </a:r>
            <a:r>
              <a:rPr lang="en-US" altLang="zh-CN" dirty="0" err="1"/>
              <a:t>groupby</a:t>
            </a:r>
            <a:r>
              <a:rPr lang="en-US" altLang="zh-CN" dirty="0"/>
              <a:t> </a:t>
            </a:r>
            <a:r>
              <a:rPr lang="zh-CN" altLang="en-US" dirty="0"/>
              <a:t>之后取平均的结果</a:t>
            </a:r>
            <a:r>
              <a:rPr lang="en-US" altLang="zh-CN" dirty="0"/>
              <a:t>,</a:t>
            </a:r>
            <a:r>
              <a:rPr lang="zh-CN" altLang="en-US" dirty="0"/>
              <a:t>也可以手动计算</a:t>
            </a:r>
            <a:endParaRPr lang="zh-CN" altLang="en-US" dirty="0"/>
          </a:p>
          <a:p>
            <a:r>
              <a:rPr lang="en-US" altLang="zh-CN" dirty="0"/>
              <a:t># </a:t>
            </a:r>
            <a:r>
              <a:rPr lang="zh-CN" altLang="en-US" dirty="0"/>
              <a:t>针对</a:t>
            </a:r>
            <a:r>
              <a:rPr lang="en-US" altLang="zh-CN" dirty="0"/>
              <a:t>1952</a:t>
            </a:r>
            <a:r>
              <a:rPr lang="zh-CN" altLang="en-US" dirty="0"/>
              <a:t>年的数据取子集</a:t>
            </a:r>
            <a:endParaRPr lang="zh-CN" altLang="en-US" dirty="0"/>
          </a:p>
          <a:p>
            <a:r>
              <a:rPr lang="en-GB" altLang="zh-CN" dirty="0"/>
              <a:t>y1952 = </a:t>
            </a:r>
            <a:r>
              <a:rPr lang="en-GB" altLang="zh-CN" dirty="0" err="1"/>
              <a:t>df.loc</a:t>
            </a:r>
            <a:r>
              <a:rPr lang="en-GB" altLang="zh-CN" dirty="0"/>
              <a:t>[</a:t>
            </a:r>
            <a:r>
              <a:rPr lang="en-GB" altLang="zh-CN" dirty="0" err="1"/>
              <a:t>df.year</a:t>
            </a:r>
            <a:r>
              <a:rPr lang="en-GB" altLang="zh-CN" dirty="0"/>
              <a:t>==1952,:]</a:t>
            </a:r>
            <a:endParaRPr lang="en-GB" altLang="zh-CN" dirty="0"/>
          </a:p>
          <a:p>
            <a:r>
              <a:rPr lang="en-GB" altLang="zh-CN" dirty="0"/>
              <a:t>y1952.lifeExp.mean()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groupby</a:t>
            </a:r>
            <a:r>
              <a:rPr lang="en-US" altLang="zh-CN" dirty="0"/>
              <a:t> </a:t>
            </a:r>
            <a:r>
              <a:rPr lang="zh-CN" altLang="en-US" dirty="0"/>
              <a:t>语句会针对每个不同年份重复上述过程</a:t>
            </a:r>
            <a:r>
              <a:rPr lang="en-US" altLang="zh-CN" dirty="0"/>
              <a:t>,</a:t>
            </a:r>
            <a:r>
              <a:rPr lang="zh-CN" altLang="en-US" dirty="0"/>
              <a:t>并把所有结果放入一个</a:t>
            </a:r>
            <a:r>
              <a:rPr lang="en-US" altLang="zh-CN" dirty="0"/>
              <a:t>DataFrame</a:t>
            </a:r>
            <a:r>
              <a:rPr lang="zh-CN" altLang="en-US" dirty="0"/>
              <a:t>中返回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mean</a:t>
            </a:r>
            <a:r>
              <a:rPr lang="zh-CN" altLang="en-US" dirty="0"/>
              <a:t>函数不是唯一的聚合函数</a:t>
            </a:r>
            <a:r>
              <a:rPr lang="en-US" altLang="zh-CN" dirty="0"/>
              <a:t>, Pandas</a:t>
            </a:r>
            <a:r>
              <a:rPr lang="zh-CN" altLang="en-US" dirty="0"/>
              <a:t>内置了许多方法</a:t>
            </a:r>
            <a:r>
              <a:rPr lang="en-US" altLang="zh-CN" dirty="0"/>
              <a:t>, </a:t>
            </a:r>
            <a:r>
              <a:rPr lang="zh-CN" altLang="en-US" dirty="0"/>
              <a:t>都可以与</a:t>
            </a:r>
            <a:r>
              <a:rPr lang="en-US" altLang="zh-CN" dirty="0" err="1"/>
              <a:t>groupby</a:t>
            </a:r>
            <a:r>
              <a:rPr lang="zh-CN" altLang="en-US" dirty="0"/>
              <a:t>语句搭配使用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r>
              <a:rPr lang="zh-CN" altLang="en-US" dirty="0"/>
              <a:t>内置的聚合方法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可以与</a:t>
            </a:r>
            <a:r>
              <a:rPr lang="en-GB" altLang="zh-CN" dirty="0" err="1"/>
              <a:t>groupby</a:t>
            </a:r>
            <a:r>
              <a:rPr lang="zh-CN" altLang="en-US" dirty="0"/>
              <a:t>一起使用的方法和函数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88765"/>
            <a:ext cx="7595118" cy="5010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r>
              <a:rPr lang="zh-CN" altLang="en-US" dirty="0"/>
              <a:t>内置的聚合方法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上图都是可以与</a:t>
            </a:r>
            <a:r>
              <a:rPr lang="en-GB" altLang="zh-CN" dirty="0" err="1"/>
              <a:t>groupby</a:t>
            </a:r>
            <a:r>
              <a:rPr lang="zh-CN" altLang="en-US" dirty="0"/>
              <a:t>一起使用的方法和函数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前面例子中分组之后取平均也可以使用</a:t>
            </a:r>
            <a:r>
              <a:rPr lang="en-US" altLang="zh-CN" dirty="0"/>
              <a:t>describe</a:t>
            </a:r>
            <a:r>
              <a:rPr lang="zh-CN" altLang="en-US" dirty="0"/>
              <a:t>函数同时计算多个统计量</a:t>
            </a:r>
            <a:endParaRPr lang="en-US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('continent').</a:t>
            </a:r>
            <a:r>
              <a:rPr lang="en-GB" altLang="zh-CN" dirty="0" err="1"/>
              <a:t>lifeExp.describe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65475"/>
            <a:ext cx="680085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聚合函数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5584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可以使用</a:t>
            </a:r>
            <a:r>
              <a:rPr lang="en-US" altLang="zh-CN" dirty="0"/>
              <a:t>Numpy</a:t>
            </a:r>
            <a:r>
              <a:rPr lang="zh-CN" altLang="en-US" dirty="0"/>
              <a:t>库的</a:t>
            </a:r>
            <a:r>
              <a:rPr lang="en-US" altLang="zh-CN" dirty="0"/>
              <a:t>mean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numpy</a:t>
            </a:r>
            <a:r>
              <a:rPr lang="en-GB" altLang="zh-CN" dirty="0"/>
              <a:t> as np</a:t>
            </a:r>
            <a:endParaRPr lang="en-GB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('continent').</a:t>
            </a:r>
            <a:r>
              <a:rPr lang="en-GB" altLang="zh-CN" dirty="0" err="1"/>
              <a:t>lifeExp.agg</a:t>
            </a:r>
            <a:r>
              <a:rPr lang="en-GB" altLang="zh-CN" dirty="0"/>
              <a:t>(</a:t>
            </a:r>
            <a:r>
              <a:rPr lang="en-GB" altLang="zh-CN" dirty="0" err="1"/>
              <a:t>np.mean</a:t>
            </a:r>
            <a:r>
              <a:rPr lang="en-GB" altLang="zh-CN" dirty="0"/>
              <a:t>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en-GB" altLang="zh-CN" dirty="0" err="1"/>
              <a:t>agg</a:t>
            </a:r>
            <a:r>
              <a:rPr lang="zh-CN" altLang="en-US" dirty="0"/>
              <a:t>和 </a:t>
            </a:r>
            <a:r>
              <a:rPr lang="en-GB" altLang="zh-CN" dirty="0"/>
              <a:t>aggregate</a:t>
            </a:r>
            <a:r>
              <a:rPr lang="zh-CN" altLang="en-US" dirty="0"/>
              <a:t>效果一样</a:t>
            </a:r>
            <a:endParaRPr lang="en-US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('continent').</a:t>
            </a:r>
            <a:r>
              <a:rPr lang="en-GB" altLang="zh-CN" dirty="0" err="1"/>
              <a:t>lifeExp.aggregate</a:t>
            </a:r>
            <a:r>
              <a:rPr lang="en-GB" altLang="zh-CN" dirty="0"/>
              <a:t>(</a:t>
            </a:r>
            <a:r>
              <a:rPr lang="en-GB" altLang="zh-CN" dirty="0" err="1"/>
              <a:t>np.mean</a:t>
            </a:r>
            <a:r>
              <a:rPr lang="en-GB" altLang="zh-CN" dirty="0"/>
              <a:t>)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3949065"/>
            <a:ext cx="56007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聚合函数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自定义函数</a:t>
            </a:r>
            <a:endParaRPr lang="en-US" altLang="zh-CN" dirty="0"/>
          </a:p>
          <a:p>
            <a:r>
              <a:rPr lang="zh-CN" altLang="en-US" dirty="0"/>
              <a:t>如果想在聚合的时候</a:t>
            </a:r>
            <a:r>
              <a:rPr lang="en-US" altLang="zh-CN" dirty="0"/>
              <a:t>,</a:t>
            </a:r>
            <a:r>
              <a:rPr lang="zh-CN" altLang="en-US" dirty="0"/>
              <a:t>使用非</a:t>
            </a:r>
            <a:r>
              <a:rPr lang="en-US" altLang="zh-CN" dirty="0"/>
              <a:t>Pandas</a:t>
            </a:r>
            <a:r>
              <a:rPr lang="zh-CN" altLang="en-US" dirty="0"/>
              <a:t>或其他库提供的计算，可以自定义函数然后在</a:t>
            </a:r>
            <a:r>
              <a:rPr lang="en-US" altLang="zh-CN" dirty="0"/>
              <a:t>aggregate</a:t>
            </a:r>
            <a:r>
              <a:rPr lang="zh-CN" altLang="en-US" dirty="0"/>
              <a:t>中调用它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my_mean</a:t>
            </a:r>
            <a:r>
              <a:rPr lang="en-GB" altLang="zh-CN" dirty="0"/>
              <a:t>(values):</a:t>
            </a:r>
            <a:endParaRPr lang="en-GB" altLang="zh-CN" dirty="0"/>
          </a:p>
          <a:p>
            <a:r>
              <a:rPr lang="zh-CN" altLang="en-US" dirty="0"/>
              <a:t>    </a:t>
            </a:r>
            <a:r>
              <a:rPr lang="en-GB" altLang="zh-CN" dirty="0"/>
              <a:t>n = </a:t>
            </a:r>
            <a:r>
              <a:rPr lang="en-GB" altLang="zh-CN" dirty="0" err="1"/>
              <a:t>len</a:t>
            </a:r>
            <a:r>
              <a:rPr lang="en-GB" altLang="zh-CN" dirty="0"/>
              <a:t>(values) # </a:t>
            </a:r>
            <a:r>
              <a:rPr lang="zh-CN" altLang="en-US" dirty="0"/>
              <a:t>获取数据条目数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/>
              <a:t>sum = 0</a:t>
            </a:r>
            <a:endParaRPr lang="en-GB" altLang="zh-CN" dirty="0"/>
          </a:p>
          <a:p>
            <a:r>
              <a:rPr lang="en-GB" altLang="zh-CN" dirty="0"/>
              <a:t>    for value in values:</a:t>
            </a:r>
            <a:endParaRPr lang="en-GB" altLang="zh-CN" dirty="0"/>
          </a:p>
          <a:p>
            <a:r>
              <a:rPr lang="en-GB" altLang="zh-CN" dirty="0"/>
              <a:t>        sum += value</a:t>
            </a:r>
            <a:endParaRPr lang="en-GB" altLang="zh-CN" dirty="0"/>
          </a:p>
          <a:p>
            <a:r>
              <a:rPr lang="en-GB" altLang="zh-CN" dirty="0"/>
              <a:t>    return(sum/n)</a:t>
            </a:r>
            <a:endParaRPr lang="en-GB" altLang="zh-CN" dirty="0"/>
          </a:p>
          <a:p>
            <a:r>
              <a:rPr lang="zh-CN" altLang="en-US" dirty="0"/>
              <a:t>调用自定义函数 </a:t>
            </a:r>
            <a:r>
              <a:rPr lang="en-GB" altLang="zh-CN" dirty="0" err="1"/>
              <a:t>df.groupby</a:t>
            </a:r>
            <a:r>
              <a:rPr lang="en-GB" altLang="zh-CN" dirty="0"/>
              <a:t>('year').</a:t>
            </a:r>
            <a:r>
              <a:rPr lang="en-GB" altLang="zh-CN" dirty="0" err="1"/>
              <a:t>lifeExp.agg</a:t>
            </a:r>
            <a:r>
              <a:rPr lang="en-GB" altLang="zh-CN" dirty="0"/>
              <a:t>(</a:t>
            </a:r>
            <a:r>
              <a:rPr lang="en-GB" altLang="zh-CN" dirty="0" err="1"/>
              <a:t>my_mean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zh-CN" altLang="en-US" dirty="0"/>
              <a:t>自定义函数中只有一个参数</a:t>
            </a:r>
            <a:r>
              <a:rPr lang="en-US" altLang="zh-CN" dirty="0"/>
              <a:t>values</a:t>
            </a:r>
            <a:r>
              <a:rPr lang="zh-CN" altLang="en-US" dirty="0"/>
              <a:t>，但传入该函数中的数据是一组值，需要对</a:t>
            </a:r>
            <a:r>
              <a:rPr lang="en-US" altLang="zh-CN" dirty="0"/>
              <a:t>values</a:t>
            </a:r>
            <a:r>
              <a:rPr lang="zh-CN" altLang="en-US" dirty="0"/>
              <a:t>进行迭代才能取出每一个值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聚合函数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88560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自定义函数</a:t>
            </a:r>
            <a:endParaRPr lang="en-US" altLang="zh-CN" dirty="0"/>
          </a:p>
          <a:p>
            <a:r>
              <a:rPr lang="zh-CN" altLang="en-US" dirty="0"/>
              <a:t>自定义函数可以有多个参数，第一个参数接受来自</a:t>
            </a:r>
            <a:r>
              <a:rPr lang="en-US" altLang="zh-CN" dirty="0"/>
              <a:t>DataFrame</a:t>
            </a:r>
            <a:r>
              <a:rPr lang="zh-CN" altLang="en-US" dirty="0"/>
              <a:t>分组这之后的值</a:t>
            </a:r>
            <a:r>
              <a:rPr lang="en-US" altLang="zh-CN" dirty="0"/>
              <a:t>, </a:t>
            </a:r>
            <a:r>
              <a:rPr lang="zh-CN" altLang="en-US" dirty="0"/>
              <a:t>其余参数可自定义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15" y="2813699"/>
            <a:ext cx="7428722" cy="38075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同时传入多个函数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3425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分组之后想计算多个聚合函数</a:t>
            </a:r>
            <a:r>
              <a:rPr lang="en-US" altLang="zh-CN" dirty="0"/>
              <a:t>,</a:t>
            </a:r>
            <a:r>
              <a:rPr lang="zh-CN" altLang="en-US" dirty="0"/>
              <a:t>可以把它们全部放入一个</a:t>
            </a:r>
            <a:r>
              <a:rPr lang="en-US" altLang="zh-CN" dirty="0"/>
              <a:t>Python</a:t>
            </a:r>
            <a:r>
              <a:rPr lang="zh-CN" altLang="en-US" dirty="0"/>
              <a:t>列表</a:t>
            </a:r>
            <a:r>
              <a:rPr lang="en-US" altLang="zh-CN" dirty="0"/>
              <a:t>,</a:t>
            </a:r>
            <a:r>
              <a:rPr lang="zh-CN" altLang="en-US" dirty="0"/>
              <a:t>然后把整个列表传入</a:t>
            </a:r>
            <a:r>
              <a:rPr lang="en-US" altLang="zh-CN" dirty="0" err="1"/>
              <a:t>agg</a:t>
            </a:r>
            <a:r>
              <a:rPr lang="zh-CN" altLang="en-US" dirty="0"/>
              <a:t>或</a:t>
            </a:r>
            <a:r>
              <a:rPr lang="en-US" altLang="zh-CN" dirty="0"/>
              <a:t>aggregate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按年计算</a:t>
            </a:r>
            <a:r>
              <a:rPr lang="en-GB" altLang="zh-CN" dirty="0" err="1"/>
              <a:t>lifeExp</a:t>
            </a:r>
            <a:r>
              <a:rPr lang="en-GB" altLang="zh-CN" dirty="0"/>
              <a:t> </a:t>
            </a:r>
            <a:r>
              <a:rPr lang="zh-CN" altLang="en-US" dirty="0"/>
              <a:t>的非零个数</a:t>
            </a:r>
            <a:r>
              <a:rPr lang="en-US" altLang="zh-CN" dirty="0"/>
              <a:t>,</a:t>
            </a:r>
            <a:r>
              <a:rPr lang="zh-CN" altLang="en-US" dirty="0"/>
              <a:t>平均值和标准差</a:t>
            </a:r>
            <a:endParaRPr lang="zh-CN" altLang="en-US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('year').</a:t>
            </a:r>
            <a:r>
              <a:rPr lang="en-GB" altLang="zh-CN" dirty="0" err="1"/>
              <a:t>lifeExp.agg</a:t>
            </a:r>
            <a:r>
              <a:rPr lang="en-GB" altLang="zh-CN" dirty="0"/>
              <a:t>([</a:t>
            </a:r>
            <a:r>
              <a:rPr lang="en-GB" altLang="zh-CN" dirty="0" err="1"/>
              <a:t>np.count_nonzero,np.mean,np.std</a:t>
            </a:r>
            <a:r>
              <a:rPr lang="en-GB" altLang="zh-CN" dirty="0"/>
              <a:t>])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80" y="2980055"/>
            <a:ext cx="67564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向</a:t>
            </a:r>
            <a:r>
              <a:rPr lang="en-US" altLang="zh-CN" dirty="0" err="1"/>
              <a:t>agg</a:t>
            </a:r>
            <a:r>
              <a:rPr lang="en-US" altLang="zh-CN" dirty="0"/>
              <a:t>/aggregate</a:t>
            </a:r>
            <a:r>
              <a:rPr lang="zh-CN" altLang="en-US" dirty="0"/>
              <a:t>中传入字典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分组之后</a:t>
            </a:r>
            <a:r>
              <a:rPr lang="en-US" altLang="zh-CN" dirty="0"/>
              <a:t>,</a:t>
            </a:r>
            <a:r>
              <a:rPr lang="zh-CN" altLang="en-US" dirty="0"/>
              <a:t>可以对多个字段用不同的方式聚合</a:t>
            </a:r>
            <a:endParaRPr lang="en-US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('year').</a:t>
            </a:r>
            <a:r>
              <a:rPr lang="en-GB" altLang="zh-CN" dirty="0" err="1"/>
              <a:t>agg</a:t>
            </a:r>
            <a:r>
              <a:rPr lang="en-GB" altLang="zh-CN" dirty="0"/>
              <a:t>({'</a:t>
            </a:r>
            <a:r>
              <a:rPr lang="en-GB" altLang="zh-CN" dirty="0" err="1"/>
              <a:t>lifeExp</a:t>
            </a:r>
            <a:r>
              <a:rPr lang="en-GB" altLang="zh-CN" dirty="0"/>
              <a:t>':'mean','pop':'median','</a:t>
            </a:r>
            <a:r>
              <a:rPr lang="en-GB" altLang="zh-CN" dirty="0" err="1"/>
              <a:t>gdpPercap</a:t>
            </a:r>
            <a:r>
              <a:rPr lang="en-GB" altLang="zh-CN" dirty="0"/>
              <a:t>':'median’})</a:t>
            </a:r>
            <a:endParaRPr lang="en-GB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855" y="2762250"/>
            <a:ext cx="667385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聚合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向</a:t>
            </a:r>
            <a:r>
              <a:rPr lang="en-US" altLang="zh-CN" dirty="0" err="1"/>
              <a:t>agg</a:t>
            </a:r>
            <a:r>
              <a:rPr lang="en-US" altLang="zh-CN" dirty="0"/>
              <a:t>/aggregate</a:t>
            </a:r>
            <a:r>
              <a:rPr lang="zh-CN" altLang="en-US" dirty="0"/>
              <a:t>中传入字典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聚合后的列名就是聚合函数的名字</a:t>
            </a:r>
            <a:r>
              <a:rPr lang="en-US" altLang="zh-CN" dirty="0"/>
              <a:t>, </a:t>
            </a:r>
            <a:r>
              <a:rPr lang="zh-CN" altLang="en-US" dirty="0"/>
              <a:t>可以通过</a:t>
            </a:r>
            <a:r>
              <a:rPr lang="en-US" altLang="zh-CN" dirty="0"/>
              <a:t>rename</a:t>
            </a:r>
            <a:r>
              <a:rPr lang="zh-CN" altLang="en-US" dirty="0"/>
              <a:t>进行重命名</a:t>
            </a:r>
            <a:endParaRPr lang="en-US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('year').</a:t>
            </a:r>
            <a:r>
              <a:rPr lang="en-GB" altLang="zh-CN" dirty="0" err="1"/>
              <a:t>agg</a:t>
            </a:r>
            <a:r>
              <a:rPr lang="en-GB" altLang="zh-CN" dirty="0"/>
              <a:t>({'</a:t>
            </a:r>
            <a:r>
              <a:rPr lang="en-GB" altLang="zh-CN" dirty="0" err="1"/>
              <a:t>lifeExp</a:t>
            </a:r>
            <a:r>
              <a:rPr lang="en-GB" altLang="zh-CN" dirty="0"/>
              <a:t>':'mean','pop':'median','</a:t>
            </a:r>
            <a:r>
              <a:rPr lang="en-GB" altLang="zh-CN" dirty="0" err="1"/>
              <a:t>gdpPercap</a:t>
            </a:r>
            <a:r>
              <a:rPr lang="en-GB" altLang="zh-CN" dirty="0"/>
              <a:t>':'median'}).\</a:t>
            </a:r>
            <a:endParaRPr lang="en-GB" altLang="zh-CN" dirty="0"/>
          </a:p>
          <a:p>
            <a:r>
              <a:rPr lang="en-GB" altLang="zh-CN" dirty="0"/>
              <a:t>    rename(columns={'</a:t>
            </a:r>
            <a:r>
              <a:rPr lang="en-GB" altLang="zh-CN" dirty="0" err="1"/>
              <a:t>lifeExp</a:t>
            </a:r>
            <a:r>
              <a:rPr lang="en-GB" altLang="zh-CN" dirty="0"/>
              <a:t>':'</a:t>
            </a:r>
            <a:r>
              <a:rPr lang="zh-CN" altLang="en-US" dirty="0"/>
              <a:t>平均寿命</a:t>
            </a:r>
            <a:r>
              <a:rPr lang="en-US" altLang="zh-CN" dirty="0"/>
              <a:t>','</a:t>
            </a:r>
            <a:r>
              <a:rPr lang="en-GB" altLang="zh-CN" dirty="0"/>
              <a:t>pop':'</a:t>
            </a:r>
            <a:r>
              <a:rPr lang="zh-CN" altLang="en-US" dirty="0"/>
              <a:t>人口</a:t>
            </a:r>
            <a:r>
              <a:rPr lang="en-US" altLang="zh-CN" dirty="0"/>
              <a:t>','</a:t>
            </a:r>
            <a:r>
              <a:rPr lang="en-GB" altLang="zh-CN" dirty="0" err="1"/>
              <a:t>gdpPercap</a:t>
            </a:r>
            <a:r>
              <a:rPr lang="en-GB" altLang="zh-CN" dirty="0"/>
              <a:t>':'</a:t>
            </a:r>
            <a:r>
              <a:rPr lang="zh-CN" altLang="en-US" dirty="0"/>
              <a:t>人均</a:t>
            </a:r>
            <a:r>
              <a:rPr lang="en-GB" altLang="zh-CN" dirty="0" err="1"/>
              <a:t>Gdp</a:t>
            </a:r>
            <a:r>
              <a:rPr lang="en-GB" altLang="zh-CN" dirty="0"/>
              <a:t>'}).</a:t>
            </a:r>
            <a:r>
              <a:rPr lang="en-GB" altLang="zh-CN" dirty="0" err="1"/>
              <a:t>reset_index</a:t>
            </a:r>
            <a:r>
              <a:rPr lang="en-GB" altLang="zh-CN" dirty="0"/>
              <a:t>()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3159760"/>
            <a:ext cx="673100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聚合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转换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过滤</a:t>
            </a:r>
            <a:endParaRPr lang="zh-CN" altLang="en-US" b="1" dirty="0"/>
          </a:p>
          <a:p>
            <a:r>
              <a:rPr lang="en-GB" altLang="zh-CN" b="1" dirty="0" err="1"/>
              <a:t>DataFrameGroupBy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transform </a:t>
            </a:r>
            <a:r>
              <a:rPr lang="zh-CN" altLang="en-US" dirty="0"/>
              <a:t>需要把</a:t>
            </a:r>
            <a:r>
              <a:rPr lang="en-US" altLang="zh-CN" dirty="0"/>
              <a:t>DataFrame</a:t>
            </a:r>
            <a:r>
              <a:rPr lang="zh-CN" altLang="en-US" dirty="0"/>
              <a:t>中的值传递给一个函数， 而后由该函数</a:t>
            </a:r>
            <a:r>
              <a:rPr lang="en-US" altLang="zh-CN" dirty="0"/>
              <a:t>"</a:t>
            </a:r>
            <a:r>
              <a:rPr lang="zh-CN" altLang="en-US" dirty="0"/>
              <a:t>转换</a:t>
            </a:r>
            <a:r>
              <a:rPr lang="en-US" altLang="zh-CN" dirty="0"/>
              <a:t>"</a:t>
            </a:r>
            <a:r>
              <a:rPr lang="zh-CN" altLang="en-US" dirty="0"/>
              <a:t>数据。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aggregate(</a:t>
            </a:r>
            <a:r>
              <a:rPr lang="zh-CN" altLang="en-US" dirty="0"/>
              <a:t>聚合</a:t>
            </a:r>
            <a:r>
              <a:rPr lang="en-US" altLang="zh-CN" dirty="0"/>
              <a:t>) </a:t>
            </a:r>
            <a:r>
              <a:rPr lang="zh-CN" altLang="en-US" dirty="0"/>
              <a:t>返回单个聚合值，但</a:t>
            </a:r>
            <a:r>
              <a:rPr lang="en-US" altLang="zh-CN" dirty="0"/>
              <a:t>transform </a:t>
            </a:r>
            <a:r>
              <a:rPr lang="zh-CN" altLang="en-US" dirty="0"/>
              <a:t>不会减少数据量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使用</a:t>
            </a:r>
            <a:r>
              <a:rPr lang="en-US" altLang="zh-CN" dirty="0"/>
              <a:t>transform</a:t>
            </a:r>
            <a:r>
              <a:rPr lang="zh-CN" altLang="en-US" dirty="0"/>
              <a:t>分组计算</a:t>
            </a:r>
            <a:r>
              <a:rPr lang="en-US" altLang="zh-CN" dirty="0"/>
              <a:t>z</a:t>
            </a:r>
            <a:r>
              <a:rPr lang="zh-CN" altLang="en-US" dirty="0"/>
              <a:t>分数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51730"/>
          </a:xfrm>
        </p:spPr>
        <p:txBody>
          <a:bodyPr/>
          <a:lstStyle/>
          <a:p>
            <a:r>
              <a:rPr lang="en-US" altLang="zh-CN" dirty="0"/>
              <a:t># </a:t>
            </a:r>
            <a:r>
              <a:rPr lang="zh-CN" altLang="en-US" dirty="0"/>
              <a:t>计算</a:t>
            </a:r>
            <a:r>
              <a:rPr lang="en-GB" altLang="zh-CN" dirty="0"/>
              <a:t>z-score   </a:t>
            </a:r>
            <a:r>
              <a:rPr lang="en-US" altLang="en-GB" dirty="0"/>
              <a:t>(</a:t>
            </a:r>
            <a:r>
              <a:rPr lang="en-GB" altLang="zh-CN" dirty="0"/>
              <a:t>x - </a:t>
            </a:r>
            <a:r>
              <a:rPr lang="zh-CN" altLang="en-US" dirty="0"/>
              <a:t>平均值</a:t>
            </a:r>
            <a:r>
              <a:rPr lang="en-US" altLang="zh-CN" dirty="0"/>
              <a:t>)/</a:t>
            </a:r>
            <a:r>
              <a:rPr lang="zh-CN" altLang="en-US" dirty="0"/>
              <a:t>标准差</a:t>
            </a:r>
            <a:endParaRPr lang="zh-CN" altLang="en-US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my_zscore</a:t>
            </a:r>
            <a:r>
              <a:rPr lang="en-GB" altLang="zh-CN" dirty="0"/>
              <a:t>(x):</a:t>
            </a:r>
            <a:endParaRPr lang="en-GB" altLang="zh-CN" dirty="0"/>
          </a:p>
          <a:p>
            <a:r>
              <a:rPr lang="en-GB" altLang="zh-CN" dirty="0"/>
              <a:t>    return (x-</a:t>
            </a:r>
            <a:r>
              <a:rPr lang="en-GB" altLang="zh-CN" dirty="0" err="1"/>
              <a:t>x.mean</a:t>
            </a:r>
            <a:r>
              <a:rPr lang="en-GB" altLang="zh-CN" dirty="0"/>
              <a:t>())/</a:t>
            </a:r>
            <a:r>
              <a:rPr lang="en-GB" altLang="zh-CN" dirty="0" err="1"/>
              <a:t>x.std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按年分组 计算</a:t>
            </a:r>
            <a:r>
              <a:rPr lang="en-GB" altLang="zh-CN" dirty="0"/>
              <a:t>z-score</a:t>
            </a:r>
            <a:endParaRPr lang="en-GB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('year').</a:t>
            </a:r>
            <a:r>
              <a:rPr lang="en-GB" altLang="zh-CN" dirty="0" err="1"/>
              <a:t>lifeExp.transform</a:t>
            </a:r>
            <a:r>
              <a:rPr lang="en-GB" altLang="zh-CN" dirty="0"/>
              <a:t>(</a:t>
            </a:r>
            <a:r>
              <a:rPr lang="en-GB" altLang="zh-CN" dirty="0" err="1"/>
              <a:t>my_zscore</a:t>
            </a:r>
            <a:r>
              <a:rPr lang="en-GB" altLang="zh-CN" dirty="0"/>
              <a:t>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查看数据集条目数， 跟之前</a:t>
            </a:r>
            <a:r>
              <a:rPr lang="en-US" altLang="zh-CN" dirty="0"/>
              <a:t>transform</a:t>
            </a:r>
            <a:r>
              <a:rPr lang="zh-CN" altLang="en-US" dirty="0"/>
              <a:t>处理之后的条目数一样</a:t>
            </a:r>
            <a:endParaRPr lang="zh-CN" altLang="en-US" dirty="0"/>
          </a:p>
          <a:p>
            <a:r>
              <a:rPr lang="en-US" altLang="zh-CN" dirty="0" err="1"/>
              <a:t>df.shape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730" y="3768090"/>
            <a:ext cx="6661150" cy="163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en-GB" altLang="zh-CN" dirty="0"/>
              <a:t>transform</a:t>
            </a:r>
            <a:r>
              <a:rPr lang="zh-CN" altLang="en-US" dirty="0"/>
              <a:t>分组填充缺失值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1048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之前介绍了填充缺失值的各种方法，对于某些数据集，可以使用列的平均值来填充缺失值。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某些情况下，可以考虑将列进行分组，分组之后取平均再填充缺失值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GB" altLang="zh-CN" dirty="0"/>
              <a:t>tips_10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tips.csv</a:t>
            </a:r>
            <a:r>
              <a:rPr lang="en-GB" altLang="zh-CN" dirty="0"/>
              <a:t>').sample(10,random_state = 42)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构建缺失值</a:t>
            </a:r>
            <a:endParaRPr lang="zh-CN" altLang="en-US" dirty="0"/>
          </a:p>
          <a:p>
            <a:r>
              <a:rPr lang="en-GB" altLang="zh-CN" dirty="0"/>
              <a:t>#</a:t>
            </a:r>
            <a:r>
              <a:rPr lang="en-GB" altLang="zh-CN" dirty="0" err="1"/>
              <a:t>np.random.permutation</a:t>
            </a:r>
            <a:r>
              <a:rPr lang="en-GB" altLang="zh-CN" dirty="0"/>
              <a:t> </a:t>
            </a:r>
            <a:r>
              <a:rPr lang="zh-CN" altLang="en-US" dirty="0"/>
              <a:t>将序列乱序</a:t>
            </a:r>
            <a:endParaRPr lang="zh-CN" altLang="en-US" dirty="0"/>
          </a:p>
          <a:p>
            <a:r>
              <a:rPr lang="en-GB" altLang="zh-CN" dirty="0"/>
              <a:t>tips_10.loc[</a:t>
            </a:r>
            <a:r>
              <a:rPr lang="en-GB" altLang="zh-CN" dirty="0" err="1"/>
              <a:t>np.random.permutation</a:t>
            </a:r>
            <a:r>
              <a:rPr lang="en-GB" altLang="zh-CN" dirty="0"/>
              <a:t>(tips_10.index)[:4],'</a:t>
            </a:r>
            <a:r>
              <a:rPr lang="en-GB" altLang="zh-CN" dirty="0" err="1"/>
              <a:t>total_bill</a:t>
            </a:r>
            <a:r>
              <a:rPr lang="en-GB" altLang="zh-CN" dirty="0"/>
              <a:t>'] = </a:t>
            </a:r>
            <a:r>
              <a:rPr lang="en-GB" altLang="zh-CN" dirty="0" err="1"/>
              <a:t>np.NaN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查看缺失情况</a:t>
            </a:r>
            <a:endParaRPr lang="zh-CN" altLang="en-US" dirty="0"/>
          </a:p>
          <a:p>
            <a:r>
              <a:rPr lang="en-GB" altLang="zh-CN" dirty="0" err="1"/>
              <a:t>count_sex</a:t>
            </a:r>
            <a:r>
              <a:rPr lang="en-GB" altLang="zh-CN" dirty="0"/>
              <a:t> = tips_10.groupby('sex').count()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80" y="5442585"/>
            <a:ext cx="67183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en-GB" altLang="zh-CN" dirty="0"/>
              <a:t>transform</a:t>
            </a:r>
            <a:r>
              <a:rPr lang="zh-CN" altLang="en-US" dirty="0"/>
              <a:t>分组填充缺失值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9742805" cy="4219575"/>
          </a:xfrm>
        </p:spPr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定义函数填充缺失值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fill_na_mean</a:t>
            </a:r>
            <a:r>
              <a:rPr lang="en-GB" altLang="zh-CN" dirty="0"/>
              <a:t>(x):</a:t>
            </a:r>
            <a:endParaRPr lang="en-GB" altLang="zh-CN" dirty="0"/>
          </a:p>
          <a:p>
            <a:r>
              <a:rPr lang="en-GB" altLang="zh-CN" dirty="0"/>
              <a:t>    # </a:t>
            </a:r>
            <a:r>
              <a:rPr lang="zh-CN" altLang="en-US" dirty="0"/>
              <a:t>求平均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 err="1"/>
              <a:t>avg</a:t>
            </a:r>
            <a:r>
              <a:rPr lang="en-GB" altLang="zh-CN" dirty="0"/>
              <a:t> = </a:t>
            </a:r>
            <a:r>
              <a:rPr lang="en-GB" altLang="zh-CN" dirty="0" err="1"/>
              <a:t>x.mean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    # </a:t>
            </a:r>
            <a:r>
              <a:rPr lang="zh-CN" altLang="en-US" dirty="0"/>
              <a:t>填充缺失值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/>
              <a:t>return(</a:t>
            </a:r>
            <a:r>
              <a:rPr lang="en-GB" altLang="zh-CN" dirty="0" err="1"/>
              <a:t>x.fillna</a:t>
            </a:r>
            <a:r>
              <a:rPr lang="en-GB" altLang="zh-CN" dirty="0"/>
              <a:t>(</a:t>
            </a:r>
            <a:r>
              <a:rPr lang="en-GB" altLang="zh-CN" dirty="0" err="1"/>
              <a:t>avg</a:t>
            </a:r>
            <a:r>
              <a:rPr lang="en-GB" altLang="zh-CN" dirty="0"/>
              <a:t>))</a:t>
            </a:r>
            <a:endParaRPr lang="en-GB" altLang="zh-CN" dirty="0"/>
          </a:p>
          <a:p>
            <a:r>
              <a:rPr lang="en-GB" altLang="zh-CN" dirty="0" err="1"/>
              <a:t>total_bill_group_mean</a:t>
            </a:r>
            <a:r>
              <a:rPr lang="en-GB" altLang="zh-CN" dirty="0"/>
              <a:t> = tips_10.groupby('sex').</a:t>
            </a:r>
            <a:r>
              <a:rPr lang="en-GB" altLang="zh-CN" dirty="0" err="1"/>
              <a:t>total_bill.transform</a:t>
            </a:r>
            <a:r>
              <a:rPr lang="en-GB" altLang="zh-CN" dirty="0"/>
              <a:t>(</a:t>
            </a:r>
            <a:r>
              <a:rPr lang="en-GB" altLang="zh-CN" dirty="0" err="1"/>
              <a:t>fill_na_mean</a:t>
            </a:r>
            <a:r>
              <a:rPr lang="en-GB" altLang="zh-CN" dirty="0"/>
              <a:t>)</a:t>
            </a:r>
            <a:endParaRPr lang="en-GB" altLang="zh-CN" dirty="0"/>
          </a:p>
          <a:p>
            <a:pPr>
              <a:buFont typeface="+mj-lt"/>
            </a:pPr>
            <a:r>
              <a:rPr lang="en-GB" altLang="zh-CN" dirty="0" err="1">
                <a:sym typeface="+mn-ea"/>
              </a:rPr>
              <a:t>total_bill_group_mean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890" y="1667510"/>
            <a:ext cx="36703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en-GB" altLang="zh-CN" dirty="0"/>
              <a:t>transform</a:t>
            </a:r>
            <a:r>
              <a:rPr lang="zh-CN" altLang="en-US" dirty="0"/>
              <a:t>分组填充缺失值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45380"/>
          </a:xfrm>
        </p:spPr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将计算的结果赋值新列</a:t>
            </a:r>
            <a:endParaRPr lang="zh-CN" altLang="en-US" dirty="0"/>
          </a:p>
          <a:p>
            <a:r>
              <a:rPr lang="en-GB" altLang="zh-CN" dirty="0"/>
              <a:t>tips_10['</a:t>
            </a:r>
            <a:r>
              <a:rPr lang="en-GB" altLang="zh-CN" dirty="0" err="1"/>
              <a:t>fill_total_bill</a:t>
            </a:r>
            <a:r>
              <a:rPr lang="en-GB" altLang="zh-CN" dirty="0"/>
              <a:t>'] = </a:t>
            </a:r>
            <a:r>
              <a:rPr lang="en-GB" altLang="zh-CN" dirty="0" err="1"/>
              <a:t>total_bill_group_mean</a:t>
            </a:r>
            <a:endParaRPr lang="en-GB" altLang="zh-CN" dirty="0"/>
          </a:p>
          <a:p>
            <a:r>
              <a:rPr lang="zh-CN" altLang="en-US" dirty="0"/>
              <a:t>对比</a:t>
            </a:r>
            <a:r>
              <a:rPr lang="en-GB" altLang="zh-CN" dirty="0" err="1"/>
              <a:t>total_bill</a:t>
            </a:r>
            <a:r>
              <a:rPr lang="en-GB" altLang="zh-CN" dirty="0"/>
              <a:t> </a:t>
            </a:r>
            <a:r>
              <a:rPr lang="zh-CN" altLang="en-US" dirty="0"/>
              <a:t>和 </a:t>
            </a:r>
            <a:r>
              <a:rPr lang="en-GB" altLang="zh-CN" dirty="0" err="1"/>
              <a:t>fill_total_bill</a:t>
            </a:r>
            <a:r>
              <a:rPr lang="en-GB" altLang="zh-CN" dirty="0"/>
              <a:t> </a:t>
            </a:r>
            <a:r>
              <a:rPr lang="zh-CN" altLang="en-US" dirty="0"/>
              <a:t>发现 </a:t>
            </a:r>
            <a:r>
              <a:rPr lang="en-GB" altLang="zh-CN" dirty="0"/>
              <a:t>Male </a:t>
            </a:r>
            <a:r>
              <a:rPr lang="zh-CN" altLang="en-US" dirty="0"/>
              <a:t>和 </a:t>
            </a:r>
            <a:r>
              <a:rPr lang="en-GB" altLang="zh-CN" dirty="0"/>
              <a:t>Female </a:t>
            </a:r>
            <a:r>
              <a:rPr lang="zh-CN" altLang="en-US" dirty="0"/>
              <a:t>的填充值不同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860" y="2978785"/>
            <a:ext cx="6654800" cy="34080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transform</a:t>
            </a:r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weight_loss</a:t>
            </a:r>
            <a:r>
              <a:rPr lang="zh-CN" altLang="en-US" dirty="0"/>
              <a:t>数据集，找到减肥比赛赢家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endParaRPr lang="zh-CN" altLang="en-US" dirty="0"/>
          </a:p>
          <a:p>
            <a:r>
              <a:rPr lang="en-GB" altLang="zh-CN" dirty="0" err="1"/>
              <a:t>weight_loss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weight_loss.csv</a:t>
            </a:r>
            <a:r>
              <a:rPr lang="en-GB" altLang="zh-CN" dirty="0"/>
              <a:t>')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en-US" altLang="zh-CN" dirty="0"/>
              <a:t>Bob</a:t>
            </a:r>
            <a:r>
              <a:rPr lang="zh-CN" altLang="en-US" dirty="0"/>
              <a:t>，</a:t>
            </a:r>
            <a:r>
              <a:rPr lang="en-US" altLang="zh-CN" dirty="0"/>
              <a:t>Amy</a:t>
            </a:r>
            <a:r>
              <a:rPr lang="zh-CN" altLang="en-US" dirty="0"/>
              <a:t>两个人的减肥记录，从</a:t>
            </a:r>
            <a:r>
              <a:rPr lang="en-US" altLang="zh-CN" dirty="0"/>
              <a:t>1</a:t>
            </a:r>
            <a:r>
              <a:rPr lang="zh-CN" altLang="en-US" dirty="0"/>
              <a:t>月到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只查看</a:t>
            </a:r>
            <a:r>
              <a:rPr lang="en-US" altLang="zh-CN" dirty="0"/>
              <a:t>1</a:t>
            </a:r>
            <a:r>
              <a:rPr lang="zh-CN" altLang="en-US" dirty="0"/>
              <a:t>月份数据  </a:t>
            </a:r>
            <a:r>
              <a:rPr lang="en-GB" altLang="zh-CN" dirty="0"/>
              <a:t>query </a:t>
            </a:r>
            <a:r>
              <a:rPr lang="zh-CN" altLang="en-US" dirty="0"/>
              <a:t>类似</a:t>
            </a:r>
            <a:r>
              <a:rPr lang="en-GB" altLang="zh-CN" dirty="0"/>
              <a:t>SQL</a:t>
            </a:r>
            <a:r>
              <a:rPr lang="zh-CN" altLang="en-US" dirty="0"/>
              <a:t>的</a:t>
            </a:r>
            <a:r>
              <a:rPr lang="en-GB" altLang="zh-CN" dirty="0"/>
              <a:t>where</a:t>
            </a:r>
            <a:r>
              <a:rPr lang="zh-CN" altLang="en-US" dirty="0"/>
              <a:t>条件</a:t>
            </a:r>
            <a:endParaRPr lang="zh-CN" altLang="en-US" dirty="0"/>
          </a:p>
          <a:p>
            <a:r>
              <a:rPr lang="en-GB" altLang="zh-CN" dirty="0" err="1"/>
              <a:t>weight_loss.query</a:t>
            </a:r>
            <a:r>
              <a:rPr lang="en-GB" altLang="zh-CN" dirty="0"/>
              <a:t>('Month == "Jan"')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transform</a:t>
            </a:r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定义函数计算每周减肥比例 并测试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find_perc_loss</a:t>
            </a:r>
            <a:r>
              <a:rPr lang="en-GB" altLang="zh-CN" dirty="0"/>
              <a:t>(s):</a:t>
            </a:r>
            <a:endParaRPr lang="en-GB" altLang="zh-CN" dirty="0"/>
          </a:p>
          <a:p>
            <a:r>
              <a:rPr lang="en-GB" altLang="zh-CN" dirty="0"/>
              <a:t>    return abs((s - </a:t>
            </a:r>
            <a:r>
              <a:rPr lang="en-GB" altLang="zh-CN" dirty="0" err="1"/>
              <a:t>s.iloc</a:t>
            </a:r>
            <a:r>
              <a:rPr lang="en-GB" altLang="zh-CN" dirty="0"/>
              <a:t>[0]) / </a:t>
            </a:r>
            <a:r>
              <a:rPr lang="en-GB" altLang="zh-CN" dirty="0" err="1"/>
              <a:t>s.iloc</a:t>
            </a:r>
            <a:r>
              <a:rPr lang="en-GB" altLang="zh-CN" dirty="0"/>
              <a:t>[0])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查找</a:t>
            </a:r>
            <a:r>
              <a:rPr lang="en-GB" altLang="zh-CN" dirty="0"/>
              <a:t>Bob 1</a:t>
            </a:r>
            <a:r>
              <a:rPr lang="zh-CN" altLang="en-US" dirty="0"/>
              <a:t>月份的数据</a:t>
            </a:r>
            <a:endParaRPr lang="zh-CN" altLang="en-US" dirty="0"/>
          </a:p>
          <a:p>
            <a:r>
              <a:rPr lang="en-GB" altLang="zh-CN" dirty="0" err="1"/>
              <a:t>bob_jan</a:t>
            </a:r>
            <a:r>
              <a:rPr lang="en-GB" altLang="zh-CN" dirty="0"/>
              <a:t> = </a:t>
            </a:r>
            <a:r>
              <a:rPr lang="en-GB" altLang="zh-CN" dirty="0" err="1"/>
              <a:t>weight_loss.query</a:t>
            </a:r>
            <a:r>
              <a:rPr lang="en-GB" altLang="zh-CN" dirty="0"/>
              <a:t>('Name=="Bob" and Month=="Jan"')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测试计算减肥比例的方法</a:t>
            </a:r>
            <a:endParaRPr lang="zh-CN" altLang="en-US" dirty="0"/>
          </a:p>
          <a:p>
            <a:r>
              <a:rPr lang="en-GB" altLang="zh-CN" dirty="0" err="1"/>
              <a:t>find_perc_loss</a:t>
            </a:r>
            <a:r>
              <a:rPr lang="en-GB" altLang="zh-CN" dirty="0"/>
              <a:t>(</a:t>
            </a:r>
            <a:r>
              <a:rPr lang="en-GB" altLang="zh-CN" dirty="0" err="1"/>
              <a:t>bob_jan</a:t>
            </a:r>
            <a:r>
              <a:rPr lang="en-GB" altLang="zh-CN" dirty="0"/>
              <a:t>['Weight'])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transform</a:t>
            </a:r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计算每周减肥比例</a:t>
            </a:r>
            <a:endParaRPr lang="en-US" altLang="zh-CN" dirty="0"/>
          </a:p>
          <a:p>
            <a:r>
              <a:rPr lang="en-GB" altLang="zh-CN" dirty="0" err="1"/>
              <a:t>pcnt_loss</a:t>
            </a:r>
            <a:r>
              <a:rPr lang="en-GB" altLang="zh-CN" dirty="0"/>
              <a:t> = </a:t>
            </a:r>
            <a:r>
              <a:rPr lang="en-GB" altLang="zh-CN" dirty="0" err="1"/>
              <a:t>weight_loss.groupby</a:t>
            </a:r>
            <a:r>
              <a:rPr lang="en-GB" altLang="zh-CN" dirty="0"/>
              <a:t>(['Name', 'Month'])['Weight'].transform(</a:t>
            </a:r>
            <a:r>
              <a:rPr lang="en-GB" altLang="zh-CN" dirty="0" err="1"/>
              <a:t>find_perc_loss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pcnt_loss.head</a:t>
            </a:r>
            <a:r>
              <a:rPr lang="en-GB" altLang="zh-CN" dirty="0"/>
              <a:t>(8)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 err="1"/>
              <a:t>weight_loss</a:t>
            </a:r>
            <a:r>
              <a:rPr lang="en-GB" altLang="zh-CN" dirty="0"/>
              <a:t>['Perc Weight Loss'] = </a:t>
            </a:r>
            <a:r>
              <a:rPr lang="en-GB" altLang="zh-CN" dirty="0" err="1"/>
              <a:t>pcnt_loss.round</a:t>
            </a:r>
            <a:r>
              <a:rPr lang="en-GB" altLang="zh-CN" dirty="0"/>
              <a:t>(3)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查找每个月最后一周的数据 用来比较减肥效果</a:t>
            </a:r>
            <a:endParaRPr lang="zh-CN" altLang="en-US" dirty="0"/>
          </a:p>
          <a:p>
            <a:r>
              <a:rPr lang="en-GB" altLang="zh-CN" dirty="0"/>
              <a:t>week4 = </a:t>
            </a:r>
            <a:r>
              <a:rPr lang="en-GB" altLang="zh-CN" dirty="0" err="1"/>
              <a:t>weight_loss.query</a:t>
            </a:r>
            <a:r>
              <a:rPr lang="en-GB" altLang="zh-CN" dirty="0"/>
              <a:t>('Week == "Week 4"')</a:t>
            </a:r>
            <a:endParaRPr lang="en-GB" altLang="zh-CN" dirty="0"/>
          </a:p>
          <a:p>
            <a:r>
              <a:rPr lang="en-GB" altLang="zh-CN" dirty="0"/>
              <a:t>week4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transform</a:t>
            </a:r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71720"/>
          </a:xfrm>
        </p:spPr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在第四周数据基础上，找到 </a:t>
            </a:r>
            <a:r>
              <a:rPr lang="en-US" altLang="zh-CN" dirty="0"/>
              <a:t>Bob </a:t>
            </a:r>
            <a:r>
              <a:rPr lang="zh-CN" altLang="en-US" dirty="0"/>
              <a:t>和 </a:t>
            </a:r>
            <a:r>
              <a:rPr lang="en-US" altLang="zh-CN" dirty="0"/>
              <a:t>Amy</a:t>
            </a:r>
            <a:r>
              <a:rPr lang="zh-CN" altLang="en-US" dirty="0"/>
              <a:t>的减肥数据</a:t>
            </a:r>
            <a:endParaRPr lang="zh-CN" altLang="en-US" dirty="0"/>
          </a:p>
          <a:p>
            <a:r>
              <a:rPr lang="en-GB" altLang="zh-CN" dirty="0"/>
              <a:t>week4_Bob = week4.query('Name == "Bob"')[['</a:t>
            </a:r>
            <a:r>
              <a:rPr lang="en-GB" altLang="zh-CN" dirty="0" err="1"/>
              <a:t>Month','Perc</a:t>
            </a:r>
            <a:r>
              <a:rPr lang="en-GB" altLang="zh-CN" dirty="0"/>
              <a:t> Weight Loss']]</a:t>
            </a:r>
            <a:endParaRPr lang="en-GB" altLang="zh-CN" dirty="0"/>
          </a:p>
          <a:p>
            <a:r>
              <a:rPr lang="en-GB" altLang="zh-CN" dirty="0"/>
              <a:t>week4_Bob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week4_Amy = week4.query('Name == "Amy"')[['</a:t>
            </a:r>
            <a:r>
              <a:rPr lang="en-GB" altLang="zh-CN" dirty="0" err="1"/>
              <a:t>Month','Perc</a:t>
            </a:r>
            <a:r>
              <a:rPr lang="en-GB" altLang="zh-CN" dirty="0"/>
              <a:t> Weight Loss']]</a:t>
            </a:r>
            <a:endParaRPr lang="en-GB" altLang="zh-CN" dirty="0"/>
          </a:p>
          <a:p>
            <a:r>
              <a:rPr lang="en-GB" altLang="zh-CN" dirty="0"/>
              <a:t>week4_Amy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95" y="2895600"/>
            <a:ext cx="6711950" cy="13423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95" y="5020310"/>
            <a:ext cx="6762750" cy="15074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转换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transform</a:t>
            </a:r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比较</a:t>
            </a:r>
            <a:r>
              <a:rPr lang="en-US" altLang="zh-CN" dirty="0"/>
              <a:t>Bob </a:t>
            </a:r>
            <a:r>
              <a:rPr lang="zh-CN" altLang="en-US" dirty="0"/>
              <a:t>和 </a:t>
            </a:r>
            <a:r>
              <a:rPr lang="en-US" altLang="zh-CN" dirty="0"/>
              <a:t>Amy</a:t>
            </a:r>
            <a:r>
              <a:rPr lang="zh-CN" altLang="en-US" dirty="0"/>
              <a:t>的减肥效果</a:t>
            </a:r>
            <a:r>
              <a:rPr lang="en-US" altLang="zh-CN" dirty="0"/>
              <a:t>, Amy</a:t>
            </a:r>
            <a:r>
              <a:rPr lang="zh-CN" altLang="en-US" dirty="0"/>
              <a:t>的减肥效果更明显</a:t>
            </a:r>
            <a:endParaRPr lang="zh-CN" altLang="en-US" dirty="0"/>
          </a:p>
          <a:p>
            <a:r>
              <a:rPr lang="en-GB" altLang="zh-CN" dirty="0"/>
              <a:t>week4_Bob.set_index('Month')-week4_Amy.set_index('Month')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2731135"/>
            <a:ext cx="6724650" cy="2070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聚合</a:t>
            </a:r>
            <a:endParaRPr lang="zh-CN" altLang="en-US" b="1" dirty="0"/>
          </a:p>
          <a:p>
            <a:r>
              <a:rPr lang="zh-CN" altLang="en-US" b="1" dirty="0"/>
              <a:t>转换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过滤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 err="1"/>
              <a:t>DataFrameGroupBy</a:t>
            </a:r>
            <a:r>
              <a:rPr lang="zh-CN" altLang="en-US" b="1" dirty="0"/>
              <a:t>对象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过滤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使用方法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6471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US" altLang="zh-CN" dirty="0" err="1"/>
              <a:t>groupby</a:t>
            </a:r>
            <a:r>
              <a:rPr lang="zh-CN" altLang="en-US" dirty="0"/>
              <a:t>方法还可以过滤数据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调用</a:t>
            </a:r>
            <a:r>
              <a:rPr lang="en-US" altLang="zh-CN" dirty="0"/>
              <a:t>filter </a:t>
            </a:r>
            <a:r>
              <a:rPr lang="zh-CN" altLang="en-US" dirty="0"/>
              <a:t>方法，传入一个返回布尔值的函数，返回</a:t>
            </a:r>
            <a:r>
              <a:rPr lang="en-US" altLang="zh-CN" dirty="0"/>
              <a:t>False</a:t>
            </a:r>
            <a:r>
              <a:rPr lang="zh-CN" altLang="en-US" dirty="0"/>
              <a:t>的数据会被过滤掉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使用之前的小费数据</a:t>
            </a:r>
            <a:endParaRPr lang="en-US" altLang="zh-CN" dirty="0"/>
          </a:p>
          <a:p>
            <a:r>
              <a:rPr lang="en-GB" altLang="zh-CN" dirty="0"/>
              <a:t>tips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tips.csv</a:t>
            </a:r>
            <a:r>
              <a:rPr lang="en-GB" altLang="zh-CN" dirty="0"/>
              <a:t>')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en-GB" altLang="zh-CN" dirty="0"/>
              <a:t> </a:t>
            </a:r>
            <a:r>
              <a:rPr lang="zh-CN" altLang="en-US" dirty="0"/>
              <a:t>查看用餐人数</a:t>
            </a:r>
            <a:endParaRPr lang="zh-CN" altLang="en-US" dirty="0"/>
          </a:p>
          <a:p>
            <a:r>
              <a:rPr lang="en-GB" altLang="zh-CN" dirty="0"/>
              <a:t>tips['size'].</a:t>
            </a:r>
            <a:r>
              <a:rPr lang="en-GB" altLang="zh-CN" dirty="0" err="1"/>
              <a:t>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人数为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6</a:t>
            </a:r>
            <a:r>
              <a:rPr lang="zh-CN" altLang="en-US" dirty="0"/>
              <a:t>人的数据比较少，考虑将这部分数据过滤掉</a:t>
            </a:r>
            <a:endParaRPr lang="zh-CN" altLang="en-US" dirty="0"/>
          </a:p>
          <a:p>
            <a:r>
              <a:rPr lang="en-GB" altLang="zh-CN" dirty="0" err="1"/>
              <a:t>tips_filtered</a:t>
            </a:r>
            <a:r>
              <a:rPr lang="en-GB" altLang="zh-CN" dirty="0"/>
              <a:t> = </a:t>
            </a:r>
            <a:r>
              <a:rPr lang="en-GB" altLang="zh-CN" dirty="0" err="1"/>
              <a:t>tips.groupby</a:t>
            </a:r>
            <a:r>
              <a:rPr lang="en-GB" altLang="zh-CN" dirty="0"/>
              <a:t>('size').filter(lambda x: x['size'].count()&gt;30)</a:t>
            </a:r>
            <a:endParaRPr lang="en-GB" altLang="zh-CN" dirty="0"/>
          </a:p>
          <a:p>
            <a:r>
              <a:rPr lang="en-GB" altLang="zh-CN" dirty="0" err="1">
                <a:sym typeface="+mn-ea"/>
              </a:rPr>
              <a:t>tips_filtered</a:t>
            </a:r>
            <a:endParaRPr lang="en-GB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查看结果</a:t>
            </a:r>
            <a:endParaRPr lang="zh-CN" altLang="en-US" dirty="0"/>
          </a:p>
          <a:p>
            <a:r>
              <a:rPr lang="en-GB" altLang="zh-CN" dirty="0" err="1"/>
              <a:t>tips_filtered</a:t>
            </a:r>
            <a:r>
              <a:rPr lang="en-GB" altLang="zh-CN" dirty="0"/>
              <a:t>['size'].</a:t>
            </a:r>
            <a:r>
              <a:rPr lang="en-GB" altLang="zh-CN" dirty="0" err="1"/>
              <a:t>value_counts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8180" y="2540635"/>
            <a:ext cx="3054350" cy="1689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335" y="5203190"/>
            <a:ext cx="32131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聚合</a:t>
            </a:r>
            <a:endParaRPr lang="zh-CN" altLang="en-US" b="1" dirty="0"/>
          </a:p>
          <a:p>
            <a:r>
              <a:rPr lang="zh-CN" altLang="en-US" b="1" dirty="0"/>
              <a:t>转换</a:t>
            </a:r>
            <a:endParaRPr lang="zh-CN" altLang="en-US" b="1" dirty="0"/>
          </a:p>
          <a:p>
            <a:r>
              <a:rPr lang="zh-CN" altLang="en-US" b="1" dirty="0"/>
              <a:t>过滤</a:t>
            </a:r>
            <a:endParaRPr lang="zh-CN" altLang="en-US" b="1" dirty="0"/>
          </a:p>
          <a:p>
            <a:r>
              <a:rPr lang="en-GB" altLang="zh-CN" b="1" dirty="0" err="1">
                <a:solidFill>
                  <a:srgbClr val="FF0000"/>
                </a:solidFill>
              </a:rPr>
              <a:t>DataFrameGroupBy</a:t>
            </a:r>
            <a:r>
              <a:rPr lang="zh-CN" altLang="en-US" b="1" dirty="0">
                <a:solidFill>
                  <a:srgbClr val="FF0000"/>
                </a:solidFill>
              </a:rPr>
              <a:t>对象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分组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准备数据</a:t>
            </a:r>
            <a:endParaRPr lang="zh-CN" altLang="en-US" dirty="0"/>
          </a:p>
          <a:p>
            <a:r>
              <a:rPr lang="en-GB" altLang="zh-CN" dirty="0"/>
              <a:t>tips_10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tips.csv</a:t>
            </a:r>
            <a:r>
              <a:rPr lang="en-GB" altLang="zh-CN" dirty="0"/>
              <a:t>').sample(10,random_state = 42)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调用</a:t>
            </a:r>
            <a:r>
              <a:rPr lang="en-GB" altLang="zh-CN" dirty="0" err="1"/>
              <a:t>groupby</a:t>
            </a:r>
            <a:r>
              <a:rPr lang="en-GB" altLang="zh-CN" dirty="0"/>
              <a:t> </a:t>
            </a:r>
            <a:r>
              <a:rPr lang="zh-CN" altLang="en-US" dirty="0"/>
              <a:t>创建分组对象</a:t>
            </a:r>
            <a:endParaRPr lang="zh-CN" altLang="en-US" dirty="0"/>
          </a:p>
          <a:p>
            <a:r>
              <a:rPr lang="en-GB" altLang="zh-CN" dirty="0"/>
              <a:t>grouped = tips_10.groupby('sex')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GB" dirty="0"/>
              <a:t>查看</a:t>
            </a:r>
            <a:r>
              <a:rPr lang="en-GB" altLang="zh-CN" dirty="0"/>
              <a:t>grouped</a:t>
            </a:r>
            <a:endParaRPr lang="en-GB" altLang="zh-CN" dirty="0"/>
          </a:p>
          <a:p>
            <a:r>
              <a:rPr lang="en-GB" altLang="zh-CN" dirty="0"/>
              <a:t>grouped</a:t>
            </a:r>
            <a:endParaRPr lang="en-GB" altLang="zh-CN" dirty="0"/>
          </a:p>
          <a:p>
            <a:r>
              <a:rPr lang="en-GB" altLang="zh-CN" dirty="0"/>
              <a:t>grouped</a:t>
            </a:r>
            <a:r>
              <a:rPr lang="zh-CN" altLang="en-US" dirty="0"/>
              <a:t>是一个</a:t>
            </a:r>
            <a:r>
              <a:rPr lang="en-GB" altLang="zh-CN" dirty="0" err="1"/>
              <a:t>DataFrameGroupBy</a:t>
            </a:r>
            <a:r>
              <a:rPr lang="zh-CN" altLang="en-US" dirty="0"/>
              <a:t>对象</a:t>
            </a: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4827905"/>
            <a:ext cx="692785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分组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584700"/>
          </a:xfrm>
        </p:spPr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GB" dirty="0"/>
              <a:t>通过</a:t>
            </a:r>
            <a:r>
              <a:rPr lang="en-GB" altLang="zh-CN" dirty="0"/>
              <a:t>groups</a:t>
            </a:r>
            <a:r>
              <a:rPr lang="zh-CN" altLang="en-US" dirty="0"/>
              <a:t>属性查看计算过的分组</a:t>
            </a:r>
            <a:endParaRPr lang="en-US" altLang="zh-CN" dirty="0"/>
          </a:p>
          <a:p>
            <a:r>
              <a:rPr lang="en-GB" altLang="zh-CN" dirty="0" err="1"/>
              <a:t>grouped.groups</a:t>
            </a:r>
            <a:endParaRPr lang="en-GB" altLang="zh-CN" dirty="0"/>
          </a:p>
          <a:p>
            <a:r>
              <a:rPr lang="zh-CN" altLang="en-US" dirty="0"/>
              <a:t>上面返回的结果是</a:t>
            </a:r>
            <a:r>
              <a:rPr lang="en-US" altLang="zh-CN" dirty="0"/>
              <a:t>DataFrame</a:t>
            </a:r>
            <a:r>
              <a:rPr lang="zh-CN" altLang="en-US" dirty="0"/>
              <a:t>的索引，实际上就是原始数据的行数</a:t>
            </a:r>
            <a:endParaRPr lang="zh-CN" altLang="en-US" dirty="0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在</a:t>
            </a:r>
            <a:r>
              <a:rPr lang="en-GB" altLang="zh-CN" dirty="0" err="1"/>
              <a:t>DataFrameGroupBy</a:t>
            </a:r>
            <a:r>
              <a:rPr lang="zh-CN" altLang="en-US" dirty="0"/>
              <a:t>对象基础上，直接就可以进行</a:t>
            </a:r>
            <a:r>
              <a:rPr lang="en-GB" altLang="zh-CN" dirty="0" err="1"/>
              <a:t>aggregate,transform</a:t>
            </a:r>
            <a:r>
              <a:rPr lang="zh-CN" altLang="en-US" dirty="0"/>
              <a:t>计算了</a:t>
            </a:r>
            <a:endParaRPr lang="en-US" altLang="zh-CN" dirty="0"/>
          </a:p>
          <a:p>
            <a:r>
              <a:rPr lang="en-GB" altLang="zh-CN" dirty="0" err="1"/>
              <a:t>grouped.mean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zh-CN" altLang="en-US" dirty="0"/>
              <a:t>上面结果直接计算了按</a:t>
            </a:r>
            <a:r>
              <a:rPr lang="en-US" altLang="zh-CN" dirty="0"/>
              <a:t>sex</a:t>
            </a:r>
            <a:r>
              <a:rPr lang="zh-CN" altLang="en-US" dirty="0"/>
              <a:t>分组后，所有列的平均值，但只返回了数值列的结果，非数值列不会计算平均值</a:t>
            </a:r>
            <a:endParaRPr lang="zh-CN" altLang="en-US" dirty="0"/>
          </a:p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通过</a:t>
            </a:r>
            <a:r>
              <a:rPr lang="en-US" altLang="zh-CN" dirty="0" err="1"/>
              <a:t>get_group</a:t>
            </a:r>
            <a:r>
              <a:rPr lang="zh-CN" altLang="en-US" dirty="0"/>
              <a:t>选择分组</a:t>
            </a:r>
            <a:endParaRPr lang="zh-CN" altLang="en-US" dirty="0"/>
          </a:p>
          <a:p>
            <a:r>
              <a:rPr lang="en-GB" altLang="zh-CN" dirty="0"/>
              <a:t>female = </a:t>
            </a:r>
            <a:r>
              <a:rPr lang="en-GB" altLang="zh-CN" dirty="0" err="1"/>
              <a:t>grouped.get_group</a:t>
            </a:r>
            <a:r>
              <a:rPr lang="en-GB" altLang="zh-CN" dirty="0"/>
              <a:t>('Female')</a:t>
            </a:r>
            <a:endParaRPr lang="en-GB" altLang="zh-CN" dirty="0"/>
          </a:p>
          <a:p>
            <a:r>
              <a:rPr lang="en-GB" altLang="zh-CN" dirty="0"/>
              <a:t>female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4355" y="1645920"/>
            <a:ext cx="6877050" cy="882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05" y="4398645"/>
            <a:ext cx="6807200" cy="16827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遍历分组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0761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通过</a:t>
            </a:r>
            <a:r>
              <a:rPr lang="en-US" altLang="zh-CN" dirty="0" err="1"/>
              <a:t>groupby</a:t>
            </a:r>
            <a:r>
              <a:rPr lang="zh-CN" altLang="en-US" dirty="0"/>
              <a:t>对象，可以遍历所有分组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相比于在</a:t>
            </a:r>
            <a:r>
              <a:rPr lang="en-US" altLang="zh-CN" dirty="0" err="1"/>
              <a:t>groupby</a:t>
            </a:r>
            <a:r>
              <a:rPr lang="zh-CN" altLang="en-US" dirty="0"/>
              <a:t>之后使用</a:t>
            </a:r>
            <a:r>
              <a:rPr lang="en-US" altLang="zh-CN" dirty="0"/>
              <a:t>aggregate</a:t>
            </a:r>
            <a:r>
              <a:rPr lang="zh-CN" altLang="en-US" dirty="0"/>
              <a:t>、</a:t>
            </a:r>
            <a:r>
              <a:rPr lang="en-US" altLang="zh-CN" dirty="0"/>
              <a:t>transform</a:t>
            </a:r>
            <a:r>
              <a:rPr lang="zh-CN" altLang="en-US" dirty="0"/>
              <a:t>和</a:t>
            </a:r>
            <a:r>
              <a:rPr lang="en-US" altLang="zh-CN" dirty="0"/>
              <a:t>filter</a:t>
            </a:r>
            <a:r>
              <a:rPr lang="zh-CN" altLang="en-US" dirty="0"/>
              <a:t>，有时候使用</a:t>
            </a:r>
            <a:r>
              <a:rPr lang="en-US" altLang="zh-CN" dirty="0"/>
              <a:t>for</a:t>
            </a:r>
            <a:r>
              <a:rPr lang="zh-CN" altLang="en-US" dirty="0"/>
              <a:t>循环解决问题更简单</a:t>
            </a:r>
            <a:endParaRPr lang="zh-CN" altLang="en-US" dirty="0"/>
          </a:p>
          <a:p>
            <a:r>
              <a:rPr lang="en-GB" altLang="zh-CN" dirty="0"/>
              <a:t>for </a:t>
            </a:r>
            <a:r>
              <a:rPr lang="en-GB" altLang="zh-CN" dirty="0" err="1"/>
              <a:t>sex_group</a:t>
            </a:r>
            <a:r>
              <a:rPr lang="en-GB" altLang="zh-CN" dirty="0"/>
              <a:t> in grouped:</a:t>
            </a:r>
            <a:endParaRPr lang="en-GB" altLang="zh-CN" dirty="0"/>
          </a:p>
          <a:p>
            <a:r>
              <a:rPr lang="en-GB" altLang="zh-CN" dirty="0"/>
              <a:t>    print(</a:t>
            </a:r>
            <a:r>
              <a:rPr lang="en-GB" altLang="zh-CN" dirty="0" err="1"/>
              <a:t>sex_group</a:t>
            </a:r>
            <a:r>
              <a:rPr lang="en-GB" altLang="zh-CN" dirty="0"/>
              <a:t>)</a:t>
            </a:r>
            <a:endParaRPr lang="en-GB" altLang="zh-CN" dirty="0"/>
          </a:p>
          <a:p>
            <a:endParaRPr lang="en-GB" altLang="zh-CN" dirty="0"/>
          </a:p>
          <a:p>
            <a:endParaRPr lang="en-US" altLang="zh-CN" dirty="0" err="1"/>
          </a:p>
          <a:p>
            <a:endParaRPr lang="en-US" altLang="zh-CN" dirty="0" err="1"/>
          </a:p>
          <a:p>
            <a:endParaRPr lang="en-US" altLang="zh-CN" dirty="0" err="1"/>
          </a:p>
          <a:p>
            <a:endParaRPr lang="en-US" altLang="zh-CN" dirty="0" err="1"/>
          </a:p>
          <a:p>
            <a:endParaRPr lang="en-US" altLang="zh-CN" dirty="0" err="1"/>
          </a:p>
          <a:p>
            <a:r>
              <a:rPr lang="en-US" altLang="zh-CN" dirty="0" err="1"/>
              <a:t>DataFrameGroupBy</a:t>
            </a:r>
            <a:r>
              <a:rPr lang="zh-CN" altLang="en-US" dirty="0"/>
              <a:t>对象直接传入索引，会报错</a:t>
            </a:r>
            <a:endParaRPr lang="zh-CN" altLang="en-US" dirty="0"/>
          </a:p>
          <a:p>
            <a:r>
              <a:rPr lang="en-GB" altLang="zh-CN" dirty="0"/>
              <a:t>grouped[0]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3465830"/>
            <a:ext cx="6591300" cy="22593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遍历分组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/>
              <a:t>for </a:t>
            </a:r>
            <a:r>
              <a:rPr lang="en-GB" altLang="zh-CN" dirty="0" err="1"/>
              <a:t>sex_group</a:t>
            </a:r>
            <a:r>
              <a:rPr lang="en-GB" altLang="zh-CN" dirty="0"/>
              <a:t> in grouped:</a:t>
            </a:r>
            <a:endParaRPr lang="en-GB" altLang="zh-CN" dirty="0"/>
          </a:p>
          <a:p>
            <a:r>
              <a:rPr lang="en-GB" altLang="zh-CN" dirty="0"/>
              <a:t>    print(type(</a:t>
            </a:r>
            <a:r>
              <a:rPr lang="en-GB" altLang="zh-CN" dirty="0" err="1"/>
              <a:t>sex_group</a:t>
            </a:r>
            <a:r>
              <a:rPr lang="en-GB" altLang="zh-CN" dirty="0"/>
              <a:t>)) #</a:t>
            </a:r>
            <a:r>
              <a:rPr lang="zh-CN" altLang="en-US" dirty="0"/>
              <a:t>遍历</a:t>
            </a:r>
            <a:r>
              <a:rPr lang="en-GB" altLang="zh-CN" dirty="0"/>
              <a:t>grouped</a:t>
            </a:r>
            <a:r>
              <a:rPr lang="zh-CN" altLang="en-US" dirty="0"/>
              <a:t>对象，查看</a:t>
            </a:r>
            <a:r>
              <a:rPr lang="en-GB" altLang="zh-CN" dirty="0" err="1"/>
              <a:t>sex_group</a:t>
            </a:r>
            <a:r>
              <a:rPr lang="zh-CN" altLang="en-US" dirty="0"/>
              <a:t>数据类型</a:t>
            </a:r>
            <a:endParaRPr lang="en-GB" altLang="zh-CN" dirty="0"/>
          </a:p>
          <a:p>
            <a:r>
              <a:rPr lang="en-GB" altLang="zh-CN" dirty="0"/>
              <a:t>    print(</a:t>
            </a:r>
            <a:r>
              <a:rPr lang="en-GB" altLang="zh-CN" dirty="0" err="1"/>
              <a:t>len</a:t>
            </a:r>
            <a:r>
              <a:rPr lang="en-GB" altLang="zh-CN" dirty="0"/>
              <a:t>(</a:t>
            </a:r>
            <a:r>
              <a:rPr lang="en-GB" altLang="zh-CN" dirty="0" err="1"/>
              <a:t>sex_group</a:t>
            </a:r>
            <a:r>
              <a:rPr lang="en-GB" altLang="zh-CN" dirty="0"/>
              <a:t>)) # </a:t>
            </a:r>
            <a:r>
              <a:rPr lang="zh-CN" altLang="en-US" dirty="0"/>
              <a:t>查看元素个数</a:t>
            </a:r>
            <a:endParaRPr lang="en-GB" altLang="zh-CN" dirty="0"/>
          </a:p>
          <a:p>
            <a:r>
              <a:rPr lang="en-GB" altLang="zh-CN" dirty="0"/>
              <a:t>    print(</a:t>
            </a:r>
            <a:r>
              <a:rPr lang="en-GB" altLang="zh-CN" dirty="0" err="1"/>
              <a:t>sex_group</a:t>
            </a:r>
            <a:r>
              <a:rPr lang="en-GB" altLang="zh-CN" dirty="0"/>
              <a:t>[0]) # </a:t>
            </a:r>
            <a:r>
              <a:rPr lang="zh-CN" altLang="en-US" dirty="0"/>
              <a:t>查看第一个元素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/>
              <a:t>print(type(</a:t>
            </a:r>
            <a:r>
              <a:rPr lang="en-GB" altLang="zh-CN" dirty="0" err="1"/>
              <a:t>sex_group</a:t>
            </a:r>
            <a:r>
              <a:rPr lang="en-GB" altLang="zh-CN" dirty="0"/>
              <a:t>[0])) # </a:t>
            </a:r>
            <a:r>
              <a:rPr lang="zh-CN" altLang="en-US" dirty="0"/>
              <a:t>查看第一个元素数据类型</a:t>
            </a:r>
            <a:endParaRPr lang="en-GB" altLang="zh-CN" dirty="0"/>
          </a:p>
          <a:p>
            <a:r>
              <a:rPr lang="en-GB" altLang="zh-CN" dirty="0"/>
              <a:t>    print(</a:t>
            </a:r>
            <a:r>
              <a:rPr lang="en-GB" altLang="zh-CN" dirty="0" err="1"/>
              <a:t>sex_group</a:t>
            </a:r>
            <a:r>
              <a:rPr lang="en-GB" altLang="zh-CN" dirty="0"/>
              <a:t>[1]) # </a:t>
            </a:r>
            <a:r>
              <a:rPr lang="zh-CN" altLang="en-US" dirty="0"/>
              <a:t>查看第二个元素</a:t>
            </a:r>
            <a:endParaRPr lang="en-GB" altLang="zh-CN" dirty="0"/>
          </a:p>
          <a:p>
            <a:r>
              <a:rPr lang="en-GB" altLang="zh-CN" dirty="0"/>
              <a:t>    print(type(</a:t>
            </a:r>
            <a:r>
              <a:rPr lang="en-GB" altLang="zh-CN" dirty="0" err="1"/>
              <a:t>sex_group</a:t>
            </a:r>
            <a:r>
              <a:rPr lang="en-GB" altLang="zh-CN" dirty="0"/>
              <a:t>[1])) # </a:t>
            </a:r>
            <a:r>
              <a:rPr lang="zh-CN" altLang="en-US" dirty="0"/>
              <a:t>查看第二个元素数据类型</a:t>
            </a:r>
            <a:endParaRPr lang="en-GB" altLang="zh-CN" dirty="0"/>
          </a:p>
          <a:p>
            <a:r>
              <a:rPr lang="en-GB" altLang="zh-CN" dirty="0"/>
              <a:t>    break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多个分组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8665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前面使用的</a:t>
            </a:r>
            <a:r>
              <a:rPr lang="en-US" altLang="zh-CN" dirty="0" err="1"/>
              <a:t>groupby</a:t>
            </a:r>
            <a:r>
              <a:rPr lang="zh-CN" altLang="en-US" dirty="0"/>
              <a:t>语句只包含一个变量，可以在</a:t>
            </a:r>
            <a:r>
              <a:rPr lang="en-US" altLang="zh-CN" dirty="0" err="1"/>
              <a:t>groupby</a:t>
            </a:r>
            <a:r>
              <a:rPr lang="zh-CN" altLang="en-US" dirty="0"/>
              <a:t>中添加多个变量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 err="1"/>
              <a:t>groupby</a:t>
            </a:r>
            <a:r>
              <a:rPr lang="zh-CN" altLang="en-US" dirty="0"/>
              <a:t>按性别和用餐时间分别计算小费数据的平均值</a:t>
            </a:r>
            <a:endParaRPr lang="zh-CN" altLang="en-US" dirty="0"/>
          </a:p>
          <a:p>
            <a:r>
              <a:rPr lang="en-GB" altLang="zh-CN" dirty="0" err="1"/>
              <a:t>group_avg</a:t>
            </a:r>
            <a:r>
              <a:rPr lang="en-GB" altLang="zh-CN" dirty="0"/>
              <a:t> = tips_10.groupby(['</a:t>
            </a:r>
            <a:r>
              <a:rPr lang="en-GB" altLang="zh-CN" dirty="0" err="1"/>
              <a:t>sex','time</a:t>
            </a:r>
            <a:r>
              <a:rPr lang="en-GB" altLang="zh-CN" dirty="0"/>
              <a:t>']).mean()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分别查看分组之后结果的列名和行索引</a:t>
            </a:r>
            <a:endParaRPr lang="zh-CN" altLang="en-US" dirty="0"/>
          </a:p>
          <a:p>
            <a:r>
              <a:rPr lang="en-GB" altLang="zh-CN" dirty="0" err="1"/>
              <a:t>group_avg.columns</a:t>
            </a:r>
            <a:endParaRPr lang="en-GB" altLang="zh-CN" dirty="0"/>
          </a:p>
          <a:p>
            <a:endParaRPr lang="en-GB" altLang="zh-CN" dirty="0" err="1"/>
          </a:p>
          <a:p>
            <a:endParaRPr lang="en-GB" altLang="zh-CN" dirty="0" err="1"/>
          </a:p>
          <a:p>
            <a:r>
              <a:rPr lang="en-GB" altLang="zh-CN" dirty="0" err="1"/>
              <a:t>group_avg.index</a:t>
            </a:r>
            <a:endParaRPr lang="en-GB" altLang="zh-CN" dirty="0" err="1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75" y="3937000"/>
            <a:ext cx="5283200" cy="558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5" y="5141595"/>
            <a:ext cx="4343400" cy="1327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580" y="2127250"/>
            <a:ext cx="4864100" cy="24701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多个分组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5424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多个分组之后返回的是</a:t>
            </a:r>
            <a:r>
              <a:rPr lang="en-GB" altLang="zh-CN" dirty="0" err="1"/>
              <a:t>MultiIndex</a:t>
            </a:r>
            <a:endParaRPr lang="en-US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在结果上调用</a:t>
            </a:r>
            <a:r>
              <a:rPr lang="en-GB" altLang="zh-CN" dirty="0" err="1"/>
              <a:t>reset_index</a:t>
            </a:r>
            <a:r>
              <a:rPr lang="zh-CN" altLang="en-US" dirty="0"/>
              <a:t>方法得到一个普通的</a:t>
            </a:r>
            <a:r>
              <a:rPr lang="en-GB" altLang="zh-CN" dirty="0"/>
              <a:t>DataFrame</a:t>
            </a:r>
            <a:endParaRPr lang="zh-CN" altLang="en-US" dirty="0"/>
          </a:p>
          <a:p>
            <a:r>
              <a:rPr lang="en-GB" altLang="zh-CN" dirty="0" err="1"/>
              <a:t>group_avg.reset_index</a:t>
            </a:r>
            <a:r>
              <a:rPr lang="en-GB" altLang="zh-CN" dirty="0"/>
              <a:t>()</a:t>
            </a:r>
            <a:endParaRPr lang="en-GB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也可以在分组的时候通过</a:t>
            </a:r>
            <a:r>
              <a:rPr lang="en-GB" altLang="zh-CN" dirty="0" err="1"/>
              <a:t>as_index</a:t>
            </a:r>
            <a:r>
              <a:rPr lang="en-GB" altLang="zh-CN" dirty="0"/>
              <a:t> = False</a:t>
            </a:r>
            <a:r>
              <a:rPr lang="zh-CN" altLang="en-US" dirty="0"/>
              <a:t>参数（默认是</a:t>
            </a:r>
            <a:r>
              <a:rPr lang="en-GB" altLang="zh-CN" dirty="0"/>
              <a:t>True</a:t>
            </a:r>
            <a:r>
              <a:rPr lang="zh-CN" altLang="en-GB" dirty="0"/>
              <a:t>），</a:t>
            </a:r>
            <a:r>
              <a:rPr lang="zh-CN" altLang="en-US" dirty="0"/>
              <a:t>效果与调用</a:t>
            </a:r>
            <a:r>
              <a:rPr lang="en-GB" altLang="zh-CN" dirty="0" err="1"/>
              <a:t>reset_index</a:t>
            </a:r>
            <a:r>
              <a:rPr lang="en-GB" altLang="zh-CN" dirty="0"/>
              <a:t>()</a:t>
            </a:r>
            <a:r>
              <a:rPr lang="zh-CN" altLang="en-US" dirty="0"/>
              <a:t>一样</a:t>
            </a:r>
            <a:endParaRPr lang="zh-CN" altLang="en-US" dirty="0"/>
          </a:p>
          <a:p>
            <a:r>
              <a:rPr lang="en-GB" altLang="zh-CN" dirty="0"/>
              <a:t>tips_10.groupby(['</a:t>
            </a:r>
            <a:r>
              <a:rPr lang="en-GB" altLang="zh-CN" dirty="0" err="1"/>
              <a:t>sex','time</a:t>
            </a:r>
            <a:r>
              <a:rPr lang="en-GB" altLang="zh-CN" dirty="0"/>
              <a:t>'],</a:t>
            </a:r>
            <a:r>
              <a:rPr lang="en-GB" altLang="zh-CN" dirty="0" err="1"/>
              <a:t>as_index</a:t>
            </a:r>
            <a:r>
              <a:rPr lang="en-GB" altLang="zh-CN" dirty="0"/>
              <a:t> = False).mean()</a:t>
            </a:r>
            <a:endParaRPr lang="en-GB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85" y="3922395"/>
            <a:ext cx="67691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分组是数据分析中常见的操作，有助于从不同角度观察数据</a:t>
            </a:r>
            <a:endParaRPr lang="zh-CN" altLang="en-US" dirty="0"/>
          </a:p>
          <a:p>
            <a:r>
              <a:rPr lang="zh-CN" altLang="en-US" dirty="0"/>
              <a:t>分组之后可以得到</a:t>
            </a:r>
            <a:r>
              <a:rPr lang="en-US" altLang="zh-CN" dirty="0" err="1"/>
              <a:t>DataFrameGroupby</a:t>
            </a:r>
            <a:r>
              <a:rPr lang="zh-CN" altLang="en-US" dirty="0"/>
              <a:t>对象，该对象可以进行聚合、转换、过滤操作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+mj-lt"/>
              <a:buAutoNum type="arabicPeriod" startAt="3"/>
            </a:pPr>
            <a:r>
              <a:rPr lang="zh-CN" altLang="en-US" dirty="0"/>
              <a:t>分组之后的数据处理可以使用已有的内置函数，也可以使用自定义函数</a:t>
            </a:r>
            <a:endParaRPr lang="zh-CN" altLang="en-US" dirty="0"/>
          </a:p>
          <a:p>
            <a:pPr>
              <a:buAutoNum type="arabicPeriod" startAt="3"/>
            </a:pPr>
            <a:r>
              <a:rPr lang="zh-CN" altLang="en-US" dirty="0"/>
              <a:t>分组不但可以对单个字段进行分组，也可以对多个字段进行分组，多个字段分组之后可以得到</a:t>
            </a:r>
            <a:r>
              <a:rPr lang="en-US" altLang="zh-CN" dirty="0" err="1"/>
              <a:t>MultiIndex</a:t>
            </a:r>
            <a:r>
              <a:rPr lang="zh-CN" altLang="en-US" dirty="0"/>
              <a:t>数据，可以通过</a:t>
            </a:r>
            <a:r>
              <a:rPr lang="en-US" altLang="zh-CN" dirty="0" err="1"/>
              <a:t>reset_index</a:t>
            </a:r>
            <a:r>
              <a:rPr lang="zh-CN" altLang="en-US" dirty="0"/>
              <a:t>方法将数据变成普通的</a:t>
            </a:r>
            <a:r>
              <a:rPr lang="en-US" altLang="zh-CN" dirty="0"/>
              <a:t>DataFrame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5658</Words>
  <Application>WPS 演示</Application>
  <PresentationFormat>宽屏</PresentationFormat>
  <Paragraphs>367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37</vt:i4>
      </vt:variant>
    </vt:vector>
  </HeadingPairs>
  <TitlesOfParts>
    <vt:vector size="65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Arial Unicode MS</vt:lpstr>
      <vt:lpstr>等线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数据分组</vt:lpstr>
      <vt:lpstr>PowerPoint 演示文稿</vt:lpstr>
      <vt:lpstr>PowerPoint 演示文稿</vt:lpstr>
      <vt:lpstr>1 聚合</vt:lpstr>
      <vt:lpstr>1 聚合</vt:lpstr>
      <vt:lpstr>1 聚合</vt:lpstr>
      <vt:lpstr>1 聚合</vt:lpstr>
      <vt:lpstr>1 聚合</vt:lpstr>
      <vt:lpstr>1 聚合</vt:lpstr>
      <vt:lpstr>1 聚合</vt:lpstr>
      <vt:lpstr>1 聚合</vt:lpstr>
      <vt:lpstr>1 聚合</vt:lpstr>
      <vt:lpstr>1 聚合</vt:lpstr>
      <vt:lpstr>1 聚合</vt:lpstr>
      <vt:lpstr>PowerPoint 演示文稿</vt:lpstr>
      <vt:lpstr>2 转换 </vt:lpstr>
      <vt:lpstr>2 转换 </vt:lpstr>
      <vt:lpstr>2 转换 </vt:lpstr>
      <vt:lpstr>2 转换 </vt:lpstr>
      <vt:lpstr>2 转换 </vt:lpstr>
      <vt:lpstr>2 转换 </vt:lpstr>
      <vt:lpstr>2 转换 </vt:lpstr>
      <vt:lpstr>2 转换 </vt:lpstr>
      <vt:lpstr>2 转换 </vt:lpstr>
      <vt:lpstr>2 转换 </vt:lpstr>
      <vt:lpstr>PowerPoint 演示文稿</vt:lpstr>
      <vt:lpstr>3 过滤</vt:lpstr>
      <vt:lpstr>PowerPoint 演示文稿</vt:lpstr>
      <vt:lpstr>4 DataFrameGroupBy对象</vt:lpstr>
      <vt:lpstr>4 DataFrameGroupBy对象</vt:lpstr>
      <vt:lpstr>4 DataFrameGroupBy对象</vt:lpstr>
      <vt:lpstr>4 DataFrameGroupBy对象</vt:lpstr>
      <vt:lpstr>4 DataFrameGroupBy对象</vt:lpstr>
      <vt:lpstr>4 DataFrameGroupBy对象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空白格</cp:lastModifiedBy>
  <cp:revision>195</cp:revision>
  <dcterms:created xsi:type="dcterms:W3CDTF">2020-03-31T02:23:00Z</dcterms:created>
  <dcterms:modified xsi:type="dcterms:W3CDTF">2021-05-06T09:36:46Z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4D3E5CBF41B74E49A2FE5FD790E7499F</vt:lpwstr>
  </property>
  <property fmtid="{D5CDD505-2E9C-101B-9397-08002B2CF9AE}" pid="3" name="KSOProductBuildVer">
    <vt:lpwstr>2052-11.1.0.10463</vt:lpwstr>
  </property>
</Properties>
</file>