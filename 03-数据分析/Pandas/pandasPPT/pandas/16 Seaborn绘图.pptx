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2" r:id="rId8"/>
  </p:sldMasterIdLst>
  <p:notesMasterIdLst>
    <p:notesMasterId r:id="rId10"/>
  </p:notesMasterIdLst>
  <p:handoutMasterIdLst>
    <p:handoutMasterId r:id="rId50"/>
  </p:handoutMasterIdLst>
  <p:sldIdLst>
    <p:sldId id="462" r:id="rId9"/>
    <p:sldId id="464" r:id="rId11"/>
    <p:sldId id="463" r:id="rId12"/>
    <p:sldId id="470" r:id="rId13"/>
    <p:sldId id="471" r:id="rId14"/>
    <p:sldId id="472" r:id="rId15"/>
    <p:sldId id="474" r:id="rId16"/>
    <p:sldId id="473" r:id="rId17"/>
    <p:sldId id="475" r:id="rId18"/>
    <p:sldId id="476" r:id="rId19"/>
    <p:sldId id="477" r:id="rId20"/>
    <p:sldId id="478" r:id="rId21"/>
    <p:sldId id="479" r:id="rId22"/>
    <p:sldId id="480" r:id="rId23"/>
    <p:sldId id="481" r:id="rId24"/>
    <p:sldId id="504" r:id="rId25"/>
    <p:sldId id="482" r:id="rId26"/>
    <p:sldId id="483" r:id="rId27"/>
    <p:sldId id="484" r:id="rId28"/>
    <p:sldId id="505" r:id="rId29"/>
    <p:sldId id="485" r:id="rId30"/>
    <p:sldId id="486" r:id="rId31"/>
    <p:sldId id="487" r:id="rId32"/>
    <p:sldId id="488" r:id="rId33"/>
    <p:sldId id="489" r:id="rId34"/>
    <p:sldId id="506" r:id="rId35"/>
    <p:sldId id="490" r:id="rId36"/>
    <p:sldId id="491" r:id="rId37"/>
    <p:sldId id="492" r:id="rId38"/>
    <p:sldId id="493" r:id="rId39"/>
    <p:sldId id="507" r:id="rId40"/>
    <p:sldId id="494" r:id="rId41"/>
    <p:sldId id="495" r:id="rId42"/>
    <p:sldId id="496" r:id="rId43"/>
    <p:sldId id="497" r:id="rId44"/>
    <p:sldId id="499" r:id="rId45"/>
    <p:sldId id="498" r:id="rId46"/>
    <p:sldId id="500" r:id="rId47"/>
    <p:sldId id="451" r:id="rId48"/>
    <p:sldId id="264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B70006"/>
    <a:srgbClr val="FFFFE4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6" autoAdjust="0"/>
    <p:restoredTop sz="95330" autoAdjust="0"/>
  </p:normalViewPr>
  <p:slideViewPr>
    <p:cSldViewPr snapToGrid="0">
      <p:cViewPr varScale="1">
        <p:scale>
          <a:sx n="125" d="100"/>
          <a:sy n="125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6.xml"/><Relationship Id="rId14" Type="http://schemas.openxmlformats.org/officeDocument/2006/relationships/image" Target="../media/image4.png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seaborn.pydata.org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Seaborn </a:t>
            </a:r>
            <a:r>
              <a:rPr lang="zh-CN" altLang="en-US" b="1" dirty="0"/>
              <a:t>可视化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7275" y="1087755"/>
            <a:ext cx="6298565" cy="4355465"/>
          </a:xfrm>
        </p:spPr>
        <p:txBody>
          <a:bodyPr/>
          <a:lstStyle/>
          <a:p>
            <a:r>
              <a:rPr lang="zh-CN" altLang="en-US" dirty="0"/>
              <a:t>掌握</a:t>
            </a:r>
            <a:r>
              <a:rPr lang="en-US" altLang="zh-CN" dirty="0"/>
              <a:t>seaborn</a:t>
            </a:r>
            <a:r>
              <a:rPr lang="zh-CN" altLang="en-US" dirty="0"/>
              <a:t>的可视化绘图方法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FF0000"/>
                </a:solidFill>
              </a:rPr>
              <a:t>Seaborn</a:t>
            </a:r>
            <a:r>
              <a:rPr lang="zh-CN" altLang="en-US" b="1" dirty="0">
                <a:solidFill>
                  <a:srgbClr val="FF0000"/>
                </a:solidFill>
              </a:rPr>
              <a:t>简介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/>
              <a:t>Seaborn</a:t>
            </a:r>
            <a:r>
              <a:rPr lang="zh-CN" altLang="en-US" b="1" dirty="0"/>
              <a:t>绘制单变量图</a:t>
            </a:r>
            <a:endParaRPr lang="zh-CN" altLang="en-US" b="1" dirty="0"/>
          </a:p>
          <a:p>
            <a:r>
              <a:rPr lang="en-US" altLang="zh-CN" b="1" dirty="0"/>
              <a:t>Seaborn </a:t>
            </a:r>
            <a:r>
              <a:rPr lang="zh-CN" altLang="en-US" b="1" dirty="0"/>
              <a:t>双变量数据可视化</a:t>
            </a:r>
            <a:endParaRPr lang="zh-CN" altLang="en-US" b="1" dirty="0"/>
          </a:p>
          <a:p>
            <a:r>
              <a:rPr lang="zh-CN" altLang="en-US" b="1" dirty="0"/>
              <a:t>多变量数据</a:t>
            </a:r>
            <a:endParaRPr lang="zh-CN" altLang="en-US" b="1" dirty="0"/>
          </a:p>
          <a:p>
            <a:r>
              <a:rPr lang="en-GB" altLang="zh-CN" b="1" dirty="0"/>
              <a:t>Seaborn</a:t>
            </a:r>
            <a:r>
              <a:rPr lang="zh-CN" altLang="en-US" b="1" dirty="0"/>
              <a:t>主题和样式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Seaborn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1.1 </a:t>
            </a:r>
            <a:r>
              <a:rPr lang="zh-CN" altLang="en-US" b="1" dirty="0"/>
              <a:t>简介</a:t>
            </a:r>
            <a:endParaRPr lang="zh-CN" altLang="en-US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Seaborn</a:t>
            </a:r>
            <a:r>
              <a:rPr lang="zh-CN" altLang="en-US" dirty="0"/>
              <a:t>是基于</a:t>
            </a:r>
            <a:r>
              <a:rPr lang="en-GB" altLang="zh-CN" dirty="0"/>
              <a:t>matplotlib</a:t>
            </a:r>
            <a:r>
              <a:rPr lang="zh-CN" altLang="en-US" dirty="0"/>
              <a:t>的图形可视化</a:t>
            </a:r>
            <a:r>
              <a:rPr lang="en-GB" altLang="zh-CN" dirty="0"/>
              <a:t>python</a:t>
            </a:r>
            <a:r>
              <a:rPr lang="zh-CN" altLang="en-US" dirty="0"/>
              <a:t>包。它提供了一种高度交互式界面，便于用户能够做出各种有吸引力的统计图表。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Seaborn</a:t>
            </a:r>
            <a:r>
              <a:rPr lang="zh-CN" altLang="en-US" dirty="0"/>
              <a:t>是在</a:t>
            </a:r>
            <a:r>
              <a:rPr lang="en-GB" altLang="zh-CN" dirty="0"/>
              <a:t>matplotlib</a:t>
            </a:r>
            <a:r>
              <a:rPr lang="zh-CN" altLang="en-US" dirty="0"/>
              <a:t>的基础上进行了更高级的</a:t>
            </a:r>
            <a:r>
              <a:rPr lang="en-GB" altLang="zh-CN" dirty="0"/>
              <a:t>API</a:t>
            </a:r>
            <a:r>
              <a:rPr lang="zh-CN" altLang="en-US" dirty="0"/>
              <a:t>封装，从而使得作图更加容易，在大多数情况下使用</a:t>
            </a:r>
            <a:r>
              <a:rPr lang="en-GB" altLang="zh-CN" dirty="0"/>
              <a:t>seaborn</a:t>
            </a:r>
            <a:r>
              <a:rPr lang="zh-CN" altLang="en-US" dirty="0"/>
              <a:t>能做出很具有吸引力的图，而使用</a:t>
            </a:r>
            <a:r>
              <a:rPr lang="en-GB" altLang="zh-CN" dirty="0"/>
              <a:t>matplotlib</a:t>
            </a:r>
            <a:r>
              <a:rPr lang="zh-CN" altLang="en-US" dirty="0"/>
              <a:t>就能制作具有更多特色的图。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Seaborn</a:t>
            </a:r>
            <a:r>
              <a:rPr lang="zh-CN" altLang="en-US" dirty="0"/>
              <a:t>和</a:t>
            </a:r>
            <a:r>
              <a:rPr lang="en-GB" altLang="zh-CN" dirty="0"/>
              <a:t>Pandas</a:t>
            </a:r>
            <a:r>
              <a:rPr lang="zh-CN" altLang="en-US" dirty="0"/>
              <a:t>的</a:t>
            </a:r>
            <a:r>
              <a:rPr lang="en-GB" altLang="zh-CN" dirty="0"/>
              <a:t>API</a:t>
            </a:r>
            <a:r>
              <a:rPr lang="zh-CN" altLang="en-US" dirty="0"/>
              <a:t>配合的很好，使用</a:t>
            </a:r>
            <a:r>
              <a:rPr lang="en-GB" altLang="zh-CN" dirty="0"/>
              <a:t>DataFrame/Series</a:t>
            </a:r>
            <a:r>
              <a:rPr lang="zh-CN" altLang="en-US" dirty="0"/>
              <a:t>的数据就可以绘图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>
                <a:hlinkClick r:id="rId1"/>
              </a:rPr>
              <a:t>https://seaborn.pydata.org/#</a:t>
            </a:r>
            <a:endParaRPr lang="en-GB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Seaborn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1.1 </a:t>
            </a:r>
            <a:r>
              <a:rPr lang="zh-CN" altLang="en-US" b="1" dirty="0"/>
              <a:t>简介</a:t>
            </a:r>
            <a:endParaRPr lang="zh-CN" altLang="en-US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 加载数据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matplotlib.pyplot</a:t>
            </a:r>
            <a:r>
              <a:rPr lang="en-GB" altLang="zh-CN" dirty="0"/>
              <a:t> as </a:t>
            </a:r>
            <a:r>
              <a:rPr lang="en-GB" altLang="zh-CN" dirty="0" err="1"/>
              <a:t>plt</a:t>
            </a:r>
            <a:endParaRPr lang="en-GB" altLang="zh-CN" dirty="0"/>
          </a:p>
          <a:p>
            <a:r>
              <a:rPr lang="en-GB" altLang="zh-CN" dirty="0"/>
              <a:t>%matplotlib inline</a:t>
            </a:r>
            <a:endParaRPr lang="en-GB" altLang="zh-CN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 </a:t>
            </a:r>
            <a:r>
              <a:rPr lang="en-GB" altLang="zh-CN" dirty="0" err="1"/>
              <a:t>index_col</a:t>
            </a:r>
            <a:r>
              <a:rPr lang="en-GB" altLang="zh-CN" dirty="0"/>
              <a:t> </a:t>
            </a:r>
            <a:r>
              <a:rPr lang="zh-CN" altLang="en-US" dirty="0"/>
              <a:t>指定索引列， </a:t>
            </a:r>
            <a:r>
              <a:rPr lang="en-GB" altLang="zh-CN" dirty="0" err="1"/>
              <a:t>parse_dates</a:t>
            </a:r>
            <a:r>
              <a:rPr lang="en-GB" altLang="zh-CN" dirty="0"/>
              <a:t>=True </a:t>
            </a:r>
            <a:r>
              <a:rPr lang="zh-CN" altLang="en-US" dirty="0"/>
              <a:t>解析日期数据为</a:t>
            </a:r>
            <a:r>
              <a:rPr lang="en-GB" altLang="zh-CN" dirty="0"/>
              <a:t>datetime</a:t>
            </a:r>
            <a:r>
              <a:rPr lang="zh-CN" altLang="en-US" dirty="0"/>
              <a:t>类型</a:t>
            </a:r>
            <a:endParaRPr lang="zh-CN" altLang="en-US" dirty="0"/>
          </a:p>
          <a:p>
            <a:r>
              <a:rPr lang="en-GB" altLang="zh-CN" dirty="0" err="1"/>
              <a:t>fifa_data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('data/fifa.csv',</a:t>
            </a:r>
            <a:r>
              <a:rPr lang="en-GB" altLang="zh-CN" dirty="0" err="1"/>
              <a:t>index_col</a:t>
            </a:r>
            <a:r>
              <a:rPr lang="en-GB" altLang="zh-CN" dirty="0"/>
              <a:t>='Date',</a:t>
            </a:r>
            <a:r>
              <a:rPr lang="en-GB" altLang="zh-CN" dirty="0" err="1"/>
              <a:t>parse_dates</a:t>
            </a:r>
            <a:r>
              <a:rPr lang="en-GB" altLang="zh-CN" dirty="0"/>
              <a:t>=True)</a:t>
            </a:r>
            <a:endParaRPr lang="en-GB" altLang="zh-CN" dirty="0"/>
          </a:p>
          <a:p>
            <a:r>
              <a:rPr lang="en-GB" altLang="zh-CN" dirty="0" err="1"/>
              <a:t>fifa_data.head</a:t>
            </a:r>
            <a:r>
              <a:rPr lang="en-GB" altLang="zh-CN" dirty="0"/>
              <a:t>()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Seaborn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1.1 </a:t>
            </a:r>
            <a:r>
              <a:rPr lang="zh-CN" altLang="en-US" b="1" dirty="0"/>
              <a:t>简介</a:t>
            </a:r>
            <a:endParaRPr lang="zh-CN" altLang="en-US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51375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GB" altLang="zh-CN" dirty="0"/>
              <a:t>seaborn </a:t>
            </a:r>
            <a:r>
              <a:rPr lang="zh-CN" altLang="en-US" dirty="0"/>
              <a:t>绘图</a:t>
            </a:r>
            <a:endParaRPr lang="zh-CN" altLang="en-US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 err="1"/>
              <a:t>plt.figure</a:t>
            </a:r>
            <a:r>
              <a:rPr lang="en-GB" altLang="zh-CN" dirty="0"/>
              <a:t>(</a:t>
            </a:r>
            <a:r>
              <a:rPr lang="en-GB" altLang="zh-CN" dirty="0" err="1"/>
              <a:t>figsize</a:t>
            </a:r>
            <a:r>
              <a:rPr lang="en-GB" altLang="zh-CN" dirty="0"/>
              <a:t>=(16,6))</a:t>
            </a:r>
            <a:endParaRPr lang="en-GB" altLang="zh-CN" dirty="0"/>
          </a:p>
          <a:p>
            <a:r>
              <a:rPr lang="en-GB" altLang="zh-CN" dirty="0" err="1"/>
              <a:t>sns.lineplot</a:t>
            </a:r>
            <a:r>
              <a:rPr lang="en-GB" altLang="zh-CN" dirty="0"/>
              <a:t>(data=</a:t>
            </a:r>
            <a:r>
              <a:rPr lang="en-GB" altLang="zh-CN" dirty="0" err="1"/>
              <a:t>fifa_data</a:t>
            </a:r>
            <a:r>
              <a:rPr lang="en-GB" altLang="zh-CN" dirty="0"/>
              <a:t>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95" y="3478530"/>
            <a:ext cx="67945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Seaborn</a:t>
            </a:r>
            <a:r>
              <a:rPr lang="zh-CN" altLang="en-US" b="1" dirty="0"/>
              <a:t>简介</a:t>
            </a:r>
            <a:endParaRPr lang="en-US" altLang="zh-CN" b="1" dirty="0"/>
          </a:p>
          <a:p>
            <a:r>
              <a:rPr lang="en-US" altLang="zh-CN" b="1" dirty="0">
                <a:solidFill>
                  <a:srgbClr val="FF0000"/>
                </a:solidFill>
              </a:rPr>
              <a:t>Seaborn</a:t>
            </a:r>
            <a:r>
              <a:rPr lang="zh-CN" altLang="en-US" b="1" dirty="0">
                <a:solidFill>
                  <a:srgbClr val="FF0000"/>
                </a:solidFill>
              </a:rPr>
              <a:t>绘制单变量图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US" altLang="zh-CN" b="1" dirty="0"/>
              <a:t>Seaborn</a:t>
            </a:r>
            <a:r>
              <a:rPr lang="zh-CN" altLang="en-US" b="1" dirty="0"/>
              <a:t>双变量数据可视化</a:t>
            </a:r>
            <a:endParaRPr lang="zh-CN" altLang="en-US" b="1" dirty="0"/>
          </a:p>
          <a:p>
            <a:r>
              <a:rPr lang="zh-CN" altLang="en-US" b="1" dirty="0"/>
              <a:t>多变量数据</a:t>
            </a:r>
            <a:endParaRPr lang="zh-CN" altLang="en-US" b="1" dirty="0"/>
          </a:p>
          <a:p>
            <a:r>
              <a:rPr lang="en-GB" altLang="zh-CN" b="1" dirty="0"/>
              <a:t>Seaborn</a:t>
            </a:r>
            <a:r>
              <a:rPr lang="zh-CN" altLang="en-US" b="1" dirty="0"/>
              <a:t>主题和样式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Seaborn</a:t>
            </a:r>
            <a:r>
              <a:rPr lang="zh-CN" altLang="en-US" dirty="0"/>
              <a:t>绘制单变量图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直方图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 err="1"/>
              <a:t>sns.distplot</a:t>
            </a:r>
            <a:r>
              <a:rPr lang="zh-CN" altLang="en-US" dirty="0"/>
              <a:t>创建直方图，如下所示：</a:t>
            </a:r>
            <a:endParaRPr lang="en-US" altLang="zh-CN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加载</a:t>
            </a:r>
            <a:r>
              <a:rPr lang="en-GB" altLang="zh-CN" dirty="0"/>
              <a:t>seaborn</a:t>
            </a:r>
            <a:r>
              <a:rPr lang="zh-CN" altLang="en-US" dirty="0"/>
              <a:t>的自带数据</a:t>
            </a:r>
            <a:endParaRPr lang="zh-CN" altLang="en-US" dirty="0"/>
          </a:p>
          <a:p>
            <a:r>
              <a:rPr lang="en-GB" altLang="zh-CN" dirty="0"/>
              <a:t>tips = </a:t>
            </a:r>
            <a:r>
              <a:rPr lang="en-GB" altLang="zh-CN" dirty="0" err="1"/>
              <a:t>sns.load_dataset</a:t>
            </a:r>
            <a:r>
              <a:rPr lang="en-GB" altLang="zh-CN" dirty="0"/>
              <a:t>('tips')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使用</a:t>
            </a:r>
            <a:r>
              <a:rPr lang="en-GB" altLang="zh-CN" dirty="0"/>
              <a:t>subplots</a:t>
            </a:r>
            <a:r>
              <a:rPr lang="zh-CN" altLang="en-US" dirty="0"/>
              <a:t>函数创建画布，并在其中添加子图</a:t>
            </a:r>
            <a:endParaRPr lang="zh-CN" altLang="en-US" dirty="0"/>
          </a:p>
          <a:p>
            <a:r>
              <a:rPr lang="en-GB" altLang="zh-CN" dirty="0" err="1"/>
              <a:t>hist,ax</a:t>
            </a:r>
            <a:r>
              <a:rPr lang="en-GB" altLang="zh-CN" dirty="0"/>
              <a:t>=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dis</a:t>
            </a:r>
            <a:r>
              <a:rPr lang="en-US" altLang="en-GB" dirty="0" err="1"/>
              <a:t>t</a:t>
            </a:r>
            <a:r>
              <a:rPr lang="en-GB" altLang="zh-CN" dirty="0" err="1"/>
              <a:t>plot</a:t>
            </a:r>
            <a:r>
              <a:rPr lang="zh-CN" altLang="en-US" dirty="0"/>
              <a:t>函数绘图</a:t>
            </a:r>
            <a:endParaRPr lang="zh-CN" altLang="en-US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sns.distplot</a:t>
            </a:r>
            <a:r>
              <a:rPr lang="en-GB" altLang="zh-CN" dirty="0"/>
              <a:t>(tips['</a:t>
            </a:r>
            <a:r>
              <a:rPr lang="en-GB" altLang="zh-CN" dirty="0" err="1"/>
              <a:t>total_bill</a:t>
            </a:r>
            <a:r>
              <a:rPr lang="en-GB" altLang="zh-CN" dirty="0"/>
              <a:t>'])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('Total Bill Histogram with Density Plot')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1020" y="1645920"/>
            <a:ext cx="4686300" cy="340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Seaborn</a:t>
            </a:r>
            <a:r>
              <a:rPr lang="zh-CN" altLang="en-US" dirty="0"/>
              <a:t>绘制单变量图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直方图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distplot</a:t>
            </a:r>
            <a:r>
              <a:rPr lang="en-US" altLang="zh-CN" dirty="0"/>
              <a:t> </a:t>
            </a:r>
            <a:r>
              <a:rPr lang="zh-CN" altLang="en-US" dirty="0"/>
              <a:t>默认会同时绘制直方图和密度图</a:t>
            </a:r>
            <a:r>
              <a:rPr lang="en-US" altLang="zh-CN" dirty="0"/>
              <a:t>(</a:t>
            </a:r>
            <a:r>
              <a:rPr lang="zh-CN" altLang="en-US" dirty="0"/>
              <a:t>核密度估计 </a:t>
            </a:r>
            <a:r>
              <a:rPr lang="en-US" altLang="zh-CN" dirty="0" err="1"/>
              <a:t>kde</a:t>
            </a:r>
            <a:r>
              <a:rPr lang="en-US" altLang="zh-CN" dirty="0"/>
              <a:t>)</a:t>
            </a:r>
            <a:r>
              <a:rPr lang="zh-CN" altLang="en-US" dirty="0"/>
              <a:t>。如果只想绘制直方图，可以把</a:t>
            </a:r>
            <a:r>
              <a:rPr lang="en-US" altLang="zh-CN" dirty="0" err="1"/>
              <a:t>kde</a:t>
            </a:r>
            <a:r>
              <a:rPr lang="zh-CN" altLang="en-US" dirty="0"/>
              <a:t>参数设置为</a:t>
            </a:r>
            <a:r>
              <a:rPr lang="en-US" altLang="zh-CN" dirty="0"/>
              <a:t>False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核密度估计，就是采用平滑的峰值函数</a:t>
            </a:r>
            <a:r>
              <a:rPr lang="en-US" altLang="zh-CN" dirty="0"/>
              <a:t>(“</a:t>
            </a:r>
            <a:r>
              <a:rPr lang="zh-CN" altLang="en-US" dirty="0"/>
              <a:t>核”</a:t>
            </a:r>
            <a:r>
              <a:rPr lang="en-US" altLang="zh-CN" dirty="0"/>
              <a:t>)</a:t>
            </a:r>
            <a:r>
              <a:rPr lang="zh-CN" altLang="en-US" dirty="0"/>
              <a:t>来拟合观察到的数据点，从而对真实的概率分布曲线进行模拟。</a:t>
            </a:r>
            <a:endParaRPr lang="en-US" altLang="zh-CN" dirty="0"/>
          </a:p>
          <a:p>
            <a:r>
              <a:rPr lang="en-GB" altLang="zh-CN" dirty="0" err="1"/>
              <a:t>hist,ax</a:t>
            </a:r>
            <a:r>
              <a:rPr lang="en-GB" altLang="zh-CN" dirty="0"/>
              <a:t>=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displot</a:t>
            </a:r>
            <a:r>
              <a:rPr lang="zh-CN" altLang="en-US" dirty="0"/>
              <a:t>函数绘图</a:t>
            </a:r>
            <a:endParaRPr lang="zh-CN" altLang="en-US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sns.distplot</a:t>
            </a:r>
            <a:r>
              <a:rPr lang="en-GB" altLang="zh-CN" dirty="0"/>
              <a:t>(tips['</a:t>
            </a:r>
            <a:r>
              <a:rPr lang="en-GB" altLang="zh-CN" dirty="0" err="1"/>
              <a:t>total_bill</a:t>
            </a:r>
            <a:r>
              <a:rPr lang="en-GB" altLang="zh-CN" dirty="0"/>
              <a:t>'],</a:t>
            </a:r>
            <a:r>
              <a:rPr lang="en-GB" altLang="zh-CN" dirty="0" err="1"/>
              <a:t>kde</a:t>
            </a:r>
            <a:r>
              <a:rPr lang="en-GB" altLang="zh-CN" dirty="0"/>
              <a:t> = False)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('Total Bill Histogram')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('Frequency')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715" y="2860040"/>
            <a:ext cx="4794250" cy="3270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Seaborn</a:t>
            </a:r>
            <a:r>
              <a:rPr lang="zh-CN" altLang="en-US" dirty="0"/>
              <a:t>绘制单变量图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密度图（核密度估计）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密度图是展示单变量分布的另一种方法，本质上是通过绘制每个数据点为中心的正态分布，然后消除重叠的图，使曲线下的面积为</a:t>
            </a:r>
            <a:r>
              <a:rPr lang="en-US" altLang="zh-CN" dirty="0"/>
              <a:t>1</a:t>
            </a:r>
            <a:r>
              <a:rPr lang="zh-CN" altLang="en-US" dirty="0"/>
              <a:t>来创建的</a:t>
            </a:r>
            <a:endParaRPr lang="zh-CN" altLang="en-US" dirty="0"/>
          </a:p>
          <a:p>
            <a:r>
              <a:rPr lang="en-GB" altLang="zh-CN" dirty="0" err="1"/>
              <a:t>hist,ax</a:t>
            </a:r>
            <a:r>
              <a:rPr lang="en-GB" altLang="zh-CN" dirty="0"/>
              <a:t>=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displot</a:t>
            </a:r>
            <a:r>
              <a:rPr lang="zh-CN" altLang="en-US" dirty="0"/>
              <a:t>函数绘图</a:t>
            </a:r>
            <a:endParaRPr lang="zh-CN" altLang="en-US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sns.distplot</a:t>
            </a:r>
            <a:r>
              <a:rPr lang="en-GB" altLang="zh-CN" dirty="0"/>
              <a:t>(tips['</a:t>
            </a:r>
            <a:r>
              <a:rPr lang="en-GB" altLang="zh-CN" dirty="0" err="1"/>
              <a:t>total_bill</a:t>
            </a:r>
            <a:r>
              <a:rPr lang="en-GB" altLang="zh-CN" dirty="0"/>
              <a:t>'],</a:t>
            </a:r>
            <a:r>
              <a:rPr lang="en-GB" altLang="zh-CN" dirty="0" err="1"/>
              <a:t>hist</a:t>
            </a:r>
            <a:r>
              <a:rPr lang="en-GB" altLang="zh-CN" dirty="0"/>
              <a:t> = False)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('Total Bill Histogram')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('Frequency')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如果只绘制密度图，还可以使用</a:t>
            </a:r>
            <a:r>
              <a:rPr lang="en-US" altLang="zh-CN" dirty="0" err="1"/>
              <a:t>sns.kdeplot</a:t>
            </a:r>
            <a:r>
              <a:rPr lang="zh-CN" altLang="en-US" dirty="0"/>
              <a:t>函数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930" y="2348865"/>
            <a:ext cx="4883150" cy="3397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Seaborn</a:t>
            </a:r>
            <a:r>
              <a:rPr lang="zh-CN" altLang="en-US" dirty="0"/>
              <a:t>绘制单变量图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频数图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频数图是变量分布的一维表示，常与其他图一起使用，以增强可视化效果。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下图展示的是带密度图和频数图的直方图</a:t>
            </a:r>
            <a:endParaRPr lang="en-US" altLang="zh-CN" dirty="0"/>
          </a:p>
          <a:p>
            <a:r>
              <a:rPr lang="en-GB" altLang="zh-CN" dirty="0" err="1"/>
              <a:t>hist,ax</a:t>
            </a:r>
            <a:r>
              <a:rPr lang="en-GB" altLang="zh-CN" dirty="0"/>
              <a:t>=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displot</a:t>
            </a:r>
            <a:r>
              <a:rPr lang="zh-CN" altLang="en-US" dirty="0"/>
              <a:t>函数绘图</a:t>
            </a:r>
            <a:endParaRPr lang="zh-CN" altLang="en-US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sns.distplot</a:t>
            </a:r>
            <a:r>
              <a:rPr lang="en-GB" altLang="zh-CN" dirty="0"/>
              <a:t>(tips['</a:t>
            </a:r>
            <a:r>
              <a:rPr lang="en-GB" altLang="zh-CN" dirty="0" err="1"/>
              <a:t>total_bill</a:t>
            </a:r>
            <a:r>
              <a:rPr lang="en-GB" altLang="zh-CN" dirty="0"/>
              <a:t>'],rug = True)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('Total Bill Histogram with Density and Rug Plot')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8800" y="4244340"/>
            <a:ext cx="4749800" cy="2444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Seaborn</a:t>
            </a:r>
            <a:r>
              <a:rPr lang="zh-CN" altLang="en-US" dirty="0"/>
              <a:t>绘制单变量图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计数图（条形图）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计数图和直方图很像，直方图通过对数据分组来描述分布，计数图（条形图）是对离散变量（分类变量）计数。</a:t>
            </a:r>
            <a:endParaRPr lang="en-US" altLang="zh-CN" dirty="0"/>
          </a:p>
          <a:p>
            <a:r>
              <a:rPr lang="en-GB" altLang="zh-CN" dirty="0" err="1"/>
              <a:t>count,ax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sns.countplot</a:t>
            </a:r>
            <a:r>
              <a:rPr lang="en-GB" altLang="zh-CN" dirty="0"/>
              <a:t>('</a:t>
            </a:r>
            <a:r>
              <a:rPr lang="en-GB" altLang="zh-CN" dirty="0" err="1"/>
              <a:t>day',data</a:t>
            </a:r>
            <a:r>
              <a:rPr lang="en-GB" altLang="zh-CN" dirty="0"/>
              <a:t>=tips)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('Count of days')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('Day of the Week')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('Frequency')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625" y="2459355"/>
            <a:ext cx="466725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Seaborn</a:t>
            </a:r>
            <a:r>
              <a:rPr lang="zh-CN" altLang="en-US" b="1" dirty="0"/>
              <a:t>简介</a:t>
            </a:r>
            <a:endParaRPr lang="en-US" altLang="zh-CN" b="1" dirty="0"/>
          </a:p>
          <a:p>
            <a:r>
              <a:rPr lang="en-US" altLang="zh-CN" b="1" dirty="0">
                <a:solidFill>
                  <a:schemeClr val="tx1"/>
                </a:solidFill>
              </a:rPr>
              <a:t>Seaborn</a:t>
            </a:r>
            <a:r>
              <a:rPr lang="zh-CN" altLang="en-US" b="1" dirty="0">
                <a:solidFill>
                  <a:schemeClr val="tx1"/>
                </a:solidFill>
              </a:rPr>
              <a:t>绘制单变量图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Seaborn </a:t>
            </a:r>
            <a:r>
              <a:rPr lang="zh-CN" altLang="en-US" b="1" dirty="0">
                <a:solidFill>
                  <a:srgbClr val="FF0000"/>
                </a:solidFill>
              </a:rPr>
              <a:t>双变量数据可视化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多变量数据</a:t>
            </a:r>
            <a:endParaRPr lang="zh-CN" altLang="en-US" b="1" dirty="0"/>
          </a:p>
          <a:p>
            <a:r>
              <a:rPr lang="en-GB" altLang="zh-CN" b="1" dirty="0"/>
              <a:t>Seaborn</a:t>
            </a:r>
            <a:r>
              <a:rPr lang="zh-CN" altLang="en-US" b="1" dirty="0"/>
              <a:t>主题和样式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散点图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</a:t>
            </a:r>
            <a:r>
              <a:rPr lang="en-US" altLang="zh-CN" dirty="0"/>
              <a:t>seaborn</a:t>
            </a:r>
            <a:r>
              <a:rPr lang="zh-CN" altLang="en-US" dirty="0"/>
              <a:t>中，创建散点图的方法有很多，但是并没有名为</a:t>
            </a:r>
            <a:r>
              <a:rPr lang="en-US" altLang="zh-CN" dirty="0"/>
              <a:t>scatter</a:t>
            </a:r>
            <a:r>
              <a:rPr lang="zh-CN" altLang="en-US" dirty="0"/>
              <a:t>的函数。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创建散点图可以使用</a:t>
            </a:r>
            <a:r>
              <a:rPr lang="en-US" altLang="zh-CN" dirty="0" err="1"/>
              <a:t>regplot</a:t>
            </a:r>
            <a:r>
              <a:rPr lang="zh-CN" altLang="en-US" dirty="0"/>
              <a:t>函数。</a:t>
            </a:r>
            <a:r>
              <a:rPr lang="en-US" altLang="zh-CN" dirty="0" err="1"/>
              <a:t>regplot</a:t>
            </a:r>
            <a:r>
              <a:rPr lang="zh-CN" altLang="en-US" dirty="0"/>
              <a:t>不仅可以绘制散点图，还会拟合回归线，把</a:t>
            </a:r>
            <a:r>
              <a:rPr lang="en-US" altLang="zh-CN" dirty="0" err="1"/>
              <a:t>fit_reg</a:t>
            </a:r>
            <a:r>
              <a:rPr lang="zh-CN" altLang="en-US" dirty="0"/>
              <a:t>设置为</a:t>
            </a:r>
            <a:r>
              <a:rPr lang="en-US" altLang="zh-CN" dirty="0"/>
              <a:t>False</a:t>
            </a:r>
            <a:r>
              <a:rPr lang="zh-CN" altLang="en-US" dirty="0"/>
              <a:t>，将只显示散点图</a:t>
            </a:r>
            <a:endParaRPr lang="en-US" altLang="zh-CN" dirty="0"/>
          </a:p>
          <a:p>
            <a:r>
              <a:rPr lang="en-GB" altLang="zh-CN" dirty="0" err="1"/>
              <a:t>figure,ax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sns.regplot</a:t>
            </a:r>
            <a:r>
              <a:rPr lang="en-GB" altLang="zh-CN" dirty="0"/>
              <a:t>(x='</a:t>
            </a:r>
            <a:r>
              <a:rPr lang="en-GB" altLang="zh-CN" dirty="0" err="1"/>
              <a:t>total_bill',y</a:t>
            </a:r>
            <a:r>
              <a:rPr lang="en-GB" altLang="zh-CN" dirty="0"/>
              <a:t>='</a:t>
            </a:r>
            <a:r>
              <a:rPr lang="en-GB" altLang="zh-CN" dirty="0" err="1"/>
              <a:t>tip',data</a:t>
            </a:r>
            <a:r>
              <a:rPr lang="en-GB" altLang="zh-CN" dirty="0"/>
              <a:t>=tips)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('Scatterplot of Total Bill and Tip')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('Tip')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0" y="2846705"/>
            <a:ext cx="444500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散点图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57470"/>
          </a:xfrm>
        </p:spPr>
        <p:txBody>
          <a:bodyPr/>
          <a:lstStyle/>
          <a:p>
            <a:r>
              <a:rPr lang="en-US" altLang="zh-CN" dirty="0" err="1"/>
              <a:t>lmplot</a:t>
            </a:r>
            <a:r>
              <a:rPr lang="zh-CN" altLang="en-US" dirty="0"/>
              <a:t>函数和</a:t>
            </a:r>
            <a:r>
              <a:rPr lang="en-US" altLang="zh-CN" dirty="0" err="1"/>
              <a:t>regplot</a:t>
            </a:r>
            <a:r>
              <a:rPr lang="zh-CN" altLang="en-US" dirty="0"/>
              <a:t>函数类似，也可以用于创建散点图。</a:t>
            </a:r>
            <a:endParaRPr lang="zh-CN" altLang="en-US" dirty="0"/>
          </a:p>
          <a:p>
            <a:r>
              <a:rPr lang="en-US" altLang="zh-CN" dirty="0" err="1"/>
              <a:t>lmplot</a:t>
            </a:r>
            <a:r>
              <a:rPr lang="zh-CN" altLang="en-US" dirty="0"/>
              <a:t>函数内部会调用</a:t>
            </a:r>
            <a:r>
              <a:rPr lang="en-US" altLang="zh-CN" dirty="0" err="1"/>
              <a:t>regplot</a:t>
            </a:r>
            <a:r>
              <a:rPr lang="zh-CN" altLang="en-US" dirty="0"/>
              <a:t>，两者的主要区别是</a:t>
            </a:r>
            <a:r>
              <a:rPr lang="en-US" altLang="zh-CN" dirty="0" err="1"/>
              <a:t>regplot</a:t>
            </a:r>
            <a:r>
              <a:rPr lang="zh-CN" altLang="en-US" dirty="0"/>
              <a:t>创建坐标轴，而</a:t>
            </a:r>
            <a:r>
              <a:rPr lang="en-US" altLang="zh-CN" dirty="0" err="1"/>
              <a:t>lmplot</a:t>
            </a:r>
            <a:r>
              <a:rPr lang="zh-CN" altLang="en-US" dirty="0"/>
              <a:t>创建图</a:t>
            </a:r>
            <a:endParaRPr lang="zh-CN" altLang="en-US" dirty="0"/>
          </a:p>
          <a:p>
            <a:r>
              <a:rPr lang="en-GB" altLang="zh-CN" dirty="0"/>
              <a:t>fig = </a:t>
            </a:r>
            <a:r>
              <a:rPr lang="en-GB" altLang="zh-CN" dirty="0" err="1"/>
              <a:t>sns.lmplot</a:t>
            </a:r>
            <a:r>
              <a:rPr lang="en-GB" altLang="zh-CN" dirty="0"/>
              <a:t>(x='</a:t>
            </a:r>
            <a:r>
              <a:rPr lang="en-GB" altLang="zh-CN" dirty="0" err="1"/>
              <a:t>total_bill',y</a:t>
            </a:r>
            <a:r>
              <a:rPr lang="en-GB" altLang="zh-CN" dirty="0"/>
              <a:t>='</a:t>
            </a:r>
            <a:r>
              <a:rPr lang="en-GB" altLang="zh-CN" dirty="0" err="1"/>
              <a:t>tip',data</a:t>
            </a:r>
            <a:r>
              <a:rPr lang="en-GB" altLang="zh-CN" dirty="0"/>
              <a:t> = tips)</a:t>
            </a:r>
            <a:endParaRPr lang="en-GB" altLang="zh-CN" dirty="0"/>
          </a:p>
          <a:p>
            <a:endParaRPr lang="en-GB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990" y="2984500"/>
            <a:ext cx="4794250" cy="3706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散点图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51120"/>
          </a:xfrm>
        </p:spPr>
        <p:txBody>
          <a:bodyPr/>
          <a:lstStyle/>
          <a:p>
            <a:r>
              <a:rPr lang="zh-CN" altLang="en-US" dirty="0"/>
              <a:t>还可以使用</a:t>
            </a:r>
            <a:r>
              <a:rPr lang="en-US" altLang="zh-CN" dirty="0" err="1"/>
              <a:t>jointplot</a:t>
            </a:r>
            <a:r>
              <a:rPr lang="zh-CN" altLang="en-US" dirty="0"/>
              <a:t>在每个轴上创建包含单个变量的散点图。</a:t>
            </a:r>
            <a:endParaRPr lang="zh-CN" altLang="en-US" dirty="0"/>
          </a:p>
          <a:p>
            <a:r>
              <a:rPr lang="en-US" altLang="zh-CN" dirty="0"/>
              <a:t>joint = </a:t>
            </a:r>
            <a:r>
              <a:rPr lang="en-US" altLang="zh-CN" dirty="0" err="1"/>
              <a:t>sns.jointplot</a:t>
            </a:r>
            <a:r>
              <a:rPr lang="en-US" altLang="zh-CN" dirty="0"/>
              <a:t>(x='</a:t>
            </a:r>
            <a:r>
              <a:rPr lang="en-US" altLang="zh-CN" dirty="0" err="1"/>
              <a:t>total_bill',y</a:t>
            </a:r>
            <a:r>
              <a:rPr lang="en-US" altLang="zh-CN" dirty="0"/>
              <a:t>='</a:t>
            </a:r>
            <a:r>
              <a:rPr lang="en-US" altLang="zh-CN" dirty="0" err="1"/>
              <a:t>tip',data</a:t>
            </a:r>
            <a:r>
              <a:rPr lang="en-US" altLang="zh-CN" dirty="0"/>
              <a:t> = tips)</a:t>
            </a:r>
            <a:endParaRPr lang="en-US" altLang="zh-CN" dirty="0"/>
          </a:p>
          <a:p>
            <a:r>
              <a:rPr lang="en-US" altLang="zh-CN" dirty="0" err="1"/>
              <a:t>joint.set_axis_labels</a:t>
            </a:r>
            <a:r>
              <a:rPr lang="en-US" altLang="zh-CN" dirty="0"/>
              <a:t>(</a:t>
            </a:r>
            <a:r>
              <a:rPr lang="en-US" altLang="zh-CN" dirty="0" err="1"/>
              <a:t>xlabel</a:t>
            </a:r>
            <a:r>
              <a:rPr lang="en-US" altLang="zh-CN" dirty="0"/>
              <a:t> = 'Total Bill',</a:t>
            </a:r>
            <a:r>
              <a:rPr lang="en-US" altLang="zh-CN" dirty="0" err="1"/>
              <a:t>ylabel</a:t>
            </a:r>
            <a:r>
              <a:rPr lang="en-US" altLang="zh-CN" dirty="0"/>
              <a:t>='Tip')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添加标题，设置字号</a:t>
            </a:r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移动轴域上方的文字</a:t>
            </a:r>
            <a:endParaRPr lang="zh-CN" altLang="en-US" dirty="0"/>
          </a:p>
          <a:p>
            <a:r>
              <a:rPr lang="en-US" altLang="zh-CN" dirty="0" err="1"/>
              <a:t>joint.fig.suptitle</a:t>
            </a:r>
            <a:r>
              <a:rPr lang="en-US" altLang="zh-CN" dirty="0"/>
              <a:t>('Joint Plot of Total Bill and Tip',</a:t>
            </a:r>
            <a:endParaRPr lang="en-US" altLang="zh-CN" dirty="0"/>
          </a:p>
          <a:p>
            <a:r>
              <a:rPr lang="en-US" altLang="zh-CN" dirty="0" err="1"/>
              <a:t>fontsize</a:t>
            </a:r>
            <a:r>
              <a:rPr lang="en-US" altLang="zh-CN" dirty="0"/>
              <a:t> = 10,y=1.03)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160" y="2051685"/>
            <a:ext cx="5086350" cy="4227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蜂巢图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jointplot</a:t>
            </a:r>
            <a:r>
              <a:rPr lang="zh-CN" altLang="en-US" dirty="0"/>
              <a:t>绘制蜂巢图，和使用</a:t>
            </a:r>
            <a:r>
              <a:rPr lang="en-GB" altLang="zh-CN" dirty="0"/>
              <a:t>matplotlib</a:t>
            </a:r>
            <a:r>
              <a:rPr lang="zh-CN" altLang="en-US" dirty="0"/>
              <a:t>的</a:t>
            </a:r>
            <a:r>
              <a:rPr lang="en-GB" altLang="zh-CN" dirty="0" err="1"/>
              <a:t>hexbin</a:t>
            </a:r>
            <a:r>
              <a:rPr lang="zh-CN" altLang="en-US" dirty="0"/>
              <a:t>函数进行绘制</a:t>
            </a:r>
            <a:endParaRPr lang="en-US" altLang="zh-CN" dirty="0"/>
          </a:p>
          <a:p>
            <a:r>
              <a:rPr lang="en-US" altLang="zh-CN" dirty="0"/>
              <a:t>joint = </a:t>
            </a:r>
            <a:r>
              <a:rPr lang="en-US" altLang="zh-CN" dirty="0" err="1"/>
              <a:t>sns.jointplot</a:t>
            </a:r>
            <a:r>
              <a:rPr lang="en-US" altLang="zh-CN" dirty="0"/>
              <a:t>(x='</a:t>
            </a:r>
            <a:r>
              <a:rPr lang="en-US" altLang="zh-CN" dirty="0" err="1"/>
              <a:t>total_bill',y</a:t>
            </a:r>
            <a:r>
              <a:rPr lang="en-US" altLang="zh-CN" dirty="0"/>
              <a:t>='</a:t>
            </a:r>
            <a:r>
              <a:rPr lang="en-US" altLang="zh-CN" dirty="0" err="1"/>
              <a:t>tip',data</a:t>
            </a:r>
            <a:r>
              <a:rPr lang="en-US" altLang="zh-CN" dirty="0"/>
              <a:t> = </a:t>
            </a:r>
            <a:r>
              <a:rPr lang="en-US" altLang="zh-CN" dirty="0" err="1"/>
              <a:t>tips,kind</a:t>
            </a:r>
            <a:r>
              <a:rPr lang="en-US" altLang="zh-CN" dirty="0"/>
              <a:t>='hex')</a:t>
            </a:r>
            <a:endParaRPr lang="en-US" altLang="zh-CN" dirty="0"/>
          </a:p>
          <a:p>
            <a:r>
              <a:rPr lang="en-US" altLang="zh-CN" dirty="0" err="1"/>
              <a:t>joint.set_axis_labels</a:t>
            </a:r>
            <a:r>
              <a:rPr lang="en-US" altLang="zh-CN" dirty="0"/>
              <a:t>(</a:t>
            </a:r>
            <a:r>
              <a:rPr lang="en-US" altLang="zh-CN" dirty="0" err="1"/>
              <a:t>xlabel</a:t>
            </a:r>
            <a:r>
              <a:rPr lang="en-US" altLang="zh-CN" dirty="0"/>
              <a:t> = 'Total Bill',</a:t>
            </a:r>
            <a:r>
              <a:rPr lang="en-US" altLang="zh-CN" dirty="0" err="1"/>
              <a:t>ylabel</a:t>
            </a:r>
            <a:r>
              <a:rPr lang="en-US" altLang="zh-CN" dirty="0"/>
              <a:t>='Tip')</a:t>
            </a:r>
            <a:endParaRPr lang="en-US" altLang="zh-CN" dirty="0"/>
          </a:p>
          <a:p>
            <a:r>
              <a:rPr lang="en-US" altLang="zh-CN" dirty="0" err="1"/>
              <a:t>joint.fig.suptitle</a:t>
            </a:r>
            <a:r>
              <a:rPr lang="en-US" altLang="zh-CN" dirty="0"/>
              <a:t>('</a:t>
            </a:r>
            <a:r>
              <a:rPr lang="en-US" altLang="zh-CN" dirty="0" err="1"/>
              <a:t>Hexbin</a:t>
            </a:r>
            <a:r>
              <a:rPr lang="en-US" altLang="zh-CN" dirty="0"/>
              <a:t> Joint Plot of Total Bill and Tip',</a:t>
            </a:r>
            <a:r>
              <a:rPr lang="en-US" altLang="zh-CN" dirty="0" err="1"/>
              <a:t>fontsize</a:t>
            </a:r>
            <a:r>
              <a:rPr lang="en-US" altLang="zh-CN" dirty="0"/>
              <a:t> = 10,y=1.03)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3387090"/>
            <a:ext cx="5416550" cy="32505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3.3 2D</a:t>
            </a:r>
            <a:r>
              <a:rPr lang="zh-CN" altLang="en-US" dirty="0"/>
              <a:t>密度图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840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2D</a:t>
            </a:r>
            <a:r>
              <a:rPr lang="zh-CN" altLang="en-US" dirty="0"/>
              <a:t>核密度图和</a:t>
            </a:r>
            <a:r>
              <a:rPr lang="en-US" altLang="zh-CN" dirty="0" err="1"/>
              <a:t>kdeplot</a:t>
            </a:r>
            <a:r>
              <a:rPr lang="zh-CN" altLang="en-US" dirty="0"/>
              <a:t>类似，但</a:t>
            </a:r>
            <a:r>
              <a:rPr lang="en-US" altLang="zh-CN" dirty="0"/>
              <a:t>2D</a:t>
            </a:r>
            <a:r>
              <a:rPr lang="zh-CN" altLang="en-US" dirty="0"/>
              <a:t>核密度图可展示两个变量</a:t>
            </a:r>
            <a:endParaRPr lang="en-US" altLang="zh-CN" dirty="0"/>
          </a:p>
          <a:p>
            <a:r>
              <a:rPr lang="en-GB" altLang="zh-CN" dirty="0" err="1"/>
              <a:t>kde,ax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sns.kdeplot</a:t>
            </a:r>
            <a:r>
              <a:rPr lang="en-GB" altLang="zh-CN" dirty="0"/>
              <a:t>(data=tips['</a:t>
            </a:r>
            <a:r>
              <a:rPr lang="en-GB" altLang="zh-CN" dirty="0" err="1"/>
              <a:t>total_bill</a:t>
            </a:r>
            <a:r>
              <a:rPr lang="en-GB" altLang="zh-CN" dirty="0"/>
              <a:t>'],data2=tips['tip'],shade=True) #</a:t>
            </a:r>
            <a:r>
              <a:rPr lang="zh-CN" altLang="en-US" dirty="0"/>
              <a:t>是否填充轮廓</a:t>
            </a:r>
            <a:endParaRPr lang="zh-CN" altLang="en-US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('Kernel Density Plot of Total Bill and Tip')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('Tip')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655" y="3314700"/>
            <a:ext cx="4857750" cy="3388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3.3 2D</a:t>
            </a:r>
            <a:r>
              <a:rPr lang="zh-CN" altLang="en-US" dirty="0"/>
              <a:t>密度图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02175"/>
          </a:xfrm>
        </p:spPr>
        <p:txBody>
          <a:bodyPr/>
          <a:lstStyle/>
          <a:p>
            <a:r>
              <a:rPr lang="en-GB" altLang="zh-CN" dirty="0" err="1"/>
              <a:t>kde,ax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sns.kdeplot</a:t>
            </a:r>
            <a:r>
              <a:rPr lang="en-GB" altLang="zh-CN" dirty="0"/>
              <a:t>(</a:t>
            </a:r>
            <a:r>
              <a:rPr lang="en-US" altLang="en-GB" dirty="0"/>
              <a:t>x</a:t>
            </a:r>
            <a:r>
              <a:rPr lang="en-GB" altLang="zh-CN" dirty="0"/>
              <a:t>=tips['</a:t>
            </a:r>
            <a:r>
              <a:rPr lang="en-GB" altLang="zh-CN" dirty="0" err="1"/>
              <a:t>total_bill</a:t>
            </a:r>
            <a:r>
              <a:rPr lang="en-GB" altLang="zh-CN" dirty="0"/>
              <a:t>'],</a:t>
            </a:r>
            <a:r>
              <a:rPr lang="en-US" altLang="en-GB" dirty="0"/>
              <a:t>y</a:t>
            </a:r>
            <a:r>
              <a:rPr lang="en-GB" altLang="zh-CN" dirty="0"/>
              <a:t>=tips['tip'],shade=False) #</a:t>
            </a:r>
            <a:r>
              <a:rPr lang="zh-CN" altLang="en-US" dirty="0"/>
              <a:t>是否填充轮廓</a:t>
            </a:r>
            <a:endParaRPr lang="zh-CN" altLang="en-US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('Kernel Density Plot of Total Bill and Tip')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('Total Bill')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('Tip')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2460" y="2951480"/>
            <a:ext cx="470535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3.3 2D</a:t>
            </a:r>
            <a:r>
              <a:rPr lang="zh-CN" altLang="en-US" dirty="0"/>
              <a:t>密度图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75200"/>
          </a:xfrm>
        </p:spPr>
        <p:txBody>
          <a:bodyPr/>
          <a:lstStyle/>
          <a:p>
            <a:r>
              <a:rPr lang="en-GB" altLang="zh-CN" dirty="0" err="1"/>
              <a:t>kde_joint</a:t>
            </a:r>
            <a:r>
              <a:rPr lang="en-GB" altLang="zh-CN" dirty="0"/>
              <a:t> = </a:t>
            </a:r>
            <a:r>
              <a:rPr lang="en-GB" altLang="zh-CN" dirty="0" err="1"/>
              <a:t>sns.jointplot</a:t>
            </a:r>
            <a:r>
              <a:rPr lang="en-GB" altLang="zh-CN" dirty="0"/>
              <a:t>(x = '</a:t>
            </a:r>
            <a:r>
              <a:rPr lang="en-GB" altLang="zh-CN" dirty="0" err="1"/>
              <a:t>total_bill',y</a:t>
            </a:r>
            <a:r>
              <a:rPr lang="en-GB" altLang="zh-CN" dirty="0"/>
              <a:t>='</a:t>
            </a:r>
            <a:r>
              <a:rPr lang="en-GB" altLang="zh-CN" dirty="0" err="1"/>
              <a:t>tip',data</a:t>
            </a:r>
            <a:r>
              <a:rPr lang="en-GB" altLang="zh-CN" dirty="0"/>
              <a:t>=</a:t>
            </a:r>
            <a:r>
              <a:rPr lang="en-GB" altLang="zh-CN" dirty="0" err="1"/>
              <a:t>tips,kind</a:t>
            </a:r>
            <a:r>
              <a:rPr lang="en-GB" altLang="zh-CN" dirty="0"/>
              <a:t> = '</a:t>
            </a:r>
            <a:r>
              <a:rPr lang="en-GB" altLang="zh-CN" dirty="0" err="1"/>
              <a:t>kde</a:t>
            </a:r>
            <a:r>
              <a:rPr lang="en-GB" altLang="zh-CN" dirty="0"/>
              <a:t>'</a:t>
            </a:r>
            <a:r>
              <a:rPr lang="en-US" altLang="en-GB" dirty="0"/>
              <a:t>,shade=True</a:t>
            </a:r>
            <a:r>
              <a:rPr lang="en-GB" altLang="zh-CN" dirty="0"/>
              <a:t>)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220" y="2336165"/>
            <a:ext cx="5238750" cy="39077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条形图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260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条形图也可以用于展现多个变量，</a:t>
            </a:r>
            <a:r>
              <a:rPr lang="en-US" altLang="zh-CN" dirty="0" err="1"/>
              <a:t>barplot</a:t>
            </a:r>
            <a:r>
              <a:rPr lang="zh-CN" altLang="en-US" dirty="0"/>
              <a:t>默认会计算平均值</a:t>
            </a:r>
            <a:endParaRPr lang="en-US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numpy</a:t>
            </a:r>
            <a:r>
              <a:rPr lang="en-GB" altLang="zh-CN" dirty="0"/>
              <a:t> as np</a:t>
            </a:r>
            <a:endParaRPr lang="en-GB" altLang="zh-CN" dirty="0"/>
          </a:p>
          <a:p>
            <a:r>
              <a:rPr lang="en-GB" altLang="zh-CN" dirty="0" err="1"/>
              <a:t>bar,ax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sns.barplot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total_bill',data</a:t>
            </a:r>
            <a:r>
              <a:rPr lang="en-GB" altLang="zh-CN" dirty="0"/>
              <a:t>=tips) 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('Bar plot of average total bill for time of day')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('Time of day')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('Average total bill')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260" y="3799205"/>
            <a:ext cx="5124450" cy="27235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箱线图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箱线图用于显示多种统计信息：最小值，</a:t>
            </a:r>
            <a:r>
              <a:rPr lang="en-US" altLang="zh-CN" dirty="0"/>
              <a:t>1/4</a:t>
            </a:r>
            <a:r>
              <a:rPr lang="zh-CN" altLang="en-US" dirty="0"/>
              <a:t>分位，中位数，</a:t>
            </a:r>
            <a:r>
              <a:rPr lang="en-US" altLang="zh-CN" dirty="0"/>
              <a:t>3/4</a:t>
            </a:r>
            <a:r>
              <a:rPr lang="zh-CN" altLang="en-US" dirty="0"/>
              <a:t>分位，最大值，以及离群值（如果有）</a:t>
            </a:r>
            <a:endParaRPr lang="en-US" altLang="zh-CN" dirty="0"/>
          </a:p>
          <a:p>
            <a:r>
              <a:rPr lang="en-GB" altLang="zh-CN" dirty="0" err="1"/>
              <a:t>box,ax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sns.boxplot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total_bill',data</a:t>
            </a:r>
            <a:r>
              <a:rPr lang="en-GB" altLang="zh-CN" dirty="0"/>
              <a:t> = tips)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('Boxplot of total bill by time of day')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('Time of day')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('Total Bill')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5320" y="3336290"/>
            <a:ext cx="50165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箱线图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关于箱线图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箱子的中间有一条线，代表了数据的中位数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箱子的上下底，分别是数据的上四分位数（</a:t>
            </a:r>
            <a:r>
              <a:rPr lang="en-US" altLang="zh-CN" dirty="0"/>
              <a:t>Q3</a:t>
            </a:r>
            <a:r>
              <a:rPr lang="zh-CN" altLang="en-US" dirty="0"/>
              <a:t>）和下四分位数（</a:t>
            </a:r>
            <a:r>
              <a:rPr lang="en-US" altLang="zh-CN" dirty="0"/>
              <a:t>Q1</a:t>
            </a:r>
            <a:r>
              <a:rPr lang="zh-CN" altLang="en-US" dirty="0"/>
              <a:t>）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箱体包含了</a:t>
            </a:r>
            <a:r>
              <a:rPr lang="en-US" altLang="zh-CN" dirty="0"/>
              <a:t>50%</a:t>
            </a:r>
            <a:r>
              <a:rPr lang="zh-CN" altLang="en-US" dirty="0"/>
              <a:t>的数据。因此，</a:t>
            </a:r>
            <a:r>
              <a:rPr lang="zh-CN" altLang="en-US" b="1" dirty="0"/>
              <a:t>箱子的高度在一定程度上反映了数据的波动程度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上下边缘则代表了该组数据的最大值和最小值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有时候箱子外部会有一些点，可以理解为数据中的“</a:t>
            </a:r>
            <a:r>
              <a:rPr lang="zh-CN" altLang="en-US" b="1" dirty="0"/>
              <a:t>异常值</a:t>
            </a:r>
            <a:r>
              <a:rPr lang="zh-CN" altLang="en-US" dirty="0"/>
              <a:t>” 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317" y="3479095"/>
            <a:ext cx="5658683" cy="331786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 </a:t>
            </a:r>
            <a:r>
              <a:rPr lang="zh-CN" altLang="en-US" dirty="0"/>
              <a:t>小提琴图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5173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箱线图是经典的可视化方法，但可能会掩盖数据的分布，小提琴图能显示与箱线图相同的值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小提琴图把</a:t>
            </a:r>
            <a:r>
              <a:rPr lang="en-US" altLang="zh-CN" dirty="0"/>
              <a:t>"</a:t>
            </a:r>
            <a:r>
              <a:rPr lang="zh-CN" altLang="en-US" dirty="0"/>
              <a:t>箱线</a:t>
            </a:r>
            <a:r>
              <a:rPr lang="en-US" altLang="zh-CN" dirty="0"/>
              <a:t>"</a:t>
            </a:r>
            <a:r>
              <a:rPr lang="zh-CN" altLang="en-US" dirty="0"/>
              <a:t>绘成核密度估计，有助于保留数据的更多可视化信息</a:t>
            </a:r>
            <a:endParaRPr lang="zh-CN" altLang="en-US" dirty="0"/>
          </a:p>
          <a:p>
            <a:r>
              <a:rPr lang="en-GB" altLang="zh-CN" dirty="0" err="1"/>
              <a:t>box,ax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sns.violinplot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total_bill',data</a:t>
            </a:r>
            <a:r>
              <a:rPr lang="en-GB" altLang="zh-CN" dirty="0"/>
              <a:t> = tips)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('Violin plot of total bill by time of day')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('Time of day')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('Total Bill')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3847465"/>
            <a:ext cx="5048250" cy="28416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成对关系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856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当大部分数据是数值时，可以使用</a:t>
            </a:r>
            <a:r>
              <a:rPr lang="en-US" altLang="zh-CN" dirty="0" err="1"/>
              <a:t>pairplot</a:t>
            </a:r>
            <a:r>
              <a:rPr lang="zh-CN" altLang="en-US" dirty="0"/>
              <a:t>函数把所有成对关系绘制出来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pairplot</a:t>
            </a:r>
            <a:r>
              <a:rPr lang="zh-CN" altLang="en-US" dirty="0"/>
              <a:t>函数会为单变量绘制直方图，双变量绘制散点图</a:t>
            </a:r>
            <a:endParaRPr lang="zh-CN" altLang="en-US" dirty="0"/>
          </a:p>
          <a:p>
            <a:r>
              <a:rPr lang="en-GB" altLang="zh-CN" dirty="0"/>
              <a:t>fig = </a:t>
            </a:r>
            <a:r>
              <a:rPr lang="en-GB" altLang="zh-CN" dirty="0" err="1"/>
              <a:t>sns.pairplot</a:t>
            </a:r>
            <a:r>
              <a:rPr lang="en-GB" altLang="zh-CN" dirty="0"/>
              <a:t>(tips)</a:t>
            </a:r>
            <a:endParaRPr lang="en-GB" altLang="zh-CN" dirty="0"/>
          </a:p>
          <a:p>
            <a:pPr>
              <a:buFont typeface="Wingdings" panose="05000000000000000000" pitchFamily="2" charset="2"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2195" y="2612390"/>
            <a:ext cx="6965950" cy="40017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Seaborn </a:t>
            </a:r>
            <a:r>
              <a:rPr lang="zh-CN" altLang="en-US" dirty="0"/>
              <a:t>双变量数据可视化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成对关系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745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dirty="0" err="1"/>
              <a:t>pairplot</a:t>
            </a:r>
            <a:r>
              <a:rPr lang="zh-CN" altLang="en-US" dirty="0"/>
              <a:t>的缺点是存在冗余信息，图的上半部分和下半部分相同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可以使用</a:t>
            </a:r>
            <a:r>
              <a:rPr lang="en-GB" altLang="zh-CN" dirty="0" err="1"/>
              <a:t>pairgrid</a:t>
            </a:r>
            <a:r>
              <a:rPr lang="zh-CN" altLang="en-US" dirty="0"/>
              <a:t>手动指定图的上半部分和下半部分</a:t>
            </a:r>
            <a:endParaRPr lang="zh-CN" altLang="en-US" dirty="0"/>
          </a:p>
          <a:p>
            <a:r>
              <a:rPr lang="en-GB" altLang="zh-CN" dirty="0" err="1"/>
              <a:t>pair_grid</a:t>
            </a:r>
            <a:r>
              <a:rPr lang="en-GB" altLang="zh-CN" dirty="0"/>
              <a:t> = </a:t>
            </a:r>
            <a:r>
              <a:rPr lang="en-GB" altLang="zh-CN" dirty="0" err="1"/>
              <a:t>sns.PairGrid</a:t>
            </a:r>
            <a:r>
              <a:rPr lang="en-GB" altLang="zh-CN" dirty="0"/>
              <a:t>(tips)</a:t>
            </a:r>
            <a:endParaRPr lang="en-GB" altLang="zh-CN" dirty="0"/>
          </a:p>
          <a:p>
            <a:r>
              <a:rPr lang="en-GB" altLang="zh-CN" dirty="0" err="1"/>
              <a:t>pair_grid.map_upper</a:t>
            </a:r>
            <a:r>
              <a:rPr lang="en-GB" altLang="zh-CN" dirty="0"/>
              <a:t>(</a:t>
            </a:r>
            <a:r>
              <a:rPr lang="en-GB" altLang="zh-CN" dirty="0" err="1"/>
              <a:t>sns.regplot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pair_grid.map_lower</a:t>
            </a:r>
            <a:r>
              <a:rPr lang="en-GB" altLang="zh-CN" dirty="0"/>
              <a:t>(</a:t>
            </a:r>
            <a:r>
              <a:rPr lang="en-GB" altLang="zh-CN" dirty="0" err="1"/>
              <a:t>sns.kdeplot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pair_grid.map_diag</a:t>
            </a:r>
            <a:r>
              <a:rPr lang="en-GB" altLang="zh-CN" dirty="0"/>
              <a:t>(</a:t>
            </a:r>
            <a:r>
              <a:rPr lang="en-GB" altLang="zh-CN" dirty="0" err="1"/>
              <a:t>sns.distplot,rug</a:t>
            </a:r>
            <a:r>
              <a:rPr lang="en-GB" altLang="zh-CN" dirty="0"/>
              <a:t>=True)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485" y="2098040"/>
            <a:ext cx="5525770" cy="45459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Seaborn</a:t>
            </a:r>
            <a:r>
              <a:rPr lang="zh-CN" altLang="en-US" b="1" dirty="0"/>
              <a:t>简介</a:t>
            </a:r>
            <a:endParaRPr lang="en-US" altLang="zh-CN" b="1" dirty="0"/>
          </a:p>
          <a:p>
            <a:r>
              <a:rPr lang="en-US" altLang="zh-CN" b="1" dirty="0">
                <a:solidFill>
                  <a:schemeClr val="tx1"/>
                </a:solidFill>
              </a:rPr>
              <a:t>Seaborn</a:t>
            </a:r>
            <a:r>
              <a:rPr lang="zh-CN" altLang="en-US" b="1" dirty="0">
                <a:solidFill>
                  <a:schemeClr val="tx1"/>
                </a:solidFill>
              </a:rPr>
              <a:t>绘制单变量图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Seaborn </a:t>
            </a:r>
            <a:r>
              <a:rPr lang="zh-CN" altLang="en-US" b="1" dirty="0">
                <a:solidFill>
                  <a:schemeClr val="tx1"/>
                </a:solidFill>
              </a:rPr>
              <a:t>双变量数据可视化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多变量数据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Seaborn</a:t>
            </a:r>
            <a:r>
              <a:rPr lang="zh-CN" altLang="en-US" b="1" dirty="0"/>
              <a:t>主题和样式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绘制多变量数据没有标准的套路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如果想在图中包含更多信息，可以使用颜色、大小和形状来区分它们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通过颜色区分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793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 err="1"/>
              <a:t>violinplot</a:t>
            </a:r>
            <a:r>
              <a:rPr lang="zh-CN" altLang="en-US" dirty="0"/>
              <a:t>函数时，可以通过</a:t>
            </a:r>
            <a:r>
              <a:rPr lang="en-US" altLang="zh-CN" dirty="0"/>
              <a:t>hue</a:t>
            </a:r>
            <a:r>
              <a:rPr lang="zh-CN" altLang="en-US" dirty="0"/>
              <a:t>参数按性别（</a:t>
            </a:r>
            <a:r>
              <a:rPr lang="en-US" altLang="zh-CN" dirty="0"/>
              <a:t>sex</a:t>
            </a:r>
            <a:r>
              <a:rPr lang="zh-CN" altLang="en-US" dirty="0"/>
              <a:t>）给图着色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可以为“小提琴”的左右两半着不同颜色，用于区分性别</a:t>
            </a:r>
            <a:endParaRPr lang="zh-CN" altLang="en-US" dirty="0"/>
          </a:p>
          <a:p>
            <a:r>
              <a:rPr lang="en-GB" altLang="zh-CN" dirty="0" err="1"/>
              <a:t>box,ax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sns.violinplot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total_bill',hue</a:t>
            </a:r>
            <a:r>
              <a:rPr lang="en-GB" altLang="zh-CN" dirty="0"/>
              <a:t>='</a:t>
            </a:r>
            <a:r>
              <a:rPr lang="en-GB" altLang="zh-CN" dirty="0" err="1"/>
              <a:t>sex',data</a:t>
            </a:r>
            <a:r>
              <a:rPr lang="en-GB" altLang="zh-CN" dirty="0"/>
              <a:t> = </a:t>
            </a:r>
            <a:r>
              <a:rPr lang="en-GB" altLang="zh-CN" dirty="0" err="1"/>
              <a:t>tips,split</a:t>
            </a:r>
            <a:r>
              <a:rPr lang="en-GB" altLang="zh-CN" dirty="0"/>
              <a:t> = True)</a:t>
            </a:r>
            <a:endParaRPr lang="en-GB" altLang="zh-CN" dirty="0"/>
          </a:p>
          <a:p>
            <a:r>
              <a:rPr lang="en-GB" altLang="zh-CN" dirty="0" err="1"/>
              <a:t>ax.set_title</a:t>
            </a:r>
            <a:r>
              <a:rPr lang="en-GB" altLang="zh-CN" dirty="0"/>
              <a:t>('Violin plot of total bill by time of day')</a:t>
            </a:r>
            <a:endParaRPr lang="en-GB" altLang="zh-CN" dirty="0"/>
          </a:p>
          <a:p>
            <a:r>
              <a:rPr lang="en-GB" altLang="zh-CN" dirty="0" err="1"/>
              <a:t>ax.set_xlabel</a:t>
            </a:r>
            <a:r>
              <a:rPr lang="en-GB" altLang="zh-CN" dirty="0"/>
              <a:t>('Time of day')</a:t>
            </a:r>
            <a:endParaRPr lang="en-GB" altLang="zh-CN" dirty="0"/>
          </a:p>
          <a:p>
            <a:r>
              <a:rPr lang="en-GB" altLang="zh-CN" dirty="0" err="1"/>
              <a:t>ax.set_ylabel</a:t>
            </a:r>
            <a:r>
              <a:rPr lang="en-GB" altLang="zh-CN" dirty="0"/>
              <a:t>('Total Bill')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730" y="3769995"/>
            <a:ext cx="4889500" cy="28155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通过颜色区分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968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其它绘图函数中也存在</a:t>
            </a:r>
            <a:r>
              <a:rPr lang="en-US" altLang="zh-CN" dirty="0"/>
              <a:t>hue</a:t>
            </a:r>
            <a:r>
              <a:rPr lang="zh-CN" altLang="en-US" dirty="0"/>
              <a:t>参数</a:t>
            </a:r>
            <a:endParaRPr lang="zh-CN" altLang="en-US" dirty="0"/>
          </a:p>
          <a:p>
            <a:r>
              <a:rPr lang="en-GB" altLang="zh-CN" dirty="0"/>
              <a:t>scatter = </a:t>
            </a:r>
            <a:r>
              <a:rPr lang="en-GB" altLang="zh-CN" dirty="0" err="1"/>
              <a:t>sns.lmplot</a:t>
            </a:r>
            <a:r>
              <a:rPr lang="en-GB" altLang="zh-CN" dirty="0"/>
              <a:t>(x='</a:t>
            </a:r>
            <a:r>
              <a:rPr lang="en-GB" altLang="zh-CN" dirty="0" err="1"/>
              <a:t>total_bill',y</a:t>
            </a:r>
            <a:r>
              <a:rPr lang="en-GB" altLang="zh-CN" dirty="0"/>
              <a:t>='</a:t>
            </a:r>
            <a:r>
              <a:rPr lang="en-GB" altLang="zh-CN" dirty="0" err="1"/>
              <a:t>tip',data</a:t>
            </a:r>
            <a:r>
              <a:rPr lang="en-GB" altLang="zh-CN" dirty="0"/>
              <a:t> = </a:t>
            </a:r>
            <a:r>
              <a:rPr lang="en-GB" altLang="zh-CN" dirty="0" err="1"/>
              <a:t>tips,hue</a:t>
            </a:r>
            <a:r>
              <a:rPr lang="en-GB" altLang="zh-CN" dirty="0"/>
              <a:t>='sex',</a:t>
            </a:r>
            <a:r>
              <a:rPr lang="en-GB" altLang="zh-CN" dirty="0" err="1"/>
              <a:t>fit_reg</a:t>
            </a:r>
            <a:r>
              <a:rPr lang="en-GB" altLang="zh-CN" dirty="0"/>
              <a:t> = False)</a:t>
            </a:r>
            <a:br>
              <a:rPr lang="en-GB" altLang="zh-CN" dirty="0"/>
            </a:br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215" y="2654300"/>
            <a:ext cx="5441950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通过颜色区分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58410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dirty="0"/>
              <a:t>通过向</a:t>
            </a:r>
            <a:r>
              <a:rPr lang="en-US" altLang="zh-CN" dirty="0"/>
              <a:t>hue</a:t>
            </a:r>
            <a:r>
              <a:rPr lang="zh-CN" altLang="en-US" dirty="0"/>
              <a:t>参数传入一个类别变量，可以让</a:t>
            </a:r>
            <a:r>
              <a:rPr lang="en-US" altLang="zh-CN" dirty="0" err="1"/>
              <a:t>pairplot</a:t>
            </a:r>
            <a:r>
              <a:rPr lang="zh-CN" altLang="en-US" dirty="0"/>
              <a:t>变得更有意义</a:t>
            </a:r>
            <a:endParaRPr lang="en-US" altLang="zh-CN" dirty="0"/>
          </a:p>
          <a:p>
            <a:r>
              <a:rPr lang="en-GB" altLang="zh-CN" dirty="0"/>
              <a:t>fig = </a:t>
            </a:r>
            <a:r>
              <a:rPr lang="en-GB" altLang="zh-CN" dirty="0" err="1"/>
              <a:t>sns.pairplot</a:t>
            </a:r>
            <a:r>
              <a:rPr lang="en-GB" altLang="zh-CN" dirty="0"/>
              <a:t>(</a:t>
            </a:r>
            <a:r>
              <a:rPr lang="en-GB" altLang="zh-CN" dirty="0" err="1"/>
              <a:t>tips,hue</a:t>
            </a:r>
            <a:r>
              <a:rPr lang="en-GB" altLang="zh-CN" dirty="0"/>
              <a:t> = 'sex')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2567940"/>
            <a:ext cx="6870700" cy="41440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通过大小和形状区分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可以通过点的大小表示更多信息，但通过大小区分应谨慎使用，当大小差别不大时很难区分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</a:t>
            </a:r>
            <a:r>
              <a:rPr lang="en-US" altLang="zh-CN" dirty="0"/>
              <a:t>Seaborn</a:t>
            </a:r>
            <a:r>
              <a:rPr lang="zh-CN" altLang="en-US" dirty="0"/>
              <a:t>中的</a:t>
            </a:r>
            <a:r>
              <a:rPr lang="en-US" altLang="zh-CN" dirty="0" err="1"/>
              <a:t>lmplot</a:t>
            </a:r>
            <a:r>
              <a:rPr lang="zh-CN" altLang="en-US" dirty="0"/>
              <a:t>，可以通过</a:t>
            </a:r>
            <a:r>
              <a:rPr lang="en-US" altLang="zh-CN" dirty="0" err="1"/>
              <a:t>scatter_kws</a:t>
            </a:r>
            <a:r>
              <a:rPr lang="zh-CN" altLang="en-US" dirty="0"/>
              <a:t>参数来控制散点图点的大小</a:t>
            </a:r>
            <a:endParaRPr lang="en-US" altLang="zh-CN" dirty="0"/>
          </a:p>
          <a:p>
            <a:r>
              <a:rPr lang="en-GB" altLang="zh-CN" dirty="0"/>
              <a:t>scatter = </a:t>
            </a:r>
            <a:r>
              <a:rPr lang="en-GB" altLang="zh-CN" dirty="0" err="1"/>
              <a:t>sns.lmplot</a:t>
            </a:r>
            <a:r>
              <a:rPr lang="en-GB" altLang="zh-CN" dirty="0"/>
              <a:t>(x='</a:t>
            </a:r>
            <a:r>
              <a:rPr lang="en-GB" altLang="zh-CN" dirty="0" err="1"/>
              <a:t>total_bill',y</a:t>
            </a:r>
            <a:r>
              <a:rPr lang="en-GB" altLang="zh-CN" dirty="0"/>
              <a:t>='</a:t>
            </a:r>
            <a:r>
              <a:rPr lang="en-GB" altLang="zh-CN" dirty="0" err="1"/>
              <a:t>tip',data</a:t>
            </a:r>
            <a:r>
              <a:rPr lang="en-GB" altLang="zh-CN" dirty="0"/>
              <a:t> = </a:t>
            </a:r>
            <a:r>
              <a:rPr lang="en-GB" altLang="zh-CN" dirty="0" err="1"/>
              <a:t>tips,fit_reg</a:t>
            </a:r>
            <a:r>
              <a:rPr lang="en-GB" altLang="zh-CN" dirty="0"/>
              <a:t>=</a:t>
            </a:r>
            <a:r>
              <a:rPr lang="en-GB" altLang="zh-CN" dirty="0" err="1"/>
              <a:t>False,hue</a:t>
            </a:r>
            <a:r>
              <a:rPr lang="en-GB" altLang="zh-CN" dirty="0"/>
              <a:t>='</a:t>
            </a:r>
            <a:r>
              <a:rPr lang="en-GB" altLang="zh-CN" dirty="0" err="1"/>
              <a:t>sex',markers</a:t>
            </a:r>
            <a:r>
              <a:rPr lang="en-GB" altLang="zh-CN" dirty="0"/>
              <a:t>=['</a:t>
            </a:r>
            <a:r>
              <a:rPr lang="en-GB" altLang="zh-CN" dirty="0" err="1"/>
              <a:t>o','x</a:t>
            </a:r>
            <a:r>
              <a:rPr lang="en-GB" altLang="zh-CN" dirty="0"/>
              <a:t>'])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355" y="3060065"/>
            <a:ext cx="5181600" cy="33496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分面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同一张二维图形中能展示的信息有限，如果想展示更多变量，可以使用分面（</a:t>
            </a:r>
            <a:r>
              <a:rPr lang="en-US" altLang="zh-CN" dirty="0"/>
              <a:t>facet</a:t>
            </a:r>
            <a:r>
              <a:rPr lang="zh-CN" altLang="en-US" dirty="0"/>
              <a:t>）来满足这些需求。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/>
              <a:t>seaborn</a:t>
            </a:r>
            <a:r>
              <a:rPr lang="zh-CN" altLang="en-US" dirty="0"/>
              <a:t>的</a:t>
            </a:r>
            <a:r>
              <a:rPr lang="en-US" altLang="zh-CN" dirty="0" err="1"/>
              <a:t>lmplot</a:t>
            </a:r>
            <a:r>
              <a:rPr lang="zh-CN" altLang="en-US" dirty="0"/>
              <a:t>函数重新绘制</a:t>
            </a:r>
            <a:r>
              <a:rPr lang="en-US" altLang="zh-CN" dirty="0"/>
              <a:t>Anscombe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 err="1"/>
              <a:t>anscombe</a:t>
            </a:r>
            <a:r>
              <a:rPr lang="en-GB" altLang="zh-CN" dirty="0"/>
              <a:t> = </a:t>
            </a:r>
            <a:r>
              <a:rPr lang="en-GB" altLang="zh-CN" dirty="0" err="1"/>
              <a:t>sns.load_dataset</a:t>
            </a:r>
            <a:r>
              <a:rPr lang="en-GB" altLang="zh-CN" dirty="0"/>
              <a:t>('</a:t>
            </a:r>
            <a:r>
              <a:rPr lang="en-GB" altLang="zh-CN" dirty="0" err="1"/>
              <a:t>anscombe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>
                <a:sym typeface="+mn-ea"/>
              </a:rPr>
              <a:t>anscombe</a:t>
            </a:r>
            <a:r>
              <a:rPr lang="en-GB" altLang="zh-CN" dirty="0">
                <a:sym typeface="+mn-ea"/>
              </a:rPr>
              <a:t> </a:t>
            </a:r>
            <a:r>
              <a:rPr lang="en-US" altLang="en-GB" dirty="0">
                <a:sym typeface="+mn-ea"/>
              </a:rPr>
              <a:t> = pd.read_csv(</a:t>
            </a:r>
            <a:r>
              <a:rPr lang="en-GB" altLang="zh-CN" dirty="0">
                <a:sym typeface="+mn-ea"/>
              </a:rPr>
              <a:t>'</a:t>
            </a:r>
            <a:r>
              <a:rPr lang="en-US" altLang="en-GB" dirty="0">
                <a:sym typeface="+mn-ea"/>
              </a:rPr>
              <a:t>data/</a:t>
            </a:r>
            <a:r>
              <a:rPr lang="en-GB" altLang="zh-CN" dirty="0" err="1">
                <a:sym typeface="+mn-ea"/>
              </a:rPr>
              <a:t>anscombe</a:t>
            </a:r>
            <a:r>
              <a:rPr lang="en-US" altLang="en-GB" dirty="0" err="1">
                <a:sym typeface="+mn-ea"/>
              </a:rPr>
              <a:t>.csv</a:t>
            </a:r>
            <a:r>
              <a:rPr lang="en-GB" altLang="zh-CN" dirty="0">
                <a:sym typeface="+mn-ea"/>
              </a:rPr>
              <a:t>'</a:t>
            </a:r>
            <a:r>
              <a:rPr lang="en-US" altLang="en-GB" dirty="0">
                <a:sym typeface="+mn-ea"/>
              </a:rPr>
              <a:t>)</a:t>
            </a:r>
            <a:endParaRPr lang="en-US" altLang="zh-CN" dirty="0"/>
          </a:p>
          <a:p>
            <a:r>
              <a:rPr lang="en-GB" altLang="zh-CN" dirty="0"/>
              <a:t>#col </a:t>
            </a:r>
            <a:r>
              <a:rPr lang="zh-CN" altLang="en-US" dirty="0"/>
              <a:t>用于指定分面变量 这里指定 </a:t>
            </a:r>
            <a:r>
              <a:rPr lang="en-US" altLang="zh-CN" dirty="0"/>
              <a:t>'</a:t>
            </a:r>
            <a:r>
              <a:rPr lang="en-GB" altLang="zh-CN" dirty="0"/>
              <a:t>dataset' </a:t>
            </a:r>
            <a:r>
              <a:rPr lang="zh-CN" altLang="en-US" dirty="0"/>
              <a:t>列中，每个取值创建一张散点图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en-GB" altLang="zh-CN" dirty="0" err="1"/>
              <a:t>col_wrap</a:t>
            </a:r>
            <a:r>
              <a:rPr lang="en-GB" altLang="zh-CN" dirty="0"/>
              <a:t> </a:t>
            </a:r>
            <a:r>
              <a:rPr lang="zh-CN" altLang="en-US" dirty="0"/>
              <a:t>用于指定绘制的图形有几列</a:t>
            </a:r>
            <a:endParaRPr lang="zh-CN" altLang="en-US" dirty="0"/>
          </a:p>
          <a:p>
            <a:r>
              <a:rPr lang="en-GB" altLang="zh-CN" dirty="0" err="1"/>
              <a:t>anscombe_plot</a:t>
            </a:r>
            <a:r>
              <a:rPr lang="en-GB" altLang="zh-CN" dirty="0"/>
              <a:t> = </a:t>
            </a:r>
            <a:r>
              <a:rPr lang="en-GB" altLang="zh-CN" dirty="0" err="1"/>
              <a:t>sns.lmplot</a:t>
            </a:r>
            <a:r>
              <a:rPr lang="en-GB" altLang="zh-CN" dirty="0"/>
              <a:t>(x = '</a:t>
            </a:r>
            <a:r>
              <a:rPr lang="en-GB" altLang="zh-CN" dirty="0" err="1"/>
              <a:t>x',y</a:t>
            </a:r>
            <a:r>
              <a:rPr lang="en-GB" altLang="zh-CN" dirty="0"/>
              <a:t>='</a:t>
            </a:r>
            <a:r>
              <a:rPr lang="en-GB" altLang="zh-CN" dirty="0" err="1"/>
              <a:t>y',data</a:t>
            </a:r>
            <a:r>
              <a:rPr lang="en-GB" altLang="zh-CN" dirty="0"/>
              <a:t> = </a:t>
            </a:r>
            <a:r>
              <a:rPr lang="en-GB" altLang="zh-CN" dirty="0" err="1"/>
              <a:t>anscombe,fit_reg</a:t>
            </a:r>
            <a:r>
              <a:rPr lang="en-GB" altLang="zh-CN" dirty="0"/>
              <a:t> = </a:t>
            </a:r>
            <a:r>
              <a:rPr lang="en-GB" altLang="zh-CN" dirty="0" err="1"/>
              <a:t>False,col</a:t>
            </a:r>
            <a:r>
              <a:rPr lang="en-GB" altLang="zh-CN" dirty="0"/>
              <a:t> = 'dataset',</a:t>
            </a:r>
            <a:r>
              <a:rPr lang="en-GB" altLang="zh-CN" dirty="0" err="1"/>
              <a:t>col_wrap</a:t>
            </a:r>
            <a:r>
              <a:rPr lang="en-GB" altLang="zh-CN" dirty="0"/>
              <a:t> = 2)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分面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4411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lmplot</a:t>
            </a:r>
            <a:r>
              <a:rPr lang="zh-CN" altLang="en-US" dirty="0"/>
              <a:t>函数返回的是</a:t>
            </a:r>
            <a:r>
              <a:rPr lang="en-GB" altLang="zh-CN" dirty="0"/>
              <a:t>figure </a:t>
            </a:r>
            <a:r>
              <a:rPr lang="zh-CN" altLang="en-GB" dirty="0"/>
              <a:t>（</a:t>
            </a:r>
            <a:r>
              <a:rPr lang="zh-CN" altLang="en-US" dirty="0"/>
              <a:t>图），但</a:t>
            </a:r>
            <a:r>
              <a:rPr lang="en-GB" altLang="zh-CN" dirty="0" err="1"/>
              <a:t>regplot</a:t>
            </a:r>
            <a:r>
              <a:rPr lang="en-GB" altLang="zh-CN" dirty="0"/>
              <a:t> </a:t>
            </a:r>
            <a:r>
              <a:rPr lang="zh-CN" altLang="en-US" dirty="0"/>
              <a:t>函数返回的是 </a:t>
            </a:r>
            <a:r>
              <a:rPr lang="en-GB" altLang="zh-CN" dirty="0"/>
              <a:t>axes</a:t>
            </a:r>
            <a:r>
              <a:rPr lang="zh-CN" altLang="en-GB" dirty="0"/>
              <a:t>（</a:t>
            </a:r>
            <a:r>
              <a:rPr lang="zh-CN" altLang="en-US" dirty="0"/>
              <a:t>坐标系），只有返回</a:t>
            </a:r>
            <a:r>
              <a:rPr lang="en-GB" altLang="zh-CN" dirty="0"/>
              <a:t>figure</a:t>
            </a:r>
            <a:r>
              <a:rPr lang="zh-CN" altLang="en-US" dirty="0"/>
              <a:t>的函数，才有</a:t>
            </a:r>
            <a:r>
              <a:rPr lang="en-GB" altLang="zh-CN" dirty="0"/>
              <a:t>col </a:t>
            </a:r>
            <a:r>
              <a:rPr lang="zh-CN" altLang="en-US" dirty="0"/>
              <a:t>和 </a:t>
            </a:r>
            <a:r>
              <a:rPr lang="en-GB" altLang="zh-CN" dirty="0" err="1"/>
              <a:t>col_wrap</a:t>
            </a:r>
            <a:r>
              <a:rPr lang="zh-CN" altLang="en-US" dirty="0"/>
              <a:t>参数</a:t>
            </a:r>
            <a:endParaRPr lang="zh-CN" altLang="en-US" dirty="0"/>
          </a:p>
          <a:p>
            <a:r>
              <a:rPr lang="zh-CN" altLang="en-US" dirty="0"/>
              <a:t>如果是返回</a:t>
            </a:r>
            <a:r>
              <a:rPr lang="en-GB" altLang="zh-CN" dirty="0"/>
              <a:t>axes</a:t>
            </a:r>
            <a:r>
              <a:rPr lang="zh-CN" altLang="en-US" dirty="0"/>
              <a:t>的函数，必须先创建</a:t>
            </a:r>
            <a:r>
              <a:rPr lang="en-GB" altLang="zh-CN" dirty="0" err="1"/>
              <a:t>FacetGrid</a:t>
            </a:r>
            <a:r>
              <a:rPr lang="zh-CN" altLang="en-GB" dirty="0"/>
              <a:t>，</a:t>
            </a:r>
            <a:r>
              <a:rPr lang="zh-CN" altLang="en-US" dirty="0"/>
              <a:t>通过</a:t>
            </a:r>
            <a:r>
              <a:rPr lang="en-GB" altLang="zh-CN" dirty="0" err="1"/>
              <a:t>FacetGrid</a:t>
            </a:r>
            <a:r>
              <a:rPr lang="zh-CN" altLang="en-US" dirty="0"/>
              <a:t>创建分面</a:t>
            </a:r>
            <a:endParaRPr lang="zh-CN" altLang="en-US" dirty="0"/>
          </a:p>
          <a:p>
            <a:r>
              <a:rPr lang="en-GB" altLang="zh-CN" dirty="0"/>
              <a:t>facet = </a:t>
            </a:r>
            <a:r>
              <a:rPr lang="en-GB" altLang="zh-CN" dirty="0" err="1"/>
              <a:t>sns.FacetGrid</a:t>
            </a:r>
            <a:r>
              <a:rPr lang="en-GB" altLang="zh-CN" dirty="0"/>
              <a:t>(</a:t>
            </a:r>
            <a:r>
              <a:rPr lang="en-GB" altLang="zh-CN" dirty="0" err="1"/>
              <a:t>tips,col</a:t>
            </a:r>
            <a:r>
              <a:rPr lang="en-GB" altLang="zh-CN" dirty="0"/>
              <a:t> = '</a:t>
            </a:r>
            <a:r>
              <a:rPr lang="en-GB" altLang="zh-CN" dirty="0" err="1"/>
              <a:t>time',</a:t>
            </a:r>
            <a:r>
              <a:rPr lang="en-US" altLang="en-GB" dirty="0" err="1"/>
              <a:t>height</a:t>
            </a:r>
            <a:r>
              <a:rPr lang="en-GB" altLang="zh-CN" dirty="0"/>
              <a:t>= 5)</a:t>
            </a:r>
            <a:endParaRPr lang="en-GB" altLang="zh-CN" dirty="0"/>
          </a:p>
          <a:p>
            <a:r>
              <a:rPr lang="en-GB" altLang="zh-CN" dirty="0" err="1"/>
              <a:t>facet.map</a:t>
            </a:r>
            <a:r>
              <a:rPr lang="en-GB" altLang="zh-CN" dirty="0"/>
              <a:t>(sns.</a:t>
            </a:r>
            <a:r>
              <a:rPr lang="en-GB" altLang="zh-CN" dirty="0" err="1"/>
              <a:t>distplot</a:t>
            </a:r>
            <a:r>
              <a:rPr lang="en-GB" altLang="zh-CN" dirty="0"/>
              <a:t>,'</a:t>
            </a:r>
            <a:r>
              <a:rPr lang="en-GB" altLang="zh-CN" dirty="0" err="1"/>
              <a:t>total_bill',rug</a:t>
            </a:r>
            <a:r>
              <a:rPr lang="en-GB" altLang="zh-CN" dirty="0"/>
              <a:t> = True)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665" y="3733165"/>
            <a:ext cx="7004050" cy="28308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多变量数据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分面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342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FacetGrid</a:t>
            </a:r>
            <a:r>
              <a:rPr lang="zh-CN" altLang="en-US" dirty="0"/>
              <a:t>中绘图可以直接调用</a:t>
            </a:r>
            <a:r>
              <a:rPr lang="en-US" altLang="zh-CN" dirty="0"/>
              <a:t>matplotlib</a:t>
            </a:r>
            <a:r>
              <a:rPr lang="zh-CN" altLang="en-US" dirty="0"/>
              <a:t>中的绘图方法</a:t>
            </a:r>
            <a:endParaRPr lang="en-US" altLang="zh-CN" dirty="0"/>
          </a:p>
          <a:p>
            <a:r>
              <a:rPr lang="en-GB" altLang="zh-CN" dirty="0"/>
              <a:t>facet = </a:t>
            </a:r>
            <a:r>
              <a:rPr lang="en-GB" altLang="zh-CN" dirty="0" err="1"/>
              <a:t>sns.FacetGrid</a:t>
            </a:r>
            <a:r>
              <a:rPr lang="en-GB" altLang="zh-CN" dirty="0"/>
              <a:t>(</a:t>
            </a:r>
            <a:r>
              <a:rPr lang="en-GB" altLang="zh-CN" dirty="0" err="1"/>
              <a:t>tips,col</a:t>
            </a:r>
            <a:r>
              <a:rPr lang="en-GB" altLang="zh-CN" dirty="0"/>
              <a:t> = '</a:t>
            </a:r>
            <a:r>
              <a:rPr lang="en-GB" altLang="zh-CN" dirty="0" err="1"/>
              <a:t>day',hue</a:t>
            </a:r>
            <a:r>
              <a:rPr lang="en-GB" altLang="zh-CN" dirty="0"/>
              <a:t> = '</a:t>
            </a:r>
            <a:r>
              <a:rPr lang="en-GB" altLang="zh-CN" dirty="0" err="1"/>
              <a:t>sex',</a:t>
            </a:r>
            <a:r>
              <a:rPr lang="en-US" altLang="en-GB" dirty="0" err="1"/>
              <a:t>height</a:t>
            </a:r>
            <a:r>
              <a:rPr lang="en-GB" altLang="zh-CN" dirty="0"/>
              <a:t>=5</a:t>
            </a:r>
            <a:r>
              <a:rPr lang="en-US" altLang="en-GB" dirty="0"/>
              <a:t>,col_wrap=2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facet.map</a:t>
            </a:r>
            <a:r>
              <a:rPr lang="en-GB" altLang="zh-CN" dirty="0"/>
              <a:t>(</a:t>
            </a:r>
            <a:r>
              <a:rPr lang="en-GB" altLang="zh-CN" dirty="0" err="1"/>
              <a:t>plt.scatter,'total_bill','tip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facet.add_legend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相同的效果也可以使用</a:t>
            </a:r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 err="1"/>
              <a:t>lmplot</a:t>
            </a:r>
            <a:r>
              <a:rPr lang="zh-CN" altLang="en-US" dirty="0"/>
              <a:t>实现</a:t>
            </a:r>
            <a:endParaRPr lang="en-US" altLang="zh-CN" dirty="0"/>
          </a:p>
          <a:p>
            <a:r>
              <a:rPr lang="en-GB" altLang="zh-CN" dirty="0"/>
              <a:t>fig = </a:t>
            </a:r>
            <a:r>
              <a:rPr lang="en-GB" altLang="zh-CN" dirty="0" err="1"/>
              <a:t>sns.lmplot</a:t>
            </a:r>
            <a:r>
              <a:rPr lang="en-GB" altLang="zh-CN" dirty="0"/>
              <a:t>(x = '</a:t>
            </a:r>
            <a:r>
              <a:rPr lang="en-GB" altLang="zh-CN" dirty="0" err="1"/>
              <a:t>total_bill',y</a:t>
            </a:r>
            <a:r>
              <a:rPr lang="en-GB" altLang="zh-CN" dirty="0"/>
              <a:t> = '</a:t>
            </a:r>
            <a:r>
              <a:rPr lang="en-GB" altLang="zh-CN" dirty="0" err="1"/>
              <a:t>tip',data</a:t>
            </a:r>
            <a:r>
              <a:rPr lang="en-GB" altLang="zh-CN" dirty="0"/>
              <a:t> =</a:t>
            </a:r>
            <a:r>
              <a:rPr lang="en-GB" altLang="zh-CN" dirty="0" err="1"/>
              <a:t>tips,</a:t>
            </a:r>
            <a:endParaRPr lang="en-GB" altLang="zh-CN" dirty="0" err="1"/>
          </a:p>
          <a:p>
            <a:r>
              <a:rPr lang="en-GB" altLang="zh-CN" dirty="0" err="1"/>
              <a:t>fit_reg</a:t>
            </a:r>
            <a:r>
              <a:rPr lang="en-GB" altLang="zh-CN" dirty="0"/>
              <a:t> = </a:t>
            </a:r>
            <a:r>
              <a:rPr lang="en-GB" altLang="zh-CN" dirty="0" err="1"/>
              <a:t>False,hue</a:t>
            </a:r>
            <a:r>
              <a:rPr lang="en-GB" altLang="zh-CN" dirty="0"/>
              <a:t> = '</a:t>
            </a:r>
            <a:r>
              <a:rPr lang="en-GB" altLang="zh-CN" dirty="0" err="1"/>
              <a:t>sex',col</a:t>
            </a:r>
            <a:r>
              <a:rPr lang="en-GB" altLang="zh-CN" dirty="0"/>
              <a:t> = 'day',</a:t>
            </a:r>
            <a:r>
              <a:rPr lang="en-GB" altLang="zh-CN" dirty="0" err="1"/>
              <a:t>col_wrap</a:t>
            </a:r>
            <a:r>
              <a:rPr lang="en-GB" altLang="zh-CN" dirty="0"/>
              <a:t>=2)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5560" y="2472690"/>
            <a:ext cx="5193665" cy="41262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Seaborn</a:t>
            </a:r>
            <a:r>
              <a:rPr lang="zh-CN" altLang="en-US" b="1" dirty="0"/>
              <a:t>简介</a:t>
            </a:r>
            <a:endParaRPr lang="en-US" altLang="zh-CN" b="1" dirty="0"/>
          </a:p>
          <a:p>
            <a:r>
              <a:rPr lang="en-US" altLang="zh-CN" b="1" dirty="0">
                <a:solidFill>
                  <a:schemeClr val="tx1"/>
                </a:solidFill>
              </a:rPr>
              <a:t>Seaborn</a:t>
            </a:r>
            <a:r>
              <a:rPr lang="zh-CN" altLang="en-US" b="1" dirty="0">
                <a:solidFill>
                  <a:schemeClr val="tx1"/>
                </a:solidFill>
              </a:rPr>
              <a:t>绘制单变量图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Seaborn </a:t>
            </a:r>
            <a:r>
              <a:rPr lang="zh-CN" altLang="en-US" b="1" dirty="0">
                <a:solidFill>
                  <a:schemeClr val="tx1"/>
                </a:solidFill>
              </a:rPr>
              <a:t>双变量数据可视化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多变量数据</a:t>
            </a:r>
            <a:endParaRPr lang="zh-CN" altLang="en-US" b="1" dirty="0">
              <a:solidFill>
                <a:schemeClr val="tx1"/>
              </a:solidFill>
            </a:endParaRPr>
          </a:p>
          <a:p>
            <a:r>
              <a:rPr lang="en-GB" altLang="zh-CN" b="1" dirty="0">
                <a:solidFill>
                  <a:srgbClr val="FF0000"/>
                </a:solidFill>
              </a:rPr>
              <a:t>Seaborn</a:t>
            </a:r>
            <a:r>
              <a:rPr lang="zh-CN" altLang="en-US" b="1" dirty="0">
                <a:solidFill>
                  <a:srgbClr val="FF0000"/>
                </a:solidFill>
              </a:rPr>
              <a:t>主题和样式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5 Seaborn</a:t>
            </a:r>
            <a:r>
              <a:rPr lang="zh-CN" altLang="en-US" dirty="0"/>
              <a:t>主题和样式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上面的</a:t>
            </a:r>
            <a:r>
              <a:rPr lang="en-GB" altLang="zh-CN" dirty="0"/>
              <a:t>Seaborn</a:t>
            </a:r>
            <a:r>
              <a:rPr lang="zh-CN" altLang="en-US" dirty="0"/>
              <a:t>图都采用了默认样式，可以使用</a:t>
            </a:r>
            <a:r>
              <a:rPr lang="en-GB" altLang="zh-CN" dirty="0" err="1"/>
              <a:t>sns.set_style</a:t>
            </a:r>
            <a:r>
              <a:rPr lang="zh-CN" altLang="en-US" dirty="0"/>
              <a:t>函数更改样式。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该函数只要运行一次，后续绘图的样式都会发生变化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Seaborn</a:t>
            </a:r>
            <a:r>
              <a:rPr lang="zh-CN" altLang="en-US" dirty="0"/>
              <a:t>有</a:t>
            </a:r>
            <a:r>
              <a:rPr lang="en-US" altLang="zh-CN" dirty="0"/>
              <a:t>5</a:t>
            </a:r>
            <a:r>
              <a:rPr lang="zh-CN" altLang="en-US" dirty="0"/>
              <a:t>中样式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b="0" dirty="0" err="1"/>
              <a:t>darkgrid</a:t>
            </a:r>
            <a:r>
              <a:rPr lang="en-GB" altLang="zh-CN" b="0" dirty="0"/>
              <a:t> </a:t>
            </a:r>
            <a:r>
              <a:rPr lang="zh-CN" altLang="en-US" b="0" dirty="0"/>
              <a:t>黑色网格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b="0" dirty="0" err="1"/>
              <a:t>whitegrid</a:t>
            </a:r>
            <a:r>
              <a:rPr lang="en-GB" altLang="zh-CN" b="0" dirty="0"/>
              <a:t> </a:t>
            </a:r>
            <a:r>
              <a:rPr lang="zh-CN" altLang="en-US" b="0" dirty="0"/>
              <a:t>白色网格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b="0" dirty="0"/>
              <a:t>dark </a:t>
            </a:r>
            <a:r>
              <a:rPr lang="zh-CN" altLang="en-US" b="0" dirty="0"/>
              <a:t>黑色背景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b="0" dirty="0"/>
              <a:t>white </a:t>
            </a:r>
            <a:r>
              <a:rPr lang="zh-CN" altLang="en-US" b="0" dirty="0"/>
              <a:t>白色背景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b="0" dirty="0"/>
              <a:t>ticks </a:t>
            </a:r>
            <a:endParaRPr lang="en-GB" altLang="zh-CN" b="0" dirty="0"/>
          </a:p>
          <a:p>
            <a:r>
              <a:rPr lang="en-GB" altLang="zh-CN" dirty="0" err="1"/>
              <a:t>fig,ax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sns.violinplot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total_bill',hue</a:t>
            </a:r>
            <a:r>
              <a:rPr lang="en-GB" altLang="zh-CN" dirty="0"/>
              <a:t>='</a:t>
            </a:r>
            <a:r>
              <a:rPr lang="en-GB" altLang="zh-CN" dirty="0" err="1"/>
              <a:t>sex',data</a:t>
            </a:r>
            <a:r>
              <a:rPr lang="en-GB" altLang="zh-CN" dirty="0"/>
              <a:t> = </a:t>
            </a:r>
            <a:r>
              <a:rPr lang="en-GB" altLang="zh-CN" dirty="0" err="1"/>
              <a:t>tips,split</a:t>
            </a:r>
            <a:r>
              <a:rPr lang="en-GB" altLang="zh-CN" dirty="0"/>
              <a:t> = True)</a:t>
            </a:r>
            <a:endParaRPr lang="en-GB" altLang="zh-CN" b="0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195" y="2475865"/>
            <a:ext cx="5022850" cy="29648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5 Seaborn</a:t>
            </a:r>
            <a:r>
              <a:rPr lang="zh-CN" altLang="en-US" dirty="0"/>
              <a:t>主题和样式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974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</a:t>
            </a:r>
            <a:r>
              <a:rPr lang="en-GB" altLang="zh-CN" dirty="0" err="1"/>
              <a:t>set_style</a:t>
            </a:r>
            <a:r>
              <a:rPr lang="zh-CN" altLang="en-US" dirty="0"/>
              <a:t>设置样式</a:t>
            </a:r>
            <a:endParaRPr lang="en-US" altLang="zh-CN" dirty="0"/>
          </a:p>
          <a:p>
            <a:r>
              <a:rPr lang="en-GB" altLang="zh-CN" dirty="0" err="1"/>
              <a:t>sns.set_style</a:t>
            </a:r>
            <a:r>
              <a:rPr lang="en-GB" altLang="zh-CN" dirty="0"/>
              <a:t>('</a:t>
            </a:r>
            <a:r>
              <a:rPr lang="en-US" altLang="en-GB" dirty="0"/>
              <a:t>white</a:t>
            </a:r>
            <a:r>
              <a:rPr lang="en-GB" altLang="zh-CN" dirty="0" err="1"/>
              <a:t>grid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fig,ax</a:t>
            </a:r>
            <a:r>
              <a:rPr lang="en-GB" altLang="zh-CN" dirty="0"/>
              <a:t> = </a:t>
            </a:r>
            <a:r>
              <a:rPr lang="en-GB" altLang="zh-CN" dirty="0" err="1"/>
              <a:t>plt.subplots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/>
              <a:t>ax = </a:t>
            </a:r>
            <a:r>
              <a:rPr lang="en-GB" altLang="zh-CN" dirty="0" err="1"/>
              <a:t>sns.violinplot</a:t>
            </a:r>
            <a:r>
              <a:rPr lang="en-GB" altLang="zh-CN" dirty="0"/>
              <a:t>(x='</a:t>
            </a:r>
            <a:r>
              <a:rPr lang="en-GB" altLang="zh-CN" dirty="0" err="1"/>
              <a:t>time',y</a:t>
            </a:r>
            <a:r>
              <a:rPr lang="en-GB" altLang="zh-CN" dirty="0"/>
              <a:t>='</a:t>
            </a:r>
            <a:r>
              <a:rPr lang="en-GB" altLang="zh-CN" dirty="0" err="1"/>
              <a:t>total_bill',hue</a:t>
            </a:r>
            <a:r>
              <a:rPr lang="en-GB" altLang="zh-CN" dirty="0"/>
              <a:t>='</a:t>
            </a:r>
            <a:r>
              <a:rPr lang="en-GB" altLang="zh-CN" dirty="0" err="1"/>
              <a:t>sex',data</a:t>
            </a:r>
            <a:r>
              <a:rPr lang="en-GB" altLang="zh-CN" dirty="0"/>
              <a:t> = </a:t>
            </a:r>
            <a:r>
              <a:rPr lang="en-GB" altLang="zh-CN" dirty="0" err="1"/>
              <a:t>tips,split</a:t>
            </a:r>
            <a:r>
              <a:rPr lang="en-GB" altLang="zh-CN" dirty="0"/>
              <a:t> = True)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75" y="3517900"/>
            <a:ext cx="48133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Seaborn</a:t>
            </a:r>
            <a:r>
              <a:rPr lang="zh-CN" altLang="en-US" dirty="0"/>
              <a:t>是对</a:t>
            </a:r>
            <a:r>
              <a:rPr lang="en-GB" altLang="zh-CN" dirty="0"/>
              <a:t>Matplotlib</a:t>
            </a:r>
            <a:r>
              <a:rPr lang="zh-CN" altLang="en-US" dirty="0"/>
              <a:t>以及</a:t>
            </a:r>
            <a:r>
              <a:rPr lang="en-GB" altLang="zh-CN" dirty="0"/>
              <a:t>Pandas</a:t>
            </a:r>
            <a:r>
              <a:rPr lang="zh-CN" altLang="en-US" dirty="0"/>
              <a:t>的封装，与</a:t>
            </a:r>
            <a:r>
              <a:rPr lang="en-GB" altLang="zh-CN" dirty="0"/>
              <a:t>Series</a:t>
            </a:r>
            <a:r>
              <a:rPr lang="zh-CN" altLang="en-GB" dirty="0"/>
              <a:t>，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API</a:t>
            </a:r>
            <a:r>
              <a:rPr lang="zh-CN" altLang="en-US" dirty="0"/>
              <a:t>配合很好</a:t>
            </a:r>
            <a:endParaRPr lang="zh-CN" altLang="en-US" dirty="0"/>
          </a:p>
          <a:p>
            <a:r>
              <a:rPr lang="en-GB" altLang="zh-CN" dirty="0"/>
              <a:t>Seaborn</a:t>
            </a:r>
            <a:r>
              <a:rPr lang="zh-CN" altLang="en-US" dirty="0"/>
              <a:t>的</a:t>
            </a:r>
            <a:r>
              <a:rPr lang="en-GB" altLang="zh-CN" dirty="0"/>
              <a:t>API</a:t>
            </a:r>
            <a:r>
              <a:rPr lang="zh-CN" altLang="en-US" dirty="0"/>
              <a:t>非常简单</a:t>
            </a:r>
            <a:endParaRPr lang="zh-CN" altLang="en-US" dirty="0"/>
          </a:p>
          <a:p>
            <a:r>
              <a:rPr lang="zh-CN" altLang="en-US" dirty="0"/>
              <a:t>推荐使用</a:t>
            </a:r>
            <a:r>
              <a:rPr lang="en-GB" altLang="zh-CN" dirty="0"/>
              <a:t>Seaborn</a:t>
            </a:r>
            <a:r>
              <a:rPr lang="zh-CN" altLang="en-US" dirty="0"/>
              <a:t>或</a:t>
            </a:r>
            <a:r>
              <a:rPr lang="en-GB" altLang="zh-CN" dirty="0"/>
              <a:t>Pandas</a:t>
            </a:r>
            <a:r>
              <a:rPr lang="zh-CN" altLang="en-US" dirty="0"/>
              <a:t>进行绘图，如果需要对图形控制比较精细，可以使用</a:t>
            </a:r>
            <a:r>
              <a:rPr lang="en-GB" altLang="zh-CN" dirty="0"/>
              <a:t>Matplotlib</a:t>
            </a:r>
            <a:endParaRPr lang="en-GB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7433</Words>
  <Application>WPS 演示</Application>
  <PresentationFormat>宽屏</PresentationFormat>
  <Paragraphs>394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40</vt:i4>
      </vt:variant>
    </vt:vector>
  </HeadingPairs>
  <TitlesOfParts>
    <vt:vector size="71" baseType="lpstr">
      <vt:lpstr>Arial</vt:lpstr>
      <vt:lpstr>方正书宋_GBK</vt:lpstr>
      <vt:lpstr>Wingdings</vt:lpstr>
      <vt:lpstr>Calibri</vt:lpstr>
      <vt:lpstr>Helvetica Neue</vt:lpstr>
      <vt:lpstr>黑体</vt:lpstr>
      <vt:lpstr>宋体</vt:lpstr>
      <vt:lpstr>汉仪书宋二KW</vt:lpstr>
      <vt:lpstr>Alibaba PuHuiTi B</vt:lpstr>
      <vt:lpstr>苹方-简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Wingdings</vt:lpstr>
      <vt:lpstr>汉仪旗黑</vt:lpstr>
      <vt:lpstr>宋体</vt:lpstr>
      <vt:lpstr>Arial Unicode MS</vt:lpstr>
      <vt:lpstr>等线</vt:lpstr>
      <vt:lpstr>汉仪中等线KW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Seaborn 可视化</vt:lpstr>
      <vt:lpstr>PowerPoint 演示文稿</vt:lpstr>
      <vt:lpstr>PowerPoint 演示文稿</vt:lpstr>
      <vt:lpstr>1 Seaborn简介</vt:lpstr>
      <vt:lpstr>1 Seaborn简介</vt:lpstr>
      <vt:lpstr>1 Seaborn简介</vt:lpstr>
      <vt:lpstr>PowerPoint 演示文稿</vt:lpstr>
      <vt:lpstr>2 Seaborn绘制单变量图</vt:lpstr>
      <vt:lpstr>2 Seaborn绘制单变量图</vt:lpstr>
      <vt:lpstr>2 Seaborn绘制单变量图</vt:lpstr>
      <vt:lpstr>2 Seaborn绘制单变量图</vt:lpstr>
      <vt:lpstr>2 Seaborn绘制单变量图</vt:lpstr>
      <vt:lpstr>PowerPoint 演示文稿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3 Seaborn 双变量数据可视化</vt:lpstr>
      <vt:lpstr>PowerPoint 演示文稿</vt:lpstr>
      <vt:lpstr>4 多变量数据</vt:lpstr>
      <vt:lpstr>4 多变量数据</vt:lpstr>
      <vt:lpstr>4 多变量数据</vt:lpstr>
      <vt:lpstr>4 多变量数据</vt:lpstr>
      <vt:lpstr>4 多变量数据</vt:lpstr>
      <vt:lpstr>4 多变量数据</vt:lpstr>
      <vt:lpstr>4 多变量数据</vt:lpstr>
      <vt:lpstr>4 多变量数据</vt:lpstr>
      <vt:lpstr>PowerPoint 演示文稿</vt:lpstr>
      <vt:lpstr>5 Seaborn主题和样式</vt:lpstr>
      <vt:lpstr>5 Seaborn主题和样式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362</cp:revision>
  <dcterms:created xsi:type="dcterms:W3CDTF">2021-07-02T14:28:05Z</dcterms:created>
  <dcterms:modified xsi:type="dcterms:W3CDTF">2021-07-02T14:28:05Z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EBEFE02EB85B43CA99F815B654FCC966</vt:lpwstr>
  </property>
  <property fmtid="{D5CDD505-2E9C-101B-9397-08002B2CF9AE}" pid="3" name="KSOProductBuildVer">
    <vt:lpwstr>2052-3.7.0.5929</vt:lpwstr>
  </property>
</Properties>
</file>