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74" r:id="rId8"/>
  </p:sldMasterIdLst>
  <p:notesMasterIdLst>
    <p:notesMasterId r:id="rId19"/>
  </p:notesMasterIdLst>
  <p:handoutMasterIdLst>
    <p:handoutMasterId r:id="rId41"/>
  </p:handoutMasterIdLst>
  <p:sldIdLst>
    <p:sldId id="462" r:id="rId9"/>
    <p:sldId id="464" r:id="rId10"/>
    <p:sldId id="463" r:id="rId11"/>
    <p:sldId id="465" r:id="rId12"/>
    <p:sldId id="470" r:id="rId13"/>
    <p:sldId id="471" r:id="rId14"/>
    <p:sldId id="472" r:id="rId15"/>
    <p:sldId id="473" r:id="rId16"/>
    <p:sldId id="475" r:id="rId17"/>
    <p:sldId id="474" r:id="rId18"/>
    <p:sldId id="476" r:id="rId20"/>
    <p:sldId id="477" r:id="rId21"/>
    <p:sldId id="478" r:id="rId22"/>
    <p:sldId id="480" r:id="rId23"/>
    <p:sldId id="479" r:id="rId24"/>
    <p:sldId id="481" r:id="rId25"/>
    <p:sldId id="482" r:id="rId26"/>
    <p:sldId id="483" r:id="rId27"/>
    <p:sldId id="484" r:id="rId28"/>
    <p:sldId id="485" r:id="rId29"/>
    <p:sldId id="486" r:id="rId30"/>
    <p:sldId id="497" r:id="rId31"/>
    <p:sldId id="487" r:id="rId32"/>
    <p:sldId id="488" r:id="rId33"/>
    <p:sldId id="489" r:id="rId34"/>
    <p:sldId id="490" r:id="rId35"/>
    <p:sldId id="491" r:id="rId36"/>
    <p:sldId id="492" r:id="rId37"/>
    <p:sldId id="493" r:id="rId38"/>
    <p:sldId id="495" r:id="rId39"/>
    <p:sldId id="264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B70006"/>
    <a:srgbClr val="FFFFE4"/>
    <a:srgbClr val="919191"/>
    <a:srgbClr val="333333"/>
    <a:srgbClr val="FFFFFF"/>
    <a:srgbClr val="B60206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6" autoAdjust="0"/>
    <p:restoredTop sz="95330" autoAdjust="0"/>
  </p:normalViewPr>
  <p:slideViewPr>
    <p:cSldViewPr snapToGrid="0">
      <p:cViewPr varScale="1">
        <p:scale>
          <a:sx n="125" d="100"/>
          <a:sy n="125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/>
              <a:t>Appstore</a:t>
            </a:r>
            <a:r>
              <a:rPr kumimoji="1" lang="zh-CN" altLang="en-US" dirty="0"/>
              <a:t>数据分析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掌握描述性数据分析流程</a:t>
            </a:r>
            <a:endParaRPr lang="zh-CN" altLang="en-US" dirty="0"/>
          </a:p>
          <a:p>
            <a:r>
              <a:rPr lang="zh-CN" altLang="en-US" dirty="0"/>
              <a:t>熟练使用</a:t>
            </a:r>
            <a:r>
              <a:rPr lang="en-US" altLang="zh-CN" dirty="0"/>
              <a:t>pandas</a:t>
            </a:r>
            <a:r>
              <a:rPr lang="zh-CN" altLang="en-US" dirty="0"/>
              <a:t>、</a:t>
            </a:r>
            <a:r>
              <a:rPr lang="en-US" altLang="zh-CN" dirty="0"/>
              <a:t>seaborn</a:t>
            </a:r>
            <a:r>
              <a:rPr lang="zh-CN" altLang="en-US" dirty="0"/>
              <a:t>进行数据分析和可视化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案例介绍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数据清洗</a:t>
            </a:r>
            <a:endParaRPr lang="zh-CN" altLang="en-US" dirty="0"/>
          </a:p>
          <a:p>
            <a:r>
              <a:rPr lang="zh-CN" altLang="en-US" dirty="0"/>
              <a:t>单变量分析</a:t>
            </a:r>
            <a:endParaRPr lang="zh-CN" altLang="en-US" dirty="0"/>
          </a:p>
          <a:p>
            <a:r>
              <a:rPr lang="zh-CN" altLang="en-US" dirty="0"/>
              <a:t>业务数据可视化</a:t>
            </a:r>
            <a:endParaRPr lang="zh-CN" altLang="en-US" dirty="0"/>
          </a:p>
          <a:p>
            <a:r>
              <a:rPr lang="zh-CN" altLang="en-US" dirty="0"/>
              <a:t>业务解读</a:t>
            </a:r>
            <a:endParaRPr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案例介绍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案例背景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对</a:t>
            </a:r>
            <a:r>
              <a:rPr lang="en-US" altLang="zh-CN" dirty="0"/>
              <a:t>APP</a:t>
            </a:r>
            <a:r>
              <a:rPr lang="zh-CN" altLang="en-US" dirty="0"/>
              <a:t>下载和评分数据分析帮助</a:t>
            </a:r>
            <a:r>
              <a:rPr lang="en-US" altLang="zh-CN" dirty="0"/>
              <a:t>App</a:t>
            </a:r>
            <a:r>
              <a:rPr lang="zh-CN" altLang="en-US" dirty="0"/>
              <a:t>开发者获取和留存用户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通过对应用商店的数据分析为开发人员提供可操作的意见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案例介绍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通过数据分析要解决的问题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免费和收费的</a:t>
            </a:r>
            <a:r>
              <a:rPr lang="en-US" altLang="zh-CN" dirty="0"/>
              <a:t>App</a:t>
            </a:r>
            <a:r>
              <a:rPr lang="zh-CN" altLang="en-US" dirty="0"/>
              <a:t>都集中在哪些类别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收费</a:t>
            </a:r>
            <a:r>
              <a:rPr lang="en-US" altLang="zh-CN" dirty="0"/>
              <a:t>app</a:t>
            </a:r>
            <a:r>
              <a:rPr lang="zh-CN" altLang="en-US" dirty="0"/>
              <a:t>的价格是如何分布的，不同类别的价格分布怎样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App</a:t>
            </a:r>
            <a:r>
              <a:rPr lang="zh-CN" altLang="en-US" dirty="0"/>
              <a:t>文件的大小和价格以及用户评分之间是否有关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案例介绍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分析流程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21957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数据概况分析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数据行</a:t>
            </a:r>
            <a:r>
              <a:rPr lang="en-US" altLang="zh-CN" b="0" dirty="0"/>
              <a:t>/</a:t>
            </a:r>
            <a:r>
              <a:rPr lang="zh-CN" altLang="en-US" b="0" dirty="0"/>
              <a:t>列数量 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缺失值分布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单变量分析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数字型变量的描述指标（平均值，最小值，最大值，标准差等）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类别型变量（多少个分类，各自占比）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案例介绍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分析流程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21957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多变量分析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按类别交叉对比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变量之间的相关性分析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可视化分析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分布趋势（直方图）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不同组差异（柱状图）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相关性（散点图</a:t>
            </a:r>
            <a:r>
              <a:rPr lang="en-US" altLang="zh-CN" b="0" dirty="0"/>
              <a:t>/</a:t>
            </a:r>
            <a:r>
              <a:rPr lang="zh-CN" altLang="en-US" b="0" dirty="0"/>
              <a:t>热力图）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案例介绍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数据字段说明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" y="1645840"/>
            <a:ext cx="47879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案例介绍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数据清洗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单变量分析</a:t>
            </a:r>
            <a:endParaRPr lang="zh-CN" altLang="en-US" dirty="0"/>
          </a:p>
          <a:p>
            <a:r>
              <a:rPr lang="zh-CN" altLang="en-US" dirty="0"/>
              <a:t>业务数据可视化</a:t>
            </a:r>
            <a:endParaRPr lang="zh-CN" altLang="en-US" dirty="0"/>
          </a:p>
          <a:p>
            <a:r>
              <a:rPr lang="zh-CN" altLang="en-US" dirty="0"/>
              <a:t>业务解读</a:t>
            </a:r>
            <a:endParaRPr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数据清洗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加载数据查看数据基本信息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79340"/>
          </a:xfrm>
        </p:spPr>
        <p:txBody>
          <a:bodyPr/>
          <a:lstStyle/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数据读取</a:t>
            </a:r>
            <a:endParaRPr lang="zh-CN" altLang="en-US" dirty="0"/>
          </a:p>
          <a:p>
            <a:r>
              <a:rPr lang="en-GB" altLang="zh-CN" dirty="0"/>
              <a:t>app=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applestore.csv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数据的基本信息</a:t>
            </a:r>
            <a:endParaRPr lang="zh-CN" altLang="en-US" dirty="0"/>
          </a:p>
          <a:p>
            <a:r>
              <a:rPr lang="en-GB" altLang="zh-CN" dirty="0" err="1"/>
              <a:t>app.info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 err="1"/>
              <a:t>app.head</a:t>
            </a:r>
            <a:r>
              <a:rPr lang="en-GB" altLang="zh-CN" dirty="0"/>
              <a:t>()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9460" y="3065780"/>
            <a:ext cx="6623050" cy="33674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数据清洗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处理特殊列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59350"/>
          </a:xfrm>
        </p:spPr>
        <p:txBody>
          <a:bodyPr/>
          <a:lstStyle/>
          <a:p>
            <a:r>
              <a:rPr lang="en-US" altLang="zh-CN" b="0" dirty="0"/>
              <a:t>#</a:t>
            </a:r>
            <a:r>
              <a:rPr lang="zh-CN" altLang="en-US" dirty="0"/>
              <a:t>发现了</a:t>
            </a:r>
            <a:r>
              <a:rPr lang="en-US" altLang="zh-CN" dirty="0" err="1"/>
              <a:t>unname</a:t>
            </a:r>
            <a:r>
              <a:rPr lang="en-US" altLang="zh-CN" dirty="0"/>
              <a:t> 0</a:t>
            </a:r>
            <a:r>
              <a:rPr lang="zh-CN" altLang="en-US" dirty="0"/>
              <a:t>这个奇怪的变量，需要进行清理</a:t>
            </a:r>
            <a:endParaRPr lang="en-US" altLang="zh-CN" dirty="0"/>
          </a:p>
          <a:p>
            <a:r>
              <a:rPr lang="en-GB" altLang="zh-CN" dirty="0" err="1"/>
              <a:t>app.drop</a:t>
            </a:r>
            <a:r>
              <a:rPr lang="en-GB" altLang="zh-CN" dirty="0"/>
              <a:t>('Unnamed: 0',axis=1,inplace=True)</a:t>
            </a:r>
            <a:endParaRPr lang="en-GB" altLang="zh-CN" dirty="0"/>
          </a:p>
          <a:p>
            <a:r>
              <a:rPr lang="en-GB" altLang="zh-CN" dirty="0"/>
              <a:t>#drop</a:t>
            </a:r>
            <a:r>
              <a:rPr lang="zh-CN" altLang="en-US" dirty="0"/>
              <a:t>默认是对行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en-GB" altLang="zh-CN" dirty="0" err="1"/>
              <a:t>inplace</a:t>
            </a:r>
            <a:r>
              <a:rPr lang="zh-CN" altLang="en-US" dirty="0"/>
              <a:t>表示直接替换掉原有数据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同样可以用位置来取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en-GB" altLang="zh-CN" dirty="0" err="1"/>
              <a:t>app.drop</a:t>
            </a:r>
            <a:r>
              <a:rPr lang="en-GB" altLang="zh-CN" dirty="0"/>
              <a:t>(</a:t>
            </a:r>
            <a:r>
              <a:rPr lang="en-GB" altLang="zh-CN" dirty="0" err="1"/>
              <a:t>app.columns</a:t>
            </a:r>
            <a:r>
              <a:rPr lang="en-GB" altLang="zh-CN" dirty="0"/>
              <a:t>[0],axis=1,inplace=True)</a:t>
            </a:r>
            <a:endParaRPr lang="en-GB" altLang="zh-CN" dirty="0"/>
          </a:p>
          <a:p>
            <a:r>
              <a:rPr lang="en-GB" altLang="zh-CN" dirty="0" err="1"/>
              <a:t>app.describe</a:t>
            </a:r>
            <a:r>
              <a:rPr lang="en-GB" altLang="zh-CN" dirty="0"/>
              <a:t>()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745" y="4158615"/>
            <a:ext cx="6959600" cy="2573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数据清洗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处理</a:t>
            </a:r>
            <a:r>
              <a:rPr lang="en-US" altLang="zh-CN" dirty="0"/>
              <a:t>size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219575"/>
          </a:xfrm>
        </p:spPr>
        <p:txBody>
          <a:bodyPr/>
          <a:lstStyle/>
          <a:p>
            <a:r>
              <a:rPr lang="en-GB" altLang="zh-CN" dirty="0"/>
              <a:t>app['</a:t>
            </a:r>
            <a:r>
              <a:rPr lang="en-GB" altLang="zh-CN" dirty="0" err="1"/>
              <a:t>size_mb</a:t>
            </a:r>
            <a:r>
              <a:rPr lang="en-GB" altLang="zh-CN" dirty="0"/>
              <a:t>'] = app['</a:t>
            </a:r>
            <a:r>
              <a:rPr lang="en-GB" altLang="zh-CN" dirty="0" err="1"/>
              <a:t>size_bytes</a:t>
            </a:r>
            <a:r>
              <a:rPr lang="en-GB" altLang="zh-CN" dirty="0"/>
              <a:t>'] / (1024 * 1024)</a:t>
            </a:r>
            <a:endParaRPr lang="en-GB" altLang="zh-CN" dirty="0"/>
          </a:p>
          <a:p>
            <a:r>
              <a:rPr lang="en-GB" altLang="zh-CN" dirty="0" err="1"/>
              <a:t>app.size_mb.describe</a:t>
            </a:r>
            <a:r>
              <a:rPr lang="en-GB" altLang="zh-CN" dirty="0"/>
              <a:t>()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7110" y="2823210"/>
            <a:ext cx="675005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数据清洗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</a:t>
            </a:r>
            <a:r>
              <a:rPr lang="zh-CN" altLang="en-US" dirty="0"/>
              <a:t> 新增标签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219575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根据价格新增标签</a:t>
            </a:r>
            <a:endParaRPr lang="en-GB" altLang="zh-CN" dirty="0"/>
          </a:p>
          <a:p>
            <a:r>
              <a:rPr lang="en-GB" altLang="zh-CN" dirty="0"/>
              <a:t>app['paid'] = app['price'].apply(lambda x: 1 if x &gt; 0 else 0)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GB" dirty="0"/>
              <a:t>这里</a:t>
            </a:r>
            <a:r>
              <a:rPr lang="en-GB" altLang="zh-CN" dirty="0"/>
              <a:t>x</a:t>
            </a:r>
            <a:r>
              <a:rPr lang="zh-CN" altLang="en-US" dirty="0"/>
              <a:t>为</a:t>
            </a:r>
            <a:r>
              <a:rPr lang="en-GB" altLang="zh-CN" dirty="0"/>
              <a:t>price</a:t>
            </a:r>
            <a:r>
              <a:rPr lang="zh-CN" altLang="en-GB" dirty="0"/>
              <a:t>，</a:t>
            </a:r>
            <a:r>
              <a:rPr lang="zh-CN" altLang="en-US" dirty="0"/>
              <a:t>为</a:t>
            </a:r>
            <a:r>
              <a:rPr lang="en-GB" altLang="zh-CN" dirty="0"/>
              <a:t>paid</a:t>
            </a:r>
            <a:r>
              <a:rPr lang="zh-CN" altLang="en-US" dirty="0"/>
              <a:t>赋值，即当</a:t>
            </a:r>
            <a:r>
              <a:rPr lang="en-GB" altLang="zh-CN" dirty="0"/>
              <a:t>price</a:t>
            </a:r>
            <a:r>
              <a:rPr lang="zh-CN" altLang="en-GB" dirty="0"/>
              <a:t>＞</a:t>
            </a:r>
            <a:r>
              <a:rPr lang="en-GB" altLang="zh-CN" dirty="0"/>
              <a:t>0</a:t>
            </a:r>
            <a:r>
              <a:rPr lang="zh-CN" altLang="en-GB" dirty="0"/>
              <a:t>，</a:t>
            </a:r>
            <a:r>
              <a:rPr lang="en-GB" altLang="zh-CN" dirty="0"/>
              <a:t>paid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，其他情况下，</a:t>
            </a:r>
            <a:r>
              <a:rPr lang="en-GB" altLang="zh-CN" dirty="0"/>
              <a:t>paid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endParaRPr lang="en-US" altLang="zh-CN" dirty="0"/>
          </a:p>
          <a:p>
            <a:r>
              <a:rPr lang="en-GB" altLang="zh-CN" dirty="0" err="1"/>
              <a:t>app.paid.describe</a:t>
            </a:r>
            <a:r>
              <a:rPr lang="en-GB" altLang="zh-CN" dirty="0"/>
              <a:t>()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385" y="3504565"/>
            <a:ext cx="676910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案例介绍</a:t>
            </a:r>
            <a:endParaRPr lang="zh-CN" altLang="en-US" dirty="0"/>
          </a:p>
          <a:p>
            <a:r>
              <a:rPr lang="zh-CN" altLang="en-US" dirty="0"/>
              <a:t>数据清洗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单变量分析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业务数据可视化</a:t>
            </a:r>
            <a:endParaRPr lang="zh-CN" altLang="en-US" dirty="0"/>
          </a:p>
          <a:p>
            <a:r>
              <a:rPr lang="zh-CN" altLang="en-US" dirty="0"/>
              <a:t>业务解读</a:t>
            </a:r>
            <a:endParaRPr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 单变量分析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 查看价格分布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45920"/>
            <a:ext cx="10699115" cy="4933315"/>
          </a:xfrm>
        </p:spPr>
        <p:txBody>
          <a:bodyPr/>
          <a:lstStyle/>
          <a:p>
            <a:r>
              <a:rPr lang="en-GB" altLang="zh-CN" dirty="0"/>
              <a:t>#</a:t>
            </a:r>
            <a:r>
              <a:rPr lang="en-GB" altLang="zh-CN" dirty="0" err="1"/>
              <a:t>value_counts</a:t>
            </a:r>
            <a:r>
              <a:rPr lang="en-GB" altLang="zh-CN" dirty="0"/>
              <a:t> (</a:t>
            </a:r>
            <a:r>
              <a:rPr lang="en-GB" altLang="zh-CN" dirty="0" err="1"/>
              <a:t>price,prime_genre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en-GB" altLang="zh-CN" dirty="0" err="1"/>
              <a:t>value_counts</a:t>
            </a:r>
            <a:r>
              <a:rPr lang="zh-CN" altLang="en-US" dirty="0"/>
              <a:t>只能对应</a:t>
            </a:r>
            <a:r>
              <a:rPr lang="en-GB" altLang="zh-CN" dirty="0"/>
              <a:t>series</a:t>
            </a:r>
            <a:r>
              <a:rPr lang="zh-CN" altLang="en-GB" dirty="0"/>
              <a:t>，</a:t>
            </a:r>
            <a:r>
              <a:rPr lang="zh-CN" altLang="en-US" dirty="0"/>
              <a:t>不能对整个</a:t>
            </a:r>
            <a:r>
              <a:rPr lang="en-GB" altLang="zh-CN" dirty="0" err="1"/>
              <a:t>dataframe</a:t>
            </a:r>
            <a:r>
              <a:rPr lang="zh-CN" altLang="en-US" dirty="0"/>
              <a:t>做操作</a:t>
            </a:r>
            <a:endParaRPr lang="zh-CN" altLang="en-US" dirty="0"/>
          </a:p>
          <a:p>
            <a:r>
              <a:rPr lang="en-GB" altLang="zh-CN" dirty="0" err="1"/>
              <a:t>app.price.value_counts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zh-CN" altLang="en-US" dirty="0"/>
              <a:t>从数据中可以看出，价格</a:t>
            </a:r>
            <a:r>
              <a:rPr lang="en-US" altLang="zh-CN" dirty="0"/>
              <a:t>&gt;50</a:t>
            </a:r>
            <a:r>
              <a:rPr lang="zh-CN" altLang="en-US" dirty="0"/>
              <a:t>的比较少，将价格快速分组</a:t>
            </a:r>
            <a:endParaRPr lang="zh-CN" altLang="en-US" dirty="0"/>
          </a:p>
          <a:p>
            <a:r>
              <a:rPr lang="en-GB" altLang="zh-CN" dirty="0"/>
              <a:t>bins = [0,2,10,300]</a:t>
            </a:r>
            <a:endParaRPr lang="en-GB" altLang="zh-CN" dirty="0"/>
          </a:p>
          <a:p>
            <a:r>
              <a:rPr lang="en-GB" altLang="zh-CN" dirty="0"/>
              <a:t>labels = ['&lt;2', '&lt;10','&lt;300']</a:t>
            </a:r>
            <a:endParaRPr lang="en-GB" altLang="zh-CN" dirty="0"/>
          </a:p>
          <a:p>
            <a:r>
              <a:rPr lang="en-GB" altLang="zh-CN" dirty="0"/>
              <a:t>app['</a:t>
            </a:r>
            <a:r>
              <a:rPr lang="en-GB" altLang="zh-CN" dirty="0" err="1"/>
              <a:t>price_new</a:t>
            </a:r>
            <a:r>
              <a:rPr lang="en-GB" altLang="zh-CN" dirty="0"/>
              <a:t>']=</a:t>
            </a:r>
            <a:r>
              <a:rPr lang="en-GB" altLang="zh-CN" dirty="0" err="1"/>
              <a:t>pd.cut</a:t>
            </a:r>
            <a:r>
              <a:rPr lang="en-GB" altLang="zh-CN" dirty="0"/>
              <a:t>(</a:t>
            </a:r>
            <a:r>
              <a:rPr lang="en-GB" altLang="zh-CN" dirty="0" err="1"/>
              <a:t>app.price</a:t>
            </a:r>
            <a:r>
              <a:rPr lang="en-GB" altLang="zh-CN" dirty="0"/>
              <a:t>, bins, right=False, labels=labels)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分组后查看数据分布情况</a:t>
            </a:r>
            <a:endParaRPr lang="zh-CN" altLang="en-US" dirty="0"/>
          </a:p>
          <a:p>
            <a:r>
              <a:rPr lang="en-GB" altLang="zh-CN" dirty="0" err="1"/>
              <a:t>app.groupby</a:t>
            </a:r>
            <a:r>
              <a:rPr lang="en-GB" altLang="zh-CN" dirty="0"/>
              <a:t>(['</a:t>
            </a:r>
            <a:r>
              <a:rPr lang="en-GB" altLang="zh-CN" dirty="0" err="1"/>
              <a:t>price_new</a:t>
            </a:r>
            <a:r>
              <a:rPr lang="en-GB" altLang="zh-CN" dirty="0"/>
              <a:t>'])['price'].describe()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320" y="4589145"/>
            <a:ext cx="5860415" cy="1917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 单变量分析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 查看不同类别</a:t>
            </a:r>
            <a:r>
              <a:rPr lang="en-US" altLang="zh-CN" dirty="0"/>
              <a:t>app</a:t>
            </a:r>
            <a:r>
              <a:rPr lang="zh-CN" altLang="en-US" dirty="0"/>
              <a:t>的价格分布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62855"/>
          </a:xfrm>
        </p:spPr>
        <p:txBody>
          <a:bodyPr/>
          <a:lstStyle/>
          <a:p>
            <a:r>
              <a:rPr lang="en-GB" altLang="zh-CN" dirty="0"/>
              <a:t># </a:t>
            </a:r>
            <a:r>
              <a:rPr lang="en-GB" altLang="zh-CN" dirty="0" err="1"/>
              <a:t>groupby</a:t>
            </a:r>
            <a:r>
              <a:rPr lang="zh-CN" altLang="en-US" dirty="0"/>
              <a:t>操作</a:t>
            </a:r>
            <a:endParaRPr lang="en-US" altLang="zh-CN" dirty="0"/>
          </a:p>
          <a:p>
            <a:r>
              <a:rPr lang="en-US" altLang="zh-CN" dirty="0" err="1"/>
              <a:t>app.groupby</a:t>
            </a:r>
            <a:r>
              <a:rPr lang="en-US" altLang="zh-CN" dirty="0"/>
              <a:t>(['</a:t>
            </a:r>
            <a:r>
              <a:rPr lang="en-US" altLang="zh-CN" dirty="0" err="1"/>
              <a:t>prime_genre</a:t>
            </a:r>
            <a:r>
              <a:rPr lang="en-US" altLang="zh-CN" dirty="0"/>
              <a:t>'])['price'].describe()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删除价格大于等于</a:t>
            </a:r>
            <a:r>
              <a:rPr lang="en-US" altLang="zh-CN" dirty="0"/>
              <a:t>49.99</a:t>
            </a:r>
            <a:r>
              <a:rPr lang="zh-CN" altLang="en-US" dirty="0"/>
              <a:t>的</a:t>
            </a:r>
            <a:r>
              <a:rPr lang="en-US" altLang="zh-CN" dirty="0"/>
              <a:t>app</a:t>
            </a:r>
            <a:endParaRPr lang="en-US" altLang="zh-CN" dirty="0"/>
          </a:p>
          <a:p>
            <a:r>
              <a:rPr lang="en-US" altLang="zh-CN" dirty="0"/>
              <a:t>app=app[app['price']&lt;=49.99]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评论情况分析</a:t>
            </a:r>
            <a:endParaRPr lang="zh-CN" altLang="en-US" dirty="0"/>
          </a:p>
          <a:p>
            <a:r>
              <a:rPr lang="en-US" altLang="zh-CN" dirty="0" err="1"/>
              <a:t>app.rating_count_tot.describe</a:t>
            </a:r>
            <a:r>
              <a:rPr lang="en-US" altLang="zh-CN" dirty="0"/>
              <a:t>()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00" y="2493645"/>
            <a:ext cx="6180455" cy="2432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4361815"/>
            <a:ext cx="3924300" cy="2197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 单变量分析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对</a:t>
            </a:r>
            <a:r>
              <a:rPr lang="en-US" altLang="zh-CN" dirty="0"/>
              <a:t>App</a:t>
            </a:r>
            <a:r>
              <a:rPr>
                <a:sym typeface="+mn-ea"/>
              </a:rPr>
              <a:t>用户打分</a:t>
            </a:r>
            <a:r>
              <a:rPr dirty="0"/>
              <a:t>数量</a:t>
            </a:r>
            <a:r>
              <a:rPr lang="zh-CN" altLang="en-US" dirty="0"/>
              <a:t>进行分组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26635"/>
          </a:xfrm>
        </p:spPr>
        <p:txBody>
          <a:bodyPr/>
          <a:lstStyle/>
          <a:p>
            <a:r>
              <a:rPr lang="en-GB" altLang="zh-CN" dirty="0"/>
              <a:t>bins = [0,1000,5000,100000,5000000]</a:t>
            </a:r>
            <a:endParaRPr lang="en-GB" altLang="zh-CN" dirty="0"/>
          </a:p>
          <a:p>
            <a:r>
              <a:rPr lang="en-GB" altLang="zh-CN" dirty="0"/>
              <a:t>app['</a:t>
            </a:r>
            <a:r>
              <a:rPr lang="en-GB" altLang="zh-CN" dirty="0" err="1"/>
              <a:t>rating_new</a:t>
            </a:r>
            <a:r>
              <a:rPr lang="en-GB" altLang="zh-CN" dirty="0"/>
              <a:t>']=</a:t>
            </a:r>
            <a:r>
              <a:rPr lang="en-GB" altLang="zh-CN" dirty="0" err="1"/>
              <a:t>pd.cut</a:t>
            </a:r>
            <a:r>
              <a:rPr lang="en-GB" altLang="zh-CN" dirty="0"/>
              <a:t>(</a:t>
            </a:r>
            <a:r>
              <a:rPr lang="en-GB" altLang="zh-CN" dirty="0" err="1"/>
              <a:t>app.rating_count_tot</a:t>
            </a:r>
            <a:r>
              <a:rPr lang="en-GB" altLang="zh-CN" dirty="0"/>
              <a:t>, bins, right=False)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用户打分和价格的关系</a:t>
            </a:r>
            <a:endParaRPr lang="zh-CN" altLang="en-US" dirty="0"/>
          </a:p>
          <a:p>
            <a:r>
              <a:rPr lang="en-GB" altLang="zh-CN" dirty="0" err="1"/>
              <a:t>app.groupby</a:t>
            </a:r>
            <a:r>
              <a:rPr lang="en-GB" altLang="zh-CN" dirty="0"/>
              <a:t>(['</a:t>
            </a:r>
            <a:r>
              <a:rPr lang="en-GB" altLang="zh-CN" dirty="0" err="1"/>
              <a:t>rating_new</a:t>
            </a:r>
            <a:r>
              <a:rPr lang="en-GB" altLang="zh-CN" dirty="0"/>
              <a:t>'])['price'].describe()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460" y="3688715"/>
            <a:ext cx="672465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案例介绍</a:t>
            </a:r>
            <a:endParaRPr lang="zh-CN" altLang="en-US" dirty="0"/>
          </a:p>
          <a:p>
            <a:r>
              <a:rPr lang="zh-CN" altLang="en-US" dirty="0"/>
              <a:t>数据清洗</a:t>
            </a:r>
            <a:endParaRPr lang="zh-CN" altLang="en-US" dirty="0"/>
          </a:p>
          <a:p>
            <a:r>
              <a:rPr lang="zh-CN" altLang="en-US" dirty="0"/>
              <a:t>单变量分析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业务数据可视化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业务解读</a:t>
            </a:r>
            <a:endParaRPr lang="zh-CN" altLang="en-US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 </a:t>
            </a:r>
            <a:r>
              <a:rPr lang="zh-CN" altLang="en-US" dirty="0"/>
              <a:t>业务数据可视化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app</a:t>
            </a:r>
            <a:r>
              <a:rPr lang="zh-CN" altLang="en-US" dirty="0"/>
              <a:t>类型和评分关系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endParaRPr lang="en-US" altLang="zh-CN" dirty="0"/>
          </a:p>
          <a:p>
            <a:r>
              <a:rPr lang="en-US" altLang="zh-CN" dirty="0"/>
              <a:t>import seaborn as </a:t>
            </a:r>
            <a:r>
              <a:rPr lang="en-US" altLang="zh-CN" dirty="0" err="1"/>
              <a:t>sns</a:t>
            </a:r>
            <a:endParaRPr lang="en-US" altLang="zh-CN" dirty="0"/>
          </a:p>
          <a:p>
            <a:r>
              <a:rPr lang="en-US" altLang="zh-CN" dirty="0"/>
              <a:t>%matplotlib inline</a:t>
            </a:r>
            <a:endParaRPr lang="en-US" altLang="zh-CN" dirty="0"/>
          </a:p>
          <a:p>
            <a:r>
              <a:rPr lang="en-US" altLang="zh-CN" dirty="0"/>
              <a:t>#app</a:t>
            </a:r>
            <a:r>
              <a:rPr lang="zh-CN" altLang="en-US" dirty="0"/>
              <a:t>评分关系</a:t>
            </a:r>
            <a:endParaRPr lang="zh-CN" altLang="en-US" dirty="0"/>
          </a:p>
          <a:p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=(30,20))#</a:t>
            </a:r>
            <a:r>
              <a:rPr lang="zh-CN" altLang="en-US" dirty="0"/>
              <a:t>调整大小</a:t>
            </a:r>
            <a:endParaRPr lang="zh-CN" altLang="en-US" dirty="0"/>
          </a:p>
          <a:p>
            <a:r>
              <a:rPr lang="en-US" altLang="zh-CN" dirty="0" err="1"/>
              <a:t>sns.relplot</a:t>
            </a:r>
            <a:r>
              <a:rPr lang="en-US" altLang="zh-CN" dirty="0"/>
              <a:t>(x="</a:t>
            </a:r>
            <a:r>
              <a:rPr lang="en-US" altLang="zh-CN" dirty="0" err="1"/>
              <a:t>prime_genre</a:t>
            </a:r>
            <a:r>
              <a:rPr lang="en-US" altLang="zh-CN" dirty="0"/>
              <a:t>", y="</a:t>
            </a:r>
            <a:r>
              <a:rPr lang="en-US" altLang="zh-CN" dirty="0" err="1"/>
              <a:t>user_rating",</a:t>
            </a:r>
            <a:endParaRPr lang="en-US" altLang="zh-CN" dirty="0" err="1"/>
          </a:p>
          <a:p>
            <a:r>
              <a:rPr lang="en-US" altLang="zh-CN" dirty="0" err="1"/>
              <a:t>kind</a:t>
            </a:r>
            <a:r>
              <a:rPr lang="en-US" altLang="zh-CN" dirty="0"/>
              <a:t>='line',data=app) #</a:t>
            </a:r>
            <a:r>
              <a:rPr lang="zh-CN" altLang="en-US" dirty="0"/>
              <a:t>折线图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0890" y="1892935"/>
            <a:ext cx="4286250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 </a:t>
            </a:r>
            <a:r>
              <a:rPr lang="zh-CN" altLang="en-US" dirty="0"/>
              <a:t>业务数据可视化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app</a:t>
            </a:r>
            <a:r>
              <a:rPr lang="zh-CN" altLang="en-US" dirty="0"/>
              <a:t>类型和评分关系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21779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从上图中可以看出，大部分评分集中在</a:t>
            </a:r>
            <a:r>
              <a:rPr lang="en-US" altLang="zh-CN" dirty="0"/>
              <a:t>2</a:t>
            </a:r>
            <a:r>
              <a:rPr lang="zh-CN" altLang="en-US" dirty="0"/>
              <a:t>分和</a:t>
            </a:r>
            <a:r>
              <a:rPr lang="en-US" altLang="zh-CN" dirty="0"/>
              <a:t>4</a:t>
            </a:r>
            <a:r>
              <a:rPr lang="zh-CN" altLang="en-US" dirty="0"/>
              <a:t>分之间，但是</a:t>
            </a:r>
            <a:r>
              <a:rPr lang="en-GB" altLang="zh-CN" dirty="0" err="1"/>
              <a:t>plt.figure</a:t>
            </a:r>
            <a:r>
              <a:rPr lang="en-GB" altLang="zh-CN" dirty="0"/>
              <a:t>(</a:t>
            </a:r>
            <a:r>
              <a:rPr lang="en-GB" altLang="zh-CN" dirty="0" err="1"/>
              <a:t>figsize</a:t>
            </a:r>
            <a:r>
              <a:rPr lang="en-GB" altLang="zh-CN" dirty="0"/>
              <a:t>=(30,20)) </a:t>
            </a:r>
            <a:r>
              <a:rPr lang="zh-CN" altLang="en-US" dirty="0"/>
              <a:t>并没有起作用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可以通过</a:t>
            </a:r>
            <a:r>
              <a:rPr lang="en-GB" altLang="zh-CN" dirty="0"/>
              <a:t>height </a:t>
            </a:r>
            <a:r>
              <a:rPr lang="zh-CN" altLang="en-US" dirty="0"/>
              <a:t>和 </a:t>
            </a:r>
            <a:r>
              <a:rPr lang="en-GB" altLang="zh-CN" dirty="0"/>
              <a:t>aspect </a:t>
            </a:r>
            <a:r>
              <a:rPr lang="zh-CN" altLang="en-US" dirty="0"/>
              <a:t>两个参数调整图片大小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使用 </a:t>
            </a:r>
            <a:r>
              <a:rPr lang="en-GB" altLang="zh-CN" dirty="0" err="1"/>
              <a:t>catplot</a:t>
            </a:r>
            <a:r>
              <a:rPr lang="en-GB" altLang="zh-CN" dirty="0"/>
              <a:t>() </a:t>
            </a:r>
            <a:r>
              <a:rPr lang="zh-CN" altLang="en-GB" dirty="0"/>
              <a:t>、 </a:t>
            </a:r>
            <a:r>
              <a:rPr lang="en-GB" altLang="zh-CN" dirty="0" err="1"/>
              <a:t>relplot</a:t>
            </a:r>
            <a:r>
              <a:rPr lang="en-GB" altLang="zh-CN" dirty="0"/>
              <a:t>() (</a:t>
            </a:r>
            <a:r>
              <a:rPr lang="zh-CN" altLang="en-US" dirty="0"/>
              <a:t>以及</a:t>
            </a:r>
            <a:r>
              <a:rPr lang="en-GB" altLang="zh-CN" dirty="0" err="1"/>
              <a:t>pairplot</a:t>
            </a:r>
            <a:r>
              <a:rPr lang="en-GB" altLang="zh-CN" dirty="0"/>
              <a:t>(), </a:t>
            </a:r>
            <a:r>
              <a:rPr lang="en-GB" altLang="zh-CN" dirty="0" err="1"/>
              <a:t>lmplot</a:t>
            </a:r>
            <a:r>
              <a:rPr lang="en-GB" altLang="zh-CN" dirty="0"/>
              <a:t>() </a:t>
            </a:r>
            <a:r>
              <a:rPr lang="zh-CN" altLang="en-US" dirty="0"/>
              <a:t>和 </a:t>
            </a:r>
            <a:r>
              <a:rPr lang="en-GB" altLang="zh-CN" dirty="0" err="1"/>
              <a:t>jointplot</a:t>
            </a:r>
            <a:r>
              <a:rPr lang="en-GB" altLang="zh-CN" dirty="0"/>
              <a:t>()), </a:t>
            </a:r>
            <a:r>
              <a:rPr lang="zh-CN" altLang="en-US" dirty="0"/>
              <a:t>使用 </a:t>
            </a:r>
            <a:r>
              <a:rPr lang="en-GB" altLang="zh-CN" dirty="0"/>
              <a:t>height </a:t>
            </a:r>
            <a:r>
              <a:rPr lang="zh-CN" altLang="en-US" dirty="0"/>
              <a:t>关键字来控制图片高度 </a:t>
            </a:r>
            <a:r>
              <a:rPr lang="en-GB" altLang="zh-CN" dirty="0"/>
              <a:t>aspect </a:t>
            </a:r>
            <a:r>
              <a:rPr lang="zh-CN" altLang="en-US" dirty="0"/>
              <a:t>控制宽高比例</a:t>
            </a:r>
            <a:endParaRPr lang="en-US" altLang="zh-CN" dirty="0"/>
          </a:p>
          <a:p>
            <a:r>
              <a:rPr lang="en-GB" altLang="zh-CN" dirty="0" err="1"/>
              <a:t>sns.relplot</a:t>
            </a:r>
            <a:r>
              <a:rPr lang="en-GB" altLang="zh-CN" dirty="0"/>
              <a:t>(x="</a:t>
            </a:r>
            <a:r>
              <a:rPr lang="en-GB" altLang="zh-CN" dirty="0" err="1"/>
              <a:t>prime_genre</a:t>
            </a:r>
            <a:r>
              <a:rPr lang="en-GB" altLang="zh-CN" dirty="0"/>
              <a:t>", y="</a:t>
            </a:r>
            <a:r>
              <a:rPr lang="en-GB" altLang="zh-CN" dirty="0" err="1"/>
              <a:t>user_rating",kind</a:t>
            </a:r>
            <a:r>
              <a:rPr lang="en-GB" altLang="zh-CN" dirty="0"/>
              <a:t>='</a:t>
            </a:r>
            <a:r>
              <a:rPr lang="en-GB" altLang="zh-CN" dirty="0" err="1"/>
              <a:t>line',data</a:t>
            </a:r>
            <a:r>
              <a:rPr lang="en-GB" altLang="zh-CN" dirty="0"/>
              <a:t>=</a:t>
            </a:r>
            <a:r>
              <a:rPr lang="en-GB" altLang="zh-CN" dirty="0" err="1"/>
              <a:t>app,height</a:t>
            </a:r>
            <a:r>
              <a:rPr lang="en-GB" altLang="zh-CN" dirty="0"/>
              <a:t>=5,aspect=3) 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将</a:t>
            </a:r>
            <a:r>
              <a:rPr lang="en-GB" altLang="zh-CN" dirty="0"/>
              <a:t>x</a:t>
            </a:r>
            <a:r>
              <a:rPr lang="zh-CN" altLang="en-US" dirty="0"/>
              <a:t>轴文字旋转</a:t>
            </a:r>
            <a:r>
              <a:rPr lang="en-US" altLang="zh-CN" dirty="0"/>
              <a:t>45</a:t>
            </a:r>
            <a:r>
              <a:rPr lang="zh-CN" altLang="en-US" dirty="0"/>
              <a:t>度</a:t>
            </a:r>
            <a:endParaRPr lang="zh-CN" altLang="en-US" dirty="0"/>
          </a:p>
          <a:p>
            <a:r>
              <a:rPr lang="en-GB" altLang="zh-CN" dirty="0" err="1"/>
              <a:t>plt.xticks</a:t>
            </a:r>
            <a:r>
              <a:rPr lang="en-GB" altLang="zh-CN" dirty="0"/>
              <a:t>(</a:t>
            </a:r>
            <a:endParaRPr lang="en-GB" altLang="zh-CN" dirty="0"/>
          </a:p>
          <a:p>
            <a:r>
              <a:rPr lang="en-GB" altLang="zh-CN" dirty="0"/>
              <a:t>    rotation=45, </a:t>
            </a:r>
            <a:endParaRPr lang="en-GB" altLang="zh-CN" dirty="0"/>
          </a:p>
          <a:p>
            <a:r>
              <a:rPr lang="en-GB" altLang="zh-CN" dirty="0"/>
              <a:t>    </a:t>
            </a:r>
            <a:r>
              <a:rPr lang="en-GB" altLang="zh-CN" dirty="0" err="1"/>
              <a:t>horizontalalignment</a:t>
            </a:r>
            <a:r>
              <a:rPr lang="en-GB" altLang="zh-CN" dirty="0"/>
              <a:t>='right',</a:t>
            </a:r>
            <a:endParaRPr lang="en-GB" altLang="zh-CN" dirty="0"/>
          </a:p>
          <a:p>
            <a:r>
              <a:rPr lang="en-GB" altLang="zh-CN" dirty="0"/>
              <a:t>    </a:t>
            </a:r>
            <a:r>
              <a:rPr lang="en-GB" altLang="zh-CN" dirty="0" err="1"/>
              <a:t>fontweight</a:t>
            </a:r>
            <a:r>
              <a:rPr lang="en-GB" altLang="zh-CN" dirty="0"/>
              <a:t>='light',</a:t>
            </a:r>
            <a:endParaRPr lang="en-GB" altLang="zh-CN" dirty="0"/>
          </a:p>
          <a:p>
            <a:r>
              <a:rPr lang="en-GB" altLang="zh-CN" dirty="0"/>
              <a:t>    </a:t>
            </a:r>
            <a:r>
              <a:rPr lang="en-GB" altLang="zh-CN" dirty="0" err="1"/>
              <a:t>fontsize</a:t>
            </a:r>
            <a:r>
              <a:rPr lang="en-GB" altLang="zh-CN" dirty="0"/>
              <a:t>='x-large'  </a:t>
            </a:r>
            <a:endParaRPr lang="en-GB" altLang="zh-CN" dirty="0"/>
          </a:p>
          <a:p>
            <a:r>
              <a:rPr lang="en-GB" altLang="zh-CN" dirty="0"/>
              <a:t>)</a:t>
            </a:r>
            <a:endParaRPr lang="zh-CN" altLang="en-US" dirty="0">
              <a:effectLst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6075" y="3736340"/>
            <a:ext cx="7397750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 </a:t>
            </a:r>
            <a:r>
              <a:rPr lang="zh-CN" altLang="en-US" dirty="0"/>
              <a:t>业务数据可视化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价格分布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03775"/>
          </a:xfrm>
        </p:spPr>
        <p:txBody>
          <a:bodyPr/>
          <a:lstStyle/>
          <a:p>
            <a:r>
              <a:rPr lang="en-US" altLang="zh-CN" dirty="0"/>
              <a:t>app1=app[app['price']&lt;=9.99]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直方图，</a:t>
            </a:r>
            <a:r>
              <a:rPr lang="en-US" altLang="zh-CN" dirty="0"/>
              <a:t>APP</a:t>
            </a:r>
            <a:r>
              <a:rPr lang="zh-CN" altLang="en-US" dirty="0"/>
              <a:t>价格的分布</a:t>
            </a:r>
            <a:endParaRPr lang="zh-CN" altLang="en-US" dirty="0"/>
          </a:p>
          <a:p>
            <a:r>
              <a:rPr lang="en-US" altLang="zh-CN" dirty="0" err="1"/>
              <a:t>sns.distplot</a:t>
            </a:r>
            <a:r>
              <a:rPr lang="en-US" altLang="zh-CN" dirty="0"/>
              <a:t>(app1['price'])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从上面的结果中看出，大部分应用都是免费的，极少数</a:t>
            </a:r>
            <a:r>
              <a:rPr lang="en-US" altLang="zh-CN" dirty="0"/>
              <a:t>APP</a:t>
            </a:r>
            <a:r>
              <a:rPr lang="zh-CN" altLang="en-US" dirty="0"/>
              <a:t>的收费</a:t>
            </a:r>
            <a:r>
              <a:rPr lang="en-US" altLang="zh-CN" dirty="0"/>
              <a:t>&gt;5</a:t>
            </a:r>
            <a:r>
              <a:rPr lang="zh-CN" altLang="en-US" dirty="0"/>
              <a:t>元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endParaRPr lang="zh-CN" altLang="en-US" dirty="0"/>
          </a:p>
          <a:p>
            <a:pPr>
              <a:buFont typeface="Wingdings" panose="05000000000000000000" pitchFamily="2" charset="2"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3091180"/>
            <a:ext cx="465455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 </a:t>
            </a:r>
            <a:r>
              <a:rPr lang="zh-CN" altLang="en-US" dirty="0"/>
              <a:t>业务数据可视化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价格分布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4159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收费</a:t>
            </a:r>
            <a:r>
              <a:rPr lang="en-US" altLang="zh-CN" dirty="0"/>
              <a:t>app</a:t>
            </a:r>
            <a:r>
              <a:rPr lang="zh-CN" altLang="en-US" dirty="0"/>
              <a:t>的价格分布是如何的？不同类别之间有关系吗？</a:t>
            </a:r>
            <a:endParaRPr lang="en-US" altLang="zh-CN" dirty="0"/>
          </a:p>
          <a:p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=(15,8))#</a:t>
            </a:r>
            <a:r>
              <a:rPr lang="zh-CN" altLang="en-US" dirty="0"/>
              <a:t>调整大小</a:t>
            </a:r>
            <a:endParaRPr lang="zh-CN" altLang="en-US" dirty="0"/>
          </a:p>
          <a:p>
            <a:r>
              <a:rPr lang="en-US" altLang="zh-CN" dirty="0" err="1"/>
              <a:t>sns.boxplot</a:t>
            </a:r>
            <a:r>
              <a:rPr lang="en-US" altLang="zh-CN" dirty="0"/>
              <a:t>(x='</a:t>
            </a:r>
            <a:r>
              <a:rPr lang="en-US" altLang="zh-CN" dirty="0" err="1"/>
              <a:t>price',y</a:t>
            </a:r>
            <a:r>
              <a:rPr lang="en-US" altLang="zh-CN" dirty="0"/>
              <a:t>='</a:t>
            </a:r>
            <a:r>
              <a:rPr lang="en-US" altLang="zh-CN" dirty="0" err="1"/>
              <a:t>prime_genre',data</a:t>
            </a:r>
            <a:r>
              <a:rPr lang="en-US" altLang="zh-CN" dirty="0"/>
              <a:t>=app[app['paid']==1])</a:t>
            </a:r>
            <a:endParaRPr lang="en-US" altLang="zh-CN" dirty="0"/>
          </a:p>
          <a:p>
            <a:r>
              <a:rPr lang="en-US" altLang="zh-CN" dirty="0" err="1"/>
              <a:t>plt.yticks</a:t>
            </a:r>
            <a:r>
              <a:rPr lang="en-US" altLang="zh-CN" dirty="0"/>
              <a:t>(</a:t>
            </a:r>
            <a:r>
              <a:rPr lang="en-US" altLang="zh-CN" dirty="0" err="1"/>
              <a:t>fontweight</a:t>
            </a:r>
            <a:r>
              <a:rPr lang="en-US" altLang="zh-CN" dirty="0"/>
              <a:t>='light',</a:t>
            </a:r>
            <a:r>
              <a:rPr lang="en-US" altLang="zh-CN" dirty="0" err="1"/>
              <a:t>fontsize</a:t>
            </a:r>
            <a:r>
              <a:rPr lang="en-US" altLang="zh-CN" dirty="0"/>
              <a:t>='x-large')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价格绝大部分都集中在</a:t>
            </a:r>
            <a:r>
              <a:rPr lang="en-US" altLang="zh-CN" dirty="0"/>
              <a:t>9.99</a:t>
            </a:r>
            <a:r>
              <a:rPr lang="zh-CN" altLang="en-US" dirty="0"/>
              <a:t>美元以内，个别类别（如医疗）等因专业性总体价格会高于其他类别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3475355"/>
            <a:ext cx="6883400" cy="27400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 </a:t>
            </a:r>
            <a:r>
              <a:rPr lang="zh-CN" altLang="en-US" dirty="0"/>
              <a:t>业务数据可视化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4.3</a:t>
            </a:r>
            <a:r>
              <a:rPr lang="zh-CN" altLang="en-US" dirty="0"/>
              <a:t> 绘制前五个类别的</a:t>
            </a:r>
            <a:r>
              <a:rPr lang="en-US" altLang="zh-CN" dirty="0"/>
              <a:t>app</a:t>
            </a:r>
            <a:r>
              <a:rPr lang="zh-CN" altLang="en-US" dirty="0"/>
              <a:t>价格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72710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只保留应用数量最多的前</a:t>
            </a:r>
            <a:r>
              <a:rPr lang="en-US" altLang="zh-CN" dirty="0"/>
              <a:t>5</a:t>
            </a:r>
            <a:r>
              <a:rPr lang="zh-CN" altLang="en-US" dirty="0"/>
              <a:t>个类别</a:t>
            </a:r>
            <a:endParaRPr lang="zh-CN" altLang="en-US" dirty="0"/>
          </a:p>
          <a:p>
            <a:r>
              <a:rPr lang="en-US" altLang="zh-CN" dirty="0"/>
              <a:t>top5 = </a:t>
            </a:r>
            <a:r>
              <a:rPr lang="en-US" altLang="zh-CN" dirty="0" err="1"/>
              <a:t>app.groupby</a:t>
            </a:r>
            <a:r>
              <a:rPr lang="en-US" altLang="zh-CN" dirty="0"/>
              <a:t>(['</a:t>
            </a:r>
            <a:r>
              <a:rPr lang="en-US" altLang="zh-CN" dirty="0" err="1"/>
              <a:t>prime_genre</a:t>
            </a:r>
            <a:r>
              <a:rPr lang="en-US" altLang="zh-CN" dirty="0"/>
              <a:t>'])['price'].count().</a:t>
            </a:r>
            <a:r>
              <a:rPr lang="en-US" altLang="zh-CN" dirty="0" err="1"/>
              <a:t>sort_values</a:t>
            </a:r>
            <a:r>
              <a:rPr lang="en-US" altLang="zh-CN" dirty="0"/>
              <a:t>(ascending = False).head().</a:t>
            </a:r>
            <a:r>
              <a:rPr lang="en-US" altLang="zh-CN" dirty="0" err="1"/>
              <a:t>index.tolist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/>
              <a:t>app5 = app[</a:t>
            </a:r>
            <a:r>
              <a:rPr lang="en-US" altLang="zh-CN" dirty="0" err="1"/>
              <a:t>app.prime_genre.isin</a:t>
            </a:r>
            <a:r>
              <a:rPr lang="en-US" altLang="zh-CN" dirty="0"/>
              <a:t>(top5)]</a:t>
            </a:r>
            <a:endParaRPr lang="en-US" altLang="zh-CN" dirty="0"/>
          </a:p>
          <a:p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=(10,8))#</a:t>
            </a:r>
            <a:r>
              <a:rPr lang="zh-CN" altLang="en-US" dirty="0"/>
              <a:t>调整大小</a:t>
            </a:r>
            <a:endParaRPr lang="zh-CN" altLang="en-US" dirty="0"/>
          </a:p>
          <a:p>
            <a:r>
              <a:rPr lang="en-US" altLang="zh-CN" dirty="0" err="1"/>
              <a:t>sns.boxplot</a:t>
            </a:r>
            <a:r>
              <a:rPr lang="en-US" altLang="zh-CN" dirty="0"/>
              <a:t>(x='</a:t>
            </a:r>
            <a:r>
              <a:rPr lang="en-US" altLang="zh-CN" dirty="0" err="1"/>
              <a:t>price',y</a:t>
            </a:r>
            <a:r>
              <a:rPr lang="en-US" altLang="zh-CN" dirty="0"/>
              <a:t>='</a:t>
            </a:r>
            <a:r>
              <a:rPr lang="en-US" altLang="zh-CN" dirty="0" err="1"/>
              <a:t>prime_genre',data</a:t>
            </a:r>
            <a:r>
              <a:rPr lang="en-US" altLang="zh-CN" dirty="0"/>
              <a:t>=app5[app['paid']==1])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箱线图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从上图可以看出，</a:t>
            </a:r>
            <a:r>
              <a:rPr lang="en-US" altLang="zh-CN" dirty="0"/>
              <a:t>Games</a:t>
            </a:r>
            <a:r>
              <a:rPr lang="zh-CN" altLang="en-US" dirty="0"/>
              <a:t>的价格分布更广，最大值也较高，异常值也较多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320" y="4600575"/>
            <a:ext cx="5881370" cy="21094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 </a:t>
            </a:r>
            <a:r>
              <a:rPr lang="zh-CN" altLang="en-US" dirty="0"/>
              <a:t>业务数据可视化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4.4</a:t>
            </a:r>
            <a:r>
              <a:rPr lang="zh-CN" altLang="en-US" dirty="0"/>
              <a:t> 价格和用户评分的分布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86960"/>
          </a:xfrm>
        </p:spPr>
        <p:txBody>
          <a:bodyPr/>
          <a:lstStyle/>
          <a:p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=(10,8))</a:t>
            </a:r>
            <a:endParaRPr lang="en-US" altLang="zh-CN" dirty="0"/>
          </a:p>
          <a:p>
            <a:r>
              <a:rPr lang="en-US" altLang="zh-CN" dirty="0" err="1"/>
              <a:t>sns.scatterplot</a:t>
            </a:r>
            <a:r>
              <a:rPr lang="en-US" altLang="zh-CN" dirty="0"/>
              <a:t>(x='</a:t>
            </a:r>
            <a:r>
              <a:rPr lang="en-US" altLang="zh-CN" dirty="0" err="1"/>
              <a:t>price',y</a:t>
            </a:r>
            <a:r>
              <a:rPr lang="en-US" altLang="zh-CN" dirty="0"/>
              <a:t>='</a:t>
            </a:r>
            <a:r>
              <a:rPr lang="en-US" altLang="zh-CN" dirty="0" err="1"/>
              <a:t>user_rating',data</a:t>
            </a:r>
            <a:r>
              <a:rPr lang="en-US" altLang="zh-CN" dirty="0"/>
              <a:t>=app) #</a:t>
            </a:r>
            <a:r>
              <a:rPr lang="zh-CN" altLang="en-US" dirty="0"/>
              <a:t>散点图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从散点图可以看出，价格和评价关联不强，高价的应用评价两级分化，但数据相对较少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790" y="3072765"/>
            <a:ext cx="7067550" cy="35071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 </a:t>
            </a:r>
            <a:r>
              <a:rPr lang="zh-CN" altLang="en-US" dirty="0"/>
              <a:t>业务数据可视化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4.5 </a:t>
            </a:r>
            <a:r>
              <a:rPr lang="zh-CN" altLang="en-US" dirty="0"/>
              <a:t>前</a:t>
            </a:r>
            <a:r>
              <a:rPr lang="en-US" altLang="zh-CN" dirty="0"/>
              <a:t>5</a:t>
            </a:r>
            <a:r>
              <a:rPr lang="zh-CN" altLang="en-US" dirty="0"/>
              <a:t>个类别</a:t>
            </a:r>
            <a:r>
              <a:rPr lang="en-US" altLang="zh-CN" dirty="0"/>
              <a:t>app</a:t>
            </a:r>
            <a:r>
              <a:rPr lang="zh-CN" altLang="en-US" dirty="0"/>
              <a:t>的用户评分均值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69840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同一类别，将免费和付费的评分进行对比</a:t>
            </a:r>
            <a:endParaRPr lang="zh-CN" altLang="en-US" dirty="0"/>
          </a:p>
          <a:p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=(10,8))</a:t>
            </a:r>
            <a:endParaRPr lang="en-US" altLang="zh-CN" dirty="0"/>
          </a:p>
          <a:p>
            <a:r>
              <a:rPr lang="en-US" altLang="zh-CN" dirty="0" err="1"/>
              <a:t>sns.barplot</a:t>
            </a:r>
            <a:r>
              <a:rPr lang="en-US" altLang="zh-CN" dirty="0"/>
              <a:t>(x='</a:t>
            </a:r>
            <a:r>
              <a:rPr lang="en-US" altLang="zh-CN" dirty="0" err="1"/>
              <a:t>prime_genre',y</a:t>
            </a:r>
            <a:r>
              <a:rPr lang="en-US" altLang="zh-CN" dirty="0"/>
              <a:t>='</a:t>
            </a:r>
            <a:r>
              <a:rPr lang="en-US" altLang="zh-CN" dirty="0" err="1"/>
              <a:t>user_rating',hue</a:t>
            </a:r>
            <a:r>
              <a:rPr lang="en-US" altLang="zh-CN" dirty="0"/>
              <a:t>='</a:t>
            </a:r>
            <a:r>
              <a:rPr lang="en-US" altLang="zh-CN" dirty="0" err="1"/>
              <a:t>paid',data</a:t>
            </a:r>
            <a:r>
              <a:rPr lang="en-US" altLang="zh-CN" dirty="0"/>
              <a:t>=app5) #</a:t>
            </a:r>
            <a:r>
              <a:rPr lang="zh-CN" altLang="en-US" dirty="0"/>
              <a:t>柱状图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0" y="2980690"/>
            <a:ext cx="6731000" cy="3616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案例介绍</a:t>
            </a:r>
            <a:endParaRPr lang="zh-CN" altLang="en-US" dirty="0"/>
          </a:p>
          <a:p>
            <a:r>
              <a:rPr lang="zh-CN" altLang="en-US" dirty="0"/>
              <a:t>数据清洗</a:t>
            </a:r>
            <a:endParaRPr lang="zh-CN" altLang="en-US" dirty="0"/>
          </a:p>
          <a:p>
            <a:r>
              <a:rPr lang="zh-CN" altLang="en-US" dirty="0"/>
              <a:t>单变量分析</a:t>
            </a:r>
            <a:endParaRPr lang="zh-CN" altLang="en-US" dirty="0"/>
          </a:p>
          <a:p>
            <a:r>
              <a:rPr lang="zh-CN" altLang="en-US" dirty="0"/>
              <a:t>业务数据可视化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业务解读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业务解读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5.1</a:t>
            </a:r>
            <a:r>
              <a:rPr lang="zh-CN" altLang="en-US" dirty="0"/>
              <a:t> 免费或收费</a:t>
            </a:r>
            <a:r>
              <a:rPr lang="en-US" altLang="zh-CN" dirty="0"/>
              <a:t>APP</a:t>
            </a:r>
            <a:r>
              <a:rPr lang="zh-CN" altLang="en-US" dirty="0"/>
              <a:t>集中在哪些类别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875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第一步，将数据加总成每个类别有多少个</a:t>
            </a:r>
            <a:r>
              <a:rPr lang="en-US" altLang="zh-CN" dirty="0"/>
              <a:t>app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第二步，从高到低进行排列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第三步，将数据进行可视化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使用</a:t>
            </a:r>
            <a:r>
              <a:rPr lang="en-US" altLang="zh-CN" dirty="0" err="1"/>
              <a:t>countplot</a:t>
            </a:r>
            <a:r>
              <a:rPr lang="en-US" altLang="zh-CN" dirty="0"/>
              <a:t>--count</a:t>
            </a:r>
            <a:r>
              <a:rPr lang="zh-CN" altLang="en-US" dirty="0"/>
              <a:t>是对数据加总，</a:t>
            </a:r>
            <a:r>
              <a:rPr lang="en-US" altLang="zh-CN" dirty="0"/>
              <a:t>plot</a:t>
            </a:r>
            <a:r>
              <a:rPr lang="zh-CN" altLang="en-US" dirty="0"/>
              <a:t>将数据进行可视化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参数</a:t>
            </a:r>
            <a:r>
              <a:rPr lang="en-US" altLang="zh-CN" dirty="0"/>
              <a:t>order </a:t>
            </a:r>
            <a:r>
              <a:rPr lang="zh-CN" altLang="en-US" dirty="0"/>
              <a:t>指定数据显示的顺序</a:t>
            </a:r>
            <a:endParaRPr lang="zh-CN" altLang="en-US" dirty="0"/>
          </a:p>
          <a:p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=(20,10))</a:t>
            </a:r>
            <a:endParaRPr lang="en-US" altLang="zh-CN" dirty="0"/>
          </a:p>
          <a:p>
            <a:r>
              <a:rPr lang="en-US" altLang="zh-CN" dirty="0" err="1"/>
              <a:t>sns.countplot</a:t>
            </a:r>
            <a:r>
              <a:rPr lang="en-US" altLang="zh-CN" dirty="0"/>
              <a:t>(y='</a:t>
            </a:r>
            <a:r>
              <a:rPr lang="en-US" altLang="zh-CN" dirty="0" err="1"/>
              <a:t>prime_genre',hue</a:t>
            </a:r>
            <a:r>
              <a:rPr lang="en-US" altLang="zh-CN" dirty="0"/>
              <a:t>='</a:t>
            </a:r>
            <a:r>
              <a:rPr lang="en-US" altLang="zh-CN" dirty="0" err="1"/>
              <a:t>paid',data</a:t>
            </a:r>
            <a:r>
              <a:rPr lang="en-US" altLang="zh-CN" dirty="0"/>
              <a:t>=</a:t>
            </a:r>
            <a:r>
              <a:rPr lang="en-US" altLang="zh-CN" dirty="0" err="1"/>
              <a:t>app,order</a:t>
            </a:r>
            <a:r>
              <a:rPr lang="en-US" altLang="zh-CN" dirty="0"/>
              <a:t>=app['</a:t>
            </a:r>
            <a:r>
              <a:rPr lang="en-US" altLang="zh-CN" dirty="0" err="1"/>
              <a:t>prime_genre</a:t>
            </a:r>
            <a:r>
              <a:rPr lang="en-US" altLang="zh-CN" dirty="0"/>
              <a:t>'].</a:t>
            </a:r>
            <a:r>
              <a:rPr lang="en-US" altLang="zh-CN" dirty="0" err="1"/>
              <a:t>value_counts</a:t>
            </a:r>
            <a:r>
              <a:rPr lang="en-US" altLang="zh-CN" dirty="0"/>
              <a:t>().index)</a:t>
            </a:r>
            <a:endParaRPr lang="en-US" altLang="zh-CN" dirty="0"/>
          </a:p>
          <a:p>
            <a:r>
              <a:rPr lang="en-US" altLang="zh-CN" dirty="0" err="1"/>
              <a:t>plt.tick_params</a:t>
            </a:r>
            <a:r>
              <a:rPr lang="en-US" altLang="zh-CN" dirty="0"/>
              <a:t>(</a:t>
            </a:r>
            <a:r>
              <a:rPr lang="en-US" altLang="zh-CN" dirty="0" err="1"/>
              <a:t>labelsize</a:t>
            </a:r>
            <a:r>
              <a:rPr lang="en-US" altLang="zh-CN" dirty="0"/>
              <a:t>=20)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免费或收费都是高度集中在游戏类别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3205" y="1241425"/>
            <a:ext cx="5324475" cy="2908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业务解读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5.2</a:t>
            </a:r>
            <a:r>
              <a:rPr lang="zh-CN" altLang="en-US" dirty="0"/>
              <a:t> 免费与收费的</a:t>
            </a:r>
            <a:r>
              <a:rPr lang="en-US" altLang="zh-CN" dirty="0"/>
              <a:t>APP</a:t>
            </a:r>
            <a:r>
              <a:rPr lang="zh-CN" altLang="en-US" dirty="0"/>
              <a:t>在不同评分区间的分布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107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将评分进行分箱，查看落入不同箱中应用的数量</a:t>
            </a:r>
            <a:endParaRPr lang="en-US" altLang="zh-CN" dirty="0"/>
          </a:p>
          <a:p>
            <a:r>
              <a:rPr lang="en-US" altLang="zh-CN" dirty="0"/>
              <a:t>bins=[0,0.5,2.5,4.5,5.1]</a:t>
            </a:r>
            <a:endParaRPr lang="en-US" altLang="zh-CN" dirty="0"/>
          </a:p>
          <a:p>
            <a:r>
              <a:rPr lang="en-US" altLang="zh-CN" dirty="0"/>
              <a:t>app['</a:t>
            </a:r>
            <a:r>
              <a:rPr lang="en-US" altLang="zh-CN" dirty="0" err="1"/>
              <a:t>rating_level</a:t>
            </a:r>
            <a:r>
              <a:rPr lang="en-US" altLang="zh-CN" dirty="0"/>
              <a:t>']=</a:t>
            </a:r>
            <a:r>
              <a:rPr lang="en-US" altLang="zh-CN" dirty="0" err="1"/>
              <a:t>pd.cut</a:t>
            </a:r>
            <a:r>
              <a:rPr lang="en-US" altLang="zh-CN" dirty="0"/>
              <a:t>(</a:t>
            </a:r>
            <a:r>
              <a:rPr lang="en-US" altLang="zh-CN" dirty="0" err="1"/>
              <a:t>app.user_rating,bins,right</a:t>
            </a:r>
            <a:r>
              <a:rPr lang="en-US" altLang="zh-CN" dirty="0"/>
              <a:t>=False)</a:t>
            </a:r>
            <a:endParaRPr lang="en-US" altLang="zh-CN" dirty="0"/>
          </a:p>
          <a:p>
            <a:r>
              <a:rPr lang="en-US" altLang="zh-CN" dirty="0" err="1"/>
              <a:t>app.groupby</a:t>
            </a:r>
            <a:r>
              <a:rPr lang="en-US" altLang="zh-CN" dirty="0"/>
              <a:t>(['</a:t>
            </a:r>
            <a:r>
              <a:rPr lang="en-US" altLang="zh-CN" dirty="0" err="1"/>
              <a:t>rating_level</a:t>
            </a:r>
            <a:r>
              <a:rPr lang="en-US" altLang="zh-CN" dirty="0"/>
              <a:t>'])['</a:t>
            </a:r>
            <a:r>
              <a:rPr lang="en-US" altLang="zh-CN" dirty="0" err="1"/>
              <a:t>user_rating</a:t>
            </a:r>
            <a:r>
              <a:rPr lang="en-US" altLang="zh-CN" dirty="0"/>
              <a:t>'].describe()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 err="1"/>
          </a:p>
          <a:p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=(15,8))</a:t>
            </a:r>
            <a:endParaRPr lang="en-US" altLang="zh-CN" dirty="0"/>
          </a:p>
          <a:p>
            <a:r>
              <a:rPr lang="en-US" altLang="zh-CN" dirty="0" err="1"/>
              <a:t>sns.countplot</a:t>
            </a:r>
            <a:r>
              <a:rPr lang="en-US" altLang="zh-CN" dirty="0"/>
              <a:t>(x='</a:t>
            </a:r>
            <a:r>
              <a:rPr lang="en-US" altLang="zh-CN" dirty="0" err="1"/>
              <a:t>paid',hue</a:t>
            </a:r>
            <a:r>
              <a:rPr lang="en-US" altLang="zh-CN" dirty="0"/>
              <a:t>='</a:t>
            </a:r>
            <a:r>
              <a:rPr lang="en-US" altLang="zh-CN" dirty="0" err="1"/>
              <a:t>rating_level',data</a:t>
            </a:r>
            <a:r>
              <a:rPr lang="en-US" altLang="zh-CN" dirty="0"/>
              <a:t>=app)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免费和收费</a:t>
            </a:r>
            <a:r>
              <a:rPr lang="en-US" altLang="zh-CN" dirty="0"/>
              <a:t>APP</a:t>
            </a:r>
            <a:r>
              <a:rPr lang="zh-CN" altLang="en-US" dirty="0"/>
              <a:t>，评分的分布基本相似，收费的</a:t>
            </a:r>
            <a:r>
              <a:rPr lang="en-US" altLang="zh-CN" dirty="0"/>
              <a:t>APP</a:t>
            </a:r>
            <a:r>
              <a:rPr lang="zh-CN" altLang="en-US" dirty="0"/>
              <a:t>低分的相对少一些</a:t>
            </a:r>
            <a:endParaRPr lang="zh-CN" altLang="en-US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3880" y="1224915"/>
            <a:ext cx="5278120" cy="3403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70" y="3393440"/>
            <a:ext cx="480695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业务解读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5.3</a:t>
            </a:r>
            <a:r>
              <a:rPr lang="zh-CN" altLang="en-US" dirty="0"/>
              <a:t> </a:t>
            </a:r>
            <a:r>
              <a:rPr lang="en-US" altLang="zh-CN" dirty="0"/>
              <a:t>APP</a:t>
            </a:r>
            <a:r>
              <a:rPr lang="zh-CN" altLang="en-US" dirty="0"/>
              <a:t>的大小、</a:t>
            </a:r>
            <a:r>
              <a:rPr lang="zh-CN" altLang="en-US" dirty="0"/>
              <a:t>价格和用户评分之间关系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通过热力图来查看变量之间两两相关系数</a:t>
            </a:r>
            <a:endParaRPr lang="en-US" altLang="zh-CN" dirty="0"/>
          </a:p>
          <a:p>
            <a:r>
              <a:rPr lang="en-US" altLang="zh-CN" dirty="0"/>
              <a:t>q4=['user_rating','price','</a:t>
            </a:r>
            <a:r>
              <a:rPr lang="en-US" altLang="zh-CN" dirty="0" err="1"/>
              <a:t>size_mb</a:t>
            </a:r>
            <a:r>
              <a:rPr lang="en-US" altLang="zh-CN" dirty="0"/>
              <a:t>']</a:t>
            </a:r>
            <a:endParaRPr lang="en-US" altLang="zh-CN" dirty="0"/>
          </a:p>
          <a:p>
            <a:r>
              <a:rPr lang="en-US" altLang="zh-CN" dirty="0"/>
              <a:t>app[q4].</a:t>
            </a:r>
            <a:r>
              <a:rPr lang="en-US" altLang="zh-CN" dirty="0" err="1"/>
              <a:t>corr</a:t>
            </a:r>
            <a:r>
              <a:rPr lang="en-US" altLang="zh-CN" dirty="0"/>
              <a:t>()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sns.heatmap</a:t>
            </a:r>
            <a:r>
              <a:rPr lang="en-US" altLang="zh-CN" dirty="0"/>
              <a:t>(app[q4].</a:t>
            </a:r>
            <a:r>
              <a:rPr lang="en-US" altLang="zh-CN" dirty="0" err="1"/>
              <a:t>corr</a:t>
            </a:r>
            <a:r>
              <a:rPr lang="en-US" altLang="zh-CN" dirty="0"/>
              <a:t>())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热力图，展现变量之间两两之间关系的强弱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应用的大小、价格与评分没有很明显的关联，但是价格和大小之间有正相关关系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370" y="1457325"/>
            <a:ext cx="4502150" cy="3200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0" y="2924175"/>
            <a:ext cx="3086100" cy="11874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常规的探索性数据分析套路：查看概况</a:t>
            </a:r>
            <a:r>
              <a:rPr lang="en-US" altLang="zh-CN" dirty="0"/>
              <a:t>-&gt;</a:t>
            </a:r>
            <a:r>
              <a:rPr lang="zh-CN" altLang="en-US" dirty="0"/>
              <a:t>单变量分析</a:t>
            </a:r>
            <a:r>
              <a:rPr lang="en-US" altLang="zh-CN" dirty="0"/>
              <a:t>-&gt;</a:t>
            </a:r>
            <a:r>
              <a:rPr lang="zh-CN" altLang="en-US" dirty="0"/>
              <a:t>多变量分析</a:t>
            </a:r>
            <a:r>
              <a:rPr lang="en-US" altLang="zh-CN" dirty="0"/>
              <a:t>-&gt;</a:t>
            </a:r>
            <a:r>
              <a:rPr lang="zh-CN" altLang="en-US" dirty="0"/>
              <a:t>可视化分析</a:t>
            </a:r>
            <a:endParaRPr lang="zh-CN" altLang="en-US" dirty="0"/>
          </a:p>
          <a:p>
            <a:r>
              <a:rPr lang="en-US" altLang="zh-CN" dirty="0"/>
              <a:t>Seaborn</a:t>
            </a:r>
            <a:r>
              <a:rPr lang="zh-CN" altLang="en-US" dirty="0"/>
              <a:t>绘图的时候，有些</a:t>
            </a:r>
            <a:r>
              <a:rPr lang="en-US" altLang="zh-CN" dirty="0" err="1"/>
              <a:t>api</a:t>
            </a:r>
            <a:r>
              <a:rPr lang="zh-CN" altLang="en-US" dirty="0"/>
              <a:t>在调整图片大小时，使用</a:t>
            </a:r>
            <a:r>
              <a:rPr lang="en-US" altLang="zh-CN" dirty="0" err="1"/>
              <a:t>plt.figure</a:t>
            </a:r>
            <a:r>
              <a:rPr lang="en-US" altLang="zh-CN" dirty="0"/>
              <a:t>(</a:t>
            </a:r>
            <a:r>
              <a:rPr lang="en-US" altLang="zh-CN" dirty="0" err="1"/>
              <a:t>figsize</a:t>
            </a:r>
            <a:r>
              <a:rPr lang="en-US" altLang="zh-CN" dirty="0"/>
              <a:t>=())</a:t>
            </a:r>
            <a:r>
              <a:rPr lang="zh-CN" altLang="en-US" dirty="0"/>
              <a:t>无效，此时可以使用 </a:t>
            </a:r>
            <a:r>
              <a:rPr lang="en-US" altLang="zh-CN" dirty="0"/>
              <a:t>height </a:t>
            </a:r>
            <a:r>
              <a:rPr lang="zh-CN" altLang="en-US" dirty="0"/>
              <a:t>关键字来控制图片高度 </a:t>
            </a:r>
            <a:r>
              <a:rPr lang="en-US" altLang="zh-CN" dirty="0"/>
              <a:t>aspect </a:t>
            </a:r>
            <a:r>
              <a:rPr lang="zh-CN" altLang="en-US" dirty="0"/>
              <a:t>控制宽高比例</a:t>
            </a:r>
            <a:endParaRPr lang="zh-CN" altLang="en-US" dirty="0"/>
          </a:p>
          <a:p>
            <a:r>
              <a:rPr lang="en-US" altLang="zh-CN" dirty="0"/>
              <a:t>Seaborn</a:t>
            </a:r>
            <a:r>
              <a:rPr lang="zh-CN" altLang="en-US" dirty="0"/>
              <a:t>在绘制柱状图的时候，可以使用</a:t>
            </a:r>
            <a:r>
              <a:rPr lang="en-US" altLang="zh-CN" dirty="0"/>
              <a:t>hue</a:t>
            </a:r>
            <a:r>
              <a:rPr lang="zh-CN" altLang="en-US" dirty="0"/>
              <a:t>参数 传入类别型变量，方便进行对比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70,&quot;width&quot;:10630}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4213</Words>
  <Application>WPS 演示</Application>
  <PresentationFormat>宽屏</PresentationFormat>
  <Paragraphs>299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31</vt:i4>
      </vt:variant>
    </vt:vector>
  </HeadingPairs>
  <TitlesOfParts>
    <vt:vector size="54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等线</vt:lpstr>
      <vt:lpstr>Arial Unicode MS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Appstore数据分析</vt:lpstr>
      <vt:lpstr>PowerPoint 演示文稿</vt:lpstr>
      <vt:lpstr>PowerPoint 演示文稿</vt:lpstr>
      <vt:lpstr>1 案例介绍</vt:lpstr>
      <vt:lpstr>1 案例介绍</vt:lpstr>
      <vt:lpstr>1 案例介绍</vt:lpstr>
      <vt:lpstr>1 案例介绍</vt:lpstr>
      <vt:lpstr>1 案例介绍</vt:lpstr>
      <vt:lpstr>PowerPoint 演示文稿</vt:lpstr>
      <vt:lpstr>2 数据清洗</vt:lpstr>
      <vt:lpstr>2 数据清洗</vt:lpstr>
      <vt:lpstr>2 数据清洗</vt:lpstr>
      <vt:lpstr>2 数据清洗</vt:lpstr>
      <vt:lpstr>PowerPoint 演示文稿</vt:lpstr>
      <vt:lpstr>3 单变量分析</vt:lpstr>
      <vt:lpstr>3 单变量分析</vt:lpstr>
      <vt:lpstr>3 单变量分析</vt:lpstr>
      <vt:lpstr>PowerPoint 演示文稿</vt:lpstr>
      <vt:lpstr>4 业务数据可视化</vt:lpstr>
      <vt:lpstr>4 业务数据可视化</vt:lpstr>
      <vt:lpstr>4 业务数据可视化</vt:lpstr>
      <vt:lpstr>4 业务数据可视化</vt:lpstr>
      <vt:lpstr>4 业务数据可视化</vt:lpstr>
      <vt:lpstr>4 业务数据可视化</vt:lpstr>
      <vt:lpstr>4 业务数据可视化</vt:lpstr>
      <vt:lpstr>PowerPoint 演示文稿</vt:lpstr>
      <vt:lpstr>5 业务解读</vt:lpstr>
      <vt:lpstr>5 业务解读</vt:lpstr>
      <vt:lpstr>5 业务解读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魏云飞</cp:lastModifiedBy>
  <cp:revision>348</cp:revision>
  <dcterms:created xsi:type="dcterms:W3CDTF">2020-03-31T02:23:00Z</dcterms:created>
  <dcterms:modified xsi:type="dcterms:W3CDTF">2021-05-14T11:43:06Z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62CD3040D5DC40CEA860C748489528D0</vt:lpwstr>
  </property>
  <property fmtid="{D5CDD505-2E9C-101B-9397-08002B2CF9AE}" pid="3" name="KSOProductBuildVer">
    <vt:lpwstr>2052-11.1.0.10463</vt:lpwstr>
  </property>
</Properties>
</file>