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3" r:id="rId4"/>
    <p:sldMasterId id="2147483655" r:id="rId5"/>
    <p:sldMasterId id="2147483667" r:id="rId6"/>
    <p:sldMasterId id="2147483669" r:id="rId7"/>
    <p:sldMasterId id="2147483671" r:id="rId8"/>
    <p:sldMasterId id="2147483673" r:id="rId9"/>
    <p:sldMasterId id="2147483675" r:id="rId10"/>
    <p:sldMasterId id="2147483677" r:id="rId11"/>
    <p:sldMasterId id="2147483679" r:id="rId12"/>
    <p:sldMasterId id="2147483693" r:id="rId13"/>
  </p:sldMasterIdLst>
  <p:notesMasterIdLst>
    <p:notesMasterId r:id="rId15"/>
  </p:notesMasterIdLst>
  <p:sldIdLst>
    <p:sldId id="260" r:id="rId14"/>
    <p:sldId id="424" r:id="rId16"/>
    <p:sldId id="268" r:id="rId17"/>
    <p:sldId id="265" r:id="rId18"/>
    <p:sldId id="427" r:id="rId19"/>
    <p:sldId id="428" r:id="rId20"/>
    <p:sldId id="430" r:id="rId21"/>
    <p:sldId id="458" r:id="rId22"/>
    <p:sldId id="432" r:id="rId23"/>
    <p:sldId id="433" r:id="rId24"/>
    <p:sldId id="434" r:id="rId25"/>
    <p:sldId id="435" r:id="rId26"/>
    <p:sldId id="436" r:id="rId27"/>
    <p:sldId id="437" r:id="rId28"/>
    <p:sldId id="438" r:id="rId29"/>
    <p:sldId id="439" r:id="rId30"/>
    <p:sldId id="440" r:id="rId31"/>
    <p:sldId id="441" r:id="rId32"/>
    <p:sldId id="442" r:id="rId33"/>
    <p:sldId id="443" r:id="rId34"/>
    <p:sldId id="444" r:id="rId35"/>
    <p:sldId id="445" r:id="rId36"/>
    <p:sldId id="446" r:id="rId37"/>
    <p:sldId id="447" r:id="rId38"/>
    <p:sldId id="448" r:id="rId39"/>
    <p:sldId id="449" r:id="rId40"/>
    <p:sldId id="450" r:id="rId41"/>
    <p:sldId id="452" r:id="rId42"/>
    <p:sldId id="453" r:id="rId43"/>
    <p:sldId id="454" r:id="rId44"/>
    <p:sldId id="456" r:id="rId45"/>
    <p:sldId id="457" r:id="rId46"/>
    <p:sldId id="264" r:id="rId4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C00000"/>
    <a:srgbClr val="0000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6379" autoAdjust="0"/>
  </p:normalViewPr>
  <p:slideViewPr>
    <p:cSldViewPr snapToGrid="0">
      <p:cViewPr varScale="1">
        <p:scale>
          <a:sx n="137" d="100"/>
          <a:sy n="137" d="100"/>
        </p:scale>
        <p:origin x="20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0" Type="http://schemas.openxmlformats.org/officeDocument/2006/relationships/tableStyles" Target="tableStyles.xml"/><Relationship Id="rId5" Type="http://schemas.openxmlformats.org/officeDocument/2006/relationships/slideMaster" Target="slideMasters/slideMaster4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slide" Target="slides/slide33.xml"/><Relationship Id="rId46" Type="http://schemas.openxmlformats.org/officeDocument/2006/relationships/slide" Target="slides/slide32.xml"/><Relationship Id="rId45" Type="http://schemas.openxmlformats.org/officeDocument/2006/relationships/slide" Target="slides/slide31.xml"/><Relationship Id="rId44" Type="http://schemas.openxmlformats.org/officeDocument/2006/relationships/slide" Target="slides/slide30.xml"/><Relationship Id="rId43" Type="http://schemas.openxmlformats.org/officeDocument/2006/relationships/slide" Target="slides/slide29.xml"/><Relationship Id="rId42" Type="http://schemas.openxmlformats.org/officeDocument/2006/relationships/slide" Target="slides/slide28.xml"/><Relationship Id="rId41" Type="http://schemas.openxmlformats.org/officeDocument/2006/relationships/slide" Target="slides/slide27.xml"/><Relationship Id="rId40" Type="http://schemas.openxmlformats.org/officeDocument/2006/relationships/slide" Target="slides/slide26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5.xml"/><Relationship Id="rId38" Type="http://schemas.openxmlformats.org/officeDocument/2006/relationships/slide" Target="slides/slide24.xml"/><Relationship Id="rId37" Type="http://schemas.openxmlformats.org/officeDocument/2006/relationships/slide" Target="slides/slide23.xml"/><Relationship Id="rId36" Type="http://schemas.openxmlformats.org/officeDocument/2006/relationships/slide" Target="slides/slide22.xml"/><Relationship Id="rId35" Type="http://schemas.openxmlformats.org/officeDocument/2006/relationships/slide" Target="slides/slide21.xml"/><Relationship Id="rId34" Type="http://schemas.openxmlformats.org/officeDocument/2006/relationships/slide" Target="slides/slide20.xml"/><Relationship Id="rId33" Type="http://schemas.openxmlformats.org/officeDocument/2006/relationships/slide" Target="slides/slide19.xml"/><Relationship Id="rId32" Type="http://schemas.openxmlformats.org/officeDocument/2006/relationships/slide" Target="slides/slide18.xml"/><Relationship Id="rId31" Type="http://schemas.openxmlformats.org/officeDocument/2006/relationships/slide" Target="slides/slide17.xml"/><Relationship Id="rId30" Type="http://schemas.openxmlformats.org/officeDocument/2006/relationships/slide" Target="slides/slide1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5.xml"/><Relationship Id="rId28" Type="http://schemas.openxmlformats.org/officeDocument/2006/relationships/slide" Target="slides/slide14.xml"/><Relationship Id="rId27" Type="http://schemas.openxmlformats.org/officeDocument/2006/relationships/slide" Target="slides/slide13.xml"/><Relationship Id="rId26" Type="http://schemas.openxmlformats.org/officeDocument/2006/relationships/slide" Target="slides/slide12.xml"/><Relationship Id="rId25" Type="http://schemas.openxmlformats.org/officeDocument/2006/relationships/slide" Target="slides/slide11.xml"/><Relationship Id="rId24" Type="http://schemas.openxmlformats.org/officeDocument/2006/relationships/slide" Target="slides/slide10.xml"/><Relationship Id="rId23" Type="http://schemas.openxmlformats.org/officeDocument/2006/relationships/slide" Target="slides/slide9.xml"/><Relationship Id="rId22" Type="http://schemas.openxmlformats.org/officeDocument/2006/relationships/slide" Target="slides/slide8.xml"/><Relationship Id="rId21" Type="http://schemas.openxmlformats.org/officeDocument/2006/relationships/slide" Target="slides/slide7.xml"/><Relationship Id="rId20" Type="http://schemas.openxmlformats.org/officeDocument/2006/relationships/slide" Target="slides/slide6.xml"/><Relationship Id="rId2" Type="http://schemas.openxmlformats.org/officeDocument/2006/relationships/theme" Target="theme/theme1.xml"/><Relationship Id="rId19" Type="http://schemas.openxmlformats.org/officeDocument/2006/relationships/slide" Target="slides/slide5.xml"/><Relationship Id="rId18" Type="http://schemas.openxmlformats.org/officeDocument/2006/relationships/slide" Target="slides/slide4.xml"/><Relationship Id="rId17" Type="http://schemas.openxmlformats.org/officeDocument/2006/relationships/slide" Target="slides/slide3.xml"/><Relationship Id="rId16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2"/>
          <p:cNvSpPr>
            <a:spLocks noGrp="1"/>
          </p:cNvSpPr>
          <p:nvPr>
            <p:ph type="title" hasCustomPrompt="1"/>
          </p:nvPr>
        </p:nvSpPr>
        <p:spPr>
          <a:xfrm>
            <a:off x="2889584" y="3023414"/>
            <a:ext cx="6412832" cy="8111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请输入课程标题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218190" y="1830980"/>
            <a:ext cx="6291263" cy="3196039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标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048701" y="1940037"/>
            <a:ext cx="5630484" cy="3196039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895350" indent="-285750">
              <a:lnSpc>
                <a:spcPct val="150000"/>
              </a:lnSpc>
              <a:buSzPct val="85000"/>
              <a:buFont typeface="Wingdings" panose="05000000000000000000" pitchFamily="2" charset="2"/>
              <a:buChar char="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SzPct val="85000"/>
              <a:buFont typeface="Wingdings" panose="05000000000000000000" pitchFamily="2" charset="2"/>
              <a:buChar char="u"/>
              <a:defRPr sz="1200" b="0">
                <a:solidFill>
                  <a:srgbClr val="404040"/>
                </a:solidFill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>
              <a:lnSpc>
                <a:spcPct val="150000"/>
              </a:lnSpc>
              <a:buFont typeface="+mj-ea"/>
              <a:buAutoNum type="circleNumDbPlai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Font typeface="+mj-lt"/>
              <a:buAutoNum type="alphaLcPeriod"/>
              <a:defRPr sz="12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171575"/>
            <a:ext cx="9845675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172521"/>
            <a:ext cx="9845675" cy="4219575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895350" indent="-285750">
              <a:lnSpc>
                <a:spcPct val="150000"/>
              </a:lnSpc>
              <a:buSzPct val="85000"/>
              <a:buFont typeface="Wingdings" panose="05000000000000000000" pitchFamily="2" charset="2"/>
              <a:buChar char="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SzPct val="85000"/>
              <a:buFont typeface="Wingdings" panose="05000000000000000000" pitchFamily="2" charset="2"/>
              <a:buChar char="u"/>
              <a:defRPr sz="1200" b="0">
                <a:solidFill>
                  <a:srgbClr val="404040"/>
                </a:solidFill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172521"/>
            <a:ext cx="9845675" cy="421957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>
              <a:lnSpc>
                <a:spcPct val="150000"/>
              </a:lnSpc>
              <a:buFont typeface="+mj-ea"/>
              <a:buAutoNum type="circleNumDbPlai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Font typeface="+mj-lt"/>
              <a:buAutoNum type="alphaLcPeriod"/>
              <a:defRPr sz="12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 rot="2700000">
            <a:off x="1856318" y="2330451"/>
            <a:ext cx="2059516" cy="2059516"/>
          </a:xfrm>
          <a:prstGeom prst="rect">
            <a:avLst/>
          </a:pr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7" name="矩形 6"/>
          <p:cNvSpPr/>
          <p:nvPr userDrawn="1"/>
        </p:nvSpPr>
        <p:spPr>
          <a:xfrm rot="2700000">
            <a:off x="1568451" y="2319867"/>
            <a:ext cx="2059517" cy="2059516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045559" y="1903912"/>
            <a:ext cx="5760538" cy="3196039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 rot="2700000">
            <a:off x="1856318" y="2330451"/>
            <a:ext cx="2059516" cy="2059516"/>
          </a:xfrm>
          <a:prstGeom prst="rect">
            <a:avLst/>
          </a:prstGeom>
          <a:noFill/>
          <a:ln w="63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7" name="矩形 6"/>
          <p:cNvSpPr/>
          <p:nvPr userDrawn="1"/>
        </p:nvSpPr>
        <p:spPr>
          <a:xfrm rot="2700000">
            <a:off x="1568451" y="2319867"/>
            <a:ext cx="2059517" cy="2059516"/>
          </a:xfrm>
          <a:prstGeom prst="rect">
            <a:avLst/>
          </a:prstGeom>
          <a:solidFill>
            <a:srgbClr val="404040"/>
          </a:solidFill>
          <a:ln w="63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045559" y="1903912"/>
            <a:ext cx="5760538" cy="3196039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218190" y="1830980"/>
            <a:ext cx="6291263" cy="3196039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emf"/><Relationship Id="rId8" Type="http://schemas.openxmlformats.org/officeDocument/2006/relationships/image" Target="../media/image7.emf"/><Relationship Id="rId7" Type="http://schemas.openxmlformats.org/officeDocument/2006/relationships/image" Target="../media/image6.emf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png"/><Relationship Id="rId3" Type="http://schemas.openxmlformats.org/officeDocument/2006/relationships/image" Target="../media/image2.emf"/><Relationship Id="rId20" Type="http://schemas.openxmlformats.org/officeDocument/2006/relationships/theme" Target="../theme/theme1.xml"/><Relationship Id="rId2" Type="http://schemas.openxmlformats.org/officeDocument/2006/relationships/image" Target="../media/image1.emf"/><Relationship Id="rId19" Type="http://schemas.openxmlformats.org/officeDocument/2006/relationships/image" Target="../media/image18.emf"/><Relationship Id="rId18" Type="http://schemas.openxmlformats.org/officeDocument/2006/relationships/image" Target="../media/image17.emf"/><Relationship Id="rId17" Type="http://schemas.openxmlformats.org/officeDocument/2006/relationships/image" Target="../media/image16.emf"/><Relationship Id="rId16" Type="http://schemas.openxmlformats.org/officeDocument/2006/relationships/image" Target="../media/image15.emf"/><Relationship Id="rId15" Type="http://schemas.openxmlformats.org/officeDocument/2006/relationships/image" Target="../media/image14.emf"/><Relationship Id="rId14" Type="http://schemas.openxmlformats.org/officeDocument/2006/relationships/image" Target="../media/image13.emf"/><Relationship Id="rId13" Type="http://schemas.openxmlformats.org/officeDocument/2006/relationships/image" Target="../media/image12.emf"/><Relationship Id="rId12" Type="http://schemas.openxmlformats.org/officeDocument/2006/relationships/image" Target="../media/image11.emf"/><Relationship Id="rId11" Type="http://schemas.openxmlformats.org/officeDocument/2006/relationships/image" Target="../media/image10.emf"/><Relationship Id="rId10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3" Type="http://schemas.openxmlformats.org/officeDocument/2006/relationships/theme" Target="../theme/theme4.xml"/><Relationship Id="rId12" Type="http://schemas.openxmlformats.org/officeDocument/2006/relationships/image" Target="../media/image19.png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6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8.xml"/></Relationships>
</file>

<file path=ppt/slideMasters/_rels/slideMaster8.xml.rels><?xml version="1.0" encoding="UTF-8" standalone="yes"?>
<Relationships xmlns="http://schemas.openxmlformats.org/package/2006/relationships"><Relationship Id="rId4" Type="http://schemas.openxmlformats.org/officeDocument/2006/relationships/theme" Target="../theme/theme8.xml"/><Relationship Id="rId3" Type="http://schemas.openxmlformats.org/officeDocument/2006/relationships/image" Target="../media/image1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20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1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5" Type="http://schemas.openxmlformats.org/officeDocument/2006/relationships/theme" Target="../theme/theme11.xml"/><Relationship Id="rId14" Type="http://schemas.openxmlformats.org/officeDocument/2006/relationships/image" Target="../media/image24.png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2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1452" y="855134"/>
            <a:ext cx="4169833" cy="4586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4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9518" y="1420285"/>
            <a:ext cx="2933700" cy="3272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椭圆 3"/>
          <p:cNvSpPr/>
          <p:nvPr userDrawn="1"/>
        </p:nvSpPr>
        <p:spPr bwMode="auto">
          <a:xfrm>
            <a:off x="8509000" y="1845733"/>
            <a:ext cx="618067" cy="61806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5" name="椭圆 4"/>
          <p:cNvSpPr/>
          <p:nvPr userDrawn="1"/>
        </p:nvSpPr>
        <p:spPr bwMode="auto">
          <a:xfrm>
            <a:off x="3268134" y="2332567"/>
            <a:ext cx="245533" cy="245533"/>
          </a:xfrm>
          <a:prstGeom prst="ellipse">
            <a:avLst/>
          </a:prstGeom>
          <a:solidFill>
            <a:schemeClr val="tx1">
              <a:lumMod val="75000"/>
              <a:lumOff val="25000"/>
              <a:alpha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6" name="椭圆 10"/>
          <p:cNvSpPr>
            <a:spLocks noChangeArrowheads="1"/>
          </p:cNvSpPr>
          <p:nvPr userDrawn="1"/>
        </p:nvSpPr>
        <p:spPr bwMode="auto">
          <a:xfrm>
            <a:off x="6987118" y="5249334"/>
            <a:ext cx="292100" cy="2921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7" name="椭圆 6"/>
          <p:cNvSpPr/>
          <p:nvPr userDrawn="1"/>
        </p:nvSpPr>
        <p:spPr bwMode="auto">
          <a:xfrm>
            <a:off x="4353985" y="2586567"/>
            <a:ext cx="171449" cy="17356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pic>
        <p:nvPicPr>
          <p:cNvPr id="1032" name="图片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6452" y="2108201"/>
            <a:ext cx="2899833" cy="793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5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218" y="1947334"/>
            <a:ext cx="283633" cy="387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34" name="组合 43"/>
          <p:cNvGrpSpPr/>
          <p:nvPr userDrawn="1"/>
        </p:nvGrpSpPr>
        <p:grpSpPr bwMode="auto">
          <a:xfrm>
            <a:off x="8134351" y="2334685"/>
            <a:ext cx="173567" cy="171449"/>
            <a:chOff x="6101548" y="1750326"/>
            <a:chExt cx="129654" cy="129654"/>
          </a:xfrm>
        </p:grpSpPr>
        <p:sp>
          <p:nvSpPr>
            <p:cNvPr id="13" name="椭圆 12"/>
            <p:cNvSpPr/>
            <p:nvPr/>
          </p:nvSpPr>
          <p:spPr bwMode="auto">
            <a:xfrm>
              <a:off x="6101548" y="1750326"/>
              <a:ext cx="129654" cy="129654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9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6" name="Picture 6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5394" y="1772988"/>
              <a:ext cx="84329" cy="84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035" name="Picture 7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1201" y="5325534"/>
            <a:ext cx="156633" cy="182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36" name="组合 41"/>
          <p:cNvGrpSpPr/>
          <p:nvPr userDrawn="1"/>
        </p:nvGrpSpPr>
        <p:grpSpPr bwMode="auto">
          <a:xfrm>
            <a:off x="4053418" y="728134"/>
            <a:ext cx="300567" cy="300567"/>
            <a:chOff x="3039900" y="545911"/>
            <a:chExt cx="225188" cy="225188"/>
          </a:xfrm>
        </p:grpSpPr>
        <p:sp>
          <p:nvSpPr>
            <p:cNvPr id="17" name="椭圆 16"/>
            <p:cNvSpPr/>
            <p:nvPr/>
          </p:nvSpPr>
          <p:spPr bwMode="auto">
            <a:xfrm>
              <a:off x="3039900" y="545911"/>
              <a:ext cx="225188" cy="225188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9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2" name="Picture 8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775" y="600432"/>
              <a:ext cx="143438" cy="1100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37" name="组合 37"/>
          <p:cNvGrpSpPr/>
          <p:nvPr userDrawn="1"/>
        </p:nvGrpSpPr>
        <p:grpSpPr bwMode="auto">
          <a:xfrm>
            <a:off x="3448052" y="4030133"/>
            <a:ext cx="247649" cy="247651"/>
            <a:chOff x="2586251" y="3022980"/>
            <a:chExt cx="88710" cy="88710"/>
          </a:xfrm>
          <a:solidFill>
            <a:srgbClr val="C00000"/>
          </a:solidFill>
        </p:grpSpPr>
        <p:sp>
          <p:nvSpPr>
            <p:cNvPr id="20" name="椭圆 9"/>
            <p:cNvSpPr>
              <a:spLocks noChangeArrowheads="1"/>
            </p:cNvSpPr>
            <p:nvPr/>
          </p:nvSpPr>
          <p:spPr bwMode="auto">
            <a:xfrm>
              <a:off x="2586251" y="3022980"/>
              <a:ext cx="88710" cy="88710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9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4" name="Picture 10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2611596" y="3041493"/>
              <a:ext cx="45720" cy="51684"/>
            </a:xfrm>
            <a:prstGeom prst="rect">
              <a:avLst/>
            </a:prstGeom>
            <a:grpFill/>
            <a:ln>
              <a:noFill/>
            </a:ln>
            <a:effectLst/>
          </p:spPr>
        </p:pic>
      </p:grpSp>
      <p:pic>
        <p:nvPicPr>
          <p:cNvPr id="1038" name="Picture 1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085" y="2633134"/>
            <a:ext cx="95249" cy="103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椭圆 22"/>
          <p:cNvSpPr/>
          <p:nvPr userDrawn="1"/>
        </p:nvSpPr>
        <p:spPr bwMode="auto">
          <a:xfrm>
            <a:off x="9484785" y="3507318"/>
            <a:ext cx="334433" cy="332316"/>
          </a:xfrm>
          <a:prstGeom prst="ellipse">
            <a:avLst/>
          </a:prstGeom>
          <a:solidFill>
            <a:schemeClr val="tx1">
              <a:lumMod val="75000"/>
              <a:lumOff val="25000"/>
              <a:alpha val="86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pic>
        <p:nvPicPr>
          <p:cNvPr id="1040" name="Picture 15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7333" y="3587752"/>
            <a:ext cx="177800" cy="171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41" name="组合 46"/>
          <p:cNvGrpSpPr/>
          <p:nvPr userDrawn="1"/>
        </p:nvGrpSpPr>
        <p:grpSpPr bwMode="auto">
          <a:xfrm>
            <a:off x="3103034" y="4514851"/>
            <a:ext cx="345017" cy="345016"/>
            <a:chOff x="1798978" y="3519004"/>
            <a:chExt cx="259307" cy="259307"/>
          </a:xfrm>
        </p:grpSpPr>
        <p:sp>
          <p:nvSpPr>
            <p:cNvPr id="26" name="椭圆 25"/>
            <p:cNvSpPr/>
            <p:nvPr/>
          </p:nvSpPr>
          <p:spPr bwMode="auto">
            <a:xfrm>
              <a:off x="1798978" y="3519004"/>
              <a:ext cx="259307" cy="259307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3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9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2" name="Picture 2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039" y="3616294"/>
              <a:ext cx="173184" cy="859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2" name="组合 38"/>
          <p:cNvGrpSpPr/>
          <p:nvPr userDrawn="1"/>
        </p:nvGrpSpPr>
        <p:grpSpPr bwMode="auto">
          <a:xfrm>
            <a:off x="1301752" y="1394885"/>
            <a:ext cx="400049" cy="400049"/>
            <a:chOff x="748396" y="764271"/>
            <a:chExt cx="300782" cy="300782"/>
          </a:xfrm>
        </p:grpSpPr>
        <p:sp>
          <p:nvSpPr>
            <p:cNvPr id="29" name="椭圆 28"/>
            <p:cNvSpPr/>
            <p:nvPr/>
          </p:nvSpPr>
          <p:spPr bwMode="auto">
            <a:xfrm>
              <a:off x="748396" y="764271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4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9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0" name="Picture 4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7106" y="856341"/>
              <a:ext cx="203362" cy="1166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3" name="组合 42"/>
          <p:cNvGrpSpPr/>
          <p:nvPr userDrawn="1"/>
        </p:nvGrpSpPr>
        <p:grpSpPr bwMode="auto">
          <a:xfrm>
            <a:off x="2351618" y="5854700"/>
            <a:ext cx="400049" cy="400051"/>
            <a:chOff x="1365228" y="4292790"/>
            <a:chExt cx="300782" cy="300782"/>
          </a:xfrm>
        </p:grpSpPr>
        <p:sp>
          <p:nvSpPr>
            <p:cNvPr id="32" name="椭圆 31"/>
            <p:cNvSpPr/>
            <p:nvPr/>
          </p:nvSpPr>
          <p:spPr bwMode="auto">
            <a:xfrm>
              <a:off x="1365228" y="4292790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9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8" name="Picture 5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7391" y="4364115"/>
              <a:ext cx="196455" cy="1581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4" name="组合 1"/>
          <p:cNvGrpSpPr/>
          <p:nvPr userDrawn="1"/>
        </p:nvGrpSpPr>
        <p:grpSpPr bwMode="auto">
          <a:xfrm>
            <a:off x="1559985" y="3492500"/>
            <a:ext cx="400049" cy="400051"/>
            <a:chOff x="1169908" y="2618983"/>
            <a:chExt cx="300782" cy="300782"/>
          </a:xfrm>
        </p:grpSpPr>
        <p:sp>
          <p:nvSpPr>
            <p:cNvPr id="35" name="椭圆 34"/>
            <p:cNvSpPr/>
            <p:nvPr/>
          </p:nvSpPr>
          <p:spPr bwMode="auto">
            <a:xfrm>
              <a:off x="1169908" y="2618983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9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6" name="Picture 6"/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4531" y="2690308"/>
              <a:ext cx="211536" cy="181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5" name="组合 49"/>
          <p:cNvGrpSpPr/>
          <p:nvPr userDrawn="1"/>
        </p:nvGrpSpPr>
        <p:grpSpPr bwMode="auto">
          <a:xfrm>
            <a:off x="10375901" y="5395385"/>
            <a:ext cx="427567" cy="427567"/>
            <a:chOff x="7874758" y="4418464"/>
            <a:chExt cx="320722" cy="320722"/>
          </a:xfrm>
        </p:grpSpPr>
        <p:sp>
          <p:nvSpPr>
            <p:cNvPr id="38" name="椭圆 37"/>
            <p:cNvSpPr/>
            <p:nvPr/>
          </p:nvSpPr>
          <p:spPr bwMode="auto">
            <a:xfrm>
              <a:off x="7874758" y="4418464"/>
              <a:ext cx="320722" cy="32072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9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4" name="Picture 7"/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16542" y="4486356"/>
              <a:ext cx="237154" cy="1849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046" name="Picture 9"/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6234" y="2364318"/>
            <a:ext cx="169333" cy="182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47" name="组合 45"/>
          <p:cNvGrpSpPr/>
          <p:nvPr userDrawn="1"/>
        </p:nvGrpSpPr>
        <p:grpSpPr bwMode="auto">
          <a:xfrm>
            <a:off x="8818034" y="4578351"/>
            <a:ext cx="345017" cy="345016"/>
            <a:chOff x="8470946" y="4206098"/>
            <a:chExt cx="259071" cy="259071"/>
          </a:xfrm>
        </p:grpSpPr>
        <p:sp>
          <p:nvSpPr>
            <p:cNvPr id="42" name="椭圆 41"/>
            <p:cNvSpPr/>
            <p:nvPr/>
          </p:nvSpPr>
          <p:spPr bwMode="auto">
            <a:xfrm>
              <a:off x="8470946" y="4206098"/>
              <a:ext cx="259071" cy="259071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23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9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2" name="Picture 10"/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30841" y="4263524"/>
              <a:ext cx="145353" cy="144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8" name="组合 44"/>
          <p:cNvGrpSpPr/>
          <p:nvPr userDrawn="1"/>
        </p:nvGrpSpPr>
        <p:grpSpPr bwMode="auto">
          <a:xfrm>
            <a:off x="9745134" y="1217084"/>
            <a:ext cx="429684" cy="429683"/>
            <a:chOff x="7308304" y="912172"/>
            <a:chExt cx="323068" cy="323068"/>
          </a:xfrm>
        </p:grpSpPr>
        <p:sp>
          <p:nvSpPr>
            <p:cNvPr id="45" name="椭圆 44"/>
            <p:cNvSpPr/>
            <p:nvPr/>
          </p:nvSpPr>
          <p:spPr bwMode="auto">
            <a:xfrm>
              <a:off x="7308304" y="912172"/>
              <a:ext cx="323068" cy="323068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31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9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0" name="Picture 11"/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68238" y="989568"/>
              <a:ext cx="203200" cy="168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33117"/>
            <a:ext cx="1301749" cy="1248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3075" name="圆角矩形 3"/>
          <p:cNvSpPr/>
          <p:nvPr userDrawn="1"/>
        </p:nvSpPr>
        <p:spPr bwMode="auto">
          <a:xfrm>
            <a:off x="9834034" y="-25399"/>
            <a:ext cx="1708151" cy="836084"/>
          </a:xfrm>
          <a:custGeom>
            <a:avLst/>
            <a:gdLst>
              <a:gd name="T0" fmla="*/ 22386923 w 1180531"/>
              <a:gd name="T1" fmla="*/ 0 h 577560"/>
              <a:gd name="T2" fmla="*/ 22386923 w 1180531"/>
              <a:gd name="T3" fmla="*/ 8917360 h 577560"/>
              <a:gd name="T4" fmla="*/ 20196321 w 1180531"/>
              <a:gd name="T5" fmla="*/ 11146814 h 577560"/>
              <a:gd name="T6" fmla="*/ 2190580 w 1180531"/>
              <a:gd name="T7" fmla="*/ 11146814 h 577560"/>
              <a:gd name="T8" fmla="*/ 0 w 1180531"/>
              <a:gd name="T9" fmla="*/ 8917360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3076" name="图片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5200" y="67733"/>
            <a:ext cx="1686984" cy="694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33117"/>
            <a:ext cx="10818284" cy="12488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MH_Others_1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2611967" y="2556933"/>
            <a:ext cx="859367" cy="3524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91440" tIns="45720" rIns="91440" bIns="4572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90204" pitchFamily="34" charset="0"/>
              <a:buNone/>
            </a:pPr>
            <a:r>
              <a:rPr lang="en-US" altLang="zh-CN" sz="48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Contents</a:t>
            </a:r>
            <a:endParaRPr lang="en-US" altLang="zh-CN" sz="48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MH_Others_2"/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2264834" y="1221318"/>
            <a:ext cx="1248833" cy="1246716"/>
          </a:xfrm>
          <a:prstGeom prst="ellipse">
            <a:avLst/>
          </a:prstGeom>
          <a:solidFill>
            <a:srgbClr val="404040"/>
          </a:solidFill>
          <a:ln w="0">
            <a:solidFill>
              <a:srgbClr val="FFFFFF">
                <a:alpha val="49000"/>
              </a:srgbClr>
            </a:solidFill>
          </a:ln>
        </p:spPr>
        <p:txBody>
          <a:bodyPr lIns="91440" tIns="45720" rIns="91440" bIns="18000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ts val="9335"/>
              </a:lnSpc>
              <a:spcBef>
                <a:spcPct val="0"/>
              </a:spcBef>
              <a:buNone/>
              <a:defRPr/>
            </a:pPr>
            <a:r>
              <a:rPr lang="zh-CN" altLang="en-US" sz="5400" b="1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目</a:t>
            </a:r>
            <a:endParaRPr lang="zh-CN" altLang="en-US" sz="5400" b="1" dirty="0">
              <a:solidFill>
                <a:srgbClr val="FFFFFF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MH_Others_3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1775520" y="2346261"/>
            <a:ext cx="979155" cy="979155"/>
          </a:xfrm>
          <a:prstGeom prst="ellipse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 typeface="Arial" panose="020B0604020202090204" pitchFamily="34" charset="0"/>
              <a:buNone/>
              <a:defRPr/>
            </a:pPr>
            <a:r>
              <a:rPr lang="zh-CN" altLang="en-US" sz="5400" b="1" dirty="0">
                <a:ln w="3175">
                  <a:solidFill>
                    <a:srgbClr val="FFFFFF"/>
                  </a:solidFill>
                </a:ln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录</a:t>
            </a:r>
            <a:endParaRPr lang="zh-CN" altLang="en-US" sz="5400" b="1" dirty="0">
              <a:ln w="3175">
                <a:solidFill>
                  <a:srgbClr val="FFFFFF"/>
                </a:solidFill>
              </a:ln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33117"/>
            <a:ext cx="1301749" cy="1248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3075" name="圆角矩形 3"/>
          <p:cNvSpPr/>
          <p:nvPr userDrawn="1"/>
        </p:nvSpPr>
        <p:spPr bwMode="auto">
          <a:xfrm>
            <a:off x="9834034" y="-25399"/>
            <a:ext cx="1708151" cy="836084"/>
          </a:xfrm>
          <a:custGeom>
            <a:avLst/>
            <a:gdLst>
              <a:gd name="T0" fmla="*/ 22386923 w 1180531"/>
              <a:gd name="T1" fmla="*/ 0 h 577560"/>
              <a:gd name="T2" fmla="*/ 22386923 w 1180531"/>
              <a:gd name="T3" fmla="*/ 8917360 h 577560"/>
              <a:gd name="T4" fmla="*/ 20196321 w 1180531"/>
              <a:gd name="T5" fmla="*/ 11146814 h 577560"/>
              <a:gd name="T6" fmla="*/ 2190580 w 1180531"/>
              <a:gd name="T7" fmla="*/ 11146814 h 577560"/>
              <a:gd name="T8" fmla="*/ 0 w 1180531"/>
              <a:gd name="T9" fmla="*/ 8917360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3076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5200" y="67733"/>
            <a:ext cx="1686984" cy="694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33117"/>
            <a:ext cx="10818284" cy="12488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464051" y="1845734"/>
            <a:ext cx="0" cy="326390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 userDrawn="1"/>
        </p:nvSpPr>
        <p:spPr>
          <a:xfrm>
            <a:off x="4415367" y="1797052"/>
            <a:ext cx="97367" cy="9524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12" name="椭圆 11"/>
          <p:cNvSpPr/>
          <p:nvPr userDrawn="1"/>
        </p:nvSpPr>
        <p:spPr>
          <a:xfrm>
            <a:off x="4415367" y="5109633"/>
            <a:ext cx="97367" cy="9525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14" name="标题占位符 1"/>
          <p:cNvSpPr txBox="1">
            <a:spLocks noChangeArrowheads="1"/>
          </p:cNvSpPr>
          <p:nvPr userDrawn="1"/>
        </p:nvSpPr>
        <p:spPr bwMode="auto">
          <a:xfrm>
            <a:off x="1390651" y="2565401"/>
            <a:ext cx="2294467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265" b="1" kern="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lang="zh-TW" altLang="zh-CN" sz="4265" b="1" kern="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标题占位符 1"/>
          <p:cNvSpPr txBox="1">
            <a:spLocks noChangeArrowheads="1"/>
          </p:cNvSpPr>
          <p:nvPr userDrawn="1"/>
        </p:nvSpPr>
        <p:spPr bwMode="auto">
          <a:xfrm>
            <a:off x="1678518" y="3431118"/>
            <a:ext cx="2821516" cy="687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>
              <a:defRPr/>
            </a:pPr>
            <a:r>
              <a:rPr lang="en-US" altLang="zh-CN" sz="32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TARGET</a:t>
            </a:r>
            <a:endParaRPr lang="zh-TW" altLang="zh-CN" sz="32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18"/>
          <p:cNvGrpSpPr/>
          <p:nvPr userDrawn="1"/>
        </p:nvGrpSpPr>
        <p:grpSpPr bwMode="auto">
          <a:xfrm>
            <a:off x="658285" y="292101"/>
            <a:ext cx="122767" cy="419100"/>
            <a:chOff x="457200" y="427038"/>
            <a:chExt cx="127000" cy="431800"/>
          </a:xfrm>
        </p:grpSpPr>
        <p:sp>
          <p:nvSpPr>
            <p:cNvPr id="8" name="圆角矩形 1"/>
            <p:cNvSpPr>
              <a:spLocks noChangeArrowheads="1"/>
            </p:cNvSpPr>
            <p:nvPr/>
          </p:nvSpPr>
          <p:spPr bwMode="auto">
            <a:xfrm>
              <a:off x="457200" y="427038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/>
            </a:p>
          </p:txBody>
        </p:sp>
        <p:sp>
          <p:nvSpPr>
            <p:cNvPr id="9" name="圆角矩形 23"/>
            <p:cNvSpPr>
              <a:spLocks noChangeArrowheads="1"/>
            </p:cNvSpPr>
            <p:nvPr/>
          </p:nvSpPr>
          <p:spPr bwMode="auto">
            <a:xfrm>
              <a:off x="457200" y="579695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>
                <a:latin typeface="Segoe UI" panose="020B0502040204020203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0" name="圆角矩形 24"/>
            <p:cNvSpPr>
              <a:spLocks noChangeArrowheads="1"/>
            </p:cNvSpPr>
            <p:nvPr/>
          </p:nvSpPr>
          <p:spPr bwMode="auto">
            <a:xfrm>
              <a:off x="457200" y="732351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/>
            </a:p>
          </p:txBody>
        </p:sp>
      </p:grpSp>
      <p:sp>
        <p:nvSpPr>
          <p:cNvPr id="11" name="矩形 10"/>
          <p:cNvSpPr/>
          <p:nvPr userDrawn="1"/>
        </p:nvSpPr>
        <p:spPr bwMode="auto">
          <a:xfrm>
            <a:off x="10890251" y="6733117"/>
            <a:ext cx="1301749" cy="1248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52" name="圆角矩形 3"/>
          <p:cNvSpPr/>
          <p:nvPr userDrawn="1"/>
        </p:nvSpPr>
        <p:spPr bwMode="auto">
          <a:xfrm>
            <a:off x="9834034" y="-25399"/>
            <a:ext cx="1708151" cy="836084"/>
          </a:xfrm>
          <a:custGeom>
            <a:avLst/>
            <a:gdLst>
              <a:gd name="T0" fmla="*/ 22386923 w 1180531"/>
              <a:gd name="T1" fmla="*/ 0 h 577560"/>
              <a:gd name="T2" fmla="*/ 22386923 w 1180531"/>
              <a:gd name="T3" fmla="*/ 8917360 h 577560"/>
              <a:gd name="T4" fmla="*/ 20196321 w 1180531"/>
              <a:gd name="T5" fmla="*/ 11146814 h 577560"/>
              <a:gd name="T6" fmla="*/ 2190580 w 1180531"/>
              <a:gd name="T7" fmla="*/ 11146814 h 577560"/>
              <a:gd name="T8" fmla="*/ 0 w 1180531"/>
              <a:gd name="T9" fmla="*/ 8917360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2053" name="图片 1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5200" y="67733"/>
            <a:ext cx="1686984" cy="694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33117"/>
            <a:ext cx="10818284" cy="12488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合 9"/>
          <p:cNvGrpSpPr/>
          <p:nvPr userDrawn="1"/>
        </p:nvGrpSpPr>
        <p:grpSpPr bwMode="auto">
          <a:xfrm>
            <a:off x="2592918" y="2423584"/>
            <a:ext cx="6864349" cy="1049867"/>
            <a:chOff x="1944836" y="1767215"/>
            <a:chExt cx="5147444" cy="787423"/>
          </a:xfrm>
        </p:grpSpPr>
        <p:pic>
          <p:nvPicPr>
            <p:cNvPr id="4099" name="图片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1020" y="1767215"/>
              <a:ext cx="1907084" cy="787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9" name="直接连接符 8"/>
            <p:cNvCxnSpPr/>
            <p:nvPr/>
          </p:nvCxnSpPr>
          <p:spPr>
            <a:xfrm>
              <a:off x="1944836" y="2211728"/>
              <a:ext cx="165549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5436781" y="2211728"/>
              <a:ext cx="165549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5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zh-CN" dirty="0"/>
              <a:t>Pandas</a:t>
            </a:r>
            <a:r>
              <a:rPr lang="zh-CN" altLang="en-US" dirty="0"/>
              <a:t>数据类型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了解</a:t>
            </a:r>
            <a:r>
              <a:rPr lang="en-US" altLang="zh-CN" dirty="0"/>
              <a:t>Numpy</a:t>
            </a:r>
            <a:r>
              <a:rPr lang="zh-CN" altLang="en-US" dirty="0"/>
              <a:t>的特点</a:t>
            </a:r>
            <a:endParaRPr lang="zh-CN" altLang="en-US" dirty="0"/>
          </a:p>
          <a:p>
            <a:r>
              <a:rPr lang="zh-CN" altLang="en-US" dirty="0"/>
              <a:t>应用</a:t>
            </a:r>
            <a:r>
              <a:rPr lang="en-US" altLang="zh-CN" dirty="0"/>
              <a:t>Pandas </a:t>
            </a:r>
            <a:r>
              <a:rPr lang="zh-CN" altLang="en-US" dirty="0"/>
              <a:t>数据类型转换</a:t>
            </a:r>
            <a:endParaRPr lang="zh-CN" altLang="en-US" dirty="0"/>
          </a:p>
          <a:p>
            <a:r>
              <a:rPr lang="zh-CN" altLang="en-US" dirty="0"/>
              <a:t>掌握</a:t>
            </a:r>
            <a:r>
              <a:rPr lang="en-US" altLang="zh-CN" dirty="0"/>
              <a:t>Pandas </a:t>
            </a:r>
            <a:r>
              <a:rPr lang="zh-CN" altLang="en-US" dirty="0"/>
              <a:t>分类数据类型使用方法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FF0000"/>
                </a:solidFill>
              </a:rPr>
              <a:t>Pandas</a:t>
            </a:r>
            <a:r>
              <a:rPr lang="zh-CN" altLang="en-US" b="1" dirty="0">
                <a:solidFill>
                  <a:srgbClr val="FF0000"/>
                </a:solidFill>
              </a:rPr>
              <a:t>数据类型简介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zh-CN" altLang="en-US" b="1" dirty="0"/>
              <a:t>类型转换</a:t>
            </a:r>
            <a:endParaRPr lang="en-US" altLang="zh-CN" b="1" dirty="0"/>
          </a:p>
          <a:p>
            <a:r>
              <a:rPr lang="zh-CN" altLang="en-US" b="1" dirty="0"/>
              <a:t>类别数据</a:t>
            </a:r>
            <a:endParaRPr lang="zh-CN" altLang="en-US" b="1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Pandas</a:t>
            </a:r>
            <a:r>
              <a:rPr lang="zh-CN" altLang="en-US" dirty="0"/>
              <a:t>数据类型简介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1.1 Numpy </a:t>
            </a:r>
            <a:r>
              <a:rPr lang="zh-CN" altLang="en-US" dirty="0"/>
              <a:t>介绍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Numpy</a:t>
            </a:r>
            <a:r>
              <a:rPr lang="zh-CN" altLang="en-US" dirty="0"/>
              <a:t>（</a:t>
            </a:r>
            <a:r>
              <a:rPr lang="en-US" altLang="zh-CN" dirty="0"/>
              <a:t>Numerical Python</a:t>
            </a:r>
            <a:r>
              <a:rPr lang="zh-CN" altLang="en-US" dirty="0"/>
              <a:t>）是一个开源的</a:t>
            </a:r>
            <a:r>
              <a:rPr lang="en-US" altLang="zh-CN" dirty="0"/>
              <a:t>Python</a:t>
            </a:r>
            <a:r>
              <a:rPr lang="zh-CN" altLang="en-US" dirty="0"/>
              <a:t>科学计算库，用于快速处理任意维度的数组。</a:t>
            </a:r>
            <a:endParaRPr lang="zh-CN" altLang="en-US" dirty="0"/>
          </a:p>
          <a:p>
            <a:r>
              <a:rPr lang="en-US" altLang="zh-CN" dirty="0"/>
              <a:t>Numpy</a:t>
            </a:r>
            <a:r>
              <a:rPr lang="zh-CN" altLang="en-US" dirty="0"/>
              <a:t>支持常见的数组和矩阵操作。对于同样的数值计算任务，使用</a:t>
            </a:r>
            <a:r>
              <a:rPr lang="en-US" altLang="zh-CN" dirty="0"/>
              <a:t>Numpy</a:t>
            </a:r>
            <a:r>
              <a:rPr lang="zh-CN" altLang="en-US" dirty="0"/>
              <a:t>比直接使用</a:t>
            </a:r>
            <a:r>
              <a:rPr lang="en-US" altLang="zh-CN" dirty="0"/>
              <a:t>Python</a:t>
            </a:r>
            <a:r>
              <a:rPr lang="zh-CN" altLang="en-US" dirty="0"/>
              <a:t>要简洁。</a:t>
            </a:r>
            <a:endParaRPr lang="zh-CN" altLang="en-US" dirty="0"/>
          </a:p>
          <a:p>
            <a:r>
              <a:rPr lang="en-US" altLang="zh-CN" dirty="0"/>
              <a:t>Numpy</a:t>
            </a:r>
            <a:r>
              <a:rPr lang="zh-CN" altLang="en-US" dirty="0"/>
              <a:t>使用</a:t>
            </a:r>
            <a:r>
              <a:rPr lang="en-US" altLang="zh-CN" dirty="0"/>
              <a:t>ndarray</a:t>
            </a:r>
            <a:r>
              <a:rPr lang="zh-CN" altLang="en-US" dirty="0"/>
              <a:t>对象来处理多维数组，该对象是一个快速而灵活的大数据容器。</a:t>
            </a:r>
            <a:endParaRPr lang="zh-CN" altLang="en-US" dirty="0"/>
          </a:p>
          <a:p>
            <a:r>
              <a:rPr lang="en-US" altLang="zh-CN" dirty="0"/>
              <a:t>NumPy</a:t>
            </a:r>
            <a:r>
              <a:rPr lang="zh-CN" altLang="en-US" dirty="0"/>
              <a:t>提供了一个</a:t>
            </a:r>
            <a:r>
              <a:rPr lang="en-US" altLang="zh-CN" b="1" dirty="0"/>
              <a:t>N</a:t>
            </a:r>
            <a:r>
              <a:rPr lang="zh-CN" altLang="en-US" b="1" dirty="0"/>
              <a:t>维数组类型</a:t>
            </a:r>
            <a:r>
              <a:rPr lang="en-US" altLang="zh-CN" b="1" dirty="0"/>
              <a:t>ndarray</a:t>
            </a:r>
            <a:r>
              <a:rPr lang="zh-CN" altLang="en-US" dirty="0"/>
              <a:t>，它描述了</a:t>
            </a:r>
            <a:r>
              <a:rPr lang="zh-CN" altLang="en-US" b="1" dirty="0"/>
              <a:t>相同类型</a:t>
            </a:r>
            <a:r>
              <a:rPr lang="zh-CN" altLang="en-US" dirty="0"/>
              <a:t>的“</a:t>
            </a:r>
            <a:r>
              <a:rPr lang="en-US" altLang="zh-CN" dirty="0"/>
              <a:t>items”</a:t>
            </a:r>
            <a:r>
              <a:rPr lang="zh-CN" altLang="en-US" dirty="0"/>
              <a:t>的集合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Pandas</a:t>
            </a:r>
            <a:r>
              <a:rPr lang="zh-CN" altLang="en-US" dirty="0"/>
              <a:t>数据类型简介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1.</a:t>
            </a:r>
            <a:r>
              <a:rPr lang="en-US" altLang="zh-CN" dirty="0"/>
              <a:t>2</a:t>
            </a:r>
            <a:r>
              <a:rPr lang="en-GB" altLang="zh-CN" dirty="0"/>
              <a:t> Numpy</a:t>
            </a:r>
            <a:r>
              <a:rPr lang="zh-CN" altLang="en-GB" dirty="0"/>
              <a:t>使用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605" y="1756093"/>
            <a:ext cx="9258300" cy="3479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Pandas</a:t>
            </a:r>
            <a:r>
              <a:rPr lang="zh-CN" altLang="en-US" dirty="0"/>
              <a:t>数据类型简介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1.</a:t>
            </a:r>
            <a:r>
              <a:rPr lang="en-US" altLang="zh-CN" dirty="0"/>
              <a:t>2</a:t>
            </a:r>
            <a:r>
              <a:rPr lang="en-GB" altLang="zh-CN" dirty="0"/>
              <a:t> Numpy</a:t>
            </a:r>
            <a:r>
              <a:rPr lang="zh-CN" altLang="en-GB" dirty="0"/>
              <a:t>使用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745990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用</a:t>
            </a:r>
            <a:r>
              <a:rPr lang="en-GB" altLang="zh-CN" dirty="0"/>
              <a:t>ndarray</a:t>
            </a:r>
            <a:r>
              <a:rPr lang="zh-CN" altLang="en-US" dirty="0"/>
              <a:t>进行存储</a:t>
            </a:r>
            <a:endParaRPr lang="en-US" altLang="zh-CN" dirty="0"/>
          </a:p>
          <a:p>
            <a:r>
              <a:rPr lang="en-GB" altLang="zh-CN" dirty="0"/>
              <a:t>import </a:t>
            </a:r>
            <a:r>
              <a:rPr lang="en-GB" altLang="zh-CN" dirty="0" err="1"/>
              <a:t>numpy</a:t>
            </a:r>
            <a:r>
              <a:rPr lang="en-GB" altLang="zh-CN" dirty="0"/>
              <a:t> as np</a:t>
            </a:r>
            <a:endParaRPr lang="en-GB" altLang="zh-CN" dirty="0"/>
          </a:p>
          <a:p>
            <a:r>
              <a:rPr lang="en-GB" altLang="zh-CN" dirty="0"/>
              <a:t># </a:t>
            </a:r>
            <a:r>
              <a:rPr lang="zh-CN" altLang="en-US" dirty="0"/>
              <a:t>创建</a:t>
            </a:r>
            <a:r>
              <a:rPr lang="en-GB" altLang="zh-CN" dirty="0"/>
              <a:t>ndarray</a:t>
            </a:r>
            <a:endParaRPr lang="en-GB" altLang="zh-CN" dirty="0"/>
          </a:p>
          <a:p>
            <a:r>
              <a:rPr lang="en-GB" altLang="zh-CN" dirty="0"/>
              <a:t>score = </a:t>
            </a:r>
            <a:r>
              <a:rPr lang="en-GB" altLang="zh-CN" dirty="0" err="1"/>
              <a:t>np.array</a:t>
            </a:r>
            <a:r>
              <a:rPr lang="en-GB" altLang="zh-CN" dirty="0"/>
              <a:t>([[80, 89, 86, 67, 79],</a:t>
            </a:r>
            <a:endParaRPr lang="en-GB" altLang="zh-CN" dirty="0"/>
          </a:p>
          <a:p>
            <a:r>
              <a:rPr lang="en-GB" altLang="zh-CN" dirty="0"/>
              <a:t>[78, 97, 89, 67, 81],</a:t>
            </a:r>
            <a:endParaRPr lang="en-GB" altLang="zh-CN" dirty="0"/>
          </a:p>
          <a:p>
            <a:r>
              <a:rPr lang="en-GB" altLang="zh-CN" dirty="0"/>
              <a:t>[90, 94, 78, 67, 74],</a:t>
            </a:r>
            <a:endParaRPr lang="en-GB" altLang="zh-CN" dirty="0"/>
          </a:p>
          <a:p>
            <a:r>
              <a:rPr lang="en-GB" altLang="zh-CN" dirty="0"/>
              <a:t>[91, 91, 90, 67, 69],</a:t>
            </a:r>
            <a:endParaRPr lang="en-GB" altLang="zh-CN" dirty="0"/>
          </a:p>
          <a:p>
            <a:r>
              <a:rPr lang="en-GB" altLang="zh-CN" dirty="0"/>
              <a:t>[76, 87, 75, 67, 86],</a:t>
            </a:r>
            <a:endParaRPr lang="en-GB" altLang="zh-CN" dirty="0"/>
          </a:p>
          <a:p>
            <a:r>
              <a:rPr lang="en-GB" altLang="zh-CN" dirty="0"/>
              <a:t>[70, 79, 84, 67, 84],</a:t>
            </a:r>
            <a:endParaRPr lang="en-GB" altLang="zh-CN" dirty="0"/>
          </a:p>
          <a:p>
            <a:r>
              <a:rPr lang="en-GB" altLang="zh-CN" dirty="0"/>
              <a:t>[94, 92, 93, 67, 64],</a:t>
            </a:r>
            <a:endParaRPr lang="en-GB" altLang="zh-CN" dirty="0"/>
          </a:p>
          <a:p>
            <a:r>
              <a:rPr lang="en-GB" altLang="zh-CN" dirty="0"/>
              <a:t>[86, 85, 83, 67, 80]])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3100" y="3627120"/>
            <a:ext cx="5227320" cy="26955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Pandas</a:t>
            </a:r>
            <a:r>
              <a:rPr lang="zh-CN" altLang="en-US" dirty="0"/>
              <a:t>数据类型简介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1.</a:t>
            </a:r>
            <a:r>
              <a:rPr lang="en-US" altLang="zh-CN" dirty="0"/>
              <a:t>2</a:t>
            </a:r>
            <a:r>
              <a:rPr lang="en-GB" altLang="zh-CN" dirty="0"/>
              <a:t> Numpy</a:t>
            </a:r>
            <a:r>
              <a:rPr lang="zh-CN" altLang="en-GB" dirty="0"/>
              <a:t>使用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1072495" cy="4201795"/>
          </a:xfrm>
        </p:spPr>
        <p:txBody>
          <a:bodyPr/>
          <a:lstStyle/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使用</a:t>
            </a:r>
            <a:r>
              <a:rPr lang="en-US" altLang="zh-CN" dirty="0"/>
              <a:t>Python</a:t>
            </a:r>
            <a:r>
              <a:rPr lang="zh-CN" altLang="en-US" dirty="0"/>
              <a:t>列表可以存储一维数组，通过列表的嵌套可以实现多维数组，那么为什么还需要使用</a:t>
            </a:r>
            <a:r>
              <a:rPr lang="en-US" altLang="zh-CN" dirty="0"/>
              <a:t>Numpy</a:t>
            </a:r>
            <a:r>
              <a:rPr lang="zh-CN" altLang="en-US" dirty="0"/>
              <a:t>的</a:t>
            </a:r>
            <a:r>
              <a:rPr lang="en-US" altLang="zh-CN" dirty="0"/>
              <a:t>ndarray</a:t>
            </a:r>
            <a:r>
              <a:rPr lang="zh-CN" altLang="en-US" dirty="0"/>
              <a:t>呢？</a:t>
            </a:r>
            <a:endParaRPr lang="en-US" altLang="zh-CN" dirty="0"/>
          </a:p>
          <a:p>
            <a:r>
              <a:rPr lang="zh-CN" altLang="en-US" dirty="0"/>
              <a:t>    </a:t>
            </a:r>
            <a:r>
              <a:rPr lang="en-GB" altLang="zh-CN" dirty="0"/>
              <a:t>ndarray</a:t>
            </a:r>
            <a:r>
              <a:rPr lang="zh-CN" altLang="en-US" dirty="0"/>
              <a:t>与</a:t>
            </a:r>
            <a:r>
              <a:rPr lang="en-GB" altLang="zh-CN" dirty="0"/>
              <a:t>Python</a:t>
            </a:r>
            <a:r>
              <a:rPr lang="zh-CN" altLang="en-US" dirty="0"/>
              <a:t>原生</a:t>
            </a:r>
            <a:r>
              <a:rPr lang="en-GB" altLang="zh-CN" dirty="0"/>
              <a:t>list</a:t>
            </a:r>
            <a:r>
              <a:rPr lang="zh-CN" altLang="en-US" dirty="0"/>
              <a:t>运算效率对比</a:t>
            </a:r>
            <a:endParaRPr lang="en-US" altLang="zh-CN" dirty="0"/>
          </a:p>
          <a:p>
            <a:r>
              <a:rPr lang="zh-CN" altLang="en-US" dirty="0"/>
              <a:t>    </a:t>
            </a:r>
            <a:r>
              <a:rPr lang="en-GB" altLang="zh-CN" dirty="0"/>
              <a:t>t2-t1</a:t>
            </a:r>
            <a:r>
              <a:rPr lang="zh-CN" altLang="en-US" dirty="0"/>
              <a:t>为使用</a:t>
            </a:r>
            <a:r>
              <a:rPr lang="en-GB" altLang="zh-CN" dirty="0"/>
              <a:t>python</a:t>
            </a:r>
            <a:r>
              <a:rPr lang="zh-CN" altLang="en-US" dirty="0"/>
              <a:t>自带的求和函数消耗的时间，</a:t>
            </a:r>
            <a:r>
              <a:rPr lang="en-GB" altLang="zh-CN" dirty="0"/>
              <a:t>t5-t4</a:t>
            </a:r>
            <a:r>
              <a:rPr lang="zh-CN" altLang="en-US" dirty="0"/>
              <a:t>为使用</a:t>
            </a:r>
            <a:r>
              <a:rPr lang="en-GB" altLang="zh-CN" dirty="0" err="1"/>
              <a:t>numpy</a:t>
            </a:r>
            <a:r>
              <a:rPr lang="zh-CN" altLang="en-US" dirty="0"/>
              <a:t>求和消耗的时间</a:t>
            </a:r>
            <a:endParaRPr lang="en-US" altLang="zh-CN" dirty="0"/>
          </a:p>
          <a:p>
            <a:r>
              <a:rPr lang="zh-CN" altLang="en-US" dirty="0"/>
              <a:t>    从结果中看到</a:t>
            </a:r>
            <a:r>
              <a:rPr lang="en-US" altLang="zh-CN" dirty="0"/>
              <a:t>ndarray</a:t>
            </a:r>
            <a:r>
              <a:rPr lang="zh-CN" altLang="en-US" dirty="0"/>
              <a:t>的计算速度要快很多，节约了时间</a:t>
            </a:r>
            <a:endParaRPr lang="zh-CN" altLang="en-US" dirty="0"/>
          </a:p>
          <a:p>
            <a:r>
              <a:rPr lang="en-US" altLang="zh-CN" dirty="0"/>
              <a:t>    Numpy专门针对ndarray的操作和运算进行了设计，所以数组的存储效率和输入输出性能远优于</a:t>
            </a:r>
            <a:endParaRPr lang="en-US" altLang="zh-CN" dirty="0"/>
          </a:p>
          <a:p>
            <a:r>
              <a:rPr lang="en-US" altLang="zh-CN" dirty="0"/>
              <a:t>    Python中的嵌套列表，数组越大，Numpy的优势就越明显。</a:t>
            </a:r>
            <a:endParaRPr lang="en-US" altLang="zh-CN" dirty="0"/>
          </a:p>
          <a:p>
            <a:endParaRPr lang="zh-CN" alt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Pandas</a:t>
            </a:r>
            <a:r>
              <a:rPr lang="zh-CN" altLang="en-US" dirty="0"/>
              <a:t>数据类型简介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1.</a:t>
            </a:r>
            <a:r>
              <a:rPr lang="en-US" altLang="zh-CN" dirty="0"/>
              <a:t>2</a:t>
            </a:r>
            <a:r>
              <a:rPr lang="en-GB" altLang="zh-CN" dirty="0"/>
              <a:t> Numpy</a:t>
            </a:r>
            <a:r>
              <a:rPr lang="zh-CN" altLang="en-GB" dirty="0"/>
              <a:t>使用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1072495" cy="4944745"/>
          </a:xfrm>
        </p:spPr>
        <p:txBody>
          <a:bodyPr/>
          <a:lstStyle/>
          <a:p>
            <a:r>
              <a:rPr lang="zh-CN" altLang="en-US" sz="1400" dirty="0"/>
              <a:t>import random,time,numpy as np </a:t>
            </a:r>
            <a:endParaRPr lang="zh-CN" altLang="en-US" sz="1400" dirty="0"/>
          </a:p>
          <a:p>
            <a:r>
              <a:rPr lang="zh-CN" altLang="en-US" sz="1400" dirty="0"/>
              <a:t>a = [] </a:t>
            </a:r>
            <a:endParaRPr lang="zh-CN" altLang="en-US" sz="1400" dirty="0"/>
          </a:p>
          <a:p>
            <a:r>
              <a:rPr lang="zh-CN" altLang="en-US" sz="1400" dirty="0"/>
              <a:t>for i in range(10000000):</a:t>
            </a:r>
            <a:endParaRPr lang="zh-CN" altLang="en-US" sz="1400" dirty="0"/>
          </a:p>
          <a:p>
            <a:r>
              <a:rPr lang="zh-CN" altLang="en-US" sz="1400" dirty="0"/>
              <a:t>    a.append(random.random()) </a:t>
            </a:r>
            <a:endParaRPr lang="zh-CN" altLang="en-US" sz="1400" dirty="0"/>
          </a:p>
          <a:p>
            <a:r>
              <a:rPr lang="zh-CN" altLang="en-US" sz="1400" dirty="0"/>
              <a:t>t1 = time.time() </a:t>
            </a:r>
            <a:endParaRPr lang="zh-CN" altLang="en-US" sz="1400" dirty="0"/>
          </a:p>
          <a:p>
            <a:r>
              <a:rPr lang="zh-CN" altLang="en-US" sz="1400" dirty="0"/>
              <a:t>sum1=sum(a) </a:t>
            </a:r>
            <a:endParaRPr lang="zh-CN" altLang="en-US" sz="1400" dirty="0"/>
          </a:p>
          <a:p>
            <a:r>
              <a:rPr lang="zh-CN" altLang="en-US" sz="1400" dirty="0"/>
              <a:t>t2=time.time()</a:t>
            </a:r>
            <a:endParaRPr lang="zh-CN" altLang="en-US" sz="1400" dirty="0"/>
          </a:p>
          <a:p>
            <a:endParaRPr lang="zh-CN" altLang="en-US" sz="1400" dirty="0"/>
          </a:p>
          <a:p>
            <a:r>
              <a:rPr lang="zh-CN" altLang="en-US" sz="1400" dirty="0"/>
              <a:t>b=np.array(a) </a:t>
            </a:r>
            <a:endParaRPr lang="zh-CN" altLang="en-US" sz="1400" dirty="0"/>
          </a:p>
          <a:p>
            <a:r>
              <a:rPr lang="zh-CN" altLang="en-US" sz="1400" dirty="0"/>
              <a:t>t4=time.time() </a:t>
            </a:r>
            <a:endParaRPr lang="zh-CN" altLang="en-US" sz="1400" dirty="0"/>
          </a:p>
          <a:p>
            <a:r>
              <a:rPr lang="zh-CN" altLang="en-US" sz="1400" dirty="0"/>
              <a:t>sum3=np.sum(b) </a:t>
            </a:r>
            <a:endParaRPr lang="zh-CN" altLang="en-US" sz="1400" dirty="0"/>
          </a:p>
          <a:p>
            <a:r>
              <a:rPr lang="zh-CN" altLang="en-US" sz="1400" dirty="0"/>
              <a:t>t5=time.time() </a:t>
            </a:r>
            <a:endParaRPr lang="zh-CN" altLang="en-US" sz="1400" dirty="0"/>
          </a:p>
          <a:p>
            <a:r>
              <a:rPr lang="zh-CN" altLang="en-US" sz="1400" dirty="0"/>
              <a:t>print(t2-t1, t5-t4)</a:t>
            </a:r>
            <a:r>
              <a:rPr lang="en-US" altLang="zh-CN" sz="1400" dirty="0"/>
              <a:t>   </a:t>
            </a:r>
            <a:endParaRPr lang="en-US" altLang="zh-CN" sz="1400" dirty="0"/>
          </a:p>
          <a:p>
            <a:endParaRPr lang="en-US" altLang="zh-CN" sz="1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9105" y="5588000"/>
            <a:ext cx="5142230" cy="8826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Pandas</a:t>
            </a:r>
            <a:r>
              <a:rPr lang="zh-CN" altLang="en-US" dirty="0"/>
              <a:t>数据类型简介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1.</a:t>
            </a:r>
            <a:r>
              <a:rPr lang="en-US" altLang="zh-CN" dirty="0"/>
              <a:t>2</a:t>
            </a:r>
            <a:r>
              <a:rPr lang="en-GB" altLang="zh-CN" dirty="0"/>
              <a:t> Numpy ndarray</a:t>
            </a:r>
            <a:r>
              <a:rPr lang="zh-CN" altLang="en-US" dirty="0"/>
              <a:t>的优势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996180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数据在内存中存储的风格</a:t>
            </a:r>
            <a:endParaRPr lang="en-US" altLang="zh-CN" dirty="0"/>
          </a:p>
          <a:p>
            <a:r>
              <a:rPr lang="en-US" altLang="zh-CN" dirty="0"/>
              <a:t>ndarray</a:t>
            </a:r>
            <a:r>
              <a:rPr lang="zh-CN" altLang="en-US" dirty="0"/>
              <a:t>在存储数据时所有元素的类型都是相同的，数据内存地址是连续的，批量操作数组元素时速度更快</a:t>
            </a:r>
            <a:endParaRPr lang="zh-CN" altLang="en-US" dirty="0"/>
          </a:p>
          <a:p>
            <a:r>
              <a:rPr lang="en-US" altLang="zh-CN" dirty="0"/>
              <a:t>python</a:t>
            </a:r>
            <a:r>
              <a:rPr lang="zh-CN" altLang="en-US" dirty="0"/>
              <a:t>原生</a:t>
            </a:r>
            <a:r>
              <a:rPr lang="en-US" altLang="zh-CN" dirty="0"/>
              <a:t>list</a:t>
            </a:r>
            <a:r>
              <a:rPr lang="zh-CN" altLang="en-US" dirty="0"/>
              <a:t>只能通过寻址方式找到下一个元素，这虽然也导致了在通用性方面</a:t>
            </a:r>
            <a:r>
              <a:rPr lang="en-US" altLang="zh-CN" dirty="0"/>
              <a:t>Numpy</a:t>
            </a:r>
            <a:r>
              <a:rPr lang="zh-CN" altLang="en-US" dirty="0"/>
              <a:t>的</a:t>
            </a:r>
            <a:r>
              <a:rPr lang="en-US" altLang="zh-CN" dirty="0"/>
              <a:t>ndarray</a:t>
            </a:r>
            <a:r>
              <a:rPr lang="zh-CN" altLang="en-US" dirty="0"/>
              <a:t>不及</a:t>
            </a:r>
            <a:r>
              <a:rPr lang="en-US" altLang="zh-CN" dirty="0"/>
              <a:t>Python</a:t>
            </a:r>
            <a:r>
              <a:rPr lang="zh-CN" altLang="en-US" dirty="0"/>
              <a:t>原生</a:t>
            </a:r>
            <a:r>
              <a:rPr lang="en-US" altLang="zh-CN" dirty="0"/>
              <a:t>list</a:t>
            </a:r>
            <a:r>
              <a:rPr lang="zh-CN" altLang="en-US" dirty="0"/>
              <a:t>，但计算的时候速度就慢了</a:t>
            </a:r>
            <a:endParaRPr lang="zh-CN" altLang="en-US" dirty="0"/>
          </a:p>
          <a:p>
            <a:endParaRPr lang="en-US" altLang="zh-CN" dirty="0"/>
          </a:p>
          <a:p>
            <a:pPr marL="342900" indent="-342900">
              <a:buFont typeface="+mj-lt"/>
              <a:buAutoNum type="arabicPeriod" startAt="2"/>
            </a:pPr>
            <a:endParaRPr lang="zh-CN" altLang="en-US" dirty="0"/>
          </a:p>
          <a:p>
            <a:pPr marL="342900" indent="-342900">
              <a:buFont typeface="+mj-lt"/>
              <a:buAutoNum type="arabicPeriod" startAt="2"/>
            </a:pP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380" y="3073400"/>
            <a:ext cx="7518400" cy="32505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Pandas</a:t>
            </a:r>
            <a:r>
              <a:rPr lang="zh-CN" altLang="en-US" dirty="0"/>
              <a:t>数据类型简介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1.</a:t>
            </a:r>
            <a:r>
              <a:rPr lang="en-US" altLang="zh-CN" dirty="0"/>
              <a:t>2</a:t>
            </a:r>
            <a:r>
              <a:rPr lang="en-GB" altLang="zh-CN" dirty="0"/>
              <a:t> Numpy ndarray</a:t>
            </a:r>
            <a:r>
              <a:rPr lang="zh-CN" altLang="en-US" dirty="0"/>
              <a:t>的优势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2"/>
            </a:pPr>
            <a:r>
              <a:rPr lang="en-US" altLang="zh-CN" dirty="0"/>
              <a:t>ndarray</a:t>
            </a:r>
            <a:r>
              <a:rPr lang="zh-CN" altLang="en-US" dirty="0"/>
              <a:t>支持并行化运算</a:t>
            </a:r>
            <a:endParaRPr lang="en-US" altLang="zh-CN" dirty="0"/>
          </a:p>
          <a:p>
            <a:pPr marL="342900" indent="-342900">
              <a:buFont typeface="+mj-lt"/>
              <a:buAutoNum type="arabicPeriod" startAt="2"/>
            </a:pPr>
            <a:r>
              <a:rPr lang="en-US" altLang="zh-CN" dirty="0"/>
              <a:t>Numpy</a:t>
            </a:r>
            <a:r>
              <a:rPr lang="zh-CN" altLang="en-US" dirty="0"/>
              <a:t>底层使用</a:t>
            </a:r>
            <a:r>
              <a:rPr lang="en-US" altLang="zh-CN" dirty="0"/>
              <a:t>C</a:t>
            </a:r>
            <a:r>
              <a:rPr lang="zh-CN" altLang="en-US" dirty="0"/>
              <a:t>语言编写，内部解除了</a:t>
            </a:r>
            <a:r>
              <a:rPr lang="en-US" altLang="zh-CN" dirty="0"/>
              <a:t>GIL</a:t>
            </a:r>
            <a:r>
              <a:rPr lang="zh-CN" altLang="en-US" dirty="0"/>
              <a:t>（全局解释器锁），其对数组的操作速度不受</a:t>
            </a:r>
            <a:r>
              <a:rPr lang="en-US" altLang="zh-CN" dirty="0"/>
              <a:t>Python</a:t>
            </a:r>
            <a:r>
              <a:rPr lang="zh-CN" altLang="en-US" dirty="0"/>
              <a:t>解释器的限制，效率远高于纯</a:t>
            </a:r>
            <a:r>
              <a:rPr lang="en-US" altLang="zh-CN" dirty="0"/>
              <a:t>Python</a:t>
            </a:r>
            <a:r>
              <a:rPr lang="zh-CN" altLang="en-US" dirty="0"/>
              <a:t>代码</a:t>
            </a:r>
            <a:endParaRPr lang="zh-CN" altLang="en-US" dirty="0"/>
          </a:p>
          <a:p>
            <a:endParaRPr lang="en-US" altLang="zh-CN" dirty="0"/>
          </a:p>
          <a:p>
            <a:pPr marL="342900" indent="-342900">
              <a:buFont typeface="+mj-lt"/>
              <a:buAutoNum type="arabicPeriod" startAt="2"/>
            </a:pPr>
            <a:endParaRPr lang="zh-CN" altLang="en-US" dirty="0"/>
          </a:p>
          <a:p>
            <a:pPr marL="342900" indent="-342900">
              <a:buFont typeface="+mj-lt"/>
              <a:buAutoNum type="arabicPeriod" startAt="2"/>
            </a:pP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Pandas</a:t>
            </a:r>
            <a:r>
              <a:rPr lang="zh-CN" altLang="en-US" dirty="0"/>
              <a:t>数据类型简介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1.</a:t>
            </a:r>
            <a:r>
              <a:rPr lang="en-US" altLang="zh-CN" dirty="0"/>
              <a:t>3</a:t>
            </a:r>
            <a:r>
              <a:rPr lang="zh-CN" altLang="en-US" dirty="0"/>
              <a:t> </a:t>
            </a:r>
            <a:r>
              <a:rPr lang="en-GB" altLang="zh-CN" dirty="0"/>
              <a:t>ndarray</a:t>
            </a:r>
            <a:r>
              <a:rPr lang="zh-CN" altLang="en-GB" dirty="0"/>
              <a:t>介绍</a:t>
            </a:r>
            <a:endParaRPr lang="en-GB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GB" altLang="zh-CN" dirty="0"/>
              <a:t>ndarray</a:t>
            </a:r>
            <a:r>
              <a:rPr lang="zh-CN" altLang="en-US" dirty="0"/>
              <a:t>的属性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752725"/>
            <a:ext cx="9982200" cy="2933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Pandas</a:t>
            </a:r>
            <a:r>
              <a:rPr lang="zh-CN" altLang="en-US" dirty="0"/>
              <a:t>数据类型简介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1.</a:t>
            </a:r>
            <a:r>
              <a:rPr lang="en-US" altLang="zh-CN" dirty="0"/>
              <a:t>3</a:t>
            </a:r>
            <a:r>
              <a:rPr lang="zh-CN" altLang="en-US" dirty="0"/>
              <a:t> </a:t>
            </a:r>
            <a:r>
              <a:rPr lang="en-GB" altLang="zh-CN" dirty="0"/>
              <a:t>ndarray</a:t>
            </a:r>
            <a:r>
              <a:rPr lang="zh-CN" altLang="en-GB" dirty="0"/>
              <a:t>介绍</a:t>
            </a:r>
            <a:endParaRPr lang="en-GB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2"/>
            </a:pPr>
            <a:r>
              <a:rPr lang="en-GB" altLang="zh-CN" dirty="0"/>
              <a:t>ndarray</a:t>
            </a:r>
            <a:r>
              <a:rPr lang="zh-CN" altLang="en-US" dirty="0"/>
              <a:t>的形状</a:t>
            </a:r>
            <a:endParaRPr lang="en-US" altLang="zh-CN" dirty="0"/>
          </a:p>
          <a:p>
            <a:r>
              <a:rPr lang="en-GB" altLang="zh-CN" dirty="0"/>
              <a:t>a = </a:t>
            </a:r>
            <a:r>
              <a:rPr lang="en-GB" altLang="zh-CN" dirty="0" err="1"/>
              <a:t>np.array</a:t>
            </a:r>
            <a:r>
              <a:rPr lang="en-GB" altLang="zh-CN" dirty="0"/>
              <a:t>([[1,2,3],[4,5,6]])</a:t>
            </a:r>
            <a:endParaRPr lang="en-GB" altLang="zh-CN" dirty="0"/>
          </a:p>
          <a:p>
            <a:r>
              <a:rPr lang="en-GB" altLang="zh-CN" dirty="0"/>
              <a:t>b = </a:t>
            </a:r>
            <a:r>
              <a:rPr lang="en-GB" altLang="zh-CN" dirty="0" err="1"/>
              <a:t>np.array</a:t>
            </a:r>
            <a:r>
              <a:rPr lang="en-GB" altLang="zh-CN" dirty="0"/>
              <a:t>([1,2,3,4])</a:t>
            </a:r>
            <a:endParaRPr lang="en-GB" altLang="zh-CN" dirty="0"/>
          </a:p>
          <a:p>
            <a:r>
              <a:rPr lang="en-GB" altLang="zh-CN" dirty="0"/>
              <a:t>c = </a:t>
            </a:r>
            <a:r>
              <a:rPr lang="en-GB" altLang="zh-CN" dirty="0" err="1"/>
              <a:t>np.array</a:t>
            </a:r>
            <a:r>
              <a:rPr lang="en-GB" altLang="zh-CN" dirty="0"/>
              <a:t>([[[1,2,3],[4,5,6]],[[1,2,3],[4,5,6]]])</a:t>
            </a:r>
            <a:endParaRPr lang="en-GB" altLang="zh-CN" dirty="0"/>
          </a:p>
          <a:p>
            <a:r>
              <a:rPr lang="en-GB" altLang="zh-CN" dirty="0"/>
              <a:t>#</a:t>
            </a:r>
            <a:r>
              <a:rPr lang="zh-CN" altLang="en-US" dirty="0"/>
              <a:t>打印形状</a:t>
            </a:r>
            <a:endParaRPr lang="zh-CN" altLang="en-US" dirty="0"/>
          </a:p>
          <a:p>
            <a:r>
              <a:rPr lang="en-GB" altLang="zh-CN" dirty="0" err="1"/>
              <a:t>a.shape</a:t>
            </a:r>
            <a:endParaRPr lang="en-GB" altLang="zh-CN" dirty="0"/>
          </a:p>
          <a:p>
            <a:r>
              <a:rPr lang="en-GB" altLang="zh-CN" dirty="0" err="1"/>
              <a:t>b.shape</a:t>
            </a:r>
            <a:endParaRPr lang="en-GB" altLang="zh-CN" dirty="0"/>
          </a:p>
          <a:p>
            <a:r>
              <a:rPr lang="en-GB" altLang="zh-CN" dirty="0" err="1"/>
              <a:t>c.shape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0905" y="3961765"/>
            <a:ext cx="3175000" cy="1098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Pandas</a:t>
            </a:r>
            <a:r>
              <a:rPr lang="zh-CN" altLang="en-US" dirty="0"/>
              <a:t>数据类型简介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1.</a:t>
            </a:r>
            <a:r>
              <a:rPr lang="en-US" altLang="zh-CN" dirty="0"/>
              <a:t>3</a:t>
            </a:r>
            <a:r>
              <a:rPr lang="zh-CN" altLang="en-US" dirty="0"/>
              <a:t> </a:t>
            </a:r>
            <a:r>
              <a:rPr lang="en-GB" altLang="zh-CN" dirty="0"/>
              <a:t>ndarray</a:t>
            </a:r>
            <a:r>
              <a:rPr lang="zh-CN" altLang="en-GB" dirty="0"/>
              <a:t>介绍</a:t>
            </a:r>
            <a:endParaRPr lang="en-GB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3"/>
            </a:pPr>
            <a:r>
              <a:rPr lang="en-GB" altLang="zh-CN" dirty="0"/>
              <a:t>ndarray</a:t>
            </a:r>
            <a:r>
              <a:rPr lang="zh-CN" altLang="en-US" dirty="0"/>
              <a:t>的类型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907" y="2439656"/>
            <a:ext cx="10921455" cy="3900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Pandas</a:t>
            </a:r>
            <a:r>
              <a:rPr lang="zh-CN" altLang="en-US" dirty="0"/>
              <a:t>数据类型简介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1.</a:t>
            </a:r>
            <a:r>
              <a:rPr lang="en-US" altLang="zh-CN" dirty="0"/>
              <a:t>3</a:t>
            </a:r>
            <a:r>
              <a:rPr lang="zh-CN" altLang="en-US" dirty="0"/>
              <a:t> </a:t>
            </a:r>
            <a:r>
              <a:rPr lang="en-GB" altLang="zh-CN" dirty="0"/>
              <a:t>ndarray</a:t>
            </a:r>
            <a:r>
              <a:rPr lang="zh-CN" altLang="en-GB" dirty="0"/>
              <a:t>介绍</a:t>
            </a:r>
            <a:endParaRPr lang="en-GB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3"/>
            </a:pPr>
            <a:r>
              <a:rPr lang="en-GB" altLang="zh-CN" dirty="0"/>
              <a:t>ndarray</a:t>
            </a:r>
            <a:r>
              <a:rPr lang="zh-CN" altLang="en-US" dirty="0"/>
              <a:t>的类型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348" y="2623457"/>
            <a:ext cx="10315303" cy="368403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Pandas</a:t>
            </a:r>
            <a:r>
              <a:rPr lang="zh-CN" altLang="en-US" dirty="0"/>
              <a:t>数据类型简介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1.</a:t>
            </a:r>
            <a:r>
              <a:rPr lang="en-US" altLang="zh-CN" dirty="0"/>
              <a:t>3</a:t>
            </a:r>
            <a:r>
              <a:rPr lang="zh-CN" altLang="en-US" dirty="0"/>
              <a:t> </a:t>
            </a:r>
            <a:r>
              <a:rPr lang="en-GB" altLang="zh-CN" dirty="0"/>
              <a:t>ndarray</a:t>
            </a:r>
            <a:r>
              <a:rPr lang="zh-CN" altLang="en-GB" dirty="0"/>
              <a:t>介绍</a:t>
            </a:r>
            <a:endParaRPr lang="en-GB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4"/>
            </a:pPr>
            <a:r>
              <a:rPr lang="zh-CN" altLang="en-US" dirty="0"/>
              <a:t>创建数组的时候指定类型</a:t>
            </a:r>
            <a:endParaRPr lang="zh-CN" altLang="en-US" dirty="0"/>
          </a:p>
          <a:p>
            <a:r>
              <a:rPr lang="en-GB" altLang="zh-CN" dirty="0"/>
              <a:t>a = </a:t>
            </a:r>
            <a:r>
              <a:rPr lang="en-GB" altLang="zh-CN" dirty="0" err="1"/>
              <a:t>np.array</a:t>
            </a:r>
            <a:r>
              <a:rPr lang="en-GB" altLang="zh-CN" dirty="0"/>
              <a:t>([[1, 2, 3],[4, 5, 6]], </a:t>
            </a:r>
            <a:r>
              <a:rPr lang="en-GB" altLang="zh-CN" dirty="0" err="1"/>
              <a:t>dtype</a:t>
            </a:r>
            <a:r>
              <a:rPr lang="en-GB" altLang="zh-CN" dirty="0"/>
              <a:t>=np.float32)</a:t>
            </a:r>
            <a:endParaRPr lang="en-GB" altLang="zh-CN" dirty="0"/>
          </a:p>
          <a:p>
            <a:r>
              <a:rPr lang="en-GB" altLang="zh-CN" dirty="0" err="1"/>
              <a:t>a.dtype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760" y="3077845"/>
            <a:ext cx="6731000" cy="9334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Pandas</a:t>
            </a:r>
            <a:r>
              <a:rPr lang="zh-CN" altLang="en-US" dirty="0"/>
              <a:t>数据类型简介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1.</a:t>
            </a:r>
            <a:r>
              <a:rPr lang="en-US" altLang="zh-CN" dirty="0"/>
              <a:t>4</a:t>
            </a:r>
            <a:r>
              <a:rPr lang="zh-CN" altLang="en-US" dirty="0"/>
              <a:t> </a:t>
            </a:r>
            <a:r>
              <a:rPr lang="en-GB" altLang="zh-CN" dirty="0"/>
              <a:t>Pandas</a:t>
            </a:r>
            <a:r>
              <a:rPr lang="zh-CN" altLang="en-US" dirty="0"/>
              <a:t>的数据类型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P</a:t>
            </a:r>
            <a:r>
              <a:rPr lang="en-GB" altLang="zh-CN" dirty="0" err="1"/>
              <a:t>andas</a:t>
            </a:r>
            <a:r>
              <a:rPr lang="en-GB" altLang="zh-CN" dirty="0"/>
              <a:t> </a:t>
            </a:r>
            <a:r>
              <a:rPr lang="zh-CN" altLang="en-US" dirty="0"/>
              <a:t>是基于</a:t>
            </a:r>
            <a:r>
              <a:rPr lang="en-GB" altLang="zh-CN" dirty="0"/>
              <a:t>Numpy</a:t>
            </a:r>
            <a:r>
              <a:rPr lang="zh-CN" altLang="en-US" dirty="0"/>
              <a:t>的，很多功能都依赖于</a:t>
            </a:r>
            <a:r>
              <a:rPr lang="en-GB" altLang="zh-CN" dirty="0"/>
              <a:t>Numpy</a:t>
            </a:r>
            <a:r>
              <a:rPr lang="zh-CN" altLang="en-US" dirty="0"/>
              <a:t>的</a:t>
            </a:r>
            <a:r>
              <a:rPr lang="en-GB" altLang="zh-CN" dirty="0"/>
              <a:t>ndarray</a:t>
            </a:r>
            <a:r>
              <a:rPr lang="zh-CN" altLang="en-US" dirty="0"/>
              <a:t>实现的，</a:t>
            </a:r>
            <a:r>
              <a:rPr lang="en-GB" altLang="zh-CN" dirty="0"/>
              <a:t>Pandas</a:t>
            </a:r>
            <a:r>
              <a:rPr lang="zh-CN" altLang="en-US" dirty="0"/>
              <a:t>的数据类型很多与</a:t>
            </a:r>
            <a:r>
              <a:rPr lang="en-GB" altLang="zh-CN" dirty="0"/>
              <a:t>Numpy</a:t>
            </a:r>
            <a:r>
              <a:rPr lang="zh-CN" altLang="en-US" dirty="0"/>
              <a:t>类似，属性也有很多类似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993" y="2994996"/>
            <a:ext cx="9129745" cy="364124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Pandas</a:t>
            </a:r>
            <a:r>
              <a:rPr lang="zh-CN" altLang="en-US" dirty="0"/>
              <a:t>数据类型简介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1.</a:t>
            </a:r>
            <a:r>
              <a:rPr lang="en-US" altLang="zh-CN" dirty="0"/>
              <a:t>4</a:t>
            </a:r>
            <a:r>
              <a:rPr lang="zh-CN" altLang="en-US" dirty="0"/>
              <a:t> </a:t>
            </a:r>
            <a:r>
              <a:rPr lang="en-GB" altLang="zh-CN" dirty="0"/>
              <a:t>Pandas</a:t>
            </a:r>
            <a:r>
              <a:rPr lang="zh-CN" altLang="en-US" dirty="0"/>
              <a:t>的数据类型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026025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查看数据类型</a:t>
            </a:r>
            <a:endParaRPr lang="en-US" altLang="zh-CN" dirty="0"/>
          </a:p>
          <a:p>
            <a:r>
              <a:rPr lang="en-GB" altLang="zh-CN" dirty="0"/>
              <a:t>import pandas as </a:t>
            </a:r>
            <a:r>
              <a:rPr lang="en-GB" altLang="zh-CN" dirty="0" err="1"/>
              <a:t>pd</a:t>
            </a:r>
            <a:endParaRPr lang="en-GB" altLang="zh-CN" dirty="0"/>
          </a:p>
          <a:p>
            <a:r>
              <a:rPr lang="en-GB" altLang="zh-CN" dirty="0"/>
              <a:t>import seaborn as </a:t>
            </a:r>
            <a:r>
              <a:rPr lang="en-GB" altLang="zh-CN" dirty="0" err="1"/>
              <a:t>sns</a:t>
            </a:r>
            <a:endParaRPr lang="en-GB" altLang="zh-CN" dirty="0"/>
          </a:p>
          <a:p>
            <a:r>
              <a:rPr lang="en-GB" altLang="zh-CN" dirty="0"/>
              <a:t>tips = </a:t>
            </a:r>
            <a:r>
              <a:rPr lang="en-GB" altLang="zh-CN" dirty="0" err="1"/>
              <a:t>sns.load_dataset</a:t>
            </a:r>
            <a:r>
              <a:rPr lang="en-GB" altLang="zh-CN" dirty="0"/>
              <a:t>('tips')</a:t>
            </a:r>
            <a:endParaRPr lang="en-GB" altLang="zh-CN" dirty="0"/>
          </a:p>
          <a:p>
            <a:r>
              <a:rPr lang="en-GB" altLang="zh-CN" dirty="0" err="1"/>
              <a:t>tips.dtypes</a:t>
            </a:r>
            <a:endParaRPr lang="en-GB" altLang="zh-CN" dirty="0" err="1"/>
          </a:p>
          <a:p>
            <a:endParaRPr lang="en-GB" altLang="zh-CN" dirty="0" err="1"/>
          </a:p>
          <a:p>
            <a:endParaRPr lang="en-GB" altLang="zh-CN" dirty="0" err="1"/>
          </a:p>
          <a:p>
            <a:endParaRPr lang="en-GB" altLang="zh-CN" dirty="0" err="1"/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r>
              <a:rPr lang="zh-CN" altLang="en-US" dirty="0"/>
              <a:t>上面结果中，</a:t>
            </a:r>
            <a:r>
              <a:rPr lang="en-US" altLang="zh-CN" dirty="0"/>
              <a:t>category</a:t>
            </a:r>
            <a:r>
              <a:rPr lang="zh-CN" altLang="en-US" dirty="0"/>
              <a:t>数据类型表示分类变量，它与存储任意字符串的普通</a:t>
            </a:r>
            <a:r>
              <a:rPr lang="en-US" altLang="zh-CN" dirty="0"/>
              <a:t>object</a:t>
            </a:r>
            <a:r>
              <a:rPr lang="zh-CN" altLang="en-US" dirty="0"/>
              <a:t>数据类型不同。差异后面再讨论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850" y="4034155"/>
            <a:ext cx="3359150" cy="19240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dirty="0"/>
              <a:t>Pandas</a:t>
            </a:r>
            <a:r>
              <a:rPr lang="zh-CN" altLang="en-US" b="1" dirty="0"/>
              <a:t>数据类型简介</a:t>
            </a:r>
            <a:endParaRPr lang="zh-CN" altLang="en-US" b="1" dirty="0"/>
          </a:p>
          <a:p>
            <a:r>
              <a:rPr lang="zh-CN" altLang="en-US" b="1" dirty="0">
                <a:solidFill>
                  <a:srgbClr val="FF0000"/>
                </a:solidFill>
              </a:rPr>
              <a:t>类型转换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b="1" dirty="0"/>
              <a:t>类别数据</a:t>
            </a:r>
            <a:endParaRPr lang="zh-CN" altLang="en-US" b="1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</a:t>
            </a:r>
            <a:r>
              <a:rPr lang="zh-CN" altLang="en-US" dirty="0"/>
              <a:t>类型转换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2.1</a:t>
            </a:r>
            <a:r>
              <a:rPr lang="zh-CN" altLang="en-US" dirty="0"/>
              <a:t> 转换为字符串类型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在</a:t>
            </a:r>
            <a:r>
              <a:rPr lang="en-US" altLang="zh-CN" dirty="0"/>
              <a:t>tips</a:t>
            </a:r>
            <a:r>
              <a:rPr lang="zh-CN" altLang="en-US" dirty="0"/>
              <a:t>数据中，</a:t>
            </a:r>
            <a:r>
              <a:rPr lang="en-US" altLang="zh-CN" dirty="0"/>
              <a:t>sex</a:t>
            </a:r>
            <a:r>
              <a:rPr lang="zh-CN" altLang="en-US" dirty="0"/>
              <a:t>、</a:t>
            </a:r>
            <a:r>
              <a:rPr lang="en-US" altLang="zh-CN" dirty="0"/>
              <a:t>smoker</a:t>
            </a:r>
            <a:r>
              <a:rPr lang="zh-CN" altLang="en-US" dirty="0"/>
              <a:t>、</a:t>
            </a:r>
            <a:r>
              <a:rPr lang="en-US" altLang="zh-CN" dirty="0"/>
              <a:t>day </a:t>
            </a:r>
            <a:r>
              <a:rPr lang="zh-CN" altLang="en-US" dirty="0"/>
              <a:t>和 </a:t>
            </a:r>
            <a:r>
              <a:rPr lang="en-US" altLang="zh-CN" dirty="0"/>
              <a:t>time </a:t>
            </a:r>
            <a:r>
              <a:rPr lang="zh-CN" altLang="en-US" dirty="0"/>
              <a:t>变量都是</a:t>
            </a:r>
            <a:r>
              <a:rPr lang="en-US" altLang="zh-CN" dirty="0"/>
              <a:t>category</a:t>
            </a:r>
            <a:r>
              <a:rPr lang="zh-CN" altLang="en-US" dirty="0"/>
              <a:t>类型。通常，如果变量不是数值类型，应先将其转换成字符串类型以便后续处理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有些数据集中可能含有</a:t>
            </a:r>
            <a:r>
              <a:rPr lang="en-US" altLang="zh-CN" dirty="0"/>
              <a:t>id</a:t>
            </a:r>
            <a:r>
              <a:rPr lang="zh-CN" altLang="en-US" dirty="0"/>
              <a:t>列，</a:t>
            </a:r>
            <a:r>
              <a:rPr lang="en-US" altLang="zh-CN" dirty="0"/>
              <a:t>id</a:t>
            </a:r>
            <a:r>
              <a:rPr lang="zh-CN" altLang="en-US" dirty="0"/>
              <a:t>的值虽然是数字，但对</a:t>
            </a:r>
            <a:r>
              <a:rPr lang="en-US" altLang="zh-CN" dirty="0"/>
              <a:t>id</a:t>
            </a:r>
            <a:r>
              <a:rPr lang="zh-CN" altLang="en-US" dirty="0"/>
              <a:t>进行计算（求和，求平均等）没有任何意义，在某些情况下，可能需要把它们转换为字符串类型。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把一列的数据类型转换为字符串，可以使用</a:t>
            </a:r>
            <a:r>
              <a:rPr lang="en-US" altLang="zh-CN" dirty="0" err="1"/>
              <a:t>astype</a:t>
            </a:r>
            <a:r>
              <a:rPr lang="zh-CN" altLang="en-US" dirty="0"/>
              <a:t>方法。</a:t>
            </a:r>
            <a:endParaRPr lang="zh-CN" altLang="en-US" dirty="0"/>
          </a:p>
          <a:p>
            <a:r>
              <a:rPr lang="en-GB" altLang="zh-CN" dirty="0"/>
              <a:t>tips['</a:t>
            </a:r>
            <a:r>
              <a:rPr lang="en-GB" altLang="zh-CN" dirty="0" err="1"/>
              <a:t>sex_str</a:t>
            </a:r>
            <a:r>
              <a:rPr lang="en-GB" altLang="zh-CN" dirty="0"/>
              <a:t>'] = tips['sex'].</a:t>
            </a:r>
            <a:r>
              <a:rPr lang="en-GB" altLang="zh-CN" dirty="0" err="1"/>
              <a:t>astype</a:t>
            </a:r>
            <a:r>
              <a:rPr lang="en-GB" altLang="zh-CN" dirty="0"/>
              <a:t>(</a:t>
            </a:r>
            <a:r>
              <a:rPr lang="en-GB" altLang="zh-CN" dirty="0" err="1"/>
              <a:t>str</a:t>
            </a:r>
            <a:r>
              <a:rPr lang="en-GB" altLang="zh-CN" dirty="0"/>
              <a:t>)</a:t>
            </a:r>
            <a:endParaRPr lang="en-GB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GB" altLang="zh-CN" dirty="0"/>
              <a:t>Python</a:t>
            </a:r>
            <a:r>
              <a:rPr lang="zh-CN" altLang="en-US" dirty="0"/>
              <a:t>内置了</a:t>
            </a:r>
            <a:r>
              <a:rPr lang="en-GB" altLang="zh-CN" dirty="0" err="1"/>
              <a:t>str</a:t>
            </a:r>
            <a:r>
              <a:rPr lang="zh-CN" altLang="en-GB" dirty="0"/>
              <a:t>、</a:t>
            </a:r>
            <a:r>
              <a:rPr lang="en-GB" altLang="zh-CN" dirty="0"/>
              <a:t>float</a:t>
            </a:r>
            <a:r>
              <a:rPr lang="zh-CN" altLang="en-GB" dirty="0"/>
              <a:t>、</a:t>
            </a:r>
            <a:r>
              <a:rPr lang="en-GB" altLang="zh-CN" dirty="0" err="1"/>
              <a:t>int</a:t>
            </a:r>
            <a:r>
              <a:rPr lang="zh-CN" altLang="en-GB" dirty="0"/>
              <a:t>、</a:t>
            </a:r>
            <a:r>
              <a:rPr lang="en-GB" altLang="zh-CN" dirty="0"/>
              <a:t>complex</a:t>
            </a:r>
            <a:r>
              <a:rPr lang="zh-CN" altLang="en-US" dirty="0"/>
              <a:t>和</a:t>
            </a:r>
            <a:r>
              <a:rPr lang="en-GB" altLang="zh-CN" dirty="0"/>
              <a:t>bool</a:t>
            </a:r>
            <a:r>
              <a:rPr lang="zh-CN" altLang="en-US" dirty="0"/>
              <a:t>几种数据类型。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此外还可以指定</a:t>
            </a:r>
            <a:r>
              <a:rPr lang="en-GB" altLang="zh-CN" dirty="0"/>
              <a:t>Numpy</a:t>
            </a:r>
            <a:r>
              <a:rPr lang="zh-CN" altLang="en-US" dirty="0"/>
              <a:t>库支持的任何</a:t>
            </a:r>
            <a:r>
              <a:rPr lang="en-GB" altLang="zh-CN" dirty="0" err="1"/>
              <a:t>dtype</a:t>
            </a:r>
            <a:r>
              <a:rPr lang="zh-CN" altLang="en-GB" dirty="0"/>
              <a:t>，</a:t>
            </a:r>
            <a:r>
              <a:rPr lang="zh-CN" altLang="en-US" dirty="0"/>
              <a:t>查看</a:t>
            </a:r>
            <a:r>
              <a:rPr lang="en-GB" altLang="zh-CN" dirty="0" err="1"/>
              <a:t>dtypes</a:t>
            </a:r>
            <a:r>
              <a:rPr lang="zh-CN" altLang="en-GB" dirty="0"/>
              <a:t>，</a:t>
            </a:r>
            <a:r>
              <a:rPr lang="zh-CN" altLang="en-US" dirty="0"/>
              <a:t>会看到</a:t>
            </a:r>
            <a:r>
              <a:rPr lang="en-GB" altLang="zh-CN" dirty="0"/>
              <a:t>tips</a:t>
            </a:r>
            <a:r>
              <a:rPr lang="zh-CN" altLang="en-US" dirty="0"/>
              <a:t>多出了</a:t>
            </a:r>
            <a:r>
              <a:rPr lang="en-GB" altLang="zh-CN" dirty="0"/>
              <a:t>object</a:t>
            </a:r>
            <a:r>
              <a:rPr lang="zh-CN" altLang="en-US" dirty="0"/>
              <a:t>类型</a:t>
            </a:r>
            <a:endParaRPr lang="en-US" altLang="zh-CN" dirty="0"/>
          </a:p>
          <a:p>
            <a:r>
              <a:rPr lang="en-GB" altLang="zh-CN" dirty="0" err="1"/>
              <a:t>tips.dtypes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8420" y="3041015"/>
            <a:ext cx="2609850" cy="2235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</a:t>
            </a:r>
            <a:r>
              <a:rPr lang="zh-CN" altLang="en-US" dirty="0"/>
              <a:t>类型转换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</a:t>
            </a:r>
            <a:r>
              <a:rPr lang="zh-CN" altLang="en-US" dirty="0"/>
              <a:t> 转换为数值类型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 err="1"/>
              <a:t>astype</a:t>
            </a:r>
            <a:r>
              <a:rPr lang="zh-CN" altLang="en-US" dirty="0"/>
              <a:t>方法是通用函数，可用于把</a:t>
            </a:r>
            <a:r>
              <a:rPr lang="en-US" altLang="zh-CN" dirty="0"/>
              <a:t>DataFrame</a:t>
            </a:r>
            <a:r>
              <a:rPr lang="zh-CN" altLang="en-US" dirty="0"/>
              <a:t>中的任何列转换为其他</a:t>
            </a:r>
            <a:r>
              <a:rPr lang="en-US" altLang="zh-CN" dirty="0" err="1"/>
              <a:t>dtype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可以向</a:t>
            </a:r>
            <a:r>
              <a:rPr lang="en-US" altLang="zh-CN" dirty="0" err="1"/>
              <a:t>astype</a:t>
            </a:r>
            <a:r>
              <a:rPr lang="zh-CN" altLang="en-US" dirty="0"/>
              <a:t>方法提供任何内置类型或</a:t>
            </a:r>
            <a:r>
              <a:rPr lang="en-US" altLang="zh-CN" dirty="0" err="1"/>
              <a:t>numpy</a:t>
            </a:r>
            <a:r>
              <a:rPr lang="zh-CN" altLang="en-US" dirty="0"/>
              <a:t>类型来转换列的数据类型</a:t>
            </a:r>
            <a:endParaRPr lang="zh-CN" altLang="en-US" dirty="0"/>
          </a:p>
          <a:p>
            <a:r>
              <a:rPr lang="en-US" altLang="zh-CN" dirty="0"/>
              <a:t>#</a:t>
            </a:r>
            <a:r>
              <a:rPr lang="zh-CN" altLang="en-US" dirty="0"/>
              <a:t>把</a:t>
            </a:r>
            <a:r>
              <a:rPr lang="en-GB" altLang="zh-CN" dirty="0" err="1"/>
              <a:t>total_bill</a:t>
            </a:r>
            <a:r>
              <a:rPr lang="zh-CN" altLang="en-US" dirty="0"/>
              <a:t>转换字符串</a:t>
            </a:r>
            <a:endParaRPr lang="zh-CN" altLang="en-US" dirty="0"/>
          </a:p>
          <a:p>
            <a:r>
              <a:rPr lang="en-GB" altLang="zh-CN" dirty="0"/>
              <a:t>tips[‘</a:t>
            </a:r>
            <a:r>
              <a:rPr lang="en-GB" altLang="zh-CN" dirty="0" err="1"/>
              <a:t>total_bill</a:t>
            </a:r>
            <a:r>
              <a:rPr lang="en-GB" altLang="zh-CN" dirty="0"/>
              <a:t>’] = tips[‘</a:t>
            </a:r>
            <a:r>
              <a:rPr lang="en-GB" altLang="zh-CN" dirty="0" err="1"/>
              <a:t>total_bill</a:t>
            </a:r>
            <a:r>
              <a:rPr lang="en-GB" altLang="zh-CN" dirty="0"/>
              <a:t>’].</a:t>
            </a:r>
            <a:r>
              <a:rPr lang="en-GB" altLang="zh-CN" dirty="0" err="1"/>
              <a:t>astype</a:t>
            </a:r>
            <a:r>
              <a:rPr lang="en-GB" altLang="zh-CN" dirty="0"/>
              <a:t>(</a:t>
            </a:r>
            <a:r>
              <a:rPr lang="en-US" altLang="en-GB" dirty="0"/>
              <a:t>str</a:t>
            </a:r>
            <a:r>
              <a:rPr lang="en-GB" altLang="zh-CN" dirty="0"/>
              <a:t>)</a:t>
            </a:r>
            <a:endParaRPr lang="en-GB" altLang="zh-CN" dirty="0"/>
          </a:p>
          <a:p>
            <a:r>
              <a:rPr lang="en-GB" altLang="zh-CN" dirty="0" err="1"/>
              <a:t>tips.dtypes</a:t>
            </a:r>
            <a:endParaRPr lang="en-GB" altLang="zh-CN" dirty="0"/>
          </a:p>
          <a:p>
            <a:r>
              <a:rPr lang="en-US" altLang="zh-CN" dirty="0"/>
              <a:t>#</a:t>
            </a:r>
            <a:r>
              <a:rPr lang="zh-CN" altLang="en-US" dirty="0"/>
              <a:t>把</a:t>
            </a:r>
            <a:r>
              <a:rPr lang="en-GB" altLang="zh-CN" dirty="0" err="1"/>
              <a:t>total_bill</a:t>
            </a:r>
            <a:r>
              <a:rPr lang="zh-CN" altLang="en-US" dirty="0"/>
              <a:t>转换回</a:t>
            </a:r>
            <a:r>
              <a:rPr lang="en-GB" altLang="zh-CN" dirty="0"/>
              <a:t>float</a:t>
            </a:r>
            <a:r>
              <a:rPr lang="zh-CN" altLang="en-US" dirty="0"/>
              <a:t>类型</a:t>
            </a:r>
            <a:endParaRPr lang="zh-CN" altLang="en-US" dirty="0"/>
          </a:p>
          <a:p>
            <a:r>
              <a:rPr lang="en-GB" altLang="zh-CN" dirty="0"/>
              <a:t>tips[‘</a:t>
            </a:r>
            <a:r>
              <a:rPr lang="en-GB" altLang="zh-CN" dirty="0" err="1"/>
              <a:t>total_bill</a:t>
            </a:r>
            <a:r>
              <a:rPr lang="en-GB" altLang="zh-CN" dirty="0"/>
              <a:t>’] = tips[‘</a:t>
            </a:r>
            <a:r>
              <a:rPr lang="en-GB" altLang="zh-CN" dirty="0" err="1"/>
              <a:t>total_bill</a:t>
            </a:r>
            <a:r>
              <a:rPr lang="en-GB" altLang="zh-CN" dirty="0"/>
              <a:t>’].</a:t>
            </a:r>
            <a:r>
              <a:rPr lang="en-GB" altLang="zh-CN" dirty="0" err="1"/>
              <a:t>astype</a:t>
            </a:r>
            <a:r>
              <a:rPr lang="en-GB" altLang="zh-CN" dirty="0"/>
              <a:t>(float)</a:t>
            </a:r>
            <a:endParaRPr lang="en-GB" altLang="zh-CN" dirty="0"/>
          </a:p>
          <a:p>
            <a:r>
              <a:rPr lang="en-GB" altLang="zh-CN" dirty="0" err="1"/>
              <a:t>tips.dtypes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9125" y="2641600"/>
            <a:ext cx="2463800" cy="22479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105" y="4595495"/>
            <a:ext cx="2419350" cy="2184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</a:t>
            </a:r>
            <a:r>
              <a:rPr lang="zh-CN" altLang="en-US" dirty="0"/>
              <a:t>类型转换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</a:t>
            </a:r>
            <a:r>
              <a:rPr lang="zh-CN" altLang="en-US" dirty="0"/>
              <a:t> 转换为数值类型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如果想把变量转换为数值类型（</a:t>
            </a:r>
            <a:r>
              <a:rPr lang="en-US" altLang="zh-CN" dirty="0" err="1"/>
              <a:t>int</a:t>
            </a:r>
            <a:r>
              <a:rPr lang="zh-CN" altLang="en-US" dirty="0"/>
              <a:t>，</a:t>
            </a:r>
            <a:r>
              <a:rPr lang="en-US" altLang="zh-CN" dirty="0"/>
              <a:t>float</a:t>
            </a:r>
            <a:r>
              <a:rPr lang="zh-CN" altLang="en-US" dirty="0"/>
              <a:t>），还可以使用</a:t>
            </a:r>
            <a:r>
              <a:rPr lang="en-US" altLang="zh-CN" dirty="0"/>
              <a:t>pandas</a:t>
            </a:r>
            <a:r>
              <a:rPr lang="zh-CN" altLang="en-US" dirty="0"/>
              <a:t>的</a:t>
            </a:r>
            <a:r>
              <a:rPr lang="en-US" altLang="zh-CN" dirty="0" err="1"/>
              <a:t>to_numeric</a:t>
            </a:r>
            <a:r>
              <a:rPr lang="zh-CN" altLang="en-US" dirty="0"/>
              <a:t>函数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b="0" dirty="0"/>
              <a:t>DataFrame</a:t>
            </a:r>
            <a:r>
              <a:rPr lang="zh-CN" altLang="en-US" b="0" dirty="0"/>
              <a:t>每一列的数据类型必须相同，当有些数据中有缺失，但不是</a:t>
            </a:r>
            <a:r>
              <a:rPr lang="en-US" altLang="zh-CN" b="0" dirty="0" err="1"/>
              <a:t>NaN</a:t>
            </a:r>
            <a:r>
              <a:rPr lang="zh-CN" altLang="en-US" b="0" dirty="0"/>
              <a:t>时（如</a:t>
            </a:r>
            <a:r>
              <a:rPr lang="en-US" altLang="zh-CN" b="0" dirty="0" err="1"/>
              <a:t>missing,null</a:t>
            </a:r>
            <a:r>
              <a:rPr lang="zh-CN" altLang="en-US" b="0" dirty="0"/>
              <a:t>等），会使整列数据变成字符串类型而不是数值型，这个时候可以使用</a:t>
            </a:r>
            <a:r>
              <a:rPr lang="en-US" altLang="zh-CN" b="0" dirty="0" err="1"/>
              <a:t>to_numeric</a:t>
            </a:r>
            <a:r>
              <a:rPr lang="zh-CN" altLang="en-US" b="0" dirty="0"/>
              <a:t>处理</a:t>
            </a:r>
            <a:endParaRPr lang="en-US" altLang="zh-CN" b="0" dirty="0"/>
          </a:p>
          <a:p>
            <a:r>
              <a:rPr lang="en-GB" altLang="zh-CN" dirty="0"/>
              <a:t>	</a:t>
            </a:r>
            <a:endParaRPr lang="zh-CN" altLang="en-US" b="0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</a:t>
            </a:r>
            <a:r>
              <a:rPr lang="zh-CN" altLang="en-US" dirty="0"/>
              <a:t>类型转换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</a:t>
            </a:r>
            <a:r>
              <a:rPr lang="zh-CN" altLang="en-US" dirty="0"/>
              <a:t> 转换为数值类型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018405"/>
          </a:xfrm>
        </p:spPr>
        <p:txBody>
          <a:bodyPr/>
          <a:lstStyle/>
          <a:p>
            <a:r>
              <a:rPr lang="en-US" altLang="zh-CN" dirty="0"/>
              <a:t>#</a:t>
            </a:r>
            <a:r>
              <a:rPr lang="zh-CN" altLang="en-US" dirty="0"/>
              <a:t>创造包含</a:t>
            </a:r>
            <a:r>
              <a:rPr lang="en-US" altLang="zh-CN" dirty="0"/>
              <a:t>'</a:t>
            </a:r>
            <a:r>
              <a:rPr lang="en-GB" altLang="zh-CN" dirty="0"/>
              <a:t>missing'</a:t>
            </a:r>
            <a:r>
              <a:rPr lang="zh-CN" altLang="en-US" dirty="0"/>
              <a:t>为缺失值的数据</a:t>
            </a:r>
            <a:endParaRPr lang="zh-CN" altLang="en-US" dirty="0"/>
          </a:p>
          <a:p>
            <a:r>
              <a:rPr lang="en-GB" altLang="zh-CN" dirty="0" err="1"/>
              <a:t>tips_sub_miss</a:t>
            </a:r>
            <a:r>
              <a:rPr lang="en-GB" altLang="zh-CN" dirty="0"/>
              <a:t> = </a:t>
            </a:r>
            <a:r>
              <a:rPr lang="en-GB" altLang="zh-CN" dirty="0" err="1"/>
              <a:t>tips.head</a:t>
            </a:r>
            <a:r>
              <a:rPr lang="en-GB" altLang="zh-CN" dirty="0"/>
              <a:t>(10)</a:t>
            </a:r>
            <a:endParaRPr lang="en-GB" altLang="zh-CN" dirty="0"/>
          </a:p>
          <a:p>
            <a:r>
              <a:rPr lang="en-GB" altLang="zh-CN" dirty="0" err="1"/>
              <a:t>tips_sub_miss.loc</a:t>
            </a:r>
            <a:r>
              <a:rPr lang="en-GB" altLang="zh-CN" dirty="0"/>
              <a:t>[[1,3,5,7],'</a:t>
            </a:r>
            <a:r>
              <a:rPr lang="en-GB" altLang="zh-CN" dirty="0" err="1"/>
              <a:t>total_bill</a:t>
            </a:r>
            <a:r>
              <a:rPr lang="en-GB" altLang="zh-CN" dirty="0"/>
              <a:t>'] = 'missing'</a:t>
            </a:r>
            <a:endParaRPr lang="en-GB" altLang="zh-CN" dirty="0"/>
          </a:p>
          <a:p>
            <a:r>
              <a:rPr lang="en-GB" altLang="zh-CN" dirty="0" err="1"/>
              <a:t>tips_sub_miss</a:t>
            </a:r>
            <a:endParaRPr lang="en-GB" altLang="zh-CN" dirty="0"/>
          </a:p>
          <a:p>
            <a:r>
              <a:rPr lang="en-US" altLang="zh-CN" dirty="0"/>
              <a:t>#</a:t>
            </a:r>
            <a:r>
              <a:rPr lang="zh-CN" altLang="en-US" dirty="0"/>
              <a:t>查看数据类型 </a:t>
            </a:r>
            <a:r>
              <a:rPr lang="en-GB" altLang="zh-CN" dirty="0" err="1"/>
              <a:t>dtypes</a:t>
            </a:r>
            <a:r>
              <a:rPr lang="en-GB" altLang="zh-CN" dirty="0"/>
              <a:t> </a:t>
            </a:r>
            <a:r>
              <a:rPr lang="zh-CN" altLang="en-US" dirty="0"/>
              <a:t>会发现</a:t>
            </a:r>
            <a:r>
              <a:rPr lang="en-GB" altLang="zh-CN" dirty="0" err="1"/>
              <a:t>total_bill</a:t>
            </a:r>
            <a:r>
              <a:rPr lang="zh-CN" altLang="en-US" dirty="0"/>
              <a:t>列变成了字符串对象类型</a:t>
            </a:r>
            <a:endParaRPr lang="zh-CN" altLang="en-US" dirty="0"/>
          </a:p>
          <a:p>
            <a:r>
              <a:rPr lang="en-GB" altLang="zh-CN" dirty="0" err="1"/>
              <a:t>tips_sub_miss.dtypes</a:t>
            </a:r>
            <a:r>
              <a:rPr lang="en-GB" altLang="zh-CN" dirty="0"/>
              <a:t>	</a:t>
            </a:r>
            <a:endParaRPr lang="en-GB" altLang="zh-CN" dirty="0"/>
          </a:p>
          <a:p>
            <a:r>
              <a:rPr lang="en-US" altLang="zh-CN" dirty="0"/>
              <a:t>#</a:t>
            </a:r>
            <a:r>
              <a:rPr lang="zh-CN" altLang="en-US" dirty="0"/>
              <a:t> 对上面的数据集使用</a:t>
            </a:r>
            <a:r>
              <a:rPr lang="en-GB" altLang="zh-CN" dirty="0" err="1"/>
              <a:t>astype</a:t>
            </a:r>
            <a:r>
              <a:rPr lang="zh-CN" altLang="en-US" dirty="0"/>
              <a:t>方法把</a:t>
            </a:r>
            <a:r>
              <a:rPr lang="en-GB" altLang="zh-CN" dirty="0" err="1"/>
              <a:t>total_bill</a:t>
            </a:r>
            <a:r>
              <a:rPr lang="en-GB" altLang="zh-CN" dirty="0"/>
              <a:t> </a:t>
            </a:r>
            <a:r>
              <a:rPr lang="zh-CN" altLang="en-US" dirty="0"/>
              <a:t>列转换回</a:t>
            </a:r>
            <a:r>
              <a:rPr lang="en-GB" altLang="zh-CN" dirty="0"/>
              <a:t>float</a:t>
            </a:r>
            <a:r>
              <a:rPr lang="zh-CN" altLang="en-US" dirty="0"/>
              <a:t>类型</a:t>
            </a:r>
            <a:r>
              <a:rPr lang="en-US" altLang="zh-CN" dirty="0"/>
              <a:t>,</a:t>
            </a:r>
            <a:r>
              <a:rPr lang="zh-CN" altLang="en-US" dirty="0"/>
              <a:t>会抛错</a:t>
            </a:r>
            <a:endParaRPr lang="en-US" altLang="zh-CN" dirty="0"/>
          </a:p>
          <a:p>
            <a:r>
              <a:rPr lang="en-US" altLang="zh-CN" dirty="0"/>
              <a:t>#</a:t>
            </a:r>
            <a:r>
              <a:rPr lang="zh-CN" altLang="en-US" dirty="0"/>
              <a:t> </a:t>
            </a:r>
            <a:r>
              <a:rPr lang="en-GB" altLang="zh-CN" dirty="0"/>
              <a:t>Pandas </a:t>
            </a:r>
            <a:r>
              <a:rPr lang="zh-CN" altLang="en-US" dirty="0"/>
              <a:t>无法把</a:t>
            </a:r>
            <a:r>
              <a:rPr lang="en-US" altLang="zh-CN" dirty="0"/>
              <a:t>'</a:t>
            </a:r>
            <a:r>
              <a:rPr lang="en-GB" altLang="zh-CN" dirty="0"/>
              <a:t>missing'</a:t>
            </a:r>
            <a:r>
              <a:rPr lang="zh-CN" altLang="en-US" dirty="0"/>
              <a:t>转换成</a:t>
            </a:r>
            <a:r>
              <a:rPr lang="en-GB" altLang="zh-CN" dirty="0"/>
              <a:t>float</a:t>
            </a:r>
            <a:endParaRPr lang="en-GB" altLang="zh-CN" dirty="0"/>
          </a:p>
          <a:p>
            <a:r>
              <a:rPr lang="en-GB" altLang="zh-CN" dirty="0" err="1"/>
              <a:t>tips_sub_miss</a:t>
            </a:r>
            <a:r>
              <a:rPr lang="en-GB" altLang="zh-CN" dirty="0"/>
              <a:t>['</a:t>
            </a:r>
            <a:r>
              <a:rPr lang="en-GB" altLang="zh-CN" dirty="0" err="1"/>
              <a:t>total_bill</a:t>
            </a:r>
            <a:r>
              <a:rPr lang="en-GB" altLang="zh-CN" dirty="0"/>
              <a:t>'].</a:t>
            </a:r>
            <a:r>
              <a:rPr lang="en-GB" altLang="zh-CN" dirty="0" err="1"/>
              <a:t>astype</a:t>
            </a:r>
            <a:r>
              <a:rPr lang="en-GB" altLang="zh-CN" dirty="0"/>
              <a:t>(float)</a:t>
            </a:r>
            <a:endParaRPr lang="en-GB" altLang="zh-CN" dirty="0"/>
          </a:p>
          <a:p>
            <a:r>
              <a:rPr lang="en-US" altLang="zh-CN" dirty="0"/>
              <a:t>#</a:t>
            </a:r>
            <a:r>
              <a:rPr lang="zh-CN" altLang="en-US" dirty="0"/>
              <a:t> 如果使用</a:t>
            </a:r>
            <a:r>
              <a:rPr lang="en-US" altLang="zh-CN" dirty="0"/>
              <a:t>Pandas</a:t>
            </a:r>
            <a:r>
              <a:rPr lang="zh-CN" altLang="en-US" dirty="0"/>
              <a:t>库中的</a:t>
            </a:r>
            <a:r>
              <a:rPr lang="en-US" altLang="zh-CN" dirty="0" err="1"/>
              <a:t>to_numeric</a:t>
            </a:r>
            <a:r>
              <a:rPr lang="zh-CN" altLang="en-US" dirty="0"/>
              <a:t>函数进行转换</a:t>
            </a:r>
            <a:r>
              <a:rPr lang="en-US" altLang="zh-CN" dirty="0"/>
              <a:t>,</a:t>
            </a:r>
            <a:r>
              <a:rPr lang="zh-CN" altLang="en-US" dirty="0"/>
              <a:t>也会得到类似的错误</a:t>
            </a:r>
            <a:endParaRPr lang="en-US" altLang="zh-CN" dirty="0"/>
          </a:p>
          <a:p>
            <a:r>
              <a:rPr lang="en-GB" altLang="zh-CN" dirty="0" err="1"/>
              <a:t>pd.to_numeric</a:t>
            </a:r>
            <a:r>
              <a:rPr lang="en-GB" altLang="zh-CN" dirty="0"/>
              <a:t>(</a:t>
            </a:r>
            <a:r>
              <a:rPr lang="en-GB" altLang="zh-CN" dirty="0" err="1"/>
              <a:t>tips_sub_miss</a:t>
            </a:r>
            <a:r>
              <a:rPr lang="en-GB" altLang="zh-CN" dirty="0"/>
              <a:t>['</a:t>
            </a:r>
            <a:r>
              <a:rPr lang="en-GB" altLang="zh-CN" dirty="0" err="1"/>
              <a:t>total_bill</a:t>
            </a:r>
            <a:r>
              <a:rPr lang="en-GB" altLang="zh-CN" dirty="0"/>
              <a:t>'])</a:t>
            </a:r>
            <a:endParaRPr lang="zh-CN" altLang="en-US" b="0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5475" y="1204595"/>
            <a:ext cx="4134485" cy="28378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4295" y="4138930"/>
            <a:ext cx="2470150" cy="19939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</a:t>
            </a:r>
            <a:r>
              <a:rPr lang="zh-CN" altLang="en-US" dirty="0"/>
              <a:t>类型转换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</a:t>
            </a:r>
            <a:r>
              <a:rPr lang="zh-CN" altLang="en-US" dirty="0"/>
              <a:t> 转换为数值类型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92252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 err="1"/>
              <a:t>to_numeric</a:t>
            </a:r>
            <a:r>
              <a:rPr lang="zh-CN" altLang="en-US" dirty="0"/>
              <a:t>函数有一个参数</a:t>
            </a:r>
            <a:r>
              <a:rPr lang="en-US" altLang="zh-CN" dirty="0"/>
              <a:t>errors,</a:t>
            </a:r>
            <a:r>
              <a:rPr lang="zh-CN" altLang="en-US" dirty="0"/>
              <a:t>它决定了当该函数遇到无法转换的数值时该如何处理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0" dirty="0"/>
              <a:t>默认情况下</a:t>
            </a:r>
            <a:r>
              <a:rPr lang="en-US" altLang="zh-CN" b="0" dirty="0"/>
              <a:t>,</a:t>
            </a:r>
            <a:r>
              <a:rPr lang="zh-CN" altLang="en-US" b="0" dirty="0"/>
              <a:t>该值为</a:t>
            </a:r>
            <a:r>
              <a:rPr lang="en-US" altLang="zh-CN" b="0" dirty="0"/>
              <a:t>raise,</a:t>
            </a:r>
            <a:r>
              <a:rPr lang="zh-CN" altLang="en-US" b="0" dirty="0"/>
              <a:t>如果</a:t>
            </a:r>
            <a:r>
              <a:rPr lang="en-US" altLang="zh-CN" b="0" dirty="0" err="1"/>
              <a:t>to_numeric</a:t>
            </a:r>
            <a:r>
              <a:rPr lang="zh-CN" altLang="en-US" b="0" dirty="0"/>
              <a:t>遇到无法转换的值时</a:t>
            </a:r>
            <a:r>
              <a:rPr lang="en-US" altLang="zh-CN" b="0" dirty="0"/>
              <a:t>,</a:t>
            </a:r>
            <a:r>
              <a:rPr lang="zh-CN" altLang="en-US" b="0" dirty="0"/>
              <a:t>会抛错</a:t>
            </a:r>
            <a:endParaRPr lang="zh-CN" altLang="en-US" b="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b="0" dirty="0"/>
              <a:t>coerce: </a:t>
            </a:r>
            <a:r>
              <a:rPr lang="zh-CN" altLang="en-US" b="0" dirty="0"/>
              <a:t>如果</a:t>
            </a:r>
            <a:r>
              <a:rPr lang="en-US" altLang="zh-CN" b="0" dirty="0" err="1"/>
              <a:t>to_numeric</a:t>
            </a:r>
            <a:r>
              <a:rPr lang="zh-CN" altLang="en-US" b="0" dirty="0"/>
              <a:t>遇到无法转换的值时</a:t>
            </a:r>
            <a:r>
              <a:rPr lang="en-US" altLang="zh-CN" b="0" dirty="0"/>
              <a:t>,</a:t>
            </a:r>
            <a:r>
              <a:rPr lang="zh-CN" altLang="en-US" b="0" dirty="0"/>
              <a:t>会返回</a:t>
            </a:r>
            <a:r>
              <a:rPr lang="en-US" altLang="zh-CN" b="0" dirty="0" err="1"/>
              <a:t>NaN</a:t>
            </a:r>
            <a:endParaRPr lang="en-US" altLang="zh-CN" b="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b="0" dirty="0"/>
              <a:t>ignore: </a:t>
            </a:r>
            <a:r>
              <a:rPr lang="zh-CN" altLang="en-US" b="0" dirty="0"/>
              <a:t>如果</a:t>
            </a:r>
            <a:r>
              <a:rPr lang="en-US" altLang="zh-CN" b="0" dirty="0" err="1"/>
              <a:t>to_numeric</a:t>
            </a:r>
            <a:r>
              <a:rPr lang="zh-CN" altLang="en-US" b="0" dirty="0"/>
              <a:t>遇到无法转换的值时会放弃转换</a:t>
            </a:r>
            <a:r>
              <a:rPr lang="en-US" altLang="zh-CN" b="0" dirty="0"/>
              <a:t>,</a:t>
            </a:r>
            <a:r>
              <a:rPr lang="zh-CN" altLang="en-US" b="0" dirty="0"/>
              <a:t>什么都不做</a:t>
            </a:r>
            <a:endParaRPr lang="zh-CN" altLang="en-US" b="0" dirty="0"/>
          </a:p>
          <a:p>
            <a:r>
              <a:rPr lang="en-GB" altLang="zh-CN" dirty="0" err="1"/>
              <a:t>pd.to_numeric</a:t>
            </a:r>
            <a:r>
              <a:rPr lang="en-GB" altLang="zh-CN" dirty="0"/>
              <a:t>(</a:t>
            </a:r>
            <a:r>
              <a:rPr lang="en-GB" altLang="zh-CN" dirty="0" err="1"/>
              <a:t>tips_sub_miss</a:t>
            </a:r>
            <a:r>
              <a:rPr lang="en-GB" altLang="zh-CN" dirty="0"/>
              <a:t>['</a:t>
            </a:r>
            <a:r>
              <a:rPr lang="en-GB" altLang="zh-CN" dirty="0" err="1"/>
              <a:t>total_bill</a:t>
            </a:r>
            <a:r>
              <a:rPr lang="en-GB" altLang="zh-CN" dirty="0"/>
              <a:t>'],errors = 'ignore')</a:t>
            </a:r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r>
              <a:rPr lang="en-GB" altLang="zh-CN" dirty="0"/>
              <a:t> </a:t>
            </a:r>
            <a:r>
              <a:rPr lang="en-GB" altLang="zh-CN" dirty="0" err="1"/>
              <a:t>pd.to_numeric</a:t>
            </a:r>
            <a:r>
              <a:rPr lang="en-GB" altLang="zh-CN" dirty="0"/>
              <a:t>(</a:t>
            </a:r>
            <a:r>
              <a:rPr lang="en-GB" altLang="zh-CN" dirty="0" err="1"/>
              <a:t>tips_sub_miss</a:t>
            </a:r>
            <a:r>
              <a:rPr lang="en-GB" altLang="zh-CN" dirty="0"/>
              <a:t>['</a:t>
            </a:r>
            <a:r>
              <a:rPr lang="en-GB" altLang="zh-CN" dirty="0" err="1"/>
              <a:t>total_bill</a:t>
            </a:r>
            <a:r>
              <a:rPr lang="en-GB" altLang="zh-CN" dirty="0"/>
              <a:t>'],errors = 'coerce')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985" y="3865245"/>
            <a:ext cx="2569845" cy="19100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7875" y="3911600"/>
            <a:ext cx="3130550" cy="26225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</a:t>
            </a:r>
            <a:r>
              <a:rPr lang="zh-CN" altLang="en-US" dirty="0"/>
              <a:t>类型转换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</a:t>
            </a:r>
            <a:r>
              <a:rPr lang="zh-CN" altLang="en-US" dirty="0"/>
              <a:t> 转换为数值类型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149205" cy="421957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 err="1"/>
              <a:t>to_numeric</a:t>
            </a:r>
            <a:r>
              <a:rPr lang="zh-CN" altLang="en-US" dirty="0"/>
              <a:t>向下转型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altLang="zh-CN" dirty="0" err="1"/>
              <a:t>to_numeric</a:t>
            </a:r>
            <a:r>
              <a:rPr lang="zh-CN" altLang="en-US" dirty="0"/>
              <a:t>函数还有一个</a:t>
            </a:r>
            <a:r>
              <a:rPr lang="en-GB" altLang="zh-CN" dirty="0"/>
              <a:t>downcast</a:t>
            </a:r>
            <a:r>
              <a:rPr lang="zh-CN" altLang="en-US" dirty="0"/>
              <a:t>参数</a:t>
            </a:r>
            <a:r>
              <a:rPr lang="en-US" altLang="zh-CN" dirty="0"/>
              <a:t>, </a:t>
            </a:r>
            <a:r>
              <a:rPr lang="en-GB" altLang="zh-CN" dirty="0"/>
              <a:t>downcast</a:t>
            </a:r>
            <a:r>
              <a:rPr lang="zh-CN" altLang="en-US" dirty="0"/>
              <a:t>接受的参数为 </a:t>
            </a:r>
            <a:r>
              <a:rPr lang="en-US" altLang="zh-CN" dirty="0"/>
              <a:t>'</a:t>
            </a:r>
            <a:r>
              <a:rPr lang="en-GB" altLang="zh-CN" dirty="0" err="1"/>
              <a:t>integer'</a:t>
            </a:r>
            <a:r>
              <a:rPr lang="en-US" altLang="en-GB" dirty="0" err="1"/>
              <a:t>(</a:t>
            </a:r>
            <a:r>
              <a:rPr lang="zh-CN" altLang="en-US" dirty="0" err="1"/>
              <a:t>整数</a:t>
            </a:r>
            <a:r>
              <a:rPr lang="en-US" altLang="en-GB" dirty="0" err="1"/>
              <a:t>)</a:t>
            </a:r>
            <a:r>
              <a:rPr lang="en-GB" altLang="zh-CN" dirty="0" err="1"/>
              <a:t>,'signed'</a:t>
            </a:r>
            <a:r>
              <a:rPr lang="en-US" altLang="en-GB" dirty="0" err="1"/>
              <a:t>(</a:t>
            </a:r>
            <a:r>
              <a:rPr lang="zh-CN" altLang="en-US" dirty="0" err="1"/>
              <a:t>有符号的</a:t>
            </a:r>
            <a:r>
              <a:rPr lang="en-US" altLang="en-GB" dirty="0" err="1"/>
              <a:t>)</a:t>
            </a:r>
            <a:r>
              <a:rPr lang="en-GB" altLang="zh-CN" dirty="0" err="1"/>
              <a:t>,'float','unsigned</a:t>
            </a:r>
            <a:r>
              <a:rPr lang="en-GB" altLang="zh-CN" dirty="0"/>
              <a:t>'</a:t>
            </a:r>
            <a:endParaRPr lang="en-GB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altLang="zh-CN" dirty="0"/>
              <a:t>downcast</a:t>
            </a:r>
            <a:r>
              <a:rPr lang="zh-CN" altLang="en-US" dirty="0"/>
              <a:t>参数设置为</a:t>
            </a:r>
            <a:r>
              <a:rPr lang="en-GB" altLang="zh-CN" dirty="0"/>
              <a:t>float</a:t>
            </a:r>
            <a:r>
              <a:rPr lang="zh-CN" altLang="en-US" dirty="0"/>
              <a:t>之后</a:t>
            </a:r>
            <a:r>
              <a:rPr lang="en-US" altLang="zh-CN" dirty="0"/>
              <a:t>, </a:t>
            </a:r>
            <a:r>
              <a:rPr lang="en-GB" altLang="zh-CN" dirty="0" err="1"/>
              <a:t>total_bill</a:t>
            </a:r>
            <a:r>
              <a:rPr lang="zh-CN" altLang="en-US" dirty="0"/>
              <a:t>的数据类型由</a:t>
            </a:r>
            <a:r>
              <a:rPr lang="en-GB" altLang="zh-CN" dirty="0"/>
              <a:t>float64</a:t>
            </a:r>
            <a:r>
              <a:rPr lang="zh-CN" altLang="en-US" dirty="0"/>
              <a:t>变为</a:t>
            </a:r>
            <a:r>
              <a:rPr lang="en-GB" altLang="zh-CN" dirty="0"/>
              <a:t>float32</a:t>
            </a:r>
            <a:endParaRPr lang="en-GB" altLang="zh-CN" dirty="0"/>
          </a:p>
          <a:p>
            <a:r>
              <a:rPr lang="en-GB" altLang="zh-CN" dirty="0" err="1"/>
              <a:t>pd.to_numeric</a:t>
            </a:r>
            <a:r>
              <a:rPr lang="en-GB" altLang="zh-CN" dirty="0"/>
              <a:t>(</a:t>
            </a:r>
            <a:r>
              <a:rPr lang="en-GB" altLang="zh-CN" dirty="0" err="1"/>
              <a:t>tips_sub_miss</a:t>
            </a:r>
            <a:r>
              <a:rPr lang="en-GB" altLang="zh-CN" dirty="0"/>
              <a:t>['</a:t>
            </a:r>
            <a:r>
              <a:rPr lang="en-GB" altLang="zh-CN" dirty="0" err="1"/>
              <a:t>total_bill</a:t>
            </a:r>
            <a:r>
              <a:rPr lang="en-GB" altLang="zh-CN" dirty="0"/>
              <a:t>'],errors = '</a:t>
            </a:r>
            <a:r>
              <a:rPr lang="en-GB" altLang="zh-CN" dirty="0" err="1"/>
              <a:t>coerce',downcast</a:t>
            </a:r>
            <a:r>
              <a:rPr lang="en-GB" altLang="zh-CN" dirty="0"/>
              <a:t>='float’)</a:t>
            </a:r>
            <a:endParaRPr lang="en-GB" altLang="zh-CN" dirty="0"/>
          </a:p>
          <a:p>
            <a:r>
              <a:rPr lang="zh-CN" altLang="en-US" dirty="0"/>
              <a:t>从上面的结果看出</a:t>
            </a:r>
            <a:r>
              <a:rPr lang="en-US" altLang="zh-CN" dirty="0"/>
              <a:t>,</a:t>
            </a:r>
            <a:r>
              <a:rPr lang="zh-CN" altLang="en-US" dirty="0"/>
              <a:t>转换之后的数据类型为</a:t>
            </a:r>
            <a:r>
              <a:rPr lang="en-US" altLang="zh-CN" dirty="0"/>
              <a:t>float32, </a:t>
            </a:r>
            <a:r>
              <a:rPr lang="zh-CN" altLang="en-US" dirty="0"/>
              <a:t>意味着占用的内存更小了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735" y="4081145"/>
            <a:ext cx="3067050" cy="25654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dirty="0"/>
              <a:t>Pandas</a:t>
            </a:r>
            <a:r>
              <a:rPr lang="zh-CN" altLang="en-US" b="1" dirty="0"/>
              <a:t>数据类型简介</a:t>
            </a:r>
            <a:endParaRPr lang="zh-CN" altLang="en-US" b="1" dirty="0"/>
          </a:p>
          <a:p>
            <a:r>
              <a:rPr lang="zh-CN" altLang="en-US" b="1" dirty="0"/>
              <a:t>类型转换</a:t>
            </a:r>
            <a:endParaRPr lang="en-US" altLang="zh-CN" b="1" dirty="0"/>
          </a:p>
          <a:p>
            <a:r>
              <a:rPr lang="zh-CN" altLang="en-US" b="1" dirty="0">
                <a:solidFill>
                  <a:srgbClr val="FF0000"/>
                </a:solidFill>
              </a:rPr>
              <a:t>类别数据</a:t>
            </a:r>
            <a:endParaRPr lang="zh-CN" altLang="en-US" b="1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</a:t>
            </a:r>
            <a:r>
              <a:rPr lang="zh-CN" altLang="en-US" dirty="0"/>
              <a:t>类别数据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3.1 category</a:t>
            </a:r>
            <a:r>
              <a:rPr lang="zh-CN" altLang="en-US" dirty="0"/>
              <a:t>介绍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97459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/>
              <a:t>Pandas </a:t>
            </a:r>
            <a:r>
              <a:rPr lang="zh-CN" altLang="en-US" dirty="0"/>
              <a:t>有一种类别数据</a:t>
            </a:r>
            <a:r>
              <a:rPr lang="en-US" altLang="zh-CN" dirty="0"/>
              <a:t>, category,</a:t>
            </a:r>
            <a:r>
              <a:rPr lang="zh-CN" altLang="en-US" dirty="0"/>
              <a:t>用于对分类值进行编码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转换为</a:t>
            </a:r>
            <a:r>
              <a:rPr lang="en-GB" altLang="zh-CN" dirty="0"/>
              <a:t>category</a:t>
            </a:r>
            <a:r>
              <a:rPr lang="zh-CN" altLang="en-US" dirty="0"/>
              <a:t>类型</a:t>
            </a:r>
            <a:endParaRPr lang="zh-CN" altLang="en-US" dirty="0"/>
          </a:p>
          <a:p>
            <a:r>
              <a:rPr lang="en-GB" altLang="zh-CN" dirty="0"/>
              <a:t>tips['sex'] = tips['sex'].</a:t>
            </a:r>
            <a:r>
              <a:rPr lang="en-GB" altLang="zh-CN" dirty="0" err="1"/>
              <a:t>astype</a:t>
            </a:r>
            <a:r>
              <a:rPr lang="en-GB" altLang="zh-CN" dirty="0"/>
              <a:t>('</a:t>
            </a:r>
            <a:r>
              <a:rPr lang="en-GB" altLang="zh-CN" dirty="0" err="1"/>
              <a:t>str</a:t>
            </a:r>
            <a:r>
              <a:rPr lang="en-GB" altLang="zh-CN" dirty="0"/>
              <a:t>')</a:t>
            </a:r>
            <a:endParaRPr lang="en-GB" altLang="zh-CN" dirty="0"/>
          </a:p>
          <a:p>
            <a:r>
              <a:rPr lang="en-GB" altLang="zh-CN" dirty="0" err="1"/>
              <a:t>tips.info</a:t>
            </a:r>
            <a:r>
              <a:rPr lang="en-GB" altLang="zh-CN" dirty="0"/>
              <a:t>()</a:t>
            </a:r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r>
              <a:rPr lang="en-GB" altLang="zh-CN" dirty="0"/>
              <a:t>tips['sex'] = tips['sex'].</a:t>
            </a:r>
            <a:r>
              <a:rPr lang="en-GB" altLang="zh-CN" dirty="0" err="1"/>
              <a:t>astype</a:t>
            </a:r>
            <a:r>
              <a:rPr lang="en-GB" altLang="zh-CN" dirty="0"/>
              <a:t>('category')</a:t>
            </a:r>
            <a:endParaRPr lang="en-GB" altLang="zh-CN" dirty="0"/>
          </a:p>
          <a:p>
            <a:r>
              <a:rPr lang="en-GB" altLang="zh-CN" dirty="0" err="1"/>
              <a:t>tips.info</a:t>
            </a:r>
            <a:r>
              <a:rPr lang="en-GB" altLang="zh-CN" dirty="0"/>
              <a:t>()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5810" y="3011805"/>
            <a:ext cx="3183890" cy="22631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3540" y="3487420"/>
            <a:ext cx="4501515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</a:t>
            </a:r>
            <a:r>
              <a:rPr lang="zh-CN" altLang="en-US" dirty="0"/>
              <a:t>类别数据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3.2</a:t>
            </a:r>
            <a:r>
              <a:rPr lang="zh-CN" altLang="en-US" dirty="0"/>
              <a:t> 利用</a:t>
            </a:r>
            <a:r>
              <a:rPr lang="en-US" altLang="zh-CN" dirty="0"/>
              <a:t>category</a:t>
            </a:r>
            <a:r>
              <a:rPr lang="zh-CN" altLang="en-US" dirty="0"/>
              <a:t>排序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利用</a:t>
            </a:r>
            <a:r>
              <a:rPr lang="en-GB" altLang="zh-CN" dirty="0" err="1"/>
              <a:t>pd.Categorical</a:t>
            </a:r>
            <a:r>
              <a:rPr lang="en-GB" altLang="zh-CN" dirty="0"/>
              <a:t>()</a:t>
            </a:r>
            <a:r>
              <a:rPr lang="zh-CN" altLang="en-US" dirty="0"/>
              <a:t>创建</a:t>
            </a:r>
            <a:r>
              <a:rPr lang="en-GB" altLang="zh-CN" dirty="0"/>
              <a:t>categorical</a:t>
            </a:r>
            <a:r>
              <a:rPr lang="zh-CN" altLang="en-US" dirty="0"/>
              <a:t>数据，</a:t>
            </a:r>
            <a:r>
              <a:rPr lang="en-GB" altLang="zh-CN" dirty="0"/>
              <a:t>Categorical()</a:t>
            </a:r>
            <a:r>
              <a:rPr lang="zh-CN" altLang="en-US" dirty="0"/>
              <a:t>常用三个参数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参数一 </a:t>
            </a:r>
            <a:r>
              <a:rPr lang="en-GB" altLang="zh-CN" dirty="0"/>
              <a:t>values</a:t>
            </a:r>
            <a:r>
              <a:rPr lang="zh-CN" altLang="en-GB" dirty="0"/>
              <a:t>，</a:t>
            </a:r>
            <a:r>
              <a:rPr lang="zh-CN" altLang="en-US" dirty="0"/>
              <a:t>如果</a:t>
            </a:r>
            <a:r>
              <a:rPr lang="en-GB" altLang="zh-CN" dirty="0"/>
              <a:t>values</a:t>
            </a:r>
            <a:r>
              <a:rPr lang="zh-CN" altLang="en-US" dirty="0"/>
              <a:t>中的值，不在</a:t>
            </a:r>
            <a:r>
              <a:rPr lang="en-GB" altLang="zh-CN" dirty="0"/>
              <a:t>categories</a:t>
            </a:r>
            <a:r>
              <a:rPr lang="zh-CN" altLang="en-US" dirty="0"/>
              <a:t>参数中，会被</a:t>
            </a:r>
            <a:r>
              <a:rPr lang="en-GB" altLang="zh-CN" dirty="0" err="1"/>
              <a:t>NaN</a:t>
            </a:r>
            <a:r>
              <a:rPr lang="zh-CN" altLang="en-US" dirty="0"/>
              <a:t>代替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参数二 </a:t>
            </a:r>
            <a:r>
              <a:rPr lang="en-GB" altLang="zh-CN" dirty="0"/>
              <a:t>categories</a:t>
            </a:r>
            <a:r>
              <a:rPr lang="zh-CN" altLang="en-GB" dirty="0"/>
              <a:t>，</a:t>
            </a:r>
            <a:r>
              <a:rPr lang="zh-CN" altLang="en-US" dirty="0"/>
              <a:t>指定可能存在的类别数据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参数三 </a:t>
            </a:r>
            <a:r>
              <a:rPr lang="en-GB" altLang="zh-CN" dirty="0"/>
              <a:t>ordered, </a:t>
            </a:r>
            <a:r>
              <a:rPr lang="zh-CN" altLang="en-US" dirty="0"/>
              <a:t>是否指定顺序</a:t>
            </a:r>
            <a:endParaRPr lang="en-US" altLang="zh-CN" dirty="0"/>
          </a:p>
          <a:p>
            <a:r>
              <a:rPr lang="en-GB" altLang="zh-CN" dirty="0"/>
              <a:t>s = </a:t>
            </a:r>
            <a:r>
              <a:rPr lang="en-GB" altLang="zh-CN" dirty="0" err="1"/>
              <a:t>pd.Series</a:t>
            </a:r>
            <a:r>
              <a:rPr lang="en-GB" altLang="zh-CN" dirty="0"/>
              <a:t>(</a:t>
            </a:r>
            <a:r>
              <a:rPr lang="en-GB" altLang="zh-CN" dirty="0" err="1"/>
              <a:t>pd.Categorical</a:t>
            </a:r>
            <a:r>
              <a:rPr lang="en-GB" altLang="zh-CN" dirty="0"/>
              <a:t>(["a", "b", "c", "d"],categories=["c", "b", "a"]))</a:t>
            </a:r>
            <a:endParaRPr lang="en-GB" altLang="zh-CN" dirty="0"/>
          </a:p>
          <a:p>
            <a:r>
              <a:rPr lang="en-US" altLang="zh-CN" dirty="0"/>
              <a:t>s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895" y="4453890"/>
            <a:ext cx="3238500" cy="11747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</a:t>
            </a:r>
            <a:r>
              <a:rPr lang="zh-CN" altLang="en-US" dirty="0"/>
              <a:t>类别数据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3.2</a:t>
            </a:r>
            <a:r>
              <a:rPr lang="zh-CN" altLang="en-US" dirty="0"/>
              <a:t> 利用</a:t>
            </a:r>
            <a:r>
              <a:rPr lang="en-US" altLang="zh-CN" dirty="0"/>
              <a:t>category</a:t>
            </a:r>
            <a:r>
              <a:rPr lang="zh-CN" altLang="en-US" dirty="0"/>
              <a:t>排序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09206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GB" altLang="zh-CN" dirty="0"/>
              <a:t>category</a:t>
            </a:r>
            <a:r>
              <a:rPr lang="zh-CN" altLang="en-US" dirty="0"/>
              <a:t>排序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准备数据</a:t>
            </a:r>
            <a:endParaRPr lang="en-US" altLang="zh-CN" dirty="0"/>
          </a:p>
          <a:p>
            <a:r>
              <a:rPr lang="en-US" altLang="zh-CN" dirty="0"/>
              <a:t>#</a:t>
            </a:r>
            <a:r>
              <a:rPr lang="zh-CN" altLang="en-US" dirty="0"/>
              <a:t>创建</a:t>
            </a:r>
            <a:r>
              <a:rPr lang="en-GB" altLang="zh-CN" dirty="0"/>
              <a:t>categorical</a:t>
            </a:r>
            <a:r>
              <a:rPr lang="zh-CN" altLang="en-US" dirty="0"/>
              <a:t>型</a:t>
            </a:r>
            <a:r>
              <a:rPr lang="en-GB" altLang="zh-CN" dirty="0"/>
              <a:t>Series</a:t>
            </a:r>
            <a:endParaRPr lang="en-GB" altLang="zh-CN" dirty="0"/>
          </a:p>
          <a:p>
            <a:r>
              <a:rPr lang="en-GB" altLang="zh-CN" dirty="0" err="1"/>
              <a:t>series_cat</a:t>
            </a:r>
            <a:r>
              <a:rPr lang="en-GB" altLang="zh-CN" dirty="0"/>
              <a:t> = </a:t>
            </a:r>
            <a:r>
              <a:rPr lang="en-GB" altLang="zh-CN" dirty="0" err="1"/>
              <a:t>pd.Series</a:t>
            </a:r>
            <a:r>
              <a:rPr lang="en-GB" altLang="zh-CN" dirty="0"/>
              <a:t>(['B','D','C','A'], </a:t>
            </a:r>
            <a:r>
              <a:rPr lang="en-GB" altLang="zh-CN" dirty="0" err="1"/>
              <a:t>dtype</a:t>
            </a:r>
            <a:r>
              <a:rPr lang="en-GB" altLang="zh-CN" dirty="0"/>
              <a:t>='category')</a:t>
            </a:r>
            <a:endParaRPr lang="en-GB" altLang="zh-CN" dirty="0"/>
          </a:p>
          <a:p>
            <a:r>
              <a:rPr lang="en-GB" altLang="zh-CN" dirty="0" err="1"/>
              <a:t>series_cat</a:t>
            </a:r>
            <a:endParaRPr lang="en-GB" altLang="zh-CN" dirty="0" err="1"/>
          </a:p>
          <a:p>
            <a:endParaRPr lang="en-GB" altLang="zh-CN" dirty="0" err="1"/>
          </a:p>
          <a:p>
            <a:endParaRPr lang="en-GB" altLang="zh-CN" dirty="0" err="1"/>
          </a:p>
          <a:p>
            <a:endParaRPr lang="en-GB" altLang="zh-CN" dirty="0"/>
          </a:p>
          <a:p>
            <a:r>
              <a:rPr lang="en-US" altLang="zh-CN" dirty="0"/>
              <a:t>#</a:t>
            </a:r>
            <a:r>
              <a:rPr lang="zh-CN" altLang="en-US" dirty="0"/>
              <a:t> 对数据排序</a:t>
            </a:r>
            <a:endParaRPr lang="en-GB" altLang="zh-CN" dirty="0"/>
          </a:p>
          <a:p>
            <a:r>
              <a:rPr lang="en-GB" altLang="zh-CN" dirty="0" err="1"/>
              <a:t>series_cat.sort_values</a:t>
            </a:r>
            <a:r>
              <a:rPr lang="en-GB" altLang="zh-CN" dirty="0"/>
              <a:t>()</a:t>
            </a:r>
            <a:endParaRPr lang="en-GB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885" y="3821430"/>
            <a:ext cx="3848100" cy="11874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605" y="5400040"/>
            <a:ext cx="3606800" cy="12382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</a:t>
            </a:r>
            <a:r>
              <a:rPr lang="zh-CN" altLang="en-US" dirty="0"/>
              <a:t>类别数据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3.2</a:t>
            </a:r>
            <a:r>
              <a:rPr lang="zh-CN" altLang="en-US" dirty="0"/>
              <a:t> 利用</a:t>
            </a:r>
            <a:r>
              <a:rPr lang="en-US" altLang="zh-CN" dirty="0"/>
              <a:t>category</a:t>
            </a:r>
            <a:r>
              <a:rPr lang="zh-CN" altLang="en-US" dirty="0"/>
              <a:t>排序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162550"/>
          </a:xfrm>
        </p:spPr>
        <p:txBody>
          <a:bodyPr/>
          <a:lstStyle/>
          <a:p>
            <a:r>
              <a:rPr lang="en-US" altLang="zh-CN" dirty="0"/>
              <a:t>#</a:t>
            </a:r>
            <a:r>
              <a:rPr lang="zh-CN" altLang="en-US" dirty="0"/>
              <a:t>指定顺序 </a:t>
            </a:r>
            <a:r>
              <a:rPr lang="en-GB" altLang="zh-CN" dirty="0" err="1"/>
              <a:t>CategoricalDtype</a:t>
            </a:r>
            <a:endParaRPr lang="en-GB" altLang="zh-CN" dirty="0"/>
          </a:p>
          <a:p>
            <a:r>
              <a:rPr lang="en-US" altLang="zh-CN" dirty="0"/>
              <a:t>from </a:t>
            </a:r>
            <a:r>
              <a:rPr lang="en-US" altLang="zh-CN" dirty="0" err="1"/>
              <a:t>pandas.api.types</a:t>
            </a:r>
            <a:r>
              <a:rPr lang="en-US" altLang="zh-CN" dirty="0"/>
              <a:t> import </a:t>
            </a:r>
            <a:r>
              <a:rPr lang="en-US" altLang="zh-CN" dirty="0" err="1"/>
              <a:t>CategoricalDtype</a:t>
            </a:r>
            <a:endParaRPr lang="en-US" altLang="zh-CN" dirty="0"/>
          </a:p>
          <a:p>
            <a:r>
              <a:rPr lang="en-US" altLang="zh-CN" dirty="0"/>
              <a:t>cat = </a:t>
            </a:r>
            <a:r>
              <a:rPr lang="en-US" altLang="zh-CN" dirty="0" err="1"/>
              <a:t>CategoricalDtype</a:t>
            </a:r>
            <a:r>
              <a:rPr lang="en-US" altLang="zh-CN" dirty="0"/>
              <a:t>(categories=['B','D','A','C'],ordered=True)</a:t>
            </a:r>
            <a:endParaRPr lang="en-US" altLang="zh-CN" dirty="0"/>
          </a:p>
          <a:p>
            <a:r>
              <a:rPr lang="en-US" altLang="zh-CN" dirty="0"/>
              <a:t>series_cat1 = </a:t>
            </a:r>
            <a:r>
              <a:rPr lang="en-US" altLang="zh-CN" dirty="0" err="1"/>
              <a:t>series_cat.astype</a:t>
            </a:r>
            <a:r>
              <a:rPr lang="en-US" altLang="zh-CN" dirty="0"/>
              <a:t>(cat)</a:t>
            </a:r>
            <a:endParaRPr lang="en-US" altLang="zh-CN" dirty="0"/>
          </a:p>
          <a:p>
            <a:r>
              <a:rPr lang="en-US" altLang="zh-CN" dirty="0" err="1"/>
              <a:t>series_cat.sort_values</a:t>
            </a:r>
            <a:r>
              <a:rPr lang="en-US" altLang="zh-CN" dirty="0"/>
              <a:t>()</a:t>
            </a:r>
            <a:endParaRPr lang="en-US" altLang="zh-CN" dirty="0"/>
          </a:p>
          <a:p>
            <a:endParaRPr lang="en-US" altLang="zh-CN" dirty="0"/>
          </a:p>
          <a:p>
            <a:r>
              <a:rPr lang="en-GB" altLang="zh-CN" dirty="0"/>
              <a:t>series_cat1.sort_values()</a:t>
            </a:r>
            <a:endParaRPr lang="en-GB" altLang="zh-CN" dirty="0"/>
          </a:p>
          <a:p>
            <a:r>
              <a:rPr lang="en-US" altLang="zh-CN" dirty="0"/>
              <a:t>#</a:t>
            </a:r>
            <a:r>
              <a:rPr lang="zh-CN" altLang="en-US" dirty="0"/>
              <a:t> 想要临时修改排序规则，可以使用</a:t>
            </a:r>
            <a:r>
              <a:rPr lang="en-US" altLang="zh-CN" dirty="0"/>
              <a:t>.</a:t>
            </a:r>
            <a:r>
              <a:rPr lang="en-GB" altLang="zh-CN" dirty="0" err="1"/>
              <a:t>cat.reorder_categories</a:t>
            </a:r>
            <a:r>
              <a:rPr lang="en-GB" altLang="zh-CN" dirty="0"/>
              <a:t>()</a:t>
            </a:r>
            <a:r>
              <a:rPr lang="zh-CN" altLang="en-US" dirty="0"/>
              <a:t>方法：</a:t>
            </a:r>
            <a:endParaRPr lang="zh-CN" altLang="en-US" dirty="0"/>
          </a:p>
          <a:p>
            <a:r>
              <a:rPr lang="en-GB" altLang="zh-CN" dirty="0" err="1"/>
              <a:t>series_cat.cat.reorder_categories</a:t>
            </a:r>
            <a:r>
              <a:rPr lang="en-GB" altLang="zh-CN" dirty="0"/>
              <a:t>(['D','B','C','A'],ordered=True,</a:t>
            </a:r>
            <a:endParaRPr lang="en-GB" altLang="zh-CN" dirty="0"/>
          </a:p>
          <a:p>
            <a:r>
              <a:rPr lang="en-GB" altLang="zh-CN" dirty="0"/>
              <a:t>                                  </a:t>
            </a:r>
            <a:r>
              <a:rPr lang="en-GB" altLang="zh-CN" dirty="0" err="1"/>
              <a:t>inplace</a:t>
            </a:r>
            <a:r>
              <a:rPr lang="en-GB" altLang="zh-CN" dirty="0"/>
              <a:t>=True)#</a:t>
            </a:r>
            <a:r>
              <a:rPr lang="en-GB" altLang="zh-CN" dirty="0" err="1"/>
              <a:t>inplace</a:t>
            </a:r>
            <a:r>
              <a:rPr lang="zh-CN" altLang="en-US" dirty="0"/>
              <a:t>参数设置为</a:t>
            </a:r>
            <a:r>
              <a:rPr lang="en-GB" altLang="zh-CN" dirty="0"/>
              <a:t>True</a:t>
            </a:r>
            <a:r>
              <a:rPr lang="zh-CN" altLang="en-US" dirty="0"/>
              <a:t>使得变动覆盖原数据</a:t>
            </a:r>
            <a:endParaRPr lang="zh-CN" altLang="en-US" dirty="0"/>
          </a:p>
          <a:p>
            <a:r>
              <a:rPr lang="en-GB" altLang="zh-CN" dirty="0" err="1"/>
              <a:t>series_cat.sort_values</a:t>
            </a:r>
            <a:r>
              <a:rPr lang="en-GB" altLang="zh-CN" dirty="0"/>
              <a:t>()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8050" y="3395345"/>
            <a:ext cx="4025900" cy="12890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050" y="5805170"/>
            <a:ext cx="3765550" cy="9398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4787900" y="1463040"/>
            <a:ext cx="6149340" cy="4953000"/>
          </a:xfrm>
        </p:spPr>
        <p:txBody>
          <a:bodyPr/>
          <a:lstStyle/>
          <a:p>
            <a:r>
              <a:rPr lang="en-GB" altLang="zh-CN" dirty="0"/>
              <a:t>Numpy</a:t>
            </a:r>
            <a:r>
              <a:rPr lang="zh-CN" altLang="en-US" dirty="0"/>
              <a:t>的特点</a:t>
            </a:r>
            <a:endParaRPr lang="en-US" altLang="zh-CN" dirty="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dirty="0"/>
              <a:t>Numpy是一个高效科学计算库，Pandas的数据计算功能是对Numpy的封装</a:t>
            </a:r>
            <a:endParaRPr lang="zh-CN" altLang="en-US" dirty="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dirty="0"/>
              <a:t>ndarray是Numpy的基本数据结构，Pandas的好多函数和属性都与ndarray一样</a:t>
            </a:r>
            <a:endParaRPr lang="zh-CN" altLang="en-US" dirty="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dirty="0"/>
              <a:t>Numpy的计算效率比原生Python效率高很多，并且支持并行计算</a:t>
            </a:r>
            <a:endParaRPr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5126355" y="1463040"/>
            <a:ext cx="6431280" cy="4511040"/>
          </a:xfrm>
        </p:spPr>
        <p:txBody>
          <a:bodyPr/>
          <a:lstStyle/>
          <a:p>
            <a:pPr>
              <a:buFont typeface="+mj-lt"/>
              <a:buAutoNum type="arabicPeriod" startAt="2"/>
            </a:pPr>
            <a:r>
              <a:rPr lang="en-US" altLang="zh-CN" dirty="0"/>
              <a:t>Pandas </a:t>
            </a:r>
            <a:r>
              <a:rPr lang="zh-CN" altLang="en-US" dirty="0"/>
              <a:t>数据类型转换</a:t>
            </a:r>
            <a:endParaRPr lang="zh-CN" altLang="en-US" dirty="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dirty="0"/>
              <a:t>Pandas除了数值型的int 和 float类型外，还有object ，category，bool，datetime类型</a:t>
            </a:r>
            <a:endParaRPr lang="zh-CN" altLang="en-US" dirty="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dirty="0"/>
              <a:t>可以通过astype 和 to_numeric 函数进行数据类型转换</a:t>
            </a:r>
            <a:endParaRPr lang="zh-CN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5126355" y="1463040"/>
            <a:ext cx="6393180" cy="4511040"/>
          </a:xfrm>
        </p:spPr>
        <p:txBody>
          <a:bodyPr/>
          <a:lstStyle/>
          <a:p>
            <a:pPr>
              <a:buFont typeface="+mj-lt"/>
              <a:buAutoNum type="arabicPeriod" startAt="3"/>
            </a:pPr>
            <a:r>
              <a:rPr lang="en-GB" altLang="zh-CN" dirty="0"/>
              <a:t>Pandas </a:t>
            </a:r>
            <a:r>
              <a:rPr lang="zh-CN" altLang="en-US" dirty="0"/>
              <a:t>分类数据类型</a:t>
            </a:r>
            <a:endParaRPr lang="zh-CN" altLang="en-US" dirty="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dirty="0"/>
              <a:t>category类型，可以用来进行排序，并且可以自定义排序顺序</a:t>
            </a:r>
            <a:endParaRPr lang="zh-CN" altLang="en-US" dirty="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dirty="0"/>
              <a:t>CategoricalDtype可以用来定义顺序</a:t>
            </a:r>
            <a:endParaRPr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MH" val="20180905155037"/>
  <p:tag name="MH_LIBRARY" val="CONTENTS"/>
  <p:tag name="MH_TYPE" val="OTHERS"/>
  <p:tag name="ID" val="545836"/>
</p:tagLst>
</file>

<file path=ppt/tags/tag2.xml><?xml version="1.0" encoding="utf-8"?>
<p:tagLst xmlns:p="http://schemas.openxmlformats.org/presentationml/2006/main">
  <p:tag name="MH" val="20180905155037"/>
  <p:tag name="MH_LIBRARY" val="CONTENTS"/>
  <p:tag name="MH_TYPE" val="OTHERS"/>
  <p:tag name="ID" val="545836"/>
</p:tagLst>
</file>

<file path=ppt/tags/tag3.xml><?xml version="1.0" encoding="utf-8"?>
<p:tagLst xmlns:p="http://schemas.openxmlformats.org/presentationml/2006/main">
  <p:tag name="MH" val="20180905155037"/>
  <p:tag name="MH_LIBRARY" val="CONTENTS"/>
  <p:tag name="MH_TYPE" val="OTHERS"/>
  <p:tag name="ID" val="545836"/>
</p:tagLst>
</file>

<file path=ppt/theme/theme1.xml><?xml version="1.0" encoding="utf-8"?>
<a:theme xmlns:a="http://schemas.openxmlformats.org/drawingml/2006/main" name="1_课程标题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目录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目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6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5151</Words>
  <Application>WPS 演示</Application>
  <PresentationFormat>宽屏</PresentationFormat>
  <Paragraphs>330</Paragraphs>
  <Slides>33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12</vt:i4>
      </vt:variant>
      <vt:variant>
        <vt:lpstr>幻灯片标题</vt:lpstr>
      </vt:variant>
      <vt:variant>
        <vt:i4>33</vt:i4>
      </vt:variant>
    </vt:vector>
  </HeadingPairs>
  <TitlesOfParts>
    <vt:vector size="69" baseType="lpstr">
      <vt:lpstr>Arial</vt:lpstr>
      <vt:lpstr>方正书宋_GBK</vt:lpstr>
      <vt:lpstr>Wingdings</vt:lpstr>
      <vt:lpstr>Calibri</vt:lpstr>
      <vt:lpstr>Helvetica Neue</vt:lpstr>
      <vt:lpstr>宋体</vt:lpstr>
      <vt:lpstr>汉仪书宋二KW</vt:lpstr>
      <vt:lpstr>黑体</vt:lpstr>
      <vt:lpstr>阿里巴巴普惠体</vt:lpstr>
      <vt:lpstr>苹方-简</vt:lpstr>
      <vt:lpstr>Segoe UI</vt:lpstr>
      <vt:lpstr>微软雅黑</vt:lpstr>
      <vt:lpstr>Segoe UI Light</vt:lpstr>
      <vt:lpstr>微软雅黑 Light</vt:lpstr>
      <vt:lpstr>汉仪旗黑</vt:lpstr>
      <vt:lpstr>Alibaba PuHuiTi B</vt:lpstr>
      <vt:lpstr>Alibaba PuHuiTi R</vt:lpstr>
      <vt:lpstr>Verdana</vt:lpstr>
      <vt:lpstr>Alibaba PuHuiTi M</vt:lpstr>
      <vt:lpstr>Wingdings</vt:lpstr>
      <vt:lpstr>宋体</vt:lpstr>
      <vt:lpstr>Arial Unicode MS</vt:lpstr>
      <vt:lpstr>等线</vt:lpstr>
      <vt:lpstr>汉仪中等线KW</vt:lpstr>
      <vt:lpstr>1_课程标题页</vt:lpstr>
      <vt:lpstr>2_目录设计方案</vt:lpstr>
      <vt:lpstr>3_目标设计方案</vt:lpstr>
      <vt:lpstr>4_正文设计方案</vt:lpstr>
      <vt:lpstr>5_结束页设计方案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6_结束页设计方案</vt:lpstr>
      <vt:lpstr>Pandas数据类型</vt:lpstr>
      <vt:lpstr>PowerPoint 演示文稿</vt:lpstr>
      <vt:lpstr>PowerPoint 演示文稿</vt:lpstr>
      <vt:lpstr>1 Pandas数据类型简介</vt:lpstr>
      <vt:lpstr>1 Pandas数据类型简介</vt:lpstr>
      <vt:lpstr>1 Pandas数据类型简介</vt:lpstr>
      <vt:lpstr>1 Pandas数据类型简介</vt:lpstr>
      <vt:lpstr>1 Pandas数据类型简介</vt:lpstr>
      <vt:lpstr>1 Pandas数据类型简介</vt:lpstr>
      <vt:lpstr>1 Pandas数据类型简介</vt:lpstr>
      <vt:lpstr>1 Pandas数据类型简介</vt:lpstr>
      <vt:lpstr>1 Pandas数据类型简介</vt:lpstr>
      <vt:lpstr>1 Pandas数据类型简介</vt:lpstr>
      <vt:lpstr>1 Pandas数据类型简介</vt:lpstr>
      <vt:lpstr>1 Pandas数据类型简介</vt:lpstr>
      <vt:lpstr>1 Pandas数据类型简介</vt:lpstr>
      <vt:lpstr>1 Pandas数据类型简介</vt:lpstr>
      <vt:lpstr>PowerPoint 演示文稿</vt:lpstr>
      <vt:lpstr>2 类型转换</vt:lpstr>
      <vt:lpstr>2 类型转换</vt:lpstr>
      <vt:lpstr>2 类型转换</vt:lpstr>
      <vt:lpstr>2 类型转换</vt:lpstr>
      <vt:lpstr>2 类型转换</vt:lpstr>
      <vt:lpstr>2 类型转换</vt:lpstr>
      <vt:lpstr>PowerPoint 演示文稿</vt:lpstr>
      <vt:lpstr>3 类别数据</vt:lpstr>
      <vt:lpstr>3 类别数据</vt:lpstr>
      <vt:lpstr>3 类别数据</vt:lpstr>
      <vt:lpstr>3 类别数据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hanfeihu</cp:lastModifiedBy>
  <cp:revision>195</cp:revision>
  <dcterms:created xsi:type="dcterms:W3CDTF">2021-06-25T04:00:02Z</dcterms:created>
  <dcterms:modified xsi:type="dcterms:W3CDTF">2021-06-25T04:00:02Z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7D0B1D073E8B4C14AB3E39D1BC29D132</vt:lpwstr>
  </property>
  <property fmtid="{D5CDD505-2E9C-101B-9397-08002B2CF9AE}" pid="3" name="KSOProductBuildVer">
    <vt:lpwstr>2052-3.6.2.5883</vt:lpwstr>
  </property>
</Properties>
</file>